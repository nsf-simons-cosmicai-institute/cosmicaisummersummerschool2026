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oiYBMSZrGGflSmcPWClkgQX8u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We've now seen all the pieces — task framing (1b), preprocessing (2), evaluation (3a), and random forests (3b). Today we put them together into a complete recipe and then walk through a real photometric-redshift project end to end. By the end, students should be able to follow the notebook and adapt it to their own thesis data.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loop is universal — it doesn't depend on what model you use. In practice you iterate: deploy → notice failure → reframe → re-prepare → retrain. Tell students that real ML projects spend ≥ 70% of effort in steps 1 and 2.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single slide is the spine of the whole course. Put it on the wall of your office. Every project you do will move through these four boxes — and 90% of debugging happens by going back to a previous step.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Stress: sklearn's API is uniform — every model has fit() and predict(). That uniformity is what makes Pipeline + GridSearchCV so powerful. The same line of code that wires up a LinearRegression model wires up a 100-tree random forest.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most subtle pitfall. The model can be very accurate on data drawn from the same distribution and yet completely wrong when used 'mechanistically'. For science, this matters: if you discover a new correlation, the model can confirm it exists but cannot tell you it's causal.</a:t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back to Lec 3b — random forests are intrinsically robust to overfitting because bagging averages out the high variance of individual trees. But you still need to be careful with min_samples_leaf and max_depth for very small datasets.</a:t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Photo-z is the canonical example of selection bias in astronomy: the spec-z training sample is preferentially bright/nearby, but you deploy on the much fainter, more distant photometric set. Fixing this is an active research area — reweighting, importance-sampling, semi-supervised methods.</a:t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Generalizability is what separates a paper plot from a deployed catalog. Tell students: the random-forest per-object sigma we compute later (from the spread of trees) is one of the cheapest and most valuable uncertainty estimates you can attach to predictions.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Briefly tell the students they'll follow along in the notebook. We will literally walk every step of the ML framework on a real astronomy problem.</a:t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Selling point: this is one of the highest-impact ML applications in astronomy. Photo-z catalogs underpin cosmology, weak lensing, large-scale structure, and galaxy evolution. LSST/Rubin will depend on photo-z for almost everything.</a:t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back to Lec 3b slide 15: feature importance showed colors dominate over magnitudes. The dataset designers (Carrasco-Kind &amp; Brunner et al., 2009) explicitly used 'uber-colors' that are calibrated and extinction-corrected — that's why we don't need to apply our own scaling or extinction correction in this notebook.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dataset is from the Carrasco-Kind &amp; Brunner photo-z benchmark suite. The 'uber colors' are calibrated colors that have already absorbed the band corrections, so we don't need to do extinction correction or scaling — that's exceptional, in general you must. Stress that the redshift range is LOW (mostly z &lt; 0.3) — the model would not extrapolate to z=2.</a:t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Never report a fancy model without a baseline. Mean-prediction RMSE is the 'do nothing' floor; linear regression is the 'least effort' baseline. If your model can't beat both, it isn't worth shipping. RF clears both convincingly here.</a:t>
            </a:r>
            <a:endParaRPr/>
          </a:p>
        </p:txBody>
      </p:sp>
      <p:sp>
        <p:nvSpPr>
          <p:cNvPr id="229" name="Google Shape;2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original R script used ntree=50 — we keep that to reproduce. Stress: this is a small forest. For production, 500-1000 trees is more typical. We use sqrt features mostly out of convention; with only 4 features, the effect is small but still useful for tree decorrelation.</a:t>
            </a:r>
            <a:endParaRPr/>
          </a:p>
        </p:txBody>
      </p:sp>
      <p:sp>
        <p:nvSpPr>
          <p:cNvPr id="241" name="Google Shape;2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the cloud hugs the 1:1 line tightly. The slight downward bend at high z is the well-known photo-z 'compression' — the model under-predicts at the high-z edge because training examples become sparse. This is a hint that the training sample's z distribution matters: see Lec 1b distribution-shift slide.</a:t>
            </a:r>
            <a:endParaRPr/>
          </a:p>
        </p:txBody>
      </p:sp>
      <p:sp>
        <p:nvSpPr>
          <p:cNvPr id="255" name="Google Shape;25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magic of ensembles — you don't have to derive a probabilistic model, the bootstrap naturally gives you a per-prediction uncertainty. Caveats: this is a model-uncertainty estimate, NOT the photometric measurement error. For science use you typically need to add the two in quadrature.</a:t>
            </a:r>
            <a:endParaRPr/>
          </a:p>
        </p:txBody>
      </p:sp>
      <p:sp>
        <p:nvSpPr>
          <p:cNvPr id="266" name="Google Shape;2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Excellent diagnostic. The tails of our histogram are slightly heavier than N(0,1) — that's why the std is 1.24 instead of 1. In a paper you'd report this and either inflate σ post-hoc or switch to a quantile-regression forest. Tie back to Lec 2's z-score teaching.</a:t>
            </a:r>
            <a:endParaRPr/>
          </a:p>
        </p:txBody>
      </p:sp>
      <p:sp>
        <p:nvSpPr>
          <p:cNvPr id="281" name="Google Shape;2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the lecture by literally opening the notebook on the projector and running the first few cells. The remaining time can be used for a coding-along session. Set expectations: students should be able to adapt this template to their own thesis data.</a:t>
            </a:r>
            <a:endParaRPr/>
          </a:p>
        </p:txBody>
      </p:sp>
      <p:sp>
        <p:nvSpPr>
          <p:cNvPr id="292" name="Google Shape;2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opscience.iop.org/article/10.1088/0004-637X/712/1/51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sleepy-friendly-euler/mnt/outputs/logos/nrao_logo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2880"/>
            <a:ext cx="594360" cy="75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800"/>
              <a:buFont typeface="Georgia"/>
              <a:buNone/>
            </a:pPr>
            <a:r>
              <a:rPr b="0" i="0" lang="en-US" sz="3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Lecture 4: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Practical Implementation of Random Forest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The ML framework, common pitfalls,  and a worked photo-z case study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Omkar Bait (CosmicAI Fellow)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NRAO, Charlottesville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ML Framework — One Picture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Every supervised-ML project follows the same four steps. Skipping any leads to trouble.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ml_framework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975" y="1325875"/>
            <a:ext cx="6783425" cy="30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5720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Today: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we revisit each step briefly, then walk through a complete real-world example.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Step-by-Step Recap of the Course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457200" y="914400"/>
            <a:ext cx="548640" cy="54864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143000" y="9144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Define the Task</a:t>
            </a: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(Lec 1b)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143000" y="120700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 is X?  What is y?  Classification or regression?  What does success mean (RMSE, accuracy)?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57200" y="1783080"/>
            <a:ext cx="548640" cy="54864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143000" y="17830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Prepare the Data</a:t>
            </a: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(Lec 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143000" y="207568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EDA → missing values → outliers → scaling → encoding → split into train / val / test.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43000" y="26517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Develop the Model</a:t>
            </a: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(Lec 3a + 3b)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43000" y="294436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Pick a model → beat a baseline → cross-validate → tune hyperparameters → guard against leakage.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A36B1F"/>
          </a:solidFill>
          <a:ln cap="flat" cmpd="sng" w="12700">
            <a:solidFill>
              <a:srgbClr val="A36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143000" y="3520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6B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A36B1F"/>
                </a:solidFill>
                <a:latin typeface="Georgia"/>
                <a:ea typeface="Georgia"/>
                <a:cs typeface="Georgia"/>
                <a:sym typeface="Georgia"/>
              </a:rPr>
              <a:t>Inference / Deploy</a:t>
            </a: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(Lec 4)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143000" y="381304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Final evaluation on test set → uncertainty quantification → apply to unseen real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scikit-learn — Your Toolbox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4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Open-source, BSD-licensed, the de-facto standard for ML in Python.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1371600"/>
            <a:ext cx="411480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502920" y="1417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Datasets &amp; loading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17373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fetch_openml, load_iris, load_digits, plus the I/O helpers in pandas.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663440" y="1371600"/>
            <a:ext cx="4114800" cy="14173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800600" y="1417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00600" y="17373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SimpleImputer, KNNImputer, StandardScaler, MinMaxScaler, OneHotEncoder, PCA.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2880360"/>
            <a:ext cx="4114800" cy="1417320"/>
          </a:xfrm>
          <a:prstGeom prst="rect">
            <a:avLst/>
          </a:prstGeom>
          <a:solidFill>
            <a:srgbClr val="E7EAE3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02920" y="2926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02920" y="32461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LinearRegression, DecisionTreeClassifier, RandomForestClassifier, GradientBoosting, SVM, MLP.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663440" y="2880360"/>
            <a:ext cx="4114800" cy="1417320"/>
          </a:xfrm>
          <a:prstGeom prst="rect">
            <a:avLst/>
          </a:prstGeom>
          <a:solidFill>
            <a:srgbClr val="F8EFE0"/>
          </a:solidFill>
          <a:ln cap="flat" cmpd="sng" w="9525">
            <a:solidFill>
              <a:srgbClr val="A36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00600" y="2926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6B1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A36B1F"/>
                </a:solidFill>
                <a:latin typeface="Georgia"/>
                <a:ea typeface="Georgia"/>
                <a:cs typeface="Georgia"/>
                <a:sym typeface="Georgia"/>
              </a:rPr>
              <a:t>Pipelines &amp;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00600" y="324612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Pipeline, ColumnTransformer, train_test_split, StratifiedKFold, GridSearchCV, cross_val_score.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44348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All-in-one install: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numpy pandas scikit-learn matplotlib  jupyter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Pitfall 1 — Causation vs Correlation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/>
          <p:nvPr/>
        </p:nvSpPr>
        <p:spPr>
          <a:xfrm>
            <a:off x="457200" y="914400"/>
            <a:ext cx="40233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ML finds patterns.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It does not know </a:t>
            </a:r>
            <a:r>
              <a:rPr b="0" i="1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why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pattern exists.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Classic example: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Ice cream sales and sunburn rates are strongly correlated.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But eating ice cream doesn't cause sunburn.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Both are driven by a hidden cause: </a:t>
            </a: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temperature.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causation.png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914400"/>
            <a:ext cx="43891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457200" y="3794760"/>
            <a:ext cx="8412480" cy="7315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94360" y="3822192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In astronomy: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galaxy color correlates with redshift (and we'll exploit that today). But color does not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cause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redshift.</a:t>
            </a:r>
            <a:endParaRPr b="0" i="0" sz="1200" u="none" cap="none" strike="noStrike">
              <a:solidFill>
                <a:srgbClr val="2B2B2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Don't extrapolate beyond the training range.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Pitfall 2 — Overfitting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 model with too much capacity can memorize the training set noise.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65760" y="1371600"/>
            <a:ext cx="4160520" cy="27432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0292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How to spot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02920" y="178308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Training metric → near-perfect.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Validation / test metric → much worse.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Predictions look noisy or wildly variable on small data perturbations.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Feature importances dominated by a single feature.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663440" y="1371600"/>
            <a:ext cx="4160520" cy="27432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80060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How to fix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800600" y="178308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Get more training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Reduce model complexity (max_depth, fewer features).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Add regularization (ccp_alpha, weight decay).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Cross-validate (Lec 3a) — never trust a single split.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 ensembles (bagging, RF) — average out the noise.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4297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Mantra: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always report </a:t>
            </a:r>
            <a:r>
              <a:rPr b="1" i="1" lang="en-US" sz="125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two numbers: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training metric and test metric. The gap is the diagnostic.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Pitfall 3 — Bias in the Training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7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7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The model can only learn what is in your training set. Holes in coverage become silent failures.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1371600"/>
            <a:ext cx="416052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02920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Selection bias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17373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Training sample isn't a random draw from the deployment population.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02920" y="2286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b="0" i="1" lang="en-US" sz="11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Spectroscopic samples are biased toward bright nearby galaxies.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63440" y="1371600"/>
            <a:ext cx="416052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800600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Label bias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00600" y="17373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labels reflect human / pipeline choices, not the underlying truth.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00600" y="2286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b="0" i="1" lang="en-US" sz="11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Citizen-science galaxy morphology has inter-rater disagreement.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760" y="2880360"/>
            <a:ext cx="416052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02920" y="29260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Measurement bias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32461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Survey or instrument systematics that change with sky position or epoch.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2920" y="37947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b="0" i="1" lang="en-US" sz="11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Different filter calibrations between SDSS and DES create offsets.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63440" y="2880360"/>
            <a:ext cx="416052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800600" y="29260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Representation bias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800600" y="32461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Rare but important sub-populations are under-represented.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00600" y="37947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→  </a:t>
            </a:r>
            <a:r>
              <a:rPr b="0" i="1" lang="en-US" sz="11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AGN, lensed quasars, ultra-faint dwarfs — easy to miss.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43891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Diagnostic: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compare distributions of train vs deploy features (Lec 1b slide on distribution shift).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Pitfall 4 — Generalizability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8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Will your model still work tomorrow, on data it has never seen?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65760" y="1371600"/>
            <a:ext cx="2743200" cy="23317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02920" y="14173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Domain (covariate) shift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02920" y="210312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New data is drawn from a different feature distribution (e.g. fainter galaxies, new sky region).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246120" y="1371600"/>
            <a:ext cx="2743200" cy="23317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383280" y="14173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Concept shift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383280" y="210312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target relationship itself changes (e.g. K-correction at high z that wasn't in training).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126480" y="1371600"/>
            <a:ext cx="2743200" cy="2331720"/>
          </a:xfrm>
          <a:prstGeom prst="rect">
            <a:avLst/>
          </a:prstGeom>
          <a:solidFill>
            <a:srgbClr val="E7EAE3"/>
          </a:solidFill>
          <a:ln cap="flat" cmpd="sng" w="9525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263640" y="14173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5A3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A5A3B"/>
                </a:solidFill>
                <a:latin typeface="Georgia"/>
                <a:ea typeface="Georgia"/>
                <a:cs typeface="Georgia"/>
                <a:sym typeface="Georgia"/>
              </a:rPr>
              <a:t>Adversarial / 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263640" y="210312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Outliers and rare events the model has never met (catastrophic photo-z failures).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3840480"/>
            <a:ext cx="8412480" cy="6858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3867912"/>
            <a:ext cx="8183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Defenses: 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(1)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always estimate uncertainty alongside predictions; 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(2)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monitor input distributions in deployment; 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(3)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flag low-confidence predictions for human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F4ECE9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200"/>
              <a:buFont typeface="Georgia"/>
              <a:buNone/>
            </a:pPr>
            <a:r>
              <a:rPr b="0" i="1" lang="en-US" sz="3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Part 2  ·  Case Study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Photometric Redshift Estimation with Random Forest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10 000 SDSS DR6 galaxies  ·  4 colors  ·  scikit-learn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743200" y="480471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467150" y="4345175"/>
            <a:ext cx="62097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Reference: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Carliles et al. 2010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Photometric Redshifts?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0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Spectroscopy is the gold standard. But it's slow and expensive.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365760" y="1371600"/>
            <a:ext cx="4160520" cy="27432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Spectroscopic z  (truth)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" y="178308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Disperse light through a grating, identify emission/absorption lines, measure shifts.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Accurate to ~10⁻⁴.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Slow: hours per galaxy on big telescopes.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Expensive — pre-LSST surveys ≈ 10⁶ spec-z.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663440" y="1371600"/>
            <a:ext cx="4160520" cy="27432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80060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Photometric z  (estimate)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800600" y="178308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 the brightness through a small set of broad filters (u, g, r, i, z).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Lower accuracy (σ ≈ 0.02–0.05).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Fast: one image gives 10⁶+ galaxies at once.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Char char="■"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Cheap — LSST will deliver ~ 10¹⁰ photo-z.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1 — Define the Task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1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1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502920" y="98755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2011680" y="987552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Supervised  ·  regression (target is a continuous scalar).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65760" y="1783080"/>
            <a:ext cx="8412480" cy="7772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502920" y="185623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Inputs (X)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011680" y="1856232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4 colors:  uberColorU, uberColorG, uberColorR, uberColorI.  (Pre-computed from ugriz magnitudes.)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365760" y="2651760"/>
            <a:ext cx="8412480" cy="7772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502920" y="272491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Target (y)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011680" y="2724912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zSpec — spectroscopic redshift in the range [0.002, 0.38] (low-z galaxy sample).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502920" y="3593592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Success metric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011680" y="3593592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RMSE on z, plus bias  Δz = ⟨zPhot − zSpec⟩  and outlier fraction  |Δz| / (1+z) &gt; 0.15.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57200" y="43891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colors instead of raw magnitudes?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colors are scale-free (insensitive to overall brightness) → cleaner physics.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Dataset — SDSS DR6 Galaxies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2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2"/>
          <p:cNvSpPr/>
          <p:nvPr/>
        </p:nvSpPr>
        <p:spPr>
          <a:xfrm>
            <a:off x="457200" y="91440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10 000 + 10 000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galaxies (train + test).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Drawn uniformly at random from the SDSS DR6 </a:t>
            </a:r>
            <a:r>
              <a:rPr b="0" i="1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main galaxy sample.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Files we will use: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trainColors10k.txt  (n × 4 features)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trainzSpec10k.txt   (n × 1 target)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testColors10k.txt   (n × 4 features)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testzSpec10k.txt    (n × 1 target)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photoz_data.png"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3891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4572000" y="2880360"/>
            <a:ext cx="4434840" cy="141732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709160" y="29260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1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709160" y="3200400"/>
            <a:ext cx="4206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uberColorU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  u − g  (extinction-corrected)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uberColorG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  g − 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uberColorR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  r −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uberColorI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   i − 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57200" y="43891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Georgia"/>
              <a:buNone/>
            </a:pPr>
            <a:r>
              <a:rPr b="1" i="1" lang="en-US" sz="11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Note:  </a:t>
            </a:r>
            <a:r>
              <a:rPr b="0" i="1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split was done by the dataset authors — already i.i.d. and we treat it as our test holdout.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2 — EDA  &amp;  Baselines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3"/>
          <p:cNvSpPr/>
          <p:nvPr/>
        </p:nvSpPr>
        <p:spPr>
          <a:xfrm>
            <a:off x="457200" y="914400"/>
            <a:ext cx="40233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Sanity checks (Lec 1b–2):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shape (10 000 × 4).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 missing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redshift distribution skewed to small z.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colors strongly correlated with z (good).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Two baselines to beat: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predict the training mean ⟨z⟩.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fit a simple LinearRegression on the 4 colors.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baselines.png" id="234" name="Google Shape;2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3891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/>
          <p:nvPr/>
        </p:nvSpPr>
        <p:spPr>
          <a:xfrm>
            <a:off x="457200" y="42976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Takeaway: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RF cuts the error of linear regression by ~36% and of the mean baseline by ~50%.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3 — Train the Random Forest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4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4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50"/>
              <a:buFont typeface="Georgia"/>
              <a:buNone/>
            </a:pPr>
            <a:r>
              <a:rPr b="0" i="1" lang="en-US" sz="12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Default RF hyperparameters work surprisingly well here — but it's worth knowing what each knob does.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365760" y="1371600"/>
            <a:ext cx="5120640" cy="274320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548640" y="1463040"/>
            <a:ext cx="49377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sklearn.ensemble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RandomForestRegressor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rf = RandomForestRegressor(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n_estimators=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        </a:t>
            </a: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# of trees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max_features=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"sqrt"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    </a:t>
            </a: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decorrelate trees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min_samples_leaf=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      </a:t>
            </a: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soft pre-pruning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n_jobs=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random_state=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rf.fit(train_colors, train_zspec)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z_phot = rf.predict(test_colors)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623560" y="137160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Tune by cross-validation: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n_estimators: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50 → 500. Beyond ~200 the gain on this dataset is tiny.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max_features: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with only 4 features, sqrt(4) = 2 is reasonable.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min_samples_leaf: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leaves with only 1 sample tend to over-predict locally; keep ≥ 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457200" y="42976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Test result: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RMSE = 0.0246, bias = +0.0001, outlier frac &lt; 0.05%.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Result — zPhot  vs  zSpec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5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5"/>
          <p:cNvSpPr/>
          <p:nvPr/>
        </p:nvSpPr>
        <p:spPr>
          <a:xfrm>
            <a:off x="411480" y="91440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Headline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RMSE                     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0.0246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Bias  ⟨zPhot − zSpec⟩    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+0.0001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MAD  |Δz| / (1+z)        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0.012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Outlier frac  &gt; 0.15(1+z) 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0.02%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Comfortably under the LSST DESC requirement (σ &lt; 0.05).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photoz_scatter.png" id="260" name="Google Shape;2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38912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Per-Object Uncertainty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6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6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 random forest gives you free uncertainty: the spread of its trees.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57200" y="1417320"/>
            <a:ext cx="8412480" cy="86868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457200" y="1417320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σ(x)  =  sqrt(  mean_b [ ( ẑ_b(x) − ẑ_forest(x) )² ]  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365760" y="2468880"/>
            <a:ext cx="8412480" cy="132588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548640" y="256032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Aggregate prediction from the 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z_phot = rf.predict(X_test)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ourier New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Courier New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Individual tree predictions  (n_trees, n_samples)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indiv = np.vstack([t.predict(X_test)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t </a:t>
            </a:r>
            <a:r>
              <a:rPr b="1" i="0" lang="en-US" sz="12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rf.estimators_])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sigma = np.sqrt(((indiv - z_phot[None,:])**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).mean(axis=</a:t>
            </a:r>
            <a:r>
              <a:rPr b="0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457200" y="3977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On this test set: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mean σ = 0.021, somewhat smaller than the actual scatter (RMSE 0.025) → mildly under-estimated.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Calibration  —  Are Our σ's Honest?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7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7"/>
          <p:cNvSpPr/>
          <p:nvPr/>
        </p:nvSpPr>
        <p:spPr>
          <a:xfrm>
            <a:off x="411480" y="91440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If σ's were perfectly calibrated, the standardized residuals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    (zPhot − zSpec) / 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would follow </a:t>
            </a:r>
            <a:r>
              <a:rPr b="1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N(0, 1).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What we find: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empirical std is </a:t>
            </a: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1.24,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not 1.0.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Interpretation: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model under-estimates its uncertainty by ~24%. Multiply σ by 1.24 for honest reporting.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photoz_calibration.png"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38912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Wrap-Up  &amp;  Hand-Off to the Notebook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8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8"/>
          <p:cNvSpPr/>
          <p:nvPr/>
        </p:nvSpPr>
        <p:spPr>
          <a:xfrm>
            <a:off x="548640" y="914400"/>
            <a:ext cx="411480" cy="41148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548640" y="914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097280" y="9144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Define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3520440" y="914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supervised regression  ·  colors → z  ·  RMSE / bias / outlier frac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1097280" y="15087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Prepare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520440" y="15087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10 000 SDSS galaxies, clean (uber-colors), no missing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097280" y="21031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3520440" y="21031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RF (50 trees, sqrt-features)  beats linear regression by 36% 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1097280" y="26974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3520440" y="26974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RMSE 0.0246  ·  bias near zero  ·  per-object σ from the ensemble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1097280" y="3291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Caveats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3520440" y="32918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σ under-estimated by ~24%  ·  extrapolation beyond z &lt; 0.4 unsafe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57200" y="4023360"/>
            <a:ext cx="8412480" cy="54864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594360" y="4050792"/>
            <a:ext cx="8183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Now open  </a:t>
            </a:r>
            <a:r>
              <a:rPr b="1" i="0" lang="en-US" sz="12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RFPhotoZ_full.ipynb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and walk through it cell by cell. Each section maps to one box of the ML framework — try the suggested extensions at the 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2026-05-15T20:36:19Z</dcterms:created>
  <dc:creator>Omkar Bait</dc:creator>
</cp:coreProperties>
</file>