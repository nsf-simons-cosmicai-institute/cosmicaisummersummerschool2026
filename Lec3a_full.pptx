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4RVVwoccndCeENmOACBw+JnfU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394E38-BE30-4118-A985-60CD4CC28087}">
  <a:tblStyle styleId="{ED394E38-BE30-4118-A985-60CD4CC280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recap of Lec 1b &amp; Lec 2. Now: we have a clean X matrix and a target y. How do we know the model we train will work on NEW galaxies, not just the ones we trained on? That is the central question of this lecture: data splits, cross-validation, and a deep dive on data leakage.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 students to internalize: the goal of ML is not to fit data, it is to predict NEW data. Anchor: when we discover a new galaxy, the model hasn't seen it. Its label has never been computed. Train/test split simulates that scenario.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Story: many ML papers report a great test score, then someone re-runs on the actual test set (via Kaggle private leaderboard) and the number drops 5–10 points. Why? Because authors test, tune, test again — the test set has been used for tuning. That number is no longer a fair estimate of generalization.</a:t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Hold-out is the workhorse but it's noisy. For small astro datasets (which are common — spectroscopic confirmation is expensive), a single 80/20 can give wildly different scores depending on which 20 you held out. K-fold averages over this noise.</a:t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Trade-off: K-fold takes k× longer than a single split. For neural nets that train for hours, this is expensive — people often use single hold-out. For random forests on tabular astro data, k=5 is cheap and gives much better estimates.</a:t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each card. Anchor RMSE as the default — it's what most papers report. MAE is the right choice when outliers exist (think galaxy size measurements with cosmic-ray contamination). R² is the right choice when you compare a model on dataset A vs dataset B with different y scales.</a:t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confusion matrix carefully — TP/FN/FP/TN is the foundation of every classification metric. Then derive accuracy / precision / recall directly from it on the board. The next slide (picking metrics) will reinforce when each is appropriate.</a:t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c422d4d4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ec422d4d4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confusion matrix carefully — TP/FN/FP/TN is the foundation of every classification metric. Then derive accuracy / precision / recall directly from it on the board. The next slide (picking metrics) will reinforce when each is appropriate.</a:t>
            </a:r>
            <a:endParaRPr/>
          </a:p>
        </p:txBody>
      </p:sp>
      <p:sp>
        <p:nvSpPr>
          <p:cNvPr id="145" name="Google Shape;145;g3ec422d4d4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Hand-wave through the flowchart in 30 seconds. The real point is the iron rule: NEVER report just one number. Real papers report 3+ metrics. For photo-z: RMSE + bias + outlier fraction. For classification: accuracy + F1 + AUC (or confusion matrix).</a:t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ba4dbef2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eba4dbef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canonical data-leakage question. Students often pick D (something reasonable about test-set being noisy) but the deep answer is B — fitting on test contaminates the model's view of the world.</a:t>
            </a:r>
            <a:endParaRPr/>
          </a:p>
        </p:txBody>
      </p:sp>
      <p:sp>
        <p:nvSpPr>
          <p:cNvPr id="205" name="Google Shape;205;g3eba4dbef2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ba4dbef27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ba4dbef27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Reinforce: this is preview of Lec 3a's leakage discussion. The reason Pipelines are so loved in sklearn is that they prevent this entire class of mistakes by default.</a:t>
            </a:r>
            <a:endParaRPr/>
          </a:p>
        </p:txBody>
      </p:sp>
      <p:sp>
        <p:nvSpPr>
          <p:cNvPr id="234" name="Google Shape;234;g3eba4dbef27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of hands. Most students intuitively go for C ('it got the lenses wrong, so 1%'). The trap is that accuracy includes the TRUE NEGATIVES — the 99% it correctly called 'not a lens.' That high accuracy is exactly why accuracy is the WRONG metric here.</a:t>
            </a:r>
            <a:endParaRPr/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canonical 'class imbalance' lesson. Astronomy is full of these: gravitational lenses are rare, lensed quasars are rare, transients are rare, exoplanets are rare. If your model is for discovery, accuracy is almost never the right metric.</a:t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Trigger: 'rare class' is the keyword that should pattern-match to StratifiedKFold. A common wrong answer is C (GroupKFold) — students conflate 'group' with 'class'.</a:t>
            </a:r>
            <a:endParaRPr/>
          </a:p>
        </p:txBody>
      </p:sp>
      <p:sp>
        <p:nvSpPr>
          <p:cNvPr id="331" name="Google Shape;3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Mnemonic for choosing CV: 'rare class → stratified', 'shared entity → group', 'time matters → time-series'. If none of those apply, plain KFold is fine.</a:t>
            </a:r>
            <a:endParaRPr/>
          </a:p>
        </p:txBody>
      </p:sp>
      <p:sp>
        <p:nvSpPr>
          <p:cNvPr id="360" name="Google Shape;36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this back to Lec 1b's distribution-shift slide. The spec-z training sample is brighter and rarer than the photometric sample you deploy on. Both labels and features can drift. Mention semi-supervised methods (briefly): use the unlabeled X to help learn structure.</a:t>
            </a:r>
            <a:endParaRPr/>
          </a:p>
        </p:txBody>
      </p:sp>
      <p:sp>
        <p:nvSpPr>
          <p:cNvPr id="394" name="Google Shape;3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trap is that this looks innocuous — 'I just looked at the result, what's the harm?' But any decision based on the test score (tweak this knob, switch to a different model) USES the test set to tune. That's the subtle leakage Kaggle private/public leaderboards were designed to catch.</a:t>
            </a:r>
            <a:endParaRPr/>
          </a:p>
        </p:txBody>
      </p:sp>
      <p:sp>
        <p:nvSpPr>
          <p:cNvPr id="413" name="Google Shape;41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Tell the story: Kaggle has both a public leaderboard (~30% of test rows) and a private leaderboard (the rest). The public board is for tuning; the private one is the honest evaluation. The reason is exactly this question — even passive peeking biases the score.</a:t>
            </a:r>
            <a:endParaRPr/>
          </a:p>
        </p:txBody>
      </p:sp>
      <p:sp>
        <p:nvSpPr>
          <p:cNvPr id="442" name="Google Shape;44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 them 60 seconds. Walk around the room and listen — see who can name it. The students who can spot leakage in code are the ones who will save their advisors months of debugging.</a:t>
            </a:r>
            <a:endParaRPr/>
          </a:p>
        </p:txBody>
      </p:sp>
      <p:sp>
        <p:nvSpPr>
          <p:cNvPr id="476" name="Google Shape;47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Strongest sales pitch for sklearn Pipelines: they make this entire class of bugs impossible. If you can't picture how leakage would sneak into a Pipeline-wrapped workflow, you're already ahead of most ML papers.</a:t>
            </a:r>
            <a:endParaRPr/>
          </a:p>
        </p:txBody>
      </p:sp>
      <p:sp>
        <p:nvSpPr>
          <p:cNvPr id="491" name="Google Shape;49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most insidious failure mode in applied ML. The model APPEARS to work — your collaborators are excited, you submit a paper, and then a reviewer asks the right question and the whole thing collapses. Spend real time on the next slide.</a:t>
            </a:r>
            <a:endParaRPr/>
          </a:p>
        </p:txBody>
      </p:sp>
      <p:sp>
        <p:nvSpPr>
          <p:cNvPr id="509" name="Google Shape;50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four patterns cover ~90% of real leakage cases. Spend time on each. The litmus test at the bottom is the single most useful question to ask of a new feature.</a:t>
            </a:r>
            <a:endParaRPr/>
          </a:p>
        </p:txBody>
      </p:sp>
      <p:sp>
        <p:nvSpPr>
          <p:cNvPr id="520" name="Google Shape;52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commandments visible in this code: (1) test set is split off ONCE at the start, never touched until the very end; (2) all preprocessing lives inside the Pipeline so it gets refit inside each CV fold; (3) stratify=y everywhere if classification. This 25-line template covers 80% of real projects.</a:t>
            </a:r>
            <a:endParaRPr/>
          </a:p>
        </p:txBody>
      </p:sp>
      <p:sp>
        <p:nvSpPr>
          <p:cNvPr id="541" name="Google Shape;54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emphasizing: a reliable evaluation pipeline is more valuable than a fancy model. The next lecture introduces the actual models — but everything we built today (splits, CV, leakage hygiene) wraps around whatever model we choose.</a:t>
            </a:r>
            <a:endParaRPr/>
          </a:p>
        </p:txBody>
      </p:sp>
      <p:sp>
        <p:nvSpPr>
          <p:cNvPr id="553" name="Google Shape;55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 leakage is a classic astronomy mistake: you have 5 galaxies from the same cluster, you split randomly, 3 go to train and 2 to test. The model has seen cluster-specific features, so it 'cheats' on the test. Always check whether your examples are i.i.d. — they often aren't.</a:t>
            </a:r>
            <a:endParaRPr/>
          </a:p>
        </p:txBody>
      </p:sp>
      <p:sp>
        <p:nvSpPr>
          <p:cNvPr id="584" name="Google Shape;5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 numbers from a small RF on the photo-z dataset. Walk them through both the arithmetic and the meaning: 'why N-1 not N?' — because the mean was estimated from the same data, you lose one degree of freedom (Bessel's correction).</a:t>
            </a:r>
            <a:endParaRPr/>
          </a:p>
        </p:txBody>
      </p:sp>
      <p:sp>
        <p:nvSpPr>
          <p:cNvPr id="605" name="Google Shape;6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sklearn: cross_val_score returns the array; you then do scores.mean() and scores.std(). Note the convention: sklearn uses NEGATIVE RMSE in scoring strings ('neg_root_mean_squared_error') because higher is always better — you negate for reporting.</a:t>
            </a:r>
            <a:endParaRPr/>
          </a:p>
        </p:txBody>
      </p:sp>
      <p:sp>
        <p:nvSpPr>
          <p:cNvPr id="624" name="Google Shape;6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sleepy-friendly-euler/mnt/outputs/logos/nrao_logo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82880"/>
            <a:ext cx="594360" cy="75895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800"/>
              <a:buFont typeface="Georgia"/>
              <a:buNone/>
            </a:pPr>
            <a:r>
              <a:rPr b="0" i="0" lang="en-US" sz="3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Lecture 3a: Data Formatting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&amp; Model Reliability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Splits, Cross-Validation, and Leakage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Omkar Bait (CosmicAI Fellow)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NRAO, Charlottesville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Why Split Your Data?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2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A model that memorizes the training set is worthless on new galaxies.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371600"/>
            <a:ext cx="4160520" cy="27432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02920" y="141732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The trap: training accuracy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1783080"/>
            <a:ext cx="3886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 flexible model can fit </a:t>
            </a:r>
            <a:r>
              <a:rPr b="1" i="1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any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training set perfectly — even pure noise.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Training accuracy says </a:t>
            </a:r>
            <a:r>
              <a:rPr b="1" i="1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nothing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about how the model will perform on tomorrow's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We need a </a:t>
            </a: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held-out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sample the model has never seen.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709160" y="1371600"/>
            <a:ext cx="4160520" cy="274320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846320" y="141732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Two failure modes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846320" y="1783080"/>
            <a:ext cx="3886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Overfitting: 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model fits noise as if it were signal.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Symptom: train ≫ test accuracy.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Underfitting: 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model is too simple to capture the 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Symptom: train ≈ test, both bad.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42519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The fix: 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split the data into Train, Validation, and Test — and use each for one job only.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Train / Validation / Test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3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leepy-friendly-euler/mnt/outputs/figs/fig_split.png"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868680"/>
            <a:ext cx="731520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365760" y="2423160"/>
            <a:ext cx="2743200" cy="18288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0292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Training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02920" y="2788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~70%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02920" y="310896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Fit the model parameters. Loss is minimized 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246120" y="2423160"/>
            <a:ext cx="2743200" cy="182880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338328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383280" y="2788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~15%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383280" y="310896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Tune hyperparameters (tree depth, k in KNN). Pick the best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126480" y="2423160"/>
            <a:ext cx="2743200" cy="1828800"/>
          </a:xfrm>
          <a:prstGeom prst="rect">
            <a:avLst/>
          </a:prstGeom>
          <a:solidFill>
            <a:srgbClr val="E7EAE3"/>
          </a:solidFill>
          <a:ln cap="flat" cmpd="sng" w="9525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26364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3A5A3B"/>
                </a:solidFill>
                <a:latin typeface="Georgia"/>
                <a:ea typeface="Georgia"/>
                <a:cs typeface="Georgia"/>
                <a:sym typeface="Georgia"/>
              </a:rPr>
              <a:t>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263640" y="2788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~15%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263640" y="310896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Touch only once, at the very end. Reported number = your final score.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43434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Iron rule: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Test set is a one-shot. If you peek and re-tune, it's no longer a test.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Hold-out Validation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4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4"/>
          <p:cNvSpPr/>
          <p:nvPr/>
        </p:nvSpPr>
        <p:spPr>
          <a:xfrm>
            <a:off x="457200" y="91440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Recipe: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Randomly split into train / val (e.g. 80/20).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Train the model on the train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Compute the metric on the validation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Repeat for every hyperparameter choice.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Pros: 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fast — only one train per config.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Cons: 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score depends on which random split you got.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0" y="914400"/>
            <a:ext cx="4297680" cy="3291840"/>
          </a:xfrm>
          <a:prstGeom prst="rect">
            <a:avLst/>
          </a:prstGeom>
          <a:solidFill>
            <a:srgbClr val="F6F2E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709160" y="1005840"/>
            <a:ext cx="41148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sklearn.model_selection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train_test_split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Courier New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stratify=y when classifying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X_train, X_val, y_train, y_val = 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train_test_split(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    X, y,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    test_size=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    random_state=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stratify=y,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57200" y="4297680"/>
            <a:ext cx="8412480" cy="36576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Watch out: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one bad split can mislead. Use a fixed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random_state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for reproducibility, then validate with k-fold (next slide).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K-Fold Cross-Validation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5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leepy-friendly-euler/mnt/outputs/figs/fig_kfold.png"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868680"/>
            <a:ext cx="73152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457200" y="3246120"/>
            <a:ext cx="4160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How it works: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Split data into </a:t>
            </a: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k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equal chunks (typical k = 5 or 10).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Hold one chunk out as validation, train on the rest.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Repeat for every chunk. Average the k scores.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709160" y="3246120"/>
            <a:ext cx="4160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Why bother: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Every example serves as validation exactly once.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More robust estimate (mean ± std across folds).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Especially valuable for small astro samples.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4297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KFold(n_splits=5, shuffle=True, random_state=42)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Regression Metrics  —  Continuous 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When the target is a continuous number, you have a standard toolbox of 4 metrics.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65760" y="1371600"/>
            <a:ext cx="4114800" cy="11887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502920" y="14173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" y="17190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MSE  =  (1/N) Σ ( yᵢ − ŷᵢ )²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02920" y="21031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Squared units.  Sensitive to outliers.  Mathematically convenient (differentiable).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663440" y="1371600"/>
            <a:ext cx="4114800" cy="118872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800600" y="14173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RMSE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800600" y="17190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RMSE  =  √MSE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800600" y="21031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Same units as y.  Default for reporting (interpretable).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65760" y="2651760"/>
            <a:ext cx="4114800" cy="1188720"/>
          </a:xfrm>
          <a:prstGeom prst="rect">
            <a:avLst/>
          </a:prstGeom>
          <a:solidFill>
            <a:srgbClr val="E7EAE3"/>
          </a:solidFill>
          <a:ln cap="flat" cmpd="sng" w="9525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02920" y="26974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3A5A3B"/>
                </a:solidFill>
                <a:latin typeface="Georgia"/>
                <a:ea typeface="Georgia"/>
                <a:cs typeface="Georgia"/>
                <a:sym typeface="Georgia"/>
              </a:rPr>
              <a:t>MAE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02920" y="29992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A5A3B"/>
                </a:solidFill>
                <a:latin typeface="Courier New"/>
                <a:ea typeface="Courier New"/>
                <a:cs typeface="Courier New"/>
                <a:sym typeface="Courier New"/>
              </a:rPr>
              <a:t>MAE  =  (1/N) Σ | yᵢ − ŷᵢ |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33832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Same units as y.  Robust to outliers (no squaring).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65760" y="3931920"/>
            <a:ext cx="8458200" cy="59436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02920" y="3950208"/>
            <a:ext cx="8183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Don't forget BIAS:  </a:t>
            </a: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⟨ ŷ − y ⟩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 — tells you if the model systematically over- or under-predicts.   </a:t>
            </a:r>
            <a:r>
              <a:rPr b="1" i="1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Photo-z (Lec 4):  </a:t>
            </a:r>
            <a:r>
              <a:rPr b="0" i="1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RMSE = 0.025,  bias = +0.0001  →  accurate and unbiased.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Classification Metrics  —  Discrete 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7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7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Class labels need a richer toolbox.  Start with the  confusion matrix.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" y="137160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Confusion matrix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7"/>
          <p:cNvGraphicFramePr/>
          <p:nvPr/>
        </p:nvGraphicFramePr>
        <p:xfrm>
          <a:off x="4114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{ED394E38-BE30-4118-A985-60CD4CC28087}</a:tableStyleId>
              </a:tblPr>
              <a:tblGrid>
                <a:gridCol w="960125"/>
                <a:gridCol w="1554475"/>
                <a:gridCol w="15544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Predicted YES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2D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Predicted NO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2D2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50"/>
                        <a:buFont typeface="Georg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B2B2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Actual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50"/>
                        <a:buFont typeface="Georg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B2B2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YES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5A3B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A5A3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TP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2D26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2D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FN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CE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50"/>
                        <a:buFont typeface="Georg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B2B2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Actual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50"/>
                        <a:buFont typeface="Georg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B2B2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NO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2D26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2D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FP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C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5A3B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A5A3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TN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3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7"/>
          <p:cNvSpPr/>
          <p:nvPr/>
        </p:nvSpPr>
        <p:spPr>
          <a:xfrm>
            <a:off x="4663440" y="137160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663440" y="16916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989320" y="16916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(TP + TN) /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818120" y="1691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fraction correct overall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663440" y="2148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Precision</a:t>
            </a:r>
            <a:endParaRPr b="1" i="0" sz="1300" u="none" cap="none" strike="noStrike">
              <a:solidFill>
                <a:srgbClr val="7B2D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(Purity)</a:t>
            </a:r>
            <a:endParaRPr b="1" sz="1300">
              <a:solidFill>
                <a:srgbClr val="7B2D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989320" y="21488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TP / (TP + FP)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818120" y="21488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of YES calls, how many right?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26275" y="2606050"/>
            <a:ext cx="155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   </a:t>
            </a: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Recall</a:t>
            </a:r>
            <a:endParaRPr b="1" i="0" sz="1300" u="none" cap="none" strike="noStrike">
              <a:solidFill>
                <a:srgbClr val="7B2D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(Completeness)</a:t>
            </a:r>
            <a:endParaRPr b="1" sz="1300">
              <a:solidFill>
                <a:srgbClr val="7B2D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989320" y="26060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TP / (TP + FN)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818120" y="26060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of true YES, how many caught?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663440" y="30632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989320" y="30632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2 · P · R / (P + 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818120" y="30632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harmonic mean of P &amp; 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663440" y="352044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ROC-AUC:  </a:t>
            </a: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area under TPR-vs-FPR curve.  </a:t>
            </a: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Threshold-free.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5760" y="3931920"/>
            <a:ext cx="8458200" cy="59436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02920" y="3950208"/>
            <a:ext cx="8183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Use F1 or AUC when the rare class is what matters.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422d4d4e_0_2"/>
          <p:cNvSpPr/>
          <p:nvPr/>
        </p:nvSpPr>
        <p:spPr>
          <a:xfrm>
            <a:off x="274320" y="137160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Classification Metrics  —  Discrete 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g3ec422d4d4e_0_2"/>
          <p:cNvCxnSpPr/>
          <p:nvPr/>
        </p:nvCxnSpPr>
        <p:spPr>
          <a:xfrm>
            <a:off x="365760" y="777240"/>
            <a:ext cx="841260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g3ec422d4d4e_0_2"/>
          <p:cNvSpPr/>
          <p:nvPr/>
        </p:nvSpPr>
        <p:spPr>
          <a:xfrm>
            <a:off x="457200" y="914400"/>
            <a:ext cx="841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Class labels need a richer toolbox.  Start with the  confusion matrix.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c422d4d4e_0_2"/>
          <p:cNvSpPr/>
          <p:nvPr/>
        </p:nvSpPr>
        <p:spPr>
          <a:xfrm>
            <a:off x="365760" y="1371600"/>
            <a:ext cx="416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Confusion matrix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g3ec422d4d4e_0_2"/>
          <p:cNvGraphicFramePr/>
          <p:nvPr/>
        </p:nvGraphicFramePr>
        <p:xfrm>
          <a:off x="4114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{ED394E38-BE30-4118-A985-60CD4CC28087}</a:tableStyleId>
              </a:tblPr>
              <a:tblGrid>
                <a:gridCol w="960125"/>
                <a:gridCol w="1554475"/>
                <a:gridCol w="15544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Predicted YES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2D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Predicted NO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2D2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50"/>
                        <a:buFont typeface="Georg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B2B2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Actual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50"/>
                        <a:buFont typeface="Georg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B2B2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YES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5A3B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A5A3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TP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2D26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2D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FN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CE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50"/>
                        <a:buFont typeface="Georg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B2B2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Actual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50"/>
                        <a:buFont typeface="Georg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B2B2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NO</a:t>
                      </a:r>
                      <a:endParaRPr sz="105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2D26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B2D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FP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C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5A3B"/>
                        </a:buClr>
                        <a:buSzPts val="1300"/>
                        <a:buFont typeface="Georgia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A5A3B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TN</a:t>
                      </a:r>
                      <a:endParaRPr sz="13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B0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3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g3ec422d4d4e_0_2"/>
          <p:cNvSpPr/>
          <p:nvPr/>
        </p:nvSpPr>
        <p:spPr>
          <a:xfrm>
            <a:off x="4663440" y="1371600"/>
            <a:ext cx="416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c422d4d4e_0_2"/>
          <p:cNvSpPr/>
          <p:nvPr/>
        </p:nvSpPr>
        <p:spPr>
          <a:xfrm>
            <a:off x="4663440" y="1691640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ec422d4d4e_0_2"/>
          <p:cNvSpPr/>
          <p:nvPr/>
        </p:nvSpPr>
        <p:spPr>
          <a:xfrm>
            <a:off x="5989320" y="1691640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(TP + TN) /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c422d4d4e_0_2"/>
          <p:cNvSpPr/>
          <p:nvPr/>
        </p:nvSpPr>
        <p:spPr>
          <a:xfrm>
            <a:off x="7818120" y="169164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fraction correct overall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ec422d4d4e_0_2"/>
          <p:cNvSpPr/>
          <p:nvPr/>
        </p:nvSpPr>
        <p:spPr>
          <a:xfrm>
            <a:off x="4663440" y="2148840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Precision</a:t>
            </a:r>
            <a:endParaRPr b="1" i="0" sz="1300" u="none" cap="none" strike="noStrike">
              <a:solidFill>
                <a:srgbClr val="7B2D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(Purity)</a:t>
            </a:r>
            <a:endParaRPr b="1" sz="1300">
              <a:solidFill>
                <a:srgbClr val="7B2D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g3ec422d4d4e_0_2"/>
          <p:cNvSpPr/>
          <p:nvPr/>
        </p:nvSpPr>
        <p:spPr>
          <a:xfrm>
            <a:off x="5989320" y="2148840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TP / (TP + FP)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c422d4d4e_0_2"/>
          <p:cNvSpPr/>
          <p:nvPr/>
        </p:nvSpPr>
        <p:spPr>
          <a:xfrm>
            <a:off x="7818120" y="214884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of YES calls, how many right?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c422d4d4e_0_2"/>
          <p:cNvSpPr/>
          <p:nvPr/>
        </p:nvSpPr>
        <p:spPr>
          <a:xfrm>
            <a:off x="4526275" y="2606050"/>
            <a:ext cx="155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   </a:t>
            </a: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Recall</a:t>
            </a:r>
            <a:endParaRPr b="1" i="0" sz="1300" u="none" cap="none" strike="noStrike">
              <a:solidFill>
                <a:srgbClr val="7B2D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(Completeness)</a:t>
            </a:r>
            <a:endParaRPr b="1" sz="1300">
              <a:solidFill>
                <a:srgbClr val="7B2D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g3ec422d4d4e_0_2"/>
          <p:cNvSpPr/>
          <p:nvPr/>
        </p:nvSpPr>
        <p:spPr>
          <a:xfrm>
            <a:off x="5989320" y="2606040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TP / (TP + FN)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c422d4d4e_0_2"/>
          <p:cNvSpPr/>
          <p:nvPr/>
        </p:nvSpPr>
        <p:spPr>
          <a:xfrm>
            <a:off x="7818120" y="260604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of true YES, how many caught?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ec422d4d4e_0_2"/>
          <p:cNvSpPr/>
          <p:nvPr/>
        </p:nvSpPr>
        <p:spPr>
          <a:xfrm>
            <a:off x="4663440" y="3063240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c422d4d4e_0_2"/>
          <p:cNvSpPr/>
          <p:nvPr/>
        </p:nvSpPr>
        <p:spPr>
          <a:xfrm>
            <a:off x="5989320" y="3063240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2 · P · R / (P + 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ec422d4d4e_0_2"/>
          <p:cNvSpPr/>
          <p:nvPr/>
        </p:nvSpPr>
        <p:spPr>
          <a:xfrm>
            <a:off x="7818120" y="306324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harmonic mean of P &amp; 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ec422d4d4e_0_2"/>
          <p:cNvSpPr/>
          <p:nvPr/>
        </p:nvSpPr>
        <p:spPr>
          <a:xfrm>
            <a:off x="4663440" y="3520440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ROC-AUC:  </a:t>
            </a: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area under TPR-vs-FPR curve.  </a:t>
            </a: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Threshold-free.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ec422d4d4e_0_2"/>
          <p:cNvSpPr/>
          <p:nvPr/>
        </p:nvSpPr>
        <p:spPr>
          <a:xfrm>
            <a:off x="365760" y="3931920"/>
            <a:ext cx="8458200" cy="5943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c422d4d4e_0_2"/>
          <p:cNvSpPr/>
          <p:nvPr/>
        </p:nvSpPr>
        <p:spPr>
          <a:xfrm>
            <a:off x="502920" y="3950208"/>
            <a:ext cx="818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Use F1 or AUC when the rare class is what matters.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c422d4d4e_0_2"/>
          <p:cNvSpPr/>
          <p:nvPr/>
        </p:nvSpPr>
        <p:spPr>
          <a:xfrm>
            <a:off x="2743200" y="46634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ec422d4d4e_0_2"/>
          <p:cNvSpPr/>
          <p:nvPr/>
        </p:nvSpPr>
        <p:spPr>
          <a:xfrm>
            <a:off x="8275320" y="4754880"/>
            <a:ext cx="68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g3ec422d4d4e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425" y="838625"/>
            <a:ext cx="4306450" cy="419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Picking the Right Metric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8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8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Match the metric to the problem and to what matters scientifically.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What kind of 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8"/>
          <p:cNvCxnSpPr/>
          <p:nvPr/>
        </p:nvCxnSpPr>
        <p:spPr>
          <a:xfrm flipH="1">
            <a:off x="1554480" y="1920240"/>
            <a:ext cx="2103120" cy="457200"/>
          </a:xfrm>
          <a:prstGeom prst="straightConnector1">
            <a:avLst/>
          </a:prstGeom>
          <a:noFill/>
          <a:ln cap="flat" cmpd="sng" w="19050">
            <a:solidFill>
              <a:srgbClr val="606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" name="Google Shape;182;p8"/>
          <p:cNvCxnSpPr/>
          <p:nvPr/>
        </p:nvCxnSpPr>
        <p:spPr>
          <a:xfrm>
            <a:off x="5486400" y="1920240"/>
            <a:ext cx="2103120" cy="457200"/>
          </a:xfrm>
          <a:prstGeom prst="straightConnector1">
            <a:avLst/>
          </a:prstGeom>
          <a:noFill/>
          <a:ln cap="flat" cmpd="sng" w="19050">
            <a:solidFill>
              <a:srgbClr val="606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8"/>
          <p:cNvSpPr/>
          <p:nvPr/>
        </p:nvSpPr>
        <p:spPr>
          <a:xfrm>
            <a:off x="1645920" y="1920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continuous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126480" y="1920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discrete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65760" y="2423160"/>
            <a:ext cx="3017520" cy="1005840"/>
          </a:xfrm>
          <a:prstGeom prst="rect">
            <a:avLst/>
          </a:prstGeom>
          <a:solidFill>
            <a:srgbClr val="F4ECE9"/>
          </a:solidFill>
          <a:ln cap="flat" cmpd="sng" w="1015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02920" y="2468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02920" y="27889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Default:  </a:t>
            </a: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RMSE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 ·  outliers?  </a:t>
            </a: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MAE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760720" y="2423160"/>
            <a:ext cx="3017520" cy="502920"/>
          </a:xfrm>
          <a:prstGeom prst="rect">
            <a:avLst/>
          </a:prstGeom>
          <a:solidFill>
            <a:srgbClr val="FFFFFF"/>
          </a:solidFill>
          <a:ln cap="flat" cmpd="sng" w="165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5760720" y="242316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Classes balanced?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 flipH="1">
            <a:off x="5212080" y="2926080"/>
            <a:ext cx="1188720" cy="365760"/>
          </a:xfrm>
          <a:prstGeom prst="straightConnector1">
            <a:avLst/>
          </a:prstGeom>
          <a:noFill/>
          <a:ln cap="flat" cmpd="sng" w="19050">
            <a:solidFill>
              <a:srgbClr val="606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8"/>
          <p:cNvCxnSpPr/>
          <p:nvPr/>
        </p:nvCxnSpPr>
        <p:spPr>
          <a:xfrm>
            <a:off x="8138160" y="2926080"/>
            <a:ext cx="731520" cy="365760"/>
          </a:xfrm>
          <a:prstGeom prst="straightConnector1">
            <a:avLst/>
          </a:prstGeom>
          <a:noFill/>
          <a:ln cap="flat" cmpd="sng" w="19050">
            <a:solidFill>
              <a:srgbClr val="606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" name="Google Shape;192;p8"/>
          <p:cNvSpPr/>
          <p:nvPr/>
        </p:nvSpPr>
        <p:spPr>
          <a:xfrm>
            <a:off x="5440680" y="29443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955280" y="29443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023360" y="3337560"/>
            <a:ext cx="2194560" cy="502920"/>
          </a:xfrm>
          <a:prstGeom prst="rect">
            <a:avLst/>
          </a:prstGeom>
          <a:solidFill>
            <a:srgbClr val="EAF1F4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023360" y="33375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400800" y="3337560"/>
            <a:ext cx="2423160" cy="502920"/>
          </a:xfrm>
          <a:prstGeom prst="rect">
            <a:avLst/>
          </a:prstGeom>
          <a:solidFill>
            <a:srgbClr val="E7EAE3"/>
          </a:solidFill>
          <a:ln cap="flat" cmpd="sng" w="1015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400800" y="333756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A5A3B"/>
                </a:solidFill>
                <a:latin typeface="Courier New"/>
                <a:ea typeface="Courier New"/>
                <a:cs typeface="Courier New"/>
                <a:sym typeface="Courier New"/>
              </a:rPr>
              <a:t>F1  ·  Precision-Recall  ·  AUC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65760" y="4114800"/>
            <a:ext cx="8458200" cy="4572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02920" y="4133088"/>
            <a:ext cx="8183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Iron rule: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always report  </a:t>
            </a:r>
            <a:r>
              <a:rPr b="1" i="1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2–3 metrics,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never just one.  A single number hides important behaviour (bias, recall on the rare class, outlier impact).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ba4dbef27_0_0"/>
          <p:cNvSpPr/>
          <p:nvPr/>
        </p:nvSpPr>
        <p:spPr>
          <a:xfrm>
            <a:off x="274320" y="137160"/>
            <a:ext cx="7041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</a:t>
            </a:r>
            <a:r>
              <a:rPr lang="en-US" sz="2600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– Data Preprocessing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3eba4dbef27_0_0"/>
          <p:cNvCxnSpPr/>
          <p:nvPr/>
        </p:nvCxnSpPr>
        <p:spPr>
          <a:xfrm>
            <a:off x="365760" y="685800"/>
            <a:ext cx="841260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g3eba4dbef27_0_0"/>
          <p:cNvSpPr/>
          <p:nvPr/>
        </p:nvSpPr>
        <p:spPr>
          <a:xfrm>
            <a:off x="7360920" y="182880"/>
            <a:ext cx="1600200" cy="292500"/>
          </a:xfrm>
          <a:prstGeom prst="rect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ba4dbef27_0_0"/>
          <p:cNvSpPr/>
          <p:nvPr/>
        </p:nvSpPr>
        <p:spPr>
          <a:xfrm>
            <a:off x="7360920" y="182880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QUIZ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eba4dbef27_0_0"/>
          <p:cNvSpPr/>
          <p:nvPr/>
        </p:nvSpPr>
        <p:spPr>
          <a:xfrm>
            <a:off x="457200" y="822960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Why must scalers (StandardScaler, MinMaxScaler) be  fit  on the training set  only?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eba4dbef27_0_0"/>
          <p:cNvSpPr/>
          <p:nvPr/>
        </p:nvSpPr>
        <p:spPr>
          <a:xfrm>
            <a:off x="457200" y="1554480"/>
            <a:ext cx="4023300" cy="12801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eba4dbef27_0_0"/>
          <p:cNvSpPr/>
          <p:nvPr/>
        </p:nvSpPr>
        <p:spPr>
          <a:xfrm>
            <a:off x="594360" y="1783080"/>
            <a:ext cx="502800" cy="50280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eba4dbef27_0_0"/>
          <p:cNvSpPr/>
          <p:nvPr/>
        </p:nvSpPr>
        <p:spPr>
          <a:xfrm>
            <a:off x="594360" y="178308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eba4dbef27_0_0"/>
          <p:cNvSpPr/>
          <p:nvPr/>
        </p:nvSpPr>
        <p:spPr>
          <a:xfrm>
            <a:off x="1234440" y="1645920"/>
            <a:ext cx="3108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It's faster than fitting on all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eba4dbef27_0_0"/>
          <p:cNvSpPr/>
          <p:nvPr/>
        </p:nvSpPr>
        <p:spPr>
          <a:xfrm>
            <a:off x="4663440" y="1554480"/>
            <a:ext cx="4023300" cy="12801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ba4dbef27_0_0"/>
          <p:cNvSpPr/>
          <p:nvPr/>
        </p:nvSpPr>
        <p:spPr>
          <a:xfrm>
            <a:off x="4800600" y="1783080"/>
            <a:ext cx="502800" cy="50280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ba4dbef27_0_0"/>
          <p:cNvSpPr/>
          <p:nvPr/>
        </p:nvSpPr>
        <p:spPr>
          <a:xfrm>
            <a:off x="4800600" y="178308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ba4dbef27_0_0"/>
          <p:cNvSpPr/>
          <p:nvPr/>
        </p:nvSpPr>
        <p:spPr>
          <a:xfrm>
            <a:off x="5440680" y="1645920"/>
            <a:ext cx="3108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Otherwise test-set statistics leak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into the training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eba4dbef27_0_0"/>
          <p:cNvSpPr/>
          <p:nvPr/>
        </p:nvSpPr>
        <p:spPr>
          <a:xfrm>
            <a:off x="457200" y="2971800"/>
            <a:ext cx="4023300" cy="12801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ba4dbef27_0_0"/>
          <p:cNvSpPr/>
          <p:nvPr/>
        </p:nvSpPr>
        <p:spPr>
          <a:xfrm>
            <a:off x="594360" y="3200400"/>
            <a:ext cx="502800" cy="50280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ba4dbef27_0_0"/>
          <p:cNvSpPr/>
          <p:nvPr/>
        </p:nvSpPr>
        <p:spPr>
          <a:xfrm>
            <a:off x="594360" y="32004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ba4dbef27_0_0"/>
          <p:cNvSpPr/>
          <p:nvPr/>
        </p:nvSpPr>
        <p:spPr>
          <a:xfrm>
            <a:off x="1234440" y="3063240"/>
            <a:ext cx="3108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sklearn requires it for the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API to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eba4dbef27_0_0"/>
          <p:cNvSpPr/>
          <p:nvPr/>
        </p:nvSpPr>
        <p:spPr>
          <a:xfrm>
            <a:off x="4663440" y="2971800"/>
            <a:ext cx="4023300" cy="12801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ba4dbef27_0_0"/>
          <p:cNvSpPr/>
          <p:nvPr/>
        </p:nvSpPr>
        <p:spPr>
          <a:xfrm>
            <a:off x="4800600" y="3200400"/>
            <a:ext cx="502800" cy="50280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ba4dbef27_0_0"/>
          <p:cNvSpPr/>
          <p:nvPr/>
        </p:nvSpPr>
        <p:spPr>
          <a:xfrm>
            <a:off x="4800600" y="32004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eba4dbef27_0_0"/>
          <p:cNvSpPr/>
          <p:nvPr/>
        </p:nvSpPr>
        <p:spPr>
          <a:xfrm>
            <a:off x="5440680" y="3063240"/>
            <a:ext cx="3108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Min and max values from the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test set are unreliable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eba4dbef27_0_0"/>
          <p:cNvSpPr/>
          <p:nvPr/>
        </p:nvSpPr>
        <p:spPr>
          <a:xfrm>
            <a:off x="457200" y="434340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Pick  A,  B,  C,  or  D  — 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eba4dbef27_0_0"/>
          <p:cNvSpPr/>
          <p:nvPr/>
        </p:nvSpPr>
        <p:spPr>
          <a:xfrm>
            <a:off x="2743200" y="46634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eba4dbef27_0_0"/>
          <p:cNvSpPr/>
          <p:nvPr/>
        </p:nvSpPr>
        <p:spPr>
          <a:xfrm>
            <a:off x="8275320" y="4754880"/>
            <a:ext cx="68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ba4dbef27_0_28"/>
          <p:cNvSpPr/>
          <p:nvPr/>
        </p:nvSpPr>
        <p:spPr>
          <a:xfrm>
            <a:off x="274320" y="137160"/>
            <a:ext cx="7041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 1  —  Answer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3eba4dbef27_0_28"/>
          <p:cNvCxnSpPr/>
          <p:nvPr/>
        </p:nvCxnSpPr>
        <p:spPr>
          <a:xfrm>
            <a:off x="365760" y="685800"/>
            <a:ext cx="841260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g3eba4dbef27_0_28"/>
          <p:cNvSpPr/>
          <p:nvPr/>
        </p:nvSpPr>
        <p:spPr>
          <a:xfrm>
            <a:off x="7360920" y="182880"/>
            <a:ext cx="1600200" cy="292500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ba4dbef27_0_28"/>
          <p:cNvSpPr/>
          <p:nvPr/>
        </p:nvSpPr>
        <p:spPr>
          <a:xfrm>
            <a:off x="7360920" y="182880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ba4dbef27_0_28"/>
          <p:cNvSpPr/>
          <p:nvPr/>
        </p:nvSpPr>
        <p:spPr>
          <a:xfrm>
            <a:off x="457200" y="914400"/>
            <a:ext cx="4023300" cy="128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ba4dbef27_0_28"/>
          <p:cNvSpPr/>
          <p:nvPr/>
        </p:nvSpPr>
        <p:spPr>
          <a:xfrm>
            <a:off x="594360" y="1078992"/>
            <a:ext cx="502800" cy="50280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ba4dbef27_0_28"/>
          <p:cNvSpPr/>
          <p:nvPr/>
        </p:nvSpPr>
        <p:spPr>
          <a:xfrm>
            <a:off x="594360" y="107899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ba4dbef27_0_28"/>
          <p:cNvSpPr/>
          <p:nvPr/>
        </p:nvSpPr>
        <p:spPr>
          <a:xfrm>
            <a:off x="1234440" y="987552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It's faster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ba4dbef27_0_28"/>
          <p:cNvSpPr/>
          <p:nvPr/>
        </p:nvSpPr>
        <p:spPr>
          <a:xfrm>
            <a:off x="1234440" y="1417320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Performance is not the reason — the leak is the reason.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ba4dbef27_0_28"/>
          <p:cNvSpPr/>
          <p:nvPr/>
        </p:nvSpPr>
        <p:spPr>
          <a:xfrm>
            <a:off x="4663440" y="914400"/>
            <a:ext cx="4023300" cy="1280100"/>
          </a:xfrm>
          <a:prstGeom prst="rect">
            <a:avLst/>
          </a:prstGeom>
          <a:solidFill>
            <a:srgbClr val="F4ECE9"/>
          </a:solidFill>
          <a:ln cap="flat" cmpd="sng" w="254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ba4dbef27_0_28"/>
          <p:cNvSpPr/>
          <p:nvPr/>
        </p:nvSpPr>
        <p:spPr>
          <a:xfrm>
            <a:off x="4800600" y="1078992"/>
            <a:ext cx="502800" cy="5028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ba4dbef27_0_28"/>
          <p:cNvSpPr/>
          <p:nvPr/>
        </p:nvSpPr>
        <p:spPr>
          <a:xfrm>
            <a:off x="4800600" y="107899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ba4dbef27_0_28"/>
          <p:cNvSpPr/>
          <p:nvPr/>
        </p:nvSpPr>
        <p:spPr>
          <a:xfrm>
            <a:off x="5440680" y="987552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Otherwise test stats leak 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ba4dbef27_0_28"/>
          <p:cNvSpPr/>
          <p:nvPr/>
        </p:nvSpPr>
        <p:spPr>
          <a:xfrm>
            <a:off x="5440680" y="1417320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Data leakage:  μ and σ from test would influence train.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eba4dbef27_0_28"/>
          <p:cNvSpPr/>
          <p:nvPr/>
        </p:nvSpPr>
        <p:spPr>
          <a:xfrm>
            <a:off x="8275320" y="98755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ba4dbef27_0_28"/>
          <p:cNvSpPr/>
          <p:nvPr/>
        </p:nvSpPr>
        <p:spPr>
          <a:xfrm>
            <a:off x="457200" y="2331720"/>
            <a:ext cx="4023300" cy="128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ba4dbef27_0_28"/>
          <p:cNvSpPr/>
          <p:nvPr/>
        </p:nvSpPr>
        <p:spPr>
          <a:xfrm>
            <a:off x="594360" y="2496312"/>
            <a:ext cx="502800" cy="50280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eba4dbef27_0_28"/>
          <p:cNvSpPr/>
          <p:nvPr/>
        </p:nvSpPr>
        <p:spPr>
          <a:xfrm>
            <a:off x="594360" y="249631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ba4dbef27_0_28"/>
          <p:cNvSpPr/>
          <p:nvPr/>
        </p:nvSpPr>
        <p:spPr>
          <a:xfrm>
            <a:off x="1234440" y="2404872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sklearn requires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ba4dbef27_0_28"/>
          <p:cNvSpPr/>
          <p:nvPr/>
        </p:nvSpPr>
        <p:spPr>
          <a:xfrm>
            <a:off x="1234440" y="2834640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No — sklearn lets you do anything;  YOU enforce hygiene.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eba4dbef27_0_28"/>
          <p:cNvSpPr/>
          <p:nvPr/>
        </p:nvSpPr>
        <p:spPr>
          <a:xfrm>
            <a:off x="4663440" y="2331720"/>
            <a:ext cx="4023300" cy="128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eba4dbef27_0_28"/>
          <p:cNvSpPr/>
          <p:nvPr/>
        </p:nvSpPr>
        <p:spPr>
          <a:xfrm>
            <a:off x="4800600" y="2496312"/>
            <a:ext cx="502800" cy="50280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ba4dbef27_0_28"/>
          <p:cNvSpPr/>
          <p:nvPr/>
        </p:nvSpPr>
        <p:spPr>
          <a:xfrm>
            <a:off x="4800600" y="249631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ba4dbef27_0_28"/>
          <p:cNvSpPr/>
          <p:nvPr/>
        </p:nvSpPr>
        <p:spPr>
          <a:xfrm>
            <a:off x="5440680" y="2404872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Min/max unreliable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ba4dbef27_0_28"/>
          <p:cNvSpPr/>
          <p:nvPr/>
        </p:nvSpPr>
        <p:spPr>
          <a:xfrm>
            <a:off x="5440680" y="2834640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True but secondary;  leakage is the root reason.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ba4dbef27_0_28"/>
          <p:cNvSpPr/>
          <p:nvPr/>
        </p:nvSpPr>
        <p:spPr>
          <a:xfrm>
            <a:off x="365760" y="3749040"/>
            <a:ext cx="8458200" cy="7773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ba4dbef27_0_28"/>
          <p:cNvSpPr/>
          <p:nvPr/>
        </p:nvSpPr>
        <p:spPr>
          <a:xfrm>
            <a:off x="502920" y="3794760"/>
            <a:ext cx="818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Correct workflow: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scaler.fit_transform(X_train)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→  then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scaler.transform(X_test).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Inside 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Pipeline,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this happens automatically inside each CV fold.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ba4dbef27_0_28"/>
          <p:cNvSpPr/>
          <p:nvPr/>
        </p:nvSpPr>
        <p:spPr>
          <a:xfrm>
            <a:off x="2743200" y="46634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eba4dbef27_0_28"/>
          <p:cNvSpPr/>
          <p:nvPr/>
        </p:nvSpPr>
        <p:spPr>
          <a:xfrm>
            <a:off x="8275320" y="4754880"/>
            <a:ext cx="68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9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9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QUIZ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57200" y="82296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You're classifying  gravitational lenses.  Only  1%  of objects are actually lenses. Your model predicts  "NOT a lens"  for  every  example.  What is its  accuracy?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57200" y="1783080"/>
            <a:ext cx="4023360" cy="12344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594360" y="196596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9436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234440" y="1874520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50%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like a coin flip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663440" y="1783080"/>
            <a:ext cx="4023360" cy="12344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800600" y="196596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480060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440680" y="1874520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99%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but useless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57200" y="3154680"/>
            <a:ext cx="4023360" cy="12344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594360" y="333756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594360" y="3337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234440" y="3246120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gets all lenses wrong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663440" y="3154680"/>
            <a:ext cx="4023360" cy="12344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4800600" y="333756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800600" y="3337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440680" y="3246120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Undefined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model never said "yes"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57200" y="438912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Pick  A,  B,  C,  or  D  — 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 —  Answer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0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0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57200" y="91440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94360" y="107899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59436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234440" y="987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50%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234440" y="14173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Coin-flip would require 50/50 base rate, not 1/99.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663440" y="914400"/>
            <a:ext cx="4023360" cy="1280160"/>
          </a:xfrm>
          <a:prstGeom prst="rect">
            <a:avLst/>
          </a:prstGeom>
          <a:solidFill>
            <a:srgbClr val="F4ECE9"/>
          </a:solidFill>
          <a:ln cap="flat" cmpd="sng" w="254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4800600" y="1078992"/>
            <a:ext cx="502920" cy="50292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480060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440680" y="987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99%  —  but useless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5440680" y="14173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99% of test cases ARE "not a lens" → they're all classified correctly.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8275320" y="987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57200" y="233172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594360" y="249631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9436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1234440" y="24048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1234440" y="28346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Confuses accuracy with recall.  Recall on lenses = 0,  but accuracy = 99.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4663440" y="233172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4800600" y="249631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480060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440680" y="24048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Undefined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5440680" y="28346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Accuracy is always defined as (TP + TN) / total.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65760" y="3749040"/>
            <a:ext cx="8458200" cy="77724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502920" y="3794760"/>
            <a:ext cx="8183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Lesson: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accuracy looks great here (99%) but the model is  </a:t>
            </a:r>
            <a:r>
              <a:rPr b="1" i="1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scientifically useless.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For rare-class detection, look at 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recall, F1, or AUC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they expose the failure that accuracy hides.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14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4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QUIZ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457200" y="8229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You're training a classifier to identify  gravitational lenses  (a rare class — only  ~1%  of your sample). Which CV variant should you use?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457200" y="169164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594360" y="187452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1234440" y="1783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Plain KFold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random splits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663440" y="169164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4800600" y="187452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480060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5440680" y="1783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StratifiedKFold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preserves class proportions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57200" y="310896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59436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234440" y="320040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GroupKFold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honors example groups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4800600" y="329184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480060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5440680" y="320040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TimeSeriesSplit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train on past 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57200" y="43434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Pick  A,  B,  C,  or  D  — 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 1  —  Answer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5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5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457200" y="91440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594360" y="107899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9436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1234440" y="987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Plain KFold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1234440" y="14173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A random split may put 0 lenses in some folds — useless.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4663440" y="914400"/>
            <a:ext cx="4023360" cy="1280160"/>
          </a:xfrm>
          <a:prstGeom prst="rect">
            <a:avLst/>
          </a:prstGeom>
          <a:solidFill>
            <a:srgbClr val="F4ECE9"/>
          </a:solidFill>
          <a:ln cap="flat" cmpd="sng" w="254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4800600" y="1078992"/>
            <a:ext cx="502920" cy="50292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480060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440680" y="987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StratifiedKFold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440680" y="14173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Each fold gets ~1% lenses — preserved class proportions.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8275320" y="987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457200" y="233172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594360" y="249631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59436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234440" y="24048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GroupKFold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1234440" y="28346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'Group' means examples that share an entity (cluster, image).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663440" y="233172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4800600" y="249631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480060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440680" y="24048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TimeSeriesSplit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440680" y="28346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Use only when temporal ordering matters.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65760" y="3749040"/>
            <a:ext cx="8458200" cy="77724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502920" y="3794760"/>
            <a:ext cx="8183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sklearn one-liner:  </a:t>
            </a: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cv = StratifiedKFold(n_splits=5, shuffle=True, random_state=42)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scores = cross_val_score(model, X, y, cv=cv, scoring="f1")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Labels — Ground Truth ≠ Truth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16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p16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Your labels are estimates too. Garbage labels → garbage model.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365760" y="1417320"/>
            <a:ext cx="2743200" cy="224028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502920" y="14630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Labeled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502920" y="1874520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Has y. Often expensive — spectroscopic redshift, hand-classified morphology, confirmed transient.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3246120" y="1417320"/>
            <a:ext cx="2743200" cy="224028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3383280" y="14630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Unlabeled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3383280" y="1874520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Just X. The bulk of any modern survey (photometric only). Used in semi-/self-supervised settings.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6126480" y="1417320"/>
            <a:ext cx="2743200" cy="2240280"/>
          </a:xfrm>
          <a:prstGeom prst="rect">
            <a:avLst/>
          </a:prstGeom>
          <a:solidFill>
            <a:srgbClr val="E7EAE3"/>
          </a:solidFill>
          <a:ln cap="flat" cmpd="sng" w="9525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63640" y="14630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A5A3B"/>
                </a:solidFill>
                <a:latin typeface="Georgia"/>
                <a:ea typeface="Georgia"/>
                <a:cs typeface="Georgia"/>
                <a:sym typeface="Georgia"/>
              </a:rPr>
              <a:t>Noisy labels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263640" y="1874520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Labels exist but are uncertain — photo-z estimates used as 'truth', crowd-sourced morphology, automated pipelines.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8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18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QUIZ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457200" y="8229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Your colleague just ran the model, looked at the test-set RMSE  (got 0.025), tweaked  some hyperparameters, and re-ran the test. What's the problem?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457200" y="169164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594360" y="187452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1234440" y="1783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Nothing — running the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twice is harmless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4663440" y="169164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4800600" y="187452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480060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5440680" y="1783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model is now overfit,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so the new score is worse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457200" y="310896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59436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1234440" y="320040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test set was used for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tuning → score is biased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4800600" y="329184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480060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5440680" y="320040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Hyperparameter tuning 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never allowed for regressors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457200" y="43434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Pick  A,  B,  C,  or  D  — 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9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 2  —  Answer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19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19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457200" y="91440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594360" y="107899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59436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234440" y="987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Nothing — harmless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1234440" y="14173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Every peek at test contaminates it — even passive peeking counts.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4663440" y="91440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9"/>
          <p:cNvSpPr/>
          <p:nvPr/>
        </p:nvSpPr>
        <p:spPr>
          <a:xfrm>
            <a:off x="4800600" y="107899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480060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5440680" y="987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Now overfit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5440680" y="14173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Overfitting is a separate concept — the issue here is leakage.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457200" y="2331720"/>
            <a:ext cx="4023360" cy="1280160"/>
          </a:xfrm>
          <a:prstGeom prst="rect">
            <a:avLst/>
          </a:prstGeom>
          <a:solidFill>
            <a:srgbClr val="F4ECE9"/>
          </a:solidFill>
          <a:ln cap="flat" cmpd="sng" w="254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594360" y="2496312"/>
            <a:ext cx="502920" cy="50292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59436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1234440" y="24048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Test set used for 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1234440" y="28346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The test score is no longer an honest estimate of generalization.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4069080" y="24048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4663440" y="233172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4800600" y="249631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480060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5440680" y="24048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Tuning not allowed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5440680" y="28346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Of course it's allowed — but use the  validation  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365760" y="3749040"/>
            <a:ext cx="8458200" cy="77724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502920" y="3794760"/>
            <a:ext cx="8183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The iron rule: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test set is a  </a:t>
            </a:r>
            <a:r>
              <a:rPr b="1" i="1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one-shot.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Tune on the validation set (or CV inside the training pool).  Touch the test set  </a:t>
            </a:r>
            <a:r>
              <a:rPr b="1" i="1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exactly once,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for the final report.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1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Worked Example  —  Spot the Leak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21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21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WORKED 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457200" y="8229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Below is your colleague's photo-z pipeline. Find  the leak — there is exactly 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365760" y="1280160"/>
            <a:ext cx="8412480" cy="2788920"/>
          </a:xfrm>
          <a:prstGeom prst="rect">
            <a:avLst/>
          </a:prstGeom>
          <a:solidFill>
            <a:srgbClr val="F6F2E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1"/>
          <p:cNvSpPr/>
          <p:nvPr/>
        </p:nvSpPr>
        <p:spPr>
          <a:xfrm>
            <a:off x="548640" y="1371600"/>
            <a:ext cx="81381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"photometry.csv"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y  = df[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"z_spec"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  = df.drop(columns=[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"z_spec"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ourier New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Courier New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Standardize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scaler  = StandardScaler()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X_scaled = scaler.fit_transform(X)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ourier New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Courier New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Now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X_train, X_test, y_train, y_test = train_test_split(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X_scaled, y, test_size=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random_state=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ourier New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rf = RandomForestRegressor(n_estimators=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).fit(X_train, y_train)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f"Test RMSE: {rmse(y_test, rf.predict(X_test)):.4f}"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457200" y="429768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Pause and find the leak —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Worked Example  —  Solution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4" name="Google Shape;494;p22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22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2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365760" y="868680"/>
            <a:ext cx="8458200" cy="9601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502920" y="914400"/>
            <a:ext cx="8183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The leak: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scaler.fit_transform(X)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was called on  </a:t>
            </a:r>
            <a:r>
              <a:rPr b="1" i="1" lang="en-US" sz="125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full dataset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before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train_test_split.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→  the test set's μ and σ contributed to the scaling parameters applied to train.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365760" y="1965960"/>
            <a:ext cx="8412480" cy="233172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2"/>
          <p:cNvSpPr/>
          <p:nvPr/>
        </p:nvSpPr>
        <p:spPr>
          <a:xfrm>
            <a:off x="502920" y="20116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The fix  —  split FIRST, fit scaler on TRAIN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548640" y="2331720"/>
            <a:ext cx="81381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X_train, X_test, y_train, y_test = train_test_split(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X, y, test_size=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random_state=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ourier New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scaler   = StandardScaler()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X_train  = scaler.fit_transform(X_train)   </a:t>
            </a: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fit on train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X_test   = scaler.transform(X_test)         </a:t>
            </a: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apply same transform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365760" y="4023360"/>
            <a:ext cx="8458200" cy="5029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502920" y="4041648"/>
            <a:ext cx="8183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Even better: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wrap it in a 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Pipeline.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scaler is then automatically refit inside every CV fold — leakage becomes impossible.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7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Data Leakage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17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leepy-friendly-euler/mnt/outputs/figs/fig_leakage.png" id="513" name="Google Shape;5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868680"/>
            <a:ext cx="804672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7"/>
          <p:cNvSpPr/>
          <p:nvPr/>
        </p:nvSpPr>
        <p:spPr>
          <a:xfrm>
            <a:off x="457200" y="3520440"/>
            <a:ext cx="8412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Definition: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any information from the validation or test set that influences the trained model.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Symptom: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your test-set score is suspiciously high, but the model flops on real new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0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Where Leakage Hides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20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0"/>
          <p:cNvSpPr/>
          <p:nvPr/>
        </p:nvSpPr>
        <p:spPr>
          <a:xfrm>
            <a:off x="457200" y="868680"/>
            <a:ext cx="4114800" cy="155448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0"/>
          <p:cNvSpPr/>
          <p:nvPr/>
        </p:nvSpPr>
        <p:spPr>
          <a:xfrm>
            <a:off x="594360" y="9144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1. Fitting preprocessing on all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594360" y="121615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StandardScaler mean/std computed on X (train + test) before splitting — test stats leak 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594360" y="198424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Fix: 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Fit transformers inside a Pipeline, on TRAIN only.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663440" y="868680"/>
            <a:ext cx="4114800" cy="155448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4800600" y="9144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2. Target leakage in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4800600" y="121615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 feature secretly contains y — e.g. an ID encoding redshift, or a flag built using the answer.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4800600" y="198424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Fix: 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Audit features. Drop anything derived from 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457190" y="2574050"/>
            <a:ext cx="4114800" cy="15546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594363" y="2574045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. Reusing the test 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731588" y="2903222"/>
            <a:ext cx="3840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Look at test → re-tune → 'test' again. Test set has been used for tuning.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731525" y="3657593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Fix: 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Touch test ONCE. Use validation for tuning.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3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Code — Splitting Done Right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4" name="Google Shape;544;p23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23"/>
          <p:cNvSpPr/>
          <p:nvPr/>
        </p:nvSpPr>
        <p:spPr>
          <a:xfrm>
            <a:off x="457200" y="914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All splitting + preprocessing happens inside a Pipeline; never on raw 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365760" y="1325880"/>
            <a:ext cx="8412480" cy="3200400"/>
          </a:xfrm>
          <a:prstGeom prst="rect">
            <a:avLst/>
          </a:prstGeom>
          <a:solidFill>
            <a:srgbClr val="F6F2E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548640" y="1417320"/>
            <a:ext cx="81381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sklearn.model_selection </a:t>
            </a: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(train_test_split, StratifiedKFold,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GroupKFold, cross_val_score)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50"/>
              <a:buFont typeface="Courier New"/>
              <a:buNone/>
            </a:pPr>
            <a:r>
              <a:rPr b="0" i="1" lang="en-US" sz="115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1.  Carve off a final test set that you DO NOT TOUCH until report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X_pool, X_test, y_pool, y_test = train_test_split(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X, y, test_size=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0.15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stratify=y, random_state=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50"/>
              <a:buFont typeface="Courier New"/>
              <a:buNone/>
            </a:pPr>
            <a:r>
              <a:rPr b="0" i="1" lang="en-US" sz="115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2.  Inside pool: K-fold CV for hyperparameter tuning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cv = StratifiedKFold(n_splits=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shuffle=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random_state=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scores = cross_val_score(pipeline, X_pool, y_pool, cv=cv, scoring=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"f1"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f"CV F1 = {scores.mean():.3f} ± {scores.std():.3f}"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50"/>
              <a:buFont typeface="Courier New"/>
              <a:buNone/>
            </a:pPr>
            <a:r>
              <a:rPr b="0" i="1" lang="en-US" sz="115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3.  Final report: fit on the full pool, evaluate ONCE on 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pipeline.fit(X_pool, y_pool)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test_f1 = f1_score(y_test, pipeline.predict(X_test))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Recap — Reliable Evaluation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24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p24"/>
          <p:cNvSpPr/>
          <p:nvPr/>
        </p:nvSpPr>
        <p:spPr>
          <a:xfrm>
            <a:off x="548640" y="914400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548640" y="914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1143000" y="9144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Split into Train / Val / Test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4434840" y="91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Carve off Test once. Touch only at the very 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4"/>
          <p:cNvSpPr/>
          <p:nvPr/>
        </p:nvSpPr>
        <p:spPr>
          <a:xfrm>
            <a:off x="1143000" y="15727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Use K-fold on the pool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4"/>
          <p:cNvSpPr/>
          <p:nvPr/>
        </p:nvSpPr>
        <p:spPr>
          <a:xfrm>
            <a:off x="4434840" y="15727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Average over folds for a robust score; report mean ± std.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548640" y="2231136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4"/>
          <p:cNvSpPr/>
          <p:nvPr/>
        </p:nvSpPr>
        <p:spPr>
          <a:xfrm>
            <a:off x="548640" y="2231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/>
          <p:nvPr/>
        </p:nvSpPr>
        <p:spPr>
          <a:xfrm>
            <a:off x="1143000" y="223113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Stratify, group,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4434840" y="22311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Match the split structure to the structure of your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548640" y="2889504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4"/>
          <p:cNvSpPr/>
          <p:nvPr/>
        </p:nvSpPr>
        <p:spPr>
          <a:xfrm>
            <a:off x="548640" y="28895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1143000" y="28895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Audit labels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4434840" y="28895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Spec-z vs photo-z; flag noisy or biased labels explicitly.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4"/>
          <p:cNvSpPr/>
          <p:nvPr/>
        </p:nvSpPr>
        <p:spPr>
          <a:xfrm>
            <a:off x="548640" y="3547872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4"/>
          <p:cNvSpPr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4"/>
          <p:cNvSpPr/>
          <p:nvPr/>
        </p:nvSpPr>
        <p:spPr>
          <a:xfrm>
            <a:off x="1143000" y="354787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Guard against leakage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4434840" y="35478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Preprocessing in Pipeline, no peeking, drop target-derived features.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457200" y="4160520"/>
            <a:ext cx="8412480" cy="36576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54864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Next  →  Lecture 3b: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decision trees, bagging, and random forests.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3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When Plain K-Fold Isn't Enough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13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leepy-friendly-euler/mnt/outputs/figs/fig_stratified.png" id="588" name="Google Shape;5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68680"/>
            <a:ext cx="475488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3"/>
          <p:cNvSpPr/>
          <p:nvPr/>
        </p:nvSpPr>
        <p:spPr>
          <a:xfrm>
            <a:off x="5349240" y="868680"/>
            <a:ext cx="3520440" cy="91440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5486400" y="9144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Stratified K-Fold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5486400" y="1216152"/>
            <a:ext cx="3337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Keep class proportions equal across folds. Use when classes are imbalanced (lenses, quasars).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5349240" y="1874520"/>
            <a:ext cx="3520440" cy="91440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3"/>
          <p:cNvSpPr/>
          <p:nvPr/>
        </p:nvSpPr>
        <p:spPr>
          <a:xfrm>
            <a:off x="5486400" y="192024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Group K-Fold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5486400" y="2221992"/>
            <a:ext cx="3337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All examples from one group go to one fold. Use when </a:t>
            </a:r>
            <a:r>
              <a:rPr lang="en-US" sz="105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objects share common properties</a:t>
            </a:r>
            <a:r>
              <a:rPr b="0" i="0" lang="en-US" sz="10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5349240" y="2880360"/>
            <a:ext cx="3520440" cy="91440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5486400" y="292608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3A5A3B"/>
                </a:solidFill>
                <a:latin typeface="Georgia"/>
                <a:ea typeface="Georgia"/>
                <a:cs typeface="Georgia"/>
                <a:sym typeface="Georgia"/>
              </a:rPr>
              <a:t>Time-series 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5486400" y="3227832"/>
            <a:ext cx="3337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Train on the past, validate on the future. Use for transients and time-domain surveys.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457200" y="4069080"/>
            <a:ext cx="8412480" cy="45720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3"/>
          <p:cNvSpPr/>
          <p:nvPr/>
        </p:nvSpPr>
        <p:spPr>
          <a:xfrm>
            <a:off x="594360" y="4096512"/>
            <a:ext cx="8183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Ask of every dataset: 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rare class → 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Stratified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;  grouped → 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GroupKFold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;  time matters → 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TimeSeriesSplit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3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1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Worked Example  —  CV Statistics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11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11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1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WORKED 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365760" y="868680"/>
            <a:ext cx="8412480" cy="169164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1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Scenario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502920" y="1234440"/>
            <a:ext cx="8183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 ran 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5-fold cross-validation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of a random-forest regressor and recorded the test RMSE per fold: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rmse = [ 0.026,  0.024,  0.027,  0.023,  0.025 ]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Report your model's performance as 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mean ± σ.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Compute  on paper: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1.  The  mean  RMSE across the 5 folds.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914400" y="341071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2.  The  standard deviation  (use the  N − 1  divisor).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914400" y="375818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3.  Report as  mean ± σ.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457200" y="429768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Pause and try —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Worked Example  —  Solution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7" name="Google Shape;627;p12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8" name="Google Shape;628;p12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2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365760" y="868680"/>
            <a:ext cx="8458200" cy="9144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2"/>
          <p:cNvSpPr/>
          <p:nvPr/>
        </p:nvSpPr>
        <p:spPr>
          <a:xfrm>
            <a:off x="502920" y="9144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 1  —  Mean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"/>
          <p:cNvSpPr/>
          <p:nvPr/>
        </p:nvSpPr>
        <p:spPr>
          <a:xfrm>
            <a:off x="502920" y="1234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sum  =  0.026 + 0.024 + 0.027 + 0.023 + 0.025  =  0.125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mean  =  0.125 / 5  =  </a:t>
            </a:r>
            <a:r>
              <a:rPr b="1" i="0" lang="en-US" sz="14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0.0250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365760" y="1874520"/>
            <a:ext cx="8458200" cy="146304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2"/>
          <p:cNvSpPr/>
          <p:nvPr/>
        </p:nvSpPr>
        <p:spPr>
          <a:xfrm>
            <a:off x="502920" y="19202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Step 2  —  Standard deviation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502920" y="22402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diffs from mean:  +0.001,  −0.001,  +0.002,  −0.002, 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squared:           1e-6,    1e-6,    4e-6,    4e-6,   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sum of squares   =  10e-6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variance (N − 1) =  10e-6 / 4  =  2.5e-6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σ  =  √(2.5e-6)  ≈  </a:t>
            </a:r>
            <a:r>
              <a:rPr b="1" i="0" lang="en-US" sz="14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0.0016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2"/>
          <p:cNvSpPr/>
          <p:nvPr/>
        </p:nvSpPr>
        <p:spPr>
          <a:xfrm>
            <a:off x="365760" y="3429000"/>
            <a:ext cx="8458200" cy="5029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2"/>
          <p:cNvSpPr/>
          <p:nvPr/>
        </p:nvSpPr>
        <p:spPr>
          <a:xfrm>
            <a:off x="502920" y="34564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Report:   </a:t>
            </a:r>
            <a:r>
              <a:rPr b="1" i="0" lang="en-US" sz="16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RMSE  =  0.0250  ±  0.0016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2"/>
          <p:cNvSpPr/>
          <p:nvPr/>
        </p:nvSpPr>
        <p:spPr>
          <a:xfrm>
            <a:off x="365760" y="4023360"/>
            <a:ext cx="8458200" cy="50292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2"/>
          <p:cNvSpPr/>
          <p:nvPr/>
        </p:nvSpPr>
        <p:spPr>
          <a:xfrm>
            <a:off x="502920" y="4041648"/>
            <a:ext cx="8183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Why both numbers matter: 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mean tells you accuracy. The σ tells you </a:t>
            </a:r>
            <a:r>
              <a:rPr b="0" i="1" lang="en-US" sz="115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stability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across data splits — a big σ signals the score is sensitive to which examples you happened to hold out.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2026-06-12T03:13:51Z</dcterms:created>
  <dc:creator>Omkar Bait</dc:creator>
</cp:coreProperties>
</file>