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6" roundtripDataSignature="AMtx7minvL8LxP3lbs/5asmAVG4/zWG6R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A6F7DC6-C268-4AC7-A4F5-CFFF31EB1142}">
  <a:tblStyle styleId="{BA6F7DC6-C268-4AC7-A4F5-CFFF31EB1142}"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customschemas.google.com/relationships/presentationmetadata" Target="metadata"/><Relationship Id="rId25" Type="http://schemas.openxmlformats.org/officeDocument/2006/relationships/slide" Target="slides/slide20.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Welcome students. In Lecture 1a we mapped out the landscape of AI/ML. Now in 1b we drill into the actual *inputs* to any ML system: the feature vector. Two big ideas today: (1) before any model, you must FRAME the problem precisely; (2) the numerical character of your features (categorical vs continuous, nominal vs ordinal) dictates which models and which preprocessing steps you can use.</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 name="Google Shape;2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Emphasize: a vague problem statement is the single most common reason ML projects fail. Make students literally write the 4 questions down for any project. Tie back to physics: just like deriving an equation, you state the variables and the unknown before solving.</a:t>
            </a:r>
            <a:endParaRPr/>
          </a:p>
        </p:txBody>
      </p:sp>
      <p:sp>
        <p:nvSpPr>
          <p:cNvPr id="25" name="Google Shape;2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 name="Shape 36"/>
        <p:cNvGrpSpPr/>
        <p:nvPr/>
      </p:nvGrpSpPr>
      <p:grpSpPr>
        <a:xfrm>
          <a:off x="0" y="0"/>
          <a:ext cx="0" cy="0"/>
          <a:chOff x="0" y="0"/>
          <a:chExt cx="0" cy="0"/>
        </a:xfrm>
      </p:grpSpPr>
      <p:sp>
        <p:nvSpPr>
          <p:cNvPr id="37" name="Google Shape;3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 name="Google Shape;3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Reinforce vocabulary: students will hear all the synonyms (features/predictors/independent variables; target/label/response/dependent variable) in different textbooks and papers. They all mean the same thing. Live demo idea: open SDSS SkyServer, pick a galaxy, point at the magnitudes and the spectroscopic z column.</a:t>
            </a:r>
            <a:endParaRPr/>
          </a:p>
        </p:txBody>
      </p:sp>
      <p:sp>
        <p:nvSpPr>
          <p:cNvPr id="39" name="Google Shape;3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slide is the conceptual hinge: students must internalize that 'a number' in your CSV is not always a number the model should use directly. Use the Hubble morphology example — it LOOKS ordinal (Sa→Sb→Sc) but the spacing isn't proportional to anything physical. Show how a wrong encoding (label-encoding the Hubble stage as 1,2,3,4,5) implicitly tells the model that Sa is 'half as much' as Sc, which is meaningless.</a:t>
            </a:r>
            <a:endParaRPr/>
          </a:p>
        </p:txBody>
      </p:sp>
      <p:sp>
        <p:nvSpPr>
          <p:cNvPr id="57" name="Google Shape;5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 name="Google Shape;7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Pause the deck and let students try for 60-90 seconds. Hands up: who has all 6? Then click to reveal the answer. The pedagogical goal: get them to internalize that 'magnitude' (a log scale) is interval, while 'flux' is ratio. Same physical quantity, different data type.</a:t>
            </a:r>
            <a:endParaRPr/>
          </a:p>
        </p:txBody>
      </p:sp>
      <p:sp>
        <p:nvSpPr>
          <p:cNvPr id="75" name="Google Shape;7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Most likely student trap: confusing magnitude and flux. Magnitude IS interval (log scale, no true zero, but differences in magnitude are physically meaningful). Flux IS ratio (linear, zero flux is meaningful). Same physical quantity, different data type. Another common trap: treating galaxy_id as ordinal because it's numeric. IDs are nominal.</a:t>
            </a:r>
            <a:endParaRPr/>
          </a:p>
        </p:txBody>
      </p:sp>
      <p:sp>
        <p:nvSpPr>
          <p:cNvPr id="89" name="Google Shape;8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Live polling option: show of hands per letter. The most common wrong answer is A (galaxy ID), because students see a number and think 'numeric → ordinal'. That confusion is exactly what this question is designed to surface.</a:t>
            </a:r>
            <a:endParaRPr/>
          </a:p>
        </p:txBody>
      </p:sp>
      <p:sp>
        <p:nvSpPr>
          <p:cNvPr id="104" name="Google Shape;10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 name="Google Shape;13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Common confusion: numbers don't automatically mean ordinal. Galaxy IDs are just labels that happen to be numeric. Treating an ID as ordinal would tell the model that galaxy 587725 is 'larger' than galaxy 587724, which is meaningless.</a:t>
            </a:r>
            <a:endParaRPr/>
          </a:p>
        </p:txBody>
      </p:sp>
      <p:sp>
        <p:nvSpPr>
          <p:cNvPr id="134" name="Google Shape;13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 name="Google Shape;16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Spend 5 minutes here. The most underrated skill in ML is patience for EDA. Real research story: tell them about a time a model 'worked' until you realized the target column had been duplicated in X. Encourage `pandas.describe()` + `df.hist()` as the first two commands of any project.</a:t>
            </a:r>
            <a:endParaRPr/>
          </a:p>
        </p:txBody>
      </p:sp>
      <p:sp>
        <p:nvSpPr>
          <p:cNvPr id="169" name="Google Shape;16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 name="Google Shape;19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Give them 90 seconds. Walk around the room. If anyone is stuck on Q3, prompt: 'what's the single column you're trying to predict?' For Q4, accept anything reasonable — RMSE, MAE, bias, scatter. The full answer comes in the next slide.</a:t>
            </a:r>
            <a:endParaRPr/>
          </a:p>
        </p:txBody>
      </p:sp>
      <p:sp>
        <p:nvSpPr>
          <p:cNvPr id="193" name="Google Shape;19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 name="Google Shape;21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 this back to Lec 4's case study explicitly. The exercise they just did IS the photo-z framing. From here the lectures build the pieces: prep the data (Lec 2), validate honestly (Lec 3a), pick a model (Lec 3b), and execute end-to-end (Lec 4).</a:t>
            </a:r>
            <a:endParaRPr/>
          </a:p>
        </p:txBody>
      </p:sp>
      <p:sp>
        <p:nvSpPr>
          <p:cNvPr id="214" name="Google Shape;21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 name="Google Shape;24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Point to the median line. Ask: 'What feature would have a similar shape in your own thesis data?' Lead them to magnitudes / fluxes / galaxy sizes. Foreshadow log transforms and standardization (Lec 2).</a:t>
            </a:r>
            <a:endParaRPr/>
          </a:p>
        </p:txBody>
      </p:sp>
      <p:sp>
        <p:nvSpPr>
          <p:cNvPr id="244" name="Google Shape;24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 name="Google Shape;257;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Point at the top-left 5x5 block — bands are all strongly correlated. Then at the lower-right block — colors (differences) carry independent information. This is *why* photometric-redshift papers always use colors as features, not raw magnitudes. Lead-in to PCA in Lec 2.</a:t>
            </a:r>
            <a:endParaRPr/>
          </a:p>
        </p:txBody>
      </p:sp>
      <p:sp>
        <p:nvSpPr>
          <p:cNvPr id="258" name="Google Shape;258;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0" name="Google Shape;270;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Story: an early photo-z model trained on bright SDSS spectroscopic redshifts had RMS=0.02 on test, then got applied to LSST-depth simulated galaxies and bias jumped to 0.15. The model wasn't 'wrong' — the deploy distribution was outside its training domain. KL-divergence or a simple histogram overlay would have caught it before deployment.</a:t>
            </a:r>
            <a:endParaRPr/>
          </a:p>
        </p:txBody>
      </p:sp>
      <p:sp>
        <p:nvSpPr>
          <p:cNvPr id="271" name="Google Shape;271;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 name="Google Shape;284;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Set up the next slide: 'why can't we just throw 10 000 features at every problem?'  Hand-wave: geometry breaks in high dimensions. Then turn to the curse-of-dim plot.</a:t>
            </a:r>
            <a:endParaRPr/>
          </a:p>
        </p:txBody>
      </p:sp>
      <p:sp>
        <p:nvSpPr>
          <p:cNvPr id="285" name="Google Shape;285;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8" name="Google Shape;308;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through the d=10 case slowly. It's astonishing. Then connect: this is *why* PCA / feature selection exist (Lec 2), why we use convolutional layers for images (parameter sharing, not flat features), and why Random Forests use random feature subsets at each split (Lec 3b).</a:t>
            </a:r>
            <a:endParaRPr/>
          </a:p>
        </p:txBody>
      </p:sp>
      <p:sp>
        <p:nvSpPr>
          <p:cNvPr id="309" name="Google Shape;309;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5" name="Google Shape;325;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Tempting wrong answers: A (more is better — intuitive but wrong for fixed N) and B (neural-net hype). The right answer C is the curse of dimensionality. D is partially right (scaling matters) but isn't the dominant effect.</a:t>
            </a:r>
            <a:endParaRPr/>
          </a:p>
        </p:txBody>
      </p:sp>
      <p:sp>
        <p:nvSpPr>
          <p:cNvPr id="326" name="Google Shape;326;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5" name="Google Shape;355;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Anchor to the curse-of-dim slide they just saw. The plot ℓ = p^(1/d) is the visual proof. Mention: this is why random forests use feature subsampling and why PCA exists.</a:t>
            </a:r>
            <a:endParaRPr/>
          </a:p>
        </p:txBody>
      </p:sp>
      <p:sp>
        <p:nvSpPr>
          <p:cNvPr id="356" name="Google Shape;356;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0" name="Google Shape;390;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Suggest students live-run these on the photo-z CSV in the practical session (Lec 4). Stress: even 5 minutes of these commands prevents 5 weeks of pain later.</a:t>
            </a:r>
            <a:endParaRPr/>
          </a:p>
        </p:txBody>
      </p:sp>
      <p:sp>
        <p:nvSpPr>
          <p:cNvPr id="391" name="Google Shape;391;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5" name="Google Shape;405;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Recap as a check-list students can paste into the front of every project notebook. Foreshadow Lecture 2: now that we *understand* the data, we make it model-ready.</a:t>
            </a:r>
            <a:endParaRPr/>
          </a:p>
        </p:txBody>
      </p:sp>
      <p:sp>
        <p:nvSpPr>
          <p:cNvPr id="406" name="Google Shape;406;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0.pn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1.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8.pn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pic>
        <p:nvPicPr>
          <p:cNvPr descr="/sessions/sleepy-friendly-euler/mnt/outputs/logos/nrao_logo.png" id="16" name="Google Shape;16;p1"/>
          <p:cNvPicPr preferRelativeResize="0"/>
          <p:nvPr/>
        </p:nvPicPr>
        <p:blipFill rotWithShape="1">
          <a:blip r:embed="rId3">
            <a:alphaModFix/>
          </a:blip>
          <a:srcRect b="0" l="0" r="0" t="0"/>
          <a:stretch/>
        </p:blipFill>
        <p:spPr>
          <a:xfrm>
            <a:off x="228600" y="182880"/>
            <a:ext cx="594360" cy="758952"/>
          </a:xfrm>
          <a:prstGeom prst="rect">
            <a:avLst/>
          </a:prstGeom>
          <a:noFill/>
          <a:ln>
            <a:noFill/>
          </a:ln>
        </p:spPr>
      </p:pic>
      <p:sp>
        <p:nvSpPr>
          <p:cNvPr id="17" name="Google Shape;17;p1"/>
          <p:cNvSpPr/>
          <p:nvPr/>
        </p:nvSpPr>
        <p:spPr>
          <a:xfrm>
            <a:off x="457200" y="1554480"/>
            <a:ext cx="8229600" cy="1463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4000"/>
              <a:buFont typeface="Georgia"/>
              <a:buNone/>
            </a:pPr>
            <a:r>
              <a:rPr b="0" i="0" lang="en-US" sz="4000" u="none" cap="none" strike="noStrike">
                <a:solidFill>
                  <a:srgbClr val="7B2D26"/>
                </a:solidFill>
                <a:latin typeface="Georgia"/>
                <a:ea typeface="Georgia"/>
                <a:cs typeface="Georgia"/>
                <a:sym typeface="Georgia"/>
              </a:rPr>
              <a:t>Lecture 1b: Feature Vectors</a:t>
            </a:r>
            <a:endParaRPr b="0" i="0" sz="4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B2D26"/>
              </a:buClr>
              <a:buSzPts val="4000"/>
              <a:buFont typeface="Georgia"/>
              <a:buNone/>
            </a:pPr>
            <a:r>
              <a:rPr b="0" i="0" lang="en-US" sz="4000" u="none" cap="none" strike="noStrike">
                <a:solidFill>
                  <a:srgbClr val="7B2D26"/>
                </a:solidFill>
                <a:latin typeface="Georgia"/>
                <a:ea typeface="Georgia"/>
                <a:cs typeface="Georgia"/>
                <a:sym typeface="Georgia"/>
              </a:rPr>
              <a:t>&amp; Data Modalities</a:t>
            </a:r>
            <a:endParaRPr b="0" i="0" sz="4000" u="none" cap="none" strike="noStrike">
              <a:solidFill>
                <a:schemeClr val="dk1"/>
              </a:solidFill>
              <a:latin typeface="Calibri"/>
              <a:ea typeface="Calibri"/>
              <a:cs typeface="Calibri"/>
              <a:sym typeface="Calibri"/>
            </a:endParaRPr>
          </a:p>
        </p:txBody>
      </p:sp>
      <p:sp>
        <p:nvSpPr>
          <p:cNvPr id="18" name="Google Shape;18;p1"/>
          <p:cNvSpPr/>
          <p:nvPr/>
        </p:nvSpPr>
        <p:spPr>
          <a:xfrm>
            <a:off x="457200" y="3200400"/>
            <a:ext cx="8229600" cy="8229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2B2B2B"/>
              </a:buClr>
              <a:buSzPts val="1800"/>
              <a:buFont typeface="Georgia"/>
              <a:buNone/>
            </a:pPr>
            <a:r>
              <a:rPr b="0" i="0" lang="en-US" sz="1800" u="none" cap="none" strike="noStrike">
                <a:solidFill>
                  <a:srgbClr val="2B2B2B"/>
                </a:solidFill>
                <a:latin typeface="Georgia"/>
                <a:ea typeface="Georgia"/>
                <a:cs typeface="Georgia"/>
                <a:sym typeface="Georgia"/>
              </a:rPr>
              <a:t>Omkar Bait (CosmicAI Fellow)</a:t>
            </a:r>
            <a:endParaRPr b="0" i="0" sz="1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2B2B2B"/>
              </a:buClr>
              <a:buSzPts val="1800"/>
              <a:buFont typeface="Georgia"/>
              <a:buNone/>
            </a:pPr>
            <a:r>
              <a:rPr b="0" i="0" lang="en-US" sz="1800" u="none" cap="none" strike="noStrike">
                <a:solidFill>
                  <a:srgbClr val="2B2B2B"/>
                </a:solidFill>
                <a:latin typeface="Georgia"/>
                <a:ea typeface="Georgia"/>
                <a:cs typeface="Georgia"/>
                <a:sym typeface="Georgia"/>
              </a:rPr>
              <a:t>NRAO, Charlottesville</a:t>
            </a:r>
            <a:endParaRPr b="0" i="0" sz="1800" u="none" cap="none" strike="noStrike">
              <a:solidFill>
                <a:schemeClr val="dk1"/>
              </a:solidFill>
              <a:latin typeface="Calibri"/>
              <a:ea typeface="Calibri"/>
              <a:cs typeface="Calibri"/>
              <a:sym typeface="Calibri"/>
            </a:endParaRPr>
          </a:p>
        </p:txBody>
      </p:sp>
      <p:pic>
        <p:nvPicPr>
          <p:cNvPr descr="/sessions/sleepy-friendly-euler/mnt/outputs/logos/cosmicai_logo.png" id="19" name="Google Shape;19;p1"/>
          <p:cNvPicPr preferRelativeResize="0"/>
          <p:nvPr/>
        </p:nvPicPr>
        <p:blipFill rotWithShape="1">
          <a:blip r:embed="rId4">
            <a:alphaModFix/>
          </a:blip>
          <a:srcRect b="0" l="0" r="0" t="0"/>
          <a:stretch/>
        </p:blipFill>
        <p:spPr>
          <a:xfrm>
            <a:off x="228600" y="4250050"/>
            <a:ext cx="1938375" cy="779150"/>
          </a:xfrm>
          <a:prstGeom prst="rect">
            <a:avLst/>
          </a:prstGeom>
          <a:noFill/>
          <a:ln>
            <a:noFill/>
          </a:ln>
        </p:spPr>
      </p:pic>
      <p:sp>
        <p:nvSpPr>
          <p:cNvPr id="20" name="Google Shape;20;p1"/>
          <p:cNvSpPr/>
          <p:nvPr/>
        </p:nvSpPr>
        <p:spPr>
          <a:xfrm>
            <a:off x="2743200" y="4663440"/>
            <a:ext cx="36576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1" i="0" lang="en-US" sz="1200" u="none" cap="none" strike="noStrike">
                <a:solidFill>
                  <a:srgbClr val="2B2B2B"/>
                </a:solidFill>
                <a:latin typeface="Georgia"/>
                <a:ea typeface="Georgia"/>
                <a:cs typeface="Georgia"/>
                <a:sym typeface="Georgia"/>
              </a:rPr>
              <a:t>CosmicAI Summer School</a:t>
            </a:r>
            <a:endParaRPr b="0" i="0" sz="1200" u="none" cap="none" strike="noStrike">
              <a:solidFill>
                <a:schemeClr val="dk1"/>
              </a:solidFill>
              <a:latin typeface="Calibri"/>
              <a:ea typeface="Calibri"/>
              <a:cs typeface="Calibri"/>
              <a:sym typeface="Calibri"/>
            </a:endParaRPr>
          </a:p>
        </p:txBody>
      </p:sp>
      <p:sp>
        <p:nvSpPr>
          <p:cNvPr id="21" name="Google Shape;21;p1"/>
          <p:cNvSpPr/>
          <p:nvPr/>
        </p:nvSpPr>
        <p:spPr>
          <a:xfrm>
            <a:off x="8275320" y="4754880"/>
            <a:ext cx="6858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06060"/>
              </a:buClr>
              <a:buSzPts val="1200"/>
              <a:buFont typeface="Georgia"/>
              <a:buNone/>
            </a:pPr>
            <a:r>
              <a:rPr b="0" i="0" lang="en-US" sz="1200" u="none" cap="none" strike="noStrike">
                <a:solidFill>
                  <a:srgbClr val="606060"/>
                </a:solidFill>
                <a:latin typeface="Georgia"/>
                <a:ea typeface="Georgia"/>
                <a:cs typeface="Georgia"/>
                <a:sym typeface="Georgia"/>
              </a:rPr>
              <a:t>1</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 name="Shape 26"/>
        <p:cNvGrpSpPr/>
        <p:nvPr/>
      </p:nvGrpSpPr>
      <p:grpSpPr>
        <a:xfrm>
          <a:off x="0" y="0"/>
          <a:ext cx="0" cy="0"/>
          <a:chOff x="0" y="0"/>
          <a:chExt cx="0" cy="0"/>
        </a:xfrm>
      </p:grpSpPr>
      <p:sp>
        <p:nvSpPr>
          <p:cNvPr id="27" name="Google Shape;27;p2"/>
          <p:cNvSpPr/>
          <p:nvPr/>
        </p:nvSpPr>
        <p:spPr>
          <a:xfrm>
            <a:off x="274320" y="137160"/>
            <a:ext cx="859536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3000"/>
              <a:buFont typeface="Georgia"/>
              <a:buNone/>
            </a:pPr>
            <a:r>
              <a:rPr b="0" i="0" lang="en-US" sz="3000" u="none" cap="none" strike="noStrike">
                <a:solidFill>
                  <a:srgbClr val="7B2D26"/>
                </a:solidFill>
                <a:latin typeface="Georgia"/>
                <a:ea typeface="Georgia"/>
                <a:cs typeface="Georgia"/>
                <a:sym typeface="Georgia"/>
              </a:rPr>
              <a:t>Step 1 — Frame the Problem</a:t>
            </a:r>
            <a:endParaRPr b="0" i="0" sz="3000" u="none" cap="none" strike="noStrike">
              <a:solidFill>
                <a:schemeClr val="dk1"/>
              </a:solidFill>
              <a:latin typeface="Calibri"/>
              <a:ea typeface="Calibri"/>
              <a:cs typeface="Calibri"/>
              <a:sym typeface="Calibri"/>
            </a:endParaRPr>
          </a:p>
        </p:txBody>
      </p:sp>
      <p:cxnSp>
        <p:nvCxnSpPr>
          <p:cNvPr id="28" name="Google Shape;28;p2"/>
          <p:cNvCxnSpPr/>
          <p:nvPr/>
        </p:nvCxnSpPr>
        <p:spPr>
          <a:xfrm>
            <a:off x="365760" y="777240"/>
            <a:ext cx="8412480" cy="0"/>
          </a:xfrm>
          <a:prstGeom prst="straightConnector1">
            <a:avLst/>
          </a:prstGeom>
          <a:noFill/>
          <a:ln cap="flat" cmpd="sng" w="15875">
            <a:solidFill>
              <a:srgbClr val="B0B0B0"/>
            </a:solidFill>
            <a:prstDash val="solid"/>
            <a:round/>
            <a:headEnd len="sm" w="sm" type="none"/>
            <a:tailEnd len="sm" w="sm" type="none"/>
          </a:ln>
        </p:spPr>
      </p:cxnSp>
      <p:sp>
        <p:nvSpPr>
          <p:cNvPr id="29" name="Google Shape;29;p2"/>
          <p:cNvSpPr/>
          <p:nvPr/>
        </p:nvSpPr>
        <p:spPr>
          <a:xfrm>
            <a:off x="457200" y="960120"/>
            <a:ext cx="8229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06060"/>
              </a:buClr>
              <a:buSzPts val="1600"/>
              <a:buFont typeface="Georgia"/>
              <a:buNone/>
            </a:pPr>
            <a:r>
              <a:rPr b="0" i="1" lang="en-US" sz="1600" u="none" cap="none" strike="noStrike">
                <a:solidFill>
                  <a:srgbClr val="606060"/>
                </a:solidFill>
                <a:latin typeface="Georgia"/>
                <a:ea typeface="Georgia"/>
                <a:cs typeface="Georgia"/>
                <a:sym typeface="Georgia"/>
              </a:rPr>
              <a:t>Before touching data or models, write down:</a:t>
            </a:r>
            <a:endParaRPr b="0" i="0" sz="1600" u="none" cap="none" strike="noStrike">
              <a:solidFill>
                <a:schemeClr val="dk1"/>
              </a:solidFill>
              <a:latin typeface="Calibri"/>
              <a:ea typeface="Calibri"/>
              <a:cs typeface="Calibri"/>
              <a:sym typeface="Calibri"/>
            </a:endParaRPr>
          </a:p>
        </p:txBody>
      </p:sp>
      <p:sp>
        <p:nvSpPr>
          <p:cNvPr id="30" name="Google Shape;30;p2"/>
          <p:cNvSpPr/>
          <p:nvPr/>
        </p:nvSpPr>
        <p:spPr>
          <a:xfrm>
            <a:off x="548640" y="1371600"/>
            <a:ext cx="8229600" cy="23774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B"/>
              </a:buClr>
              <a:buSzPts val="1600"/>
              <a:buFont typeface="Georgia"/>
              <a:buNone/>
            </a:pPr>
            <a:r>
              <a:rPr b="1" i="0" lang="en-US" sz="1600" u="none" cap="none" strike="noStrike">
                <a:solidFill>
                  <a:srgbClr val="2B2B2B"/>
                </a:solidFill>
                <a:latin typeface="Georgia"/>
                <a:ea typeface="Georgia"/>
                <a:cs typeface="Georgia"/>
                <a:sym typeface="Georgia"/>
              </a:rPr>
              <a:t>What am I predicting?  </a:t>
            </a:r>
            <a:r>
              <a:rPr b="0" i="0" lang="en-US" sz="1600" u="none" cap="none" strike="noStrike">
                <a:solidFill>
                  <a:srgbClr val="2B2B2B"/>
                </a:solidFill>
                <a:latin typeface="Georgia"/>
                <a:ea typeface="Georgia"/>
                <a:cs typeface="Georgia"/>
                <a:sym typeface="Georgia"/>
              </a:rPr>
              <a:t>Is the target a class (e.g. spiral vs. elliptical) or a number (e.g. redshift z)?</a:t>
            </a:r>
            <a:endParaRPr b="0" i="0" sz="16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2B2B2B"/>
              </a:buClr>
              <a:buSzPts val="1600"/>
              <a:buFont typeface="Georgia"/>
              <a:buNone/>
            </a:pPr>
            <a:r>
              <a:rPr b="1" i="0" lang="en-US" sz="1600" u="none" cap="none" strike="noStrike">
                <a:solidFill>
                  <a:srgbClr val="2B2B2B"/>
                </a:solidFill>
                <a:latin typeface="Georgia"/>
                <a:ea typeface="Georgia"/>
                <a:cs typeface="Georgia"/>
                <a:sym typeface="Georgia"/>
              </a:rPr>
              <a:t>How many classes?  </a:t>
            </a:r>
            <a:r>
              <a:rPr b="0" i="0" lang="en-US" sz="1600" u="none" cap="none" strike="noStrike">
                <a:solidFill>
                  <a:srgbClr val="2B2B2B"/>
                </a:solidFill>
                <a:latin typeface="Georgia"/>
                <a:ea typeface="Georgia"/>
                <a:cs typeface="Georgia"/>
                <a:sym typeface="Georgia"/>
              </a:rPr>
              <a:t>Binary (star / not-star) or multi-class (E, S0, Sa, Sb, Sc, Irr)?</a:t>
            </a:r>
            <a:endParaRPr b="0" i="0" sz="16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2B2B2B"/>
              </a:buClr>
              <a:buSzPts val="1600"/>
              <a:buFont typeface="Georgia"/>
              <a:buNone/>
            </a:pPr>
            <a:r>
              <a:rPr b="1" i="0" lang="en-US" sz="1600" u="none" cap="none" strike="noStrike">
                <a:solidFill>
                  <a:srgbClr val="2B2B2B"/>
                </a:solidFill>
                <a:latin typeface="Georgia"/>
                <a:ea typeface="Georgia"/>
                <a:cs typeface="Georgia"/>
                <a:sym typeface="Georgia"/>
              </a:rPr>
              <a:t>What does 'success' look like?  </a:t>
            </a:r>
            <a:r>
              <a:rPr b="0" i="0" lang="en-US" sz="1600" u="none" cap="none" strike="noStrike">
                <a:solidFill>
                  <a:srgbClr val="2B2B2B"/>
                </a:solidFill>
                <a:latin typeface="Georgia"/>
                <a:ea typeface="Georgia"/>
                <a:cs typeface="Georgia"/>
                <a:sym typeface="Georgia"/>
              </a:rPr>
              <a:t>Accuracy? RMSE on z? A photometric-redshift bias |Δz| &lt; 0.05?</a:t>
            </a:r>
            <a:endParaRPr b="0" i="0" sz="16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2B2B2B"/>
              </a:buClr>
              <a:buSzPts val="1600"/>
              <a:buFont typeface="Georgia"/>
              <a:buNone/>
            </a:pPr>
            <a:r>
              <a:rPr b="1" i="0" lang="en-US" sz="1600" u="none" cap="none" strike="noStrike">
                <a:solidFill>
                  <a:srgbClr val="2B2B2B"/>
                </a:solidFill>
                <a:latin typeface="Georgia"/>
                <a:ea typeface="Georgia"/>
                <a:cs typeface="Georgia"/>
                <a:sym typeface="Georgia"/>
              </a:rPr>
              <a:t>What inputs are available?  </a:t>
            </a:r>
            <a:r>
              <a:rPr b="0" i="0" lang="en-US" sz="1600" u="none" cap="none" strike="noStrike">
                <a:solidFill>
                  <a:srgbClr val="2B2B2B"/>
                </a:solidFill>
                <a:latin typeface="Georgia"/>
                <a:ea typeface="Georgia"/>
                <a:cs typeface="Georgia"/>
                <a:sym typeface="Georgia"/>
              </a:rPr>
              <a:t>Photometric magnitudes, image cutouts, spectra, redshift catalogs?</a:t>
            </a:r>
            <a:endParaRPr b="0" i="0" sz="1600" u="none" cap="none" strike="noStrike">
              <a:solidFill>
                <a:schemeClr val="dk1"/>
              </a:solidFill>
              <a:latin typeface="Calibri"/>
              <a:ea typeface="Calibri"/>
              <a:cs typeface="Calibri"/>
              <a:sym typeface="Calibri"/>
            </a:endParaRPr>
          </a:p>
        </p:txBody>
      </p:sp>
      <p:sp>
        <p:nvSpPr>
          <p:cNvPr id="31" name="Google Shape;31;p2"/>
          <p:cNvSpPr/>
          <p:nvPr/>
        </p:nvSpPr>
        <p:spPr>
          <a:xfrm>
            <a:off x="548640" y="3794760"/>
            <a:ext cx="8046720" cy="594360"/>
          </a:xfrm>
          <a:prstGeom prst="rect">
            <a:avLst/>
          </a:prstGeom>
          <a:solidFill>
            <a:srgbClr val="F4ECE9"/>
          </a:solidFill>
          <a:ln cap="flat" cmpd="sng" w="9525">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640080" y="3822192"/>
            <a:ext cx="786384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1400"/>
              <a:buFont typeface="Georgia"/>
              <a:buNone/>
            </a:pPr>
            <a:r>
              <a:rPr b="1" i="0" lang="en-US" sz="1400" u="none" cap="none" strike="noStrike">
                <a:solidFill>
                  <a:srgbClr val="7B2D26"/>
                </a:solidFill>
                <a:latin typeface="Georgia"/>
                <a:ea typeface="Georgia"/>
                <a:cs typeface="Georgia"/>
                <a:sym typeface="Georgia"/>
              </a:rPr>
              <a:t>Astro example:  </a:t>
            </a:r>
            <a:r>
              <a:rPr b="0" i="0" lang="en-US" sz="1400" u="none" cap="none" strike="noStrike">
                <a:solidFill>
                  <a:srgbClr val="2B2B2B"/>
                </a:solidFill>
                <a:latin typeface="Georgia"/>
                <a:ea typeface="Georgia"/>
                <a:cs typeface="Georgia"/>
                <a:sym typeface="Georgia"/>
              </a:rPr>
              <a:t>"Given ugrizy magnitudes from LSST, predict the spectroscopic redshift z."  </a:t>
            </a:r>
            <a:r>
              <a:rPr b="0" i="1" lang="en-US" sz="1400" u="none" cap="none" strike="noStrike">
                <a:solidFill>
                  <a:srgbClr val="606060"/>
                </a:solidFill>
                <a:latin typeface="Georgia"/>
                <a:ea typeface="Georgia"/>
                <a:cs typeface="Georgia"/>
                <a:sym typeface="Georgia"/>
              </a:rPr>
              <a:t>→ regression task, continuous target.</a:t>
            </a:r>
            <a:endParaRPr b="0" i="0" sz="1400" u="none" cap="none" strike="noStrike">
              <a:solidFill>
                <a:schemeClr val="dk1"/>
              </a:solidFill>
              <a:latin typeface="Calibri"/>
              <a:ea typeface="Calibri"/>
              <a:cs typeface="Calibri"/>
              <a:sym typeface="Calibri"/>
            </a:endParaRPr>
          </a:p>
        </p:txBody>
      </p:sp>
      <p:pic>
        <p:nvPicPr>
          <p:cNvPr descr="/sessions/sleepy-friendly-euler/mnt/outputs/logos/cosmicai_logo.png" id="33" name="Google Shape;33;p2"/>
          <p:cNvPicPr preferRelativeResize="0"/>
          <p:nvPr/>
        </p:nvPicPr>
        <p:blipFill rotWithShape="1">
          <a:blip r:embed="rId3">
            <a:alphaModFix/>
          </a:blip>
          <a:srcRect b="0" l="0" r="0" t="0"/>
          <a:stretch/>
        </p:blipFill>
        <p:spPr>
          <a:xfrm>
            <a:off x="228600" y="4526280"/>
            <a:ext cx="1463040" cy="502920"/>
          </a:xfrm>
          <a:prstGeom prst="rect">
            <a:avLst/>
          </a:prstGeom>
          <a:noFill/>
          <a:ln>
            <a:noFill/>
          </a:ln>
        </p:spPr>
      </p:pic>
      <p:sp>
        <p:nvSpPr>
          <p:cNvPr id="34" name="Google Shape;34;p2"/>
          <p:cNvSpPr/>
          <p:nvPr/>
        </p:nvSpPr>
        <p:spPr>
          <a:xfrm>
            <a:off x="2743200" y="4663440"/>
            <a:ext cx="36576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1" i="0" lang="en-US" sz="1200" u="none" cap="none" strike="noStrike">
                <a:solidFill>
                  <a:srgbClr val="2B2B2B"/>
                </a:solidFill>
                <a:latin typeface="Georgia"/>
                <a:ea typeface="Georgia"/>
                <a:cs typeface="Georgia"/>
                <a:sym typeface="Georgia"/>
              </a:rPr>
              <a:t>CosmicAI Summer School</a:t>
            </a:r>
            <a:endParaRPr b="0" i="0" sz="1200" u="none" cap="none" strike="noStrike">
              <a:solidFill>
                <a:schemeClr val="dk1"/>
              </a:solidFill>
              <a:latin typeface="Calibri"/>
              <a:ea typeface="Calibri"/>
              <a:cs typeface="Calibri"/>
              <a:sym typeface="Calibri"/>
            </a:endParaRPr>
          </a:p>
        </p:txBody>
      </p:sp>
      <p:sp>
        <p:nvSpPr>
          <p:cNvPr id="35" name="Google Shape;35;p2"/>
          <p:cNvSpPr/>
          <p:nvPr/>
        </p:nvSpPr>
        <p:spPr>
          <a:xfrm>
            <a:off x="8275320" y="4754880"/>
            <a:ext cx="6858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06060"/>
              </a:buClr>
              <a:buSzPts val="1200"/>
              <a:buFont typeface="Georgia"/>
              <a:buNone/>
            </a:pPr>
            <a:r>
              <a:rPr b="0" i="0" lang="en-US" sz="1200" u="none" cap="none" strike="noStrike">
                <a:solidFill>
                  <a:srgbClr val="606060"/>
                </a:solidFill>
                <a:latin typeface="Georgia"/>
                <a:ea typeface="Georgia"/>
                <a:cs typeface="Georgia"/>
                <a:sym typeface="Georgia"/>
              </a:rPr>
              <a:t>2</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 name="Shape 40"/>
        <p:cNvGrpSpPr/>
        <p:nvPr/>
      </p:nvGrpSpPr>
      <p:grpSpPr>
        <a:xfrm>
          <a:off x="0" y="0"/>
          <a:ext cx="0" cy="0"/>
          <a:chOff x="0" y="0"/>
          <a:chExt cx="0" cy="0"/>
        </a:xfrm>
      </p:grpSpPr>
      <p:sp>
        <p:nvSpPr>
          <p:cNvPr id="41" name="Google Shape;41;p3"/>
          <p:cNvSpPr/>
          <p:nvPr/>
        </p:nvSpPr>
        <p:spPr>
          <a:xfrm>
            <a:off x="274320" y="137160"/>
            <a:ext cx="859536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3000"/>
              <a:buFont typeface="Georgia"/>
              <a:buNone/>
            </a:pPr>
            <a:r>
              <a:rPr b="0" i="0" lang="en-US" sz="3000" u="none" cap="none" strike="noStrike">
                <a:solidFill>
                  <a:srgbClr val="7B2D26"/>
                </a:solidFill>
                <a:latin typeface="Georgia"/>
                <a:ea typeface="Georgia"/>
                <a:cs typeface="Georgia"/>
                <a:sym typeface="Georgia"/>
              </a:rPr>
              <a:t>Step 2 — Features (X) and Targets (y)</a:t>
            </a:r>
            <a:endParaRPr b="0" i="0" sz="3000" u="none" cap="none" strike="noStrike">
              <a:solidFill>
                <a:schemeClr val="dk1"/>
              </a:solidFill>
              <a:latin typeface="Calibri"/>
              <a:ea typeface="Calibri"/>
              <a:cs typeface="Calibri"/>
              <a:sym typeface="Calibri"/>
            </a:endParaRPr>
          </a:p>
        </p:txBody>
      </p:sp>
      <p:cxnSp>
        <p:nvCxnSpPr>
          <p:cNvPr id="42" name="Google Shape;42;p3"/>
          <p:cNvCxnSpPr/>
          <p:nvPr/>
        </p:nvCxnSpPr>
        <p:spPr>
          <a:xfrm>
            <a:off x="365760" y="777240"/>
            <a:ext cx="8412480" cy="0"/>
          </a:xfrm>
          <a:prstGeom prst="straightConnector1">
            <a:avLst/>
          </a:prstGeom>
          <a:noFill/>
          <a:ln cap="flat" cmpd="sng" w="15875">
            <a:solidFill>
              <a:srgbClr val="B0B0B0"/>
            </a:solidFill>
            <a:prstDash val="solid"/>
            <a:round/>
            <a:headEnd len="sm" w="sm" type="none"/>
            <a:tailEnd len="sm" w="sm" type="none"/>
          </a:ln>
        </p:spPr>
      </p:cxnSp>
      <p:sp>
        <p:nvSpPr>
          <p:cNvPr id="43" name="Google Shape;43;p3"/>
          <p:cNvSpPr/>
          <p:nvPr/>
        </p:nvSpPr>
        <p:spPr>
          <a:xfrm>
            <a:off x="457200" y="960120"/>
            <a:ext cx="5120640" cy="3657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B2B2B"/>
              </a:buClr>
              <a:buSzPts val="1500"/>
              <a:buFont typeface="Georgia"/>
              <a:buNone/>
            </a:pPr>
            <a:r>
              <a:rPr b="0" i="0" lang="en-US" sz="1500" u="none" cap="none" strike="noStrike">
                <a:solidFill>
                  <a:srgbClr val="2B2B2B"/>
                </a:solidFill>
                <a:latin typeface="Georgia"/>
                <a:ea typeface="Georgia"/>
                <a:cs typeface="Georgia"/>
                <a:sym typeface="Georgia"/>
              </a:rPr>
              <a:t>Each example is an n-dimensional feature vector:</a:t>
            </a:r>
            <a:endParaRPr b="0" i="0" sz="1500" u="none" cap="none" strike="noStrike">
              <a:solidFill>
                <a:schemeClr val="dk1"/>
              </a:solidFill>
              <a:latin typeface="Calibri"/>
              <a:ea typeface="Calibri"/>
              <a:cs typeface="Calibri"/>
              <a:sym typeface="Calibri"/>
            </a:endParaRPr>
          </a:p>
        </p:txBody>
      </p:sp>
      <p:sp>
        <p:nvSpPr>
          <p:cNvPr id="44" name="Google Shape;44;p3"/>
          <p:cNvSpPr/>
          <p:nvPr/>
        </p:nvSpPr>
        <p:spPr>
          <a:xfrm>
            <a:off x="457200" y="1371600"/>
            <a:ext cx="512064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2000"/>
              <a:buFont typeface="Courier New"/>
              <a:buNone/>
            </a:pPr>
            <a:r>
              <a:rPr b="1" i="0" lang="en-US" sz="2000" u="none" cap="none" strike="noStrike">
                <a:solidFill>
                  <a:srgbClr val="7B2D26"/>
                </a:solidFill>
                <a:latin typeface="Courier New"/>
                <a:ea typeface="Courier New"/>
                <a:cs typeface="Courier New"/>
                <a:sym typeface="Courier New"/>
              </a:rPr>
              <a:t>X = ( x₁,  x₂,  x₃,  … ,  xₙ )</a:t>
            </a:r>
            <a:endParaRPr b="0" i="0" sz="2000" u="none" cap="none" strike="noStrike">
              <a:solidFill>
                <a:schemeClr val="dk1"/>
              </a:solidFill>
              <a:latin typeface="Calibri"/>
              <a:ea typeface="Calibri"/>
              <a:cs typeface="Calibri"/>
              <a:sym typeface="Calibri"/>
            </a:endParaRPr>
          </a:p>
        </p:txBody>
      </p:sp>
      <p:sp>
        <p:nvSpPr>
          <p:cNvPr id="45" name="Google Shape;45;p3"/>
          <p:cNvSpPr/>
          <p:nvPr/>
        </p:nvSpPr>
        <p:spPr>
          <a:xfrm>
            <a:off x="457200" y="1965960"/>
            <a:ext cx="5120640" cy="7315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B2B2B"/>
              </a:buClr>
              <a:buSzPts val="1500"/>
              <a:buFont typeface="Georgia"/>
              <a:buNone/>
            </a:pPr>
            <a:r>
              <a:rPr b="0" i="0" lang="en-US" sz="1500" u="none" cap="none" strike="noStrike">
                <a:solidFill>
                  <a:srgbClr val="2B2B2B"/>
                </a:solidFill>
                <a:latin typeface="Georgia"/>
                <a:ea typeface="Georgia"/>
                <a:cs typeface="Georgia"/>
                <a:sym typeface="Georgia"/>
              </a:rPr>
              <a:t>The model learns a mapping  f : X → y,  where y is the </a:t>
            </a:r>
            <a:r>
              <a:rPr b="1" i="1" lang="en-US" sz="1500" u="none" cap="none" strike="noStrike">
                <a:solidFill>
                  <a:srgbClr val="2B2B2B"/>
                </a:solidFill>
                <a:latin typeface="Georgia"/>
                <a:ea typeface="Georgia"/>
                <a:cs typeface="Georgia"/>
                <a:sym typeface="Georgia"/>
              </a:rPr>
              <a:t>target</a:t>
            </a:r>
            <a:r>
              <a:rPr b="0" i="0" lang="en-US" sz="1500" u="none" cap="none" strike="noStrike">
                <a:solidFill>
                  <a:srgbClr val="2B2B2B"/>
                </a:solidFill>
                <a:latin typeface="Georgia"/>
                <a:ea typeface="Georgia"/>
                <a:cs typeface="Georgia"/>
                <a:sym typeface="Georgia"/>
              </a:rPr>
              <a:t>.</a:t>
            </a:r>
            <a:endParaRPr b="0" i="0" sz="1500" u="none" cap="none" strike="noStrike">
              <a:solidFill>
                <a:schemeClr val="dk1"/>
              </a:solidFill>
              <a:latin typeface="Calibri"/>
              <a:ea typeface="Calibri"/>
              <a:cs typeface="Calibri"/>
              <a:sym typeface="Calibri"/>
            </a:endParaRPr>
          </a:p>
        </p:txBody>
      </p:sp>
      <p:sp>
        <p:nvSpPr>
          <p:cNvPr id="46" name="Google Shape;46;p3"/>
          <p:cNvSpPr/>
          <p:nvPr/>
        </p:nvSpPr>
        <p:spPr>
          <a:xfrm>
            <a:off x="5669280" y="960120"/>
            <a:ext cx="3200400" cy="2194560"/>
          </a:xfrm>
          <a:prstGeom prst="rect">
            <a:avLst/>
          </a:prstGeom>
          <a:solidFill>
            <a:srgbClr val="F9F4F1"/>
          </a:solidFill>
          <a:ln cap="flat" cmpd="sng" w="9525">
            <a:solidFill>
              <a:srgbClr val="B0B0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3"/>
          <p:cNvSpPr/>
          <p:nvPr/>
        </p:nvSpPr>
        <p:spPr>
          <a:xfrm>
            <a:off x="5760720" y="1005840"/>
            <a:ext cx="30175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1400"/>
              <a:buFont typeface="Georgia"/>
              <a:buNone/>
            </a:pPr>
            <a:r>
              <a:rPr b="0" i="1" lang="en-US" sz="1400" u="none" cap="none" strike="noStrike">
                <a:solidFill>
                  <a:srgbClr val="7B2D26"/>
                </a:solidFill>
                <a:latin typeface="Georgia"/>
                <a:ea typeface="Georgia"/>
                <a:cs typeface="Georgia"/>
                <a:sym typeface="Georgia"/>
              </a:rPr>
              <a:t>One SDSS galaxy:</a:t>
            </a:r>
            <a:endParaRPr b="0" i="0" sz="1400" u="none" cap="none" strike="noStrike">
              <a:solidFill>
                <a:schemeClr val="dk1"/>
              </a:solidFill>
              <a:latin typeface="Calibri"/>
              <a:ea typeface="Calibri"/>
              <a:cs typeface="Calibri"/>
              <a:sym typeface="Calibri"/>
            </a:endParaRPr>
          </a:p>
        </p:txBody>
      </p:sp>
      <p:sp>
        <p:nvSpPr>
          <p:cNvPr id="48" name="Google Shape;48;p3"/>
          <p:cNvSpPr/>
          <p:nvPr/>
        </p:nvSpPr>
        <p:spPr>
          <a:xfrm>
            <a:off x="5760720" y="1371600"/>
            <a:ext cx="3017520" cy="1737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B"/>
              </a:buClr>
              <a:buSzPts val="1300"/>
              <a:buFont typeface="Courier New"/>
              <a:buNone/>
            </a:pPr>
            <a:r>
              <a:rPr b="0" i="0" lang="en-US" sz="1300" u="none" cap="none" strike="noStrike">
                <a:solidFill>
                  <a:srgbClr val="2B2B2B"/>
                </a:solidFill>
                <a:latin typeface="Courier New"/>
                <a:ea typeface="Courier New"/>
                <a:cs typeface="Courier New"/>
                <a:sym typeface="Courier New"/>
              </a:rPr>
              <a:t>X = (u, g, r, i, z) = </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B2B"/>
              </a:buClr>
              <a:buSzPts val="1300"/>
              <a:buFont typeface="Courier New"/>
              <a:buNone/>
            </a:pPr>
            <a:r>
              <a:rPr b="0" i="0" lang="en-US" sz="1300" u="none" cap="none" strike="noStrike">
                <a:solidFill>
                  <a:srgbClr val="2B2B2B"/>
                </a:solidFill>
                <a:latin typeface="Courier New"/>
                <a:ea typeface="Courier New"/>
                <a:cs typeface="Courier New"/>
                <a:sym typeface="Courier New"/>
              </a:rPr>
              <a:t>      (19.4, 18.1, 17.4, 17.0, 16.8)</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600"/>
              <a:buFont typeface="Calibri"/>
              <a:buNone/>
            </a:pPr>
            <a:r>
              <a:rPr b="0" i="0" lang="en-US" sz="600" u="none" cap="none" strike="noStrike">
                <a:solidFill>
                  <a:srgbClr val="000000"/>
                </a:solidFill>
                <a:latin typeface="Calibri"/>
                <a:ea typeface="Calibri"/>
                <a:cs typeface="Calibri"/>
                <a:sym typeface="Calibri"/>
              </a:rPr>
              <a:t> </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7B2D26"/>
              </a:buClr>
              <a:buSzPts val="1400"/>
              <a:buFont typeface="Courier New"/>
              <a:buNone/>
            </a:pPr>
            <a:r>
              <a:rPr b="1" i="0" lang="en-US" sz="1400" u="none" cap="none" strike="noStrike">
                <a:solidFill>
                  <a:srgbClr val="7B2D26"/>
                </a:solidFill>
                <a:latin typeface="Courier New"/>
                <a:ea typeface="Courier New"/>
                <a:cs typeface="Courier New"/>
                <a:sym typeface="Courier New"/>
              </a:rPr>
              <a:t>y = z_spec = 0.124</a:t>
            </a:r>
            <a:endParaRPr b="0" i="0" sz="1300" u="none" cap="none" strike="noStrike">
              <a:solidFill>
                <a:schemeClr val="dk1"/>
              </a:solidFill>
              <a:latin typeface="Calibri"/>
              <a:ea typeface="Calibri"/>
              <a:cs typeface="Calibri"/>
              <a:sym typeface="Calibri"/>
            </a:endParaRPr>
          </a:p>
        </p:txBody>
      </p:sp>
      <p:sp>
        <p:nvSpPr>
          <p:cNvPr id="49" name="Google Shape;49;p3"/>
          <p:cNvSpPr/>
          <p:nvPr/>
        </p:nvSpPr>
        <p:spPr>
          <a:xfrm>
            <a:off x="457200" y="278892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06060"/>
              </a:buClr>
              <a:buSzPts val="1300"/>
              <a:buFont typeface="Georgia"/>
              <a:buNone/>
            </a:pPr>
            <a:r>
              <a:rPr b="0" i="1" lang="en-US" sz="1300" u="none" cap="none" strike="noStrike">
                <a:solidFill>
                  <a:srgbClr val="606060"/>
                </a:solidFill>
                <a:latin typeface="Georgia"/>
                <a:ea typeface="Georgia"/>
                <a:cs typeface="Georgia"/>
                <a:sym typeface="Georgia"/>
              </a:rPr>
              <a:t>Vocabulary check:</a:t>
            </a:r>
            <a:endParaRPr b="0" i="0" sz="1300" u="none" cap="none" strike="noStrike">
              <a:solidFill>
                <a:schemeClr val="dk1"/>
              </a:solidFill>
              <a:latin typeface="Calibri"/>
              <a:ea typeface="Calibri"/>
              <a:cs typeface="Calibri"/>
              <a:sym typeface="Calibri"/>
            </a:endParaRPr>
          </a:p>
        </p:txBody>
      </p:sp>
      <p:graphicFrame>
        <p:nvGraphicFramePr>
          <p:cNvPr id="50" name="Google Shape;50;p3"/>
          <p:cNvGraphicFramePr/>
          <p:nvPr/>
        </p:nvGraphicFramePr>
        <p:xfrm>
          <a:off x="457200" y="3108960"/>
          <a:ext cx="3000000" cy="3000000"/>
        </p:xfrm>
        <a:graphic>
          <a:graphicData uri="http://schemas.openxmlformats.org/drawingml/2006/table">
            <a:tbl>
              <a:tblPr>
                <a:noFill/>
                <a:tableStyleId>{BA6F7DC6-C268-4AC7-A4F5-CFFF31EB1142}</a:tableStyleId>
              </a:tblPr>
              <a:tblGrid>
                <a:gridCol w="1097275"/>
                <a:gridCol w="960125"/>
                <a:gridCol w="3520450"/>
                <a:gridCol w="2788925"/>
              </a:tblGrid>
              <a:tr h="384050">
                <a:tc>
                  <a:txBody>
                    <a:bodyPr/>
                    <a:lstStyle/>
                    <a:p>
                      <a:pPr indent="0" lvl="0" marL="0" marR="0" rtl="0" algn="l">
                        <a:spcBef>
                          <a:spcPts val="0"/>
                        </a:spcBef>
                        <a:spcAft>
                          <a:spcPts val="0"/>
                        </a:spcAft>
                        <a:buClr>
                          <a:srgbClr val="7B2D26"/>
                        </a:buClr>
                        <a:buSzPts val="1200"/>
                        <a:buFont typeface="Georgia"/>
                        <a:buNone/>
                      </a:pPr>
                      <a:r>
                        <a:rPr b="1" lang="en-US" sz="1200" u="none" cap="none" strike="noStrike">
                          <a:solidFill>
                            <a:srgbClr val="7B2D26"/>
                          </a:solidFill>
                          <a:latin typeface="Georgia"/>
                          <a:ea typeface="Georgia"/>
                          <a:cs typeface="Georgia"/>
                          <a:sym typeface="Georgia"/>
                        </a:rPr>
                        <a:t>Name</a:t>
                      </a:r>
                      <a:endParaRPr sz="1200" u="none" cap="none" strike="noStrike">
                        <a:latin typeface="Georgia"/>
                        <a:ea typeface="Georgia"/>
                        <a:cs typeface="Georgia"/>
                        <a:sym typeface="Georgia"/>
                      </a:endParaRPr>
                    </a:p>
                  </a:txBody>
                  <a:tcPr marT="54875" marB="54875" marR="54875" marL="54875" anchor="ctr">
                    <a:lnL cap="flat" cmpd="sng" w="9525">
                      <a:solidFill>
                        <a:srgbClr val="B0B0B0"/>
                      </a:solidFill>
                      <a:prstDash val="solid"/>
                      <a:round/>
                      <a:headEnd len="sm" w="sm" type="none"/>
                      <a:tailEnd len="sm" w="sm" type="none"/>
                    </a:lnL>
                    <a:lnR cap="flat" cmpd="sng" w="9525">
                      <a:solidFill>
                        <a:srgbClr val="B0B0B0"/>
                      </a:solidFill>
                      <a:prstDash val="solid"/>
                      <a:round/>
                      <a:headEnd len="sm" w="sm" type="none"/>
                      <a:tailEnd len="sm" w="sm" type="none"/>
                    </a:lnR>
                    <a:lnT cap="flat" cmpd="sng" w="9525">
                      <a:solidFill>
                        <a:srgbClr val="B0B0B0"/>
                      </a:solidFill>
                      <a:prstDash val="solid"/>
                      <a:round/>
                      <a:headEnd len="sm" w="sm" type="none"/>
                      <a:tailEnd len="sm" w="sm" type="none"/>
                    </a:lnT>
                    <a:lnB cap="flat" cmpd="sng" w="9525">
                      <a:solidFill>
                        <a:srgbClr val="B0B0B0"/>
                      </a:solidFill>
                      <a:prstDash val="solid"/>
                      <a:round/>
                      <a:headEnd len="sm" w="sm" type="none"/>
                      <a:tailEnd len="sm" w="sm" type="none"/>
                    </a:lnB>
                    <a:solidFill>
                      <a:srgbClr val="F4ECE9"/>
                    </a:solidFill>
                  </a:tcPr>
                </a:tc>
                <a:tc>
                  <a:txBody>
                    <a:bodyPr/>
                    <a:lstStyle/>
                    <a:p>
                      <a:pPr indent="0" lvl="0" marL="0" marR="0" rtl="0" algn="l">
                        <a:spcBef>
                          <a:spcPts val="0"/>
                        </a:spcBef>
                        <a:spcAft>
                          <a:spcPts val="0"/>
                        </a:spcAft>
                        <a:buClr>
                          <a:srgbClr val="7B2D26"/>
                        </a:buClr>
                        <a:buSzPts val="1200"/>
                        <a:buFont typeface="Georgia"/>
                        <a:buNone/>
                      </a:pPr>
                      <a:r>
                        <a:rPr b="1" lang="en-US" sz="1200" u="none" cap="none" strike="noStrike">
                          <a:solidFill>
                            <a:srgbClr val="7B2D26"/>
                          </a:solidFill>
                          <a:latin typeface="Georgia"/>
                          <a:ea typeface="Georgia"/>
                          <a:cs typeface="Georgia"/>
                          <a:sym typeface="Georgia"/>
                        </a:rPr>
                        <a:t>Symbol</a:t>
                      </a:r>
                      <a:endParaRPr sz="1200" u="none" cap="none" strike="noStrike">
                        <a:latin typeface="Georgia"/>
                        <a:ea typeface="Georgia"/>
                        <a:cs typeface="Georgia"/>
                        <a:sym typeface="Georgia"/>
                      </a:endParaRPr>
                    </a:p>
                  </a:txBody>
                  <a:tcPr marT="54875" marB="54875" marR="54875" marL="54875" anchor="ctr">
                    <a:lnL cap="flat" cmpd="sng" w="9525">
                      <a:solidFill>
                        <a:srgbClr val="B0B0B0"/>
                      </a:solidFill>
                      <a:prstDash val="solid"/>
                      <a:round/>
                      <a:headEnd len="sm" w="sm" type="none"/>
                      <a:tailEnd len="sm" w="sm" type="none"/>
                    </a:lnL>
                    <a:lnR cap="flat" cmpd="sng" w="9525">
                      <a:solidFill>
                        <a:srgbClr val="B0B0B0"/>
                      </a:solidFill>
                      <a:prstDash val="solid"/>
                      <a:round/>
                      <a:headEnd len="sm" w="sm" type="none"/>
                      <a:tailEnd len="sm" w="sm" type="none"/>
                    </a:lnR>
                    <a:lnT cap="flat" cmpd="sng" w="9525">
                      <a:solidFill>
                        <a:srgbClr val="B0B0B0"/>
                      </a:solidFill>
                      <a:prstDash val="solid"/>
                      <a:round/>
                      <a:headEnd len="sm" w="sm" type="none"/>
                      <a:tailEnd len="sm" w="sm" type="none"/>
                    </a:lnT>
                    <a:lnB cap="flat" cmpd="sng" w="9525">
                      <a:solidFill>
                        <a:srgbClr val="B0B0B0"/>
                      </a:solidFill>
                      <a:prstDash val="solid"/>
                      <a:round/>
                      <a:headEnd len="sm" w="sm" type="none"/>
                      <a:tailEnd len="sm" w="sm" type="none"/>
                    </a:lnB>
                    <a:solidFill>
                      <a:srgbClr val="F4ECE9"/>
                    </a:solidFill>
                  </a:tcPr>
                </a:tc>
                <a:tc>
                  <a:txBody>
                    <a:bodyPr/>
                    <a:lstStyle/>
                    <a:p>
                      <a:pPr indent="0" lvl="0" marL="0" marR="0" rtl="0" algn="l">
                        <a:spcBef>
                          <a:spcPts val="0"/>
                        </a:spcBef>
                        <a:spcAft>
                          <a:spcPts val="0"/>
                        </a:spcAft>
                        <a:buClr>
                          <a:srgbClr val="7B2D26"/>
                        </a:buClr>
                        <a:buSzPts val="1200"/>
                        <a:buFont typeface="Georgia"/>
                        <a:buNone/>
                      </a:pPr>
                      <a:r>
                        <a:rPr b="1" lang="en-US" sz="1200" u="none" cap="none" strike="noStrike">
                          <a:solidFill>
                            <a:srgbClr val="7B2D26"/>
                          </a:solidFill>
                          <a:latin typeface="Georgia"/>
                          <a:ea typeface="Georgia"/>
                          <a:cs typeface="Georgia"/>
                          <a:sym typeface="Georgia"/>
                        </a:rPr>
                        <a:t>Also called</a:t>
                      </a:r>
                      <a:endParaRPr sz="1200" u="none" cap="none" strike="noStrike">
                        <a:latin typeface="Georgia"/>
                        <a:ea typeface="Georgia"/>
                        <a:cs typeface="Georgia"/>
                        <a:sym typeface="Georgia"/>
                      </a:endParaRPr>
                    </a:p>
                  </a:txBody>
                  <a:tcPr marT="54875" marB="54875" marR="54875" marL="54875" anchor="ctr">
                    <a:lnL cap="flat" cmpd="sng" w="9525">
                      <a:solidFill>
                        <a:srgbClr val="B0B0B0"/>
                      </a:solidFill>
                      <a:prstDash val="solid"/>
                      <a:round/>
                      <a:headEnd len="sm" w="sm" type="none"/>
                      <a:tailEnd len="sm" w="sm" type="none"/>
                    </a:lnL>
                    <a:lnR cap="flat" cmpd="sng" w="9525">
                      <a:solidFill>
                        <a:srgbClr val="B0B0B0"/>
                      </a:solidFill>
                      <a:prstDash val="solid"/>
                      <a:round/>
                      <a:headEnd len="sm" w="sm" type="none"/>
                      <a:tailEnd len="sm" w="sm" type="none"/>
                    </a:lnR>
                    <a:lnT cap="flat" cmpd="sng" w="9525">
                      <a:solidFill>
                        <a:srgbClr val="B0B0B0"/>
                      </a:solidFill>
                      <a:prstDash val="solid"/>
                      <a:round/>
                      <a:headEnd len="sm" w="sm" type="none"/>
                      <a:tailEnd len="sm" w="sm" type="none"/>
                    </a:lnT>
                    <a:lnB cap="flat" cmpd="sng" w="9525">
                      <a:solidFill>
                        <a:srgbClr val="B0B0B0"/>
                      </a:solidFill>
                      <a:prstDash val="solid"/>
                      <a:round/>
                      <a:headEnd len="sm" w="sm" type="none"/>
                      <a:tailEnd len="sm" w="sm" type="none"/>
                    </a:lnB>
                    <a:solidFill>
                      <a:srgbClr val="F4ECE9"/>
                    </a:solidFill>
                  </a:tcPr>
                </a:tc>
                <a:tc>
                  <a:txBody>
                    <a:bodyPr/>
                    <a:lstStyle/>
                    <a:p>
                      <a:pPr indent="0" lvl="0" marL="0" marR="0" rtl="0" algn="l">
                        <a:spcBef>
                          <a:spcPts val="0"/>
                        </a:spcBef>
                        <a:spcAft>
                          <a:spcPts val="0"/>
                        </a:spcAft>
                        <a:buClr>
                          <a:srgbClr val="7B2D26"/>
                        </a:buClr>
                        <a:buSzPts val="1200"/>
                        <a:buFont typeface="Georgia"/>
                        <a:buNone/>
                      </a:pPr>
                      <a:r>
                        <a:rPr b="1" lang="en-US" sz="1200" u="none" cap="none" strike="noStrike">
                          <a:solidFill>
                            <a:srgbClr val="7B2D26"/>
                          </a:solidFill>
                          <a:latin typeface="Georgia"/>
                          <a:ea typeface="Georgia"/>
                          <a:cs typeface="Georgia"/>
                          <a:sym typeface="Georgia"/>
                        </a:rPr>
                        <a:t>Example</a:t>
                      </a:r>
                      <a:endParaRPr sz="1200" u="none" cap="none" strike="noStrike">
                        <a:latin typeface="Georgia"/>
                        <a:ea typeface="Georgia"/>
                        <a:cs typeface="Georgia"/>
                        <a:sym typeface="Georgia"/>
                      </a:endParaRPr>
                    </a:p>
                  </a:txBody>
                  <a:tcPr marT="54875" marB="54875" marR="54875" marL="54875" anchor="ctr">
                    <a:lnL cap="flat" cmpd="sng" w="9525">
                      <a:solidFill>
                        <a:srgbClr val="B0B0B0"/>
                      </a:solidFill>
                      <a:prstDash val="solid"/>
                      <a:round/>
                      <a:headEnd len="sm" w="sm" type="none"/>
                      <a:tailEnd len="sm" w="sm" type="none"/>
                    </a:lnL>
                    <a:lnR cap="flat" cmpd="sng" w="9525">
                      <a:solidFill>
                        <a:srgbClr val="B0B0B0"/>
                      </a:solidFill>
                      <a:prstDash val="solid"/>
                      <a:round/>
                      <a:headEnd len="sm" w="sm" type="none"/>
                      <a:tailEnd len="sm" w="sm" type="none"/>
                    </a:lnR>
                    <a:lnT cap="flat" cmpd="sng" w="9525">
                      <a:solidFill>
                        <a:srgbClr val="B0B0B0"/>
                      </a:solidFill>
                      <a:prstDash val="solid"/>
                      <a:round/>
                      <a:headEnd len="sm" w="sm" type="none"/>
                      <a:tailEnd len="sm" w="sm" type="none"/>
                    </a:lnT>
                    <a:lnB cap="flat" cmpd="sng" w="9525">
                      <a:solidFill>
                        <a:srgbClr val="B0B0B0"/>
                      </a:solidFill>
                      <a:prstDash val="solid"/>
                      <a:round/>
                      <a:headEnd len="sm" w="sm" type="none"/>
                      <a:tailEnd len="sm" w="sm" type="none"/>
                    </a:lnB>
                    <a:solidFill>
                      <a:srgbClr val="F4ECE9"/>
                    </a:solidFill>
                  </a:tcPr>
                </a:tc>
              </a:tr>
              <a:tr h="384050">
                <a:tc>
                  <a:txBody>
                    <a:bodyPr/>
                    <a:lstStyle/>
                    <a:p>
                      <a:pPr indent="0" lvl="0" marL="0" marR="0" rtl="0" algn="l">
                        <a:spcBef>
                          <a:spcPts val="0"/>
                        </a:spcBef>
                        <a:spcAft>
                          <a:spcPts val="0"/>
                        </a:spcAft>
                        <a:buClr>
                          <a:srgbClr val="2B2B2B"/>
                        </a:buClr>
                        <a:buSzPts val="1200"/>
                        <a:buFont typeface="Georgia"/>
                        <a:buNone/>
                      </a:pPr>
                      <a:r>
                        <a:rPr lang="en-US" sz="1200" u="none" cap="none" strike="noStrike">
                          <a:solidFill>
                            <a:srgbClr val="2B2B2B"/>
                          </a:solidFill>
                          <a:latin typeface="Georgia"/>
                          <a:ea typeface="Georgia"/>
                          <a:cs typeface="Georgia"/>
                          <a:sym typeface="Georgia"/>
                        </a:rPr>
                        <a:t>Features</a:t>
                      </a:r>
                      <a:endParaRPr sz="1200" u="none" cap="none" strike="noStrike">
                        <a:latin typeface="Georgia"/>
                        <a:ea typeface="Georgia"/>
                        <a:cs typeface="Georgia"/>
                        <a:sym typeface="Georgia"/>
                      </a:endParaRPr>
                    </a:p>
                  </a:txBody>
                  <a:tcPr marT="54875" marB="54875" marR="54875" marL="54875" anchor="ctr">
                    <a:lnL cap="flat" cmpd="sng" w="9525">
                      <a:solidFill>
                        <a:srgbClr val="B0B0B0"/>
                      </a:solidFill>
                      <a:prstDash val="solid"/>
                      <a:round/>
                      <a:headEnd len="sm" w="sm" type="none"/>
                      <a:tailEnd len="sm" w="sm" type="none"/>
                    </a:lnL>
                    <a:lnR cap="flat" cmpd="sng" w="9525">
                      <a:solidFill>
                        <a:srgbClr val="B0B0B0"/>
                      </a:solidFill>
                      <a:prstDash val="solid"/>
                      <a:round/>
                      <a:headEnd len="sm" w="sm" type="none"/>
                      <a:tailEnd len="sm" w="sm" type="none"/>
                    </a:lnR>
                    <a:lnT cap="flat" cmpd="sng" w="9525">
                      <a:solidFill>
                        <a:srgbClr val="B0B0B0"/>
                      </a:solidFill>
                      <a:prstDash val="solid"/>
                      <a:round/>
                      <a:headEnd len="sm" w="sm" type="none"/>
                      <a:tailEnd len="sm" w="sm" type="none"/>
                    </a:lnT>
                    <a:lnB cap="flat" cmpd="sng" w="9525">
                      <a:solidFill>
                        <a:srgbClr val="B0B0B0"/>
                      </a:solidFill>
                      <a:prstDash val="solid"/>
                      <a:round/>
                      <a:headEnd len="sm" w="sm" type="none"/>
                      <a:tailEnd len="sm" w="sm" type="none"/>
                    </a:lnB>
                  </a:tcPr>
                </a:tc>
                <a:tc>
                  <a:txBody>
                    <a:bodyPr/>
                    <a:lstStyle/>
                    <a:p>
                      <a:pPr indent="0" lvl="0" marL="0" marR="0" rtl="0" algn="ctr">
                        <a:spcBef>
                          <a:spcPts val="0"/>
                        </a:spcBef>
                        <a:spcAft>
                          <a:spcPts val="0"/>
                        </a:spcAft>
                        <a:buClr>
                          <a:srgbClr val="2B2B2B"/>
                        </a:buClr>
                        <a:buSzPts val="1200"/>
                        <a:buFont typeface="Courier New"/>
                        <a:buNone/>
                      </a:pPr>
                      <a:r>
                        <a:rPr b="1" lang="en-US" sz="1200" u="none" cap="none" strike="noStrike">
                          <a:solidFill>
                            <a:srgbClr val="2B2B2B"/>
                          </a:solidFill>
                          <a:latin typeface="Courier New"/>
                          <a:ea typeface="Courier New"/>
                          <a:cs typeface="Courier New"/>
                          <a:sym typeface="Courier New"/>
                        </a:rPr>
                        <a:t>X</a:t>
                      </a:r>
                      <a:endParaRPr sz="1200" u="none" cap="none" strike="noStrike">
                        <a:latin typeface="Courier New"/>
                        <a:ea typeface="Courier New"/>
                        <a:cs typeface="Courier New"/>
                        <a:sym typeface="Courier New"/>
                      </a:endParaRPr>
                    </a:p>
                  </a:txBody>
                  <a:tcPr marT="54875" marB="54875" marR="54875" marL="54875" anchor="ctr">
                    <a:lnL cap="flat" cmpd="sng" w="9525">
                      <a:solidFill>
                        <a:srgbClr val="B0B0B0"/>
                      </a:solidFill>
                      <a:prstDash val="solid"/>
                      <a:round/>
                      <a:headEnd len="sm" w="sm" type="none"/>
                      <a:tailEnd len="sm" w="sm" type="none"/>
                    </a:lnL>
                    <a:lnR cap="flat" cmpd="sng" w="9525">
                      <a:solidFill>
                        <a:srgbClr val="B0B0B0"/>
                      </a:solidFill>
                      <a:prstDash val="solid"/>
                      <a:round/>
                      <a:headEnd len="sm" w="sm" type="none"/>
                      <a:tailEnd len="sm" w="sm" type="none"/>
                    </a:lnR>
                    <a:lnT cap="flat" cmpd="sng" w="9525">
                      <a:solidFill>
                        <a:srgbClr val="B0B0B0"/>
                      </a:solidFill>
                      <a:prstDash val="solid"/>
                      <a:round/>
                      <a:headEnd len="sm" w="sm" type="none"/>
                      <a:tailEnd len="sm" w="sm" type="none"/>
                    </a:lnT>
                    <a:lnB cap="flat" cmpd="sng" w="9525">
                      <a:solidFill>
                        <a:srgbClr val="B0B0B0"/>
                      </a:solidFill>
                      <a:prstDash val="solid"/>
                      <a:round/>
                      <a:headEnd len="sm" w="sm" type="none"/>
                      <a:tailEnd len="sm" w="sm" type="none"/>
                    </a:lnB>
                  </a:tcPr>
                </a:tc>
                <a:tc>
                  <a:txBody>
                    <a:bodyPr/>
                    <a:lstStyle/>
                    <a:p>
                      <a:pPr indent="0" lvl="0" marL="0" marR="0" rtl="0" algn="l">
                        <a:spcBef>
                          <a:spcPts val="0"/>
                        </a:spcBef>
                        <a:spcAft>
                          <a:spcPts val="0"/>
                        </a:spcAft>
                        <a:buClr>
                          <a:srgbClr val="2B2B2B"/>
                        </a:buClr>
                        <a:buSzPts val="1200"/>
                        <a:buFont typeface="Georgia"/>
                        <a:buNone/>
                      </a:pPr>
                      <a:r>
                        <a:rPr lang="en-US" sz="1200" u="none" cap="none" strike="noStrike">
                          <a:solidFill>
                            <a:srgbClr val="2B2B2B"/>
                          </a:solidFill>
                          <a:latin typeface="Georgia"/>
                          <a:ea typeface="Georgia"/>
                          <a:cs typeface="Georgia"/>
                          <a:sym typeface="Georgia"/>
                        </a:rPr>
                        <a:t>independent variables, predictors, inputs</a:t>
                      </a:r>
                      <a:endParaRPr sz="1200" u="none" cap="none" strike="noStrike">
                        <a:latin typeface="Georgia"/>
                        <a:ea typeface="Georgia"/>
                        <a:cs typeface="Georgia"/>
                        <a:sym typeface="Georgia"/>
                      </a:endParaRPr>
                    </a:p>
                  </a:txBody>
                  <a:tcPr marT="54875" marB="54875" marR="54875" marL="54875" anchor="ctr">
                    <a:lnL cap="flat" cmpd="sng" w="9525">
                      <a:solidFill>
                        <a:srgbClr val="B0B0B0"/>
                      </a:solidFill>
                      <a:prstDash val="solid"/>
                      <a:round/>
                      <a:headEnd len="sm" w="sm" type="none"/>
                      <a:tailEnd len="sm" w="sm" type="none"/>
                    </a:lnL>
                    <a:lnR cap="flat" cmpd="sng" w="9525">
                      <a:solidFill>
                        <a:srgbClr val="B0B0B0"/>
                      </a:solidFill>
                      <a:prstDash val="solid"/>
                      <a:round/>
                      <a:headEnd len="sm" w="sm" type="none"/>
                      <a:tailEnd len="sm" w="sm" type="none"/>
                    </a:lnR>
                    <a:lnT cap="flat" cmpd="sng" w="9525">
                      <a:solidFill>
                        <a:srgbClr val="B0B0B0"/>
                      </a:solidFill>
                      <a:prstDash val="solid"/>
                      <a:round/>
                      <a:headEnd len="sm" w="sm" type="none"/>
                      <a:tailEnd len="sm" w="sm" type="none"/>
                    </a:lnT>
                    <a:lnB cap="flat" cmpd="sng" w="9525">
                      <a:solidFill>
                        <a:srgbClr val="B0B0B0"/>
                      </a:solidFill>
                      <a:prstDash val="solid"/>
                      <a:round/>
                      <a:headEnd len="sm" w="sm" type="none"/>
                      <a:tailEnd len="sm" w="sm" type="none"/>
                    </a:lnB>
                  </a:tcPr>
                </a:tc>
                <a:tc>
                  <a:txBody>
                    <a:bodyPr/>
                    <a:lstStyle/>
                    <a:p>
                      <a:pPr indent="0" lvl="0" marL="0" marR="0" rtl="0" algn="l">
                        <a:spcBef>
                          <a:spcPts val="0"/>
                        </a:spcBef>
                        <a:spcAft>
                          <a:spcPts val="0"/>
                        </a:spcAft>
                        <a:buClr>
                          <a:srgbClr val="2B2B2B"/>
                        </a:buClr>
                        <a:buSzPts val="1200"/>
                        <a:buFont typeface="Georgia"/>
                        <a:buNone/>
                      </a:pPr>
                      <a:r>
                        <a:rPr lang="en-US" sz="1200" u="none" cap="none" strike="noStrike">
                          <a:solidFill>
                            <a:srgbClr val="2B2B2B"/>
                          </a:solidFill>
                          <a:latin typeface="Georgia"/>
                          <a:ea typeface="Georgia"/>
                          <a:cs typeface="Georgia"/>
                          <a:sym typeface="Georgia"/>
                        </a:rPr>
                        <a:t>ugrizy magnitudes</a:t>
                      </a:r>
                      <a:endParaRPr sz="1200" u="none" cap="none" strike="noStrike">
                        <a:latin typeface="Georgia"/>
                        <a:ea typeface="Georgia"/>
                        <a:cs typeface="Georgia"/>
                        <a:sym typeface="Georgia"/>
                      </a:endParaRPr>
                    </a:p>
                  </a:txBody>
                  <a:tcPr marT="54875" marB="54875" marR="54875" marL="54875" anchor="ctr">
                    <a:lnL cap="flat" cmpd="sng" w="9525">
                      <a:solidFill>
                        <a:srgbClr val="B0B0B0"/>
                      </a:solidFill>
                      <a:prstDash val="solid"/>
                      <a:round/>
                      <a:headEnd len="sm" w="sm" type="none"/>
                      <a:tailEnd len="sm" w="sm" type="none"/>
                    </a:lnL>
                    <a:lnR cap="flat" cmpd="sng" w="9525">
                      <a:solidFill>
                        <a:srgbClr val="B0B0B0"/>
                      </a:solidFill>
                      <a:prstDash val="solid"/>
                      <a:round/>
                      <a:headEnd len="sm" w="sm" type="none"/>
                      <a:tailEnd len="sm" w="sm" type="none"/>
                    </a:lnR>
                    <a:lnT cap="flat" cmpd="sng" w="9525">
                      <a:solidFill>
                        <a:srgbClr val="B0B0B0"/>
                      </a:solidFill>
                      <a:prstDash val="solid"/>
                      <a:round/>
                      <a:headEnd len="sm" w="sm" type="none"/>
                      <a:tailEnd len="sm" w="sm" type="none"/>
                    </a:lnT>
                    <a:lnB cap="flat" cmpd="sng" w="9525">
                      <a:solidFill>
                        <a:srgbClr val="B0B0B0"/>
                      </a:solidFill>
                      <a:prstDash val="solid"/>
                      <a:round/>
                      <a:headEnd len="sm" w="sm" type="none"/>
                      <a:tailEnd len="sm" w="sm" type="none"/>
                    </a:lnB>
                  </a:tcPr>
                </a:tc>
              </a:tr>
              <a:tr h="384050">
                <a:tc>
                  <a:txBody>
                    <a:bodyPr/>
                    <a:lstStyle/>
                    <a:p>
                      <a:pPr indent="0" lvl="0" marL="0" marR="0" rtl="0" algn="l">
                        <a:spcBef>
                          <a:spcPts val="0"/>
                        </a:spcBef>
                        <a:spcAft>
                          <a:spcPts val="0"/>
                        </a:spcAft>
                        <a:buClr>
                          <a:srgbClr val="2B2B2B"/>
                        </a:buClr>
                        <a:buSzPts val="1200"/>
                        <a:buFont typeface="Georgia"/>
                        <a:buNone/>
                      </a:pPr>
                      <a:r>
                        <a:rPr lang="en-US" sz="1200" u="none" cap="none" strike="noStrike">
                          <a:solidFill>
                            <a:srgbClr val="2B2B2B"/>
                          </a:solidFill>
                          <a:latin typeface="Georgia"/>
                          <a:ea typeface="Georgia"/>
                          <a:cs typeface="Georgia"/>
                          <a:sym typeface="Georgia"/>
                        </a:rPr>
                        <a:t>Target</a:t>
                      </a:r>
                      <a:endParaRPr sz="1200" u="none" cap="none" strike="noStrike">
                        <a:latin typeface="Georgia"/>
                        <a:ea typeface="Georgia"/>
                        <a:cs typeface="Georgia"/>
                        <a:sym typeface="Georgia"/>
                      </a:endParaRPr>
                    </a:p>
                  </a:txBody>
                  <a:tcPr marT="54875" marB="54875" marR="54875" marL="54875" anchor="ctr">
                    <a:lnL cap="flat" cmpd="sng" w="9525">
                      <a:solidFill>
                        <a:srgbClr val="B0B0B0"/>
                      </a:solidFill>
                      <a:prstDash val="solid"/>
                      <a:round/>
                      <a:headEnd len="sm" w="sm" type="none"/>
                      <a:tailEnd len="sm" w="sm" type="none"/>
                    </a:lnL>
                    <a:lnR cap="flat" cmpd="sng" w="9525">
                      <a:solidFill>
                        <a:srgbClr val="B0B0B0"/>
                      </a:solidFill>
                      <a:prstDash val="solid"/>
                      <a:round/>
                      <a:headEnd len="sm" w="sm" type="none"/>
                      <a:tailEnd len="sm" w="sm" type="none"/>
                    </a:lnR>
                    <a:lnT cap="flat" cmpd="sng" w="9525">
                      <a:solidFill>
                        <a:srgbClr val="B0B0B0"/>
                      </a:solidFill>
                      <a:prstDash val="solid"/>
                      <a:round/>
                      <a:headEnd len="sm" w="sm" type="none"/>
                      <a:tailEnd len="sm" w="sm" type="none"/>
                    </a:lnT>
                    <a:lnB cap="flat" cmpd="sng" w="9525">
                      <a:solidFill>
                        <a:srgbClr val="B0B0B0"/>
                      </a:solidFill>
                      <a:prstDash val="solid"/>
                      <a:round/>
                      <a:headEnd len="sm" w="sm" type="none"/>
                      <a:tailEnd len="sm" w="sm" type="none"/>
                    </a:lnB>
                  </a:tcPr>
                </a:tc>
                <a:tc>
                  <a:txBody>
                    <a:bodyPr/>
                    <a:lstStyle/>
                    <a:p>
                      <a:pPr indent="0" lvl="0" marL="0" marR="0" rtl="0" algn="ctr">
                        <a:spcBef>
                          <a:spcPts val="0"/>
                        </a:spcBef>
                        <a:spcAft>
                          <a:spcPts val="0"/>
                        </a:spcAft>
                        <a:buClr>
                          <a:srgbClr val="2B2B2B"/>
                        </a:buClr>
                        <a:buSzPts val="1200"/>
                        <a:buFont typeface="Courier New"/>
                        <a:buNone/>
                      </a:pPr>
                      <a:r>
                        <a:rPr b="1" lang="en-US" sz="1200" u="none" cap="none" strike="noStrike">
                          <a:solidFill>
                            <a:srgbClr val="2B2B2B"/>
                          </a:solidFill>
                          <a:latin typeface="Courier New"/>
                          <a:ea typeface="Courier New"/>
                          <a:cs typeface="Courier New"/>
                          <a:sym typeface="Courier New"/>
                        </a:rPr>
                        <a:t>y</a:t>
                      </a:r>
                      <a:endParaRPr sz="1200" u="none" cap="none" strike="noStrike">
                        <a:latin typeface="Courier New"/>
                        <a:ea typeface="Courier New"/>
                        <a:cs typeface="Courier New"/>
                        <a:sym typeface="Courier New"/>
                      </a:endParaRPr>
                    </a:p>
                  </a:txBody>
                  <a:tcPr marT="54875" marB="54875" marR="54875" marL="54875" anchor="ctr">
                    <a:lnL cap="flat" cmpd="sng" w="9525">
                      <a:solidFill>
                        <a:srgbClr val="B0B0B0"/>
                      </a:solidFill>
                      <a:prstDash val="solid"/>
                      <a:round/>
                      <a:headEnd len="sm" w="sm" type="none"/>
                      <a:tailEnd len="sm" w="sm" type="none"/>
                    </a:lnL>
                    <a:lnR cap="flat" cmpd="sng" w="9525">
                      <a:solidFill>
                        <a:srgbClr val="B0B0B0"/>
                      </a:solidFill>
                      <a:prstDash val="solid"/>
                      <a:round/>
                      <a:headEnd len="sm" w="sm" type="none"/>
                      <a:tailEnd len="sm" w="sm" type="none"/>
                    </a:lnR>
                    <a:lnT cap="flat" cmpd="sng" w="9525">
                      <a:solidFill>
                        <a:srgbClr val="B0B0B0"/>
                      </a:solidFill>
                      <a:prstDash val="solid"/>
                      <a:round/>
                      <a:headEnd len="sm" w="sm" type="none"/>
                      <a:tailEnd len="sm" w="sm" type="none"/>
                    </a:lnT>
                    <a:lnB cap="flat" cmpd="sng" w="9525">
                      <a:solidFill>
                        <a:srgbClr val="B0B0B0"/>
                      </a:solidFill>
                      <a:prstDash val="solid"/>
                      <a:round/>
                      <a:headEnd len="sm" w="sm" type="none"/>
                      <a:tailEnd len="sm" w="sm" type="none"/>
                    </a:lnB>
                  </a:tcPr>
                </a:tc>
                <a:tc>
                  <a:txBody>
                    <a:bodyPr/>
                    <a:lstStyle/>
                    <a:p>
                      <a:pPr indent="0" lvl="0" marL="0" marR="0" rtl="0" algn="l">
                        <a:spcBef>
                          <a:spcPts val="0"/>
                        </a:spcBef>
                        <a:spcAft>
                          <a:spcPts val="0"/>
                        </a:spcAft>
                        <a:buClr>
                          <a:srgbClr val="2B2B2B"/>
                        </a:buClr>
                        <a:buSzPts val="1200"/>
                        <a:buFont typeface="Georgia"/>
                        <a:buNone/>
                      </a:pPr>
                      <a:r>
                        <a:rPr lang="en-US" sz="1200" u="none" cap="none" strike="noStrike">
                          <a:solidFill>
                            <a:srgbClr val="2B2B2B"/>
                          </a:solidFill>
                          <a:latin typeface="Georgia"/>
                          <a:ea typeface="Georgia"/>
                          <a:cs typeface="Georgia"/>
                          <a:sym typeface="Georgia"/>
                        </a:rPr>
                        <a:t>dependent variable, label, response</a:t>
                      </a:r>
                      <a:endParaRPr sz="1200" u="none" cap="none" strike="noStrike">
                        <a:latin typeface="Georgia"/>
                        <a:ea typeface="Georgia"/>
                        <a:cs typeface="Georgia"/>
                        <a:sym typeface="Georgia"/>
                      </a:endParaRPr>
                    </a:p>
                  </a:txBody>
                  <a:tcPr marT="54875" marB="54875" marR="54875" marL="54875" anchor="ctr">
                    <a:lnL cap="flat" cmpd="sng" w="9525">
                      <a:solidFill>
                        <a:srgbClr val="B0B0B0"/>
                      </a:solidFill>
                      <a:prstDash val="solid"/>
                      <a:round/>
                      <a:headEnd len="sm" w="sm" type="none"/>
                      <a:tailEnd len="sm" w="sm" type="none"/>
                    </a:lnL>
                    <a:lnR cap="flat" cmpd="sng" w="9525">
                      <a:solidFill>
                        <a:srgbClr val="B0B0B0"/>
                      </a:solidFill>
                      <a:prstDash val="solid"/>
                      <a:round/>
                      <a:headEnd len="sm" w="sm" type="none"/>
                      <a:tailEnd len="sm" w="sm" type="none"/>
                    </a:lnR>
                    <a:lnT cap="flat" cmpd="sng" w="9525">
                      <a:solidFill>
                        <a:srgbClr val="B0B0B0"/>
                      </a:solidFill>
                      <a:prstDash val="solid"/>
                      <a:round/>
                      <a:headEnd len="sm" w="sm" type="none"/>
                      <a:tailEnd len="sm" w="sm" type="none"/>
                    </a:lnT>
                    <a:lnB cap="flat" cmpd="sng" w="9525">
                      <a:solidFill>
                        <a:srgbClr val="B0B0B0"/>
                      </a:solidFill>
                      <a:prstDash val="solid"/>
                      <a:round/>
                      <a:headEnd len="sm" w="sm" type="none"/>
                      <a:tailEnd len="sm" w="sm" type="none"/>
                    </a:lnB>
                  </a:tcPr>
                </a:tc>
                <a:tc>
                  <a:txBody>
                    <a:bodyPr/>
                    <a:lstStyle/>
                    <a:p>
                      <a:pPr indent="0" lvl="0" marL="0" marR="0" rtl="0" algn="l">
                        <a:spcBef>
                          <a:spcPts val="0"/>
                        </a:spcBef>
                        <a:spcAft>
                          <a:spcPts val="0"/>
                        </a:spcAft>
                        <a:buClr>
                          <a:srgbClr val="2B2B2B"/>
                        </a:buClr>
                        <a:buSzPts val="1200"/>
                        <a:buFont typeface="Georgia"/>
                        <a:buNone/>
                      </a:pPr>
                      <a:r>
                        <a:rPr lang="en-US" sz="1200" u="none" cap="none" strike="noStrike">
                          <a:solidFill>
                            <a:srgbClr val="2B2B2B"/>
                          </a:solidFill>
                          <a:latin typeface="Georgia"/>
                          <a:ea typeface="Georgia"/>
                          <a:cs typeface="Georgia"/>
                          <a:sym typeface="Georgia"/>
                        </a:rPr>
                        <a:t>redshift z, galaxy type</a:t>
                      </a:r>
                      <a:endParaRPr sz="1200" u="none" cap="none" strike="noStrike">
                        <a:latin typeface="Georgia"/>
                        <a:ea typeface="Georgia"/>
                        <a:cs typeface="Georgia"/>
                        <a:sym typeface="Georgia"/>
                      </a:endParaRPr>
                    </a:p>
                  </a:txBody>
                  <a:tcPr marT="54875" marB="54875" marR="54875" marL="54875" anchor="ctr">
                    <a:lnL cap="flat" cmpd="sng" w="9525">
                      <a:solidFill>
                        <a:srgbClr val="B0B0B0"/>
                      </a:solidFill>
                      <a:prstDash val="solid"/>
                      <a:round/>
                      <a:headEnd len="sm" w="sm" type="none"/>
                      <a:tailEnd len="sm" w="sm" type="none"/>
                    </a:lnL>
                    <a:lnR cap="flat" cmpd="sng" w="9525">
                      <a:solidFill>
                        <a:srgbClr val="B0B0B0"/>
                      </a:solidFill>
                      <a:prstDash val="solid"/>
                      <a:round/>
                      <a:headEnd len="sm" w="sm" type="none"/>
                      <a:tailEnd len="sm" w="sm" type="none"/>
                    </a:lnR>
                    <a:lnT cap="flat" cmpd="sng" w="9525">
                      <a:solidFill>
                        <a:srgbClr val="B0B0B0"/>
                      </a:solidFill>
                      <a:prstDash val="solid"/>
                      <a:round/>
                      <a:headEnd len="sm" w="sm" type="none"/>
                      <a:tailEnd len="sm" w="sm" type="none"/>
                    </a:lnT>
                    <a:lnB cap="flat" cmpd="sng" w="9525">
                      <a:solidFill>
                        <a:srgbClr val="B0B0B0"/>
                      </a:solidFill>
                      <a:prstDash val="solid"/>
                      <a:round/>
                      <a:headEnd len="sm" w="sm" type="none"/>
                      <a:tailEnd len="sm" w="sm" type="none"/>
                    </a:lnB>
                  </a:tcPr>
                </a:tc>
              </a:tr>
            </a:tbl>
          </a:graphicData>
        </a:graphic>
      </p:graphicFrame>
      <p:pic>
        <p:nvPicPr>
          <p:cNvPr descr="/sessions/sleepy-friendly-euler/mnt/outputs/logos/cosmicai_logo.png" id="51" name="Google Shape;51;p3"/>
          <p:cNvPicPr preferRelativeResize="0"/>
          <p:nvPr/>
        </p:nvPicPr>
        <p:blipFill rotWithShape="1">
          <a:blip r:embed="rId3">
            <a:alphaModFix/>
          </a:blip>
          <a:srcRect b="0" l="0" r="0" t="0"/>
          <a:stretch/>
        </p:blipFill>
        <p:spPr>
          <a:xfrm>
            <a:off x="228600" y="4526280"/>
            <a:ext cx="1463040" cy="502920"/>
          </a:xfrm>
          <a:prstGeom prst="rect">
            <a:avLst/>
          </a:prstGeom>
          <a:noFill/>
          <a:ln>
            <a:noFill/>
          </a:ln>
        </p:spPr>
      </p:pic>
      <p:sp>
        <p:nvSpPr>
          <p:cNvPr id="52" name="Google Shape;52;p3"/>
          <p:cNvSpPr/>
          <p:nvPr/>
        </p:nvSpPr>
        <p:spPr>
          <a:xfrm>
            <a:off x="2743200" y="4663440"/>
            <a:ext cx="36576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1" i="0" lang="en-US" sz="1200" u="none" cap="none" strike="noStrike">
                <a:solidFill>
                  <a:srgbClr val="2B2B2B"/>
                </a:solidFill>
                <a:latin typeface="Georgia"/>
                <a:ea typeface="Georgia"/>
                <a:cs typeface="Georgia"/>
                <a:sym typeface="Georgia"/>
              </a:rPr>
              <a:t>CosmicAI Summer School</a:t>
            </a:r>
            <a:endParaRPr b="0" i="0" sz="1200" u="none" cap="none" strike="noStrike">
              <a:solidFill>
                <a:schemeClr val="dk1"/>
              </a:solidFill>
              <a:latin typeface="Calibri"/>
              <a:ea typeface="Calibri"/>
              <a:cs typeface="Calibri"/>
              <a:sym typeface="Calibri"/>
            </a:endParaRPr>
          </a:p>
        </p:txBody>
      </p:sp>
      <p:sp>
        <p:nvSpPr>
          <p:cNvPr id="53" name="Google Shape;53;p3"/>
          <p:cNvSpPr/>
          <p:nvPr/>
        </p:nvSpPr>
        <p:spPr>
          <a:xfrm>
            <a:off x="8275320" y="4754880"/>
            <a:ext cx="6858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06060"/>
              </a:buClr>
              <a:buSzPts val="1200"/>
              <a:buFont typeface="Georgia"/>
              <a:buNone/>
            </a:pPr>
            <a:r>
              <a:rPr b="0" i="0" lang="en-US" sz="1200" u="none" cap="none" strike="noStrike">
                <a:solidFill>
                  <a:srgbClr val="606060"/>
                </a:solidFill>
                <a:latin typeface="Georgia"/>
                <a:ea typeface="Georgia"/>
                <a:cs typeface="Georgia"/>
                <a:sym typeface="Georgia"/>
              </a:rPr>
              <a:t>3</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 name="Shape 58"/>
        <p:cNvGrpSpPr/>
        <p:nvPr/>
      </p:nvGrpSpPr>
      <p:grpSpPr>
        <a:xfrm>
          <a:off x="0" y="0"/>
          <a:ext cx="0" cy="0"/>
          <a:chOff x="0" y="0"/>
          <a:chExt cx="0" cy="0"/>
        </a:xfrm>
      </p:grpSpPr>
      <p:sp>
        <p:nvSpPr>
          <p:cNvPr id="59" name="Google Shape;59;p4"/>
          <p:cNvSpPr/>
          <p:nvPr/>
        </p:nvSpPr>
        <p:spPr>
          <a:xfrm>
            <a:off x="274320" y="137160"/>
            <a:ext cx="859536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3000"/>
              <a:buFont typeface="Georgia"/>
              <a:buNone/>
            </a:pPr>
            <a:r>
              <a:rPr b="0" i="0" lang="en-US" sz="3000" u="none" cap="none" strike="noStrike">
                <a:solidFill>
                  <a:srgbClr val="7B2D26"/>
                </a:solidFill>
                <a:latin typeface="Georgia"/>
                <a:ea typeface="Georgia"/>
                <a:cs typeface="Georgia"/>
                <a:sym typeface="Georgia"/>
              </a:rPr>
              <a:t>Step 3 — Statistical Data Scales</a:t>
            </a:r>
            <a:endParaRPr b="0" i="0" sz="3000" u="none" cap="none" strike="noStrike">
              <a:solidFill>
                <a:schemeClr val="dk1"/>
              </a:solidFill>
              <a:latin typeface="Calibri"/>
              <a:ea typeface="Calibri"/>
              <a:cs typeface="Calibri"/>
              <a:sym typeface="Calibri"/>
            </a:endParaRPr>
          </a:p>
        </p:txBody>
      </p:sp>
      <p:cxnSp>
        <p:nvCxnSpPr>
          <p:cNvPr id="60" name="Google Shape;60;p4"/>
          <p:cNvCxnSpPr/>
          <p:nvPr/>
        </p:nvCxnSpPr>
        <p:spPr>
          <a:xfrm>
            <a:off x="365760" y="777240"/>
            <a:ext cx="8412480" cy="0"/>
          </a:xfrm>
          <a:prstGeom prst="straightConnector1">
            <a:avLst/>
          </a:prstGeom>
          <a:noFill/>
          <a:ln cap="flat" cmpd="sng" w="15875">
            <a:solidFill>
              <a:srgbClr val="B0B0B0"/>
            </a:solidFill>
            <a:prstDash val="solid"/>
            <a:round/>
            <a:headEnd len="sm" w="sm" type="none"/>
            <a:tailEnd len="sm" w="sm" type="none"/>
          </a:ln>
        </p:spPr>
      </p:cxnSp>
      <p:sp>
        <p:nvSpPr>
          <p:cNvPr id="61" name="Google Shape;61;p4"/>
          <p:cNvSpPr/>
          <p:nvPr/>
        </p:nvSpPr>
        <p:spPr>
          <a:xfrm>
            <a:off x="457200" y="914400"/>
            <a:ext cx="84124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06060"/>
              </a:buClr>
              <a:buSzPts val="1400"/>
              <a:buFont typeface="Georgia"/>
              <a:buNone/>
            </a:pPr>
            <a:r>
              <a:rPr b="0" i="1" lang="en-US" sz="1400" u="none" cap="none" strike="noStrike">
                <a:solidFill>
                  <a:srgbClr val="606060"/>
                </a:solidFill>
                <a:latin typeface="Georgia"/>
                <a:ea typeface="Georgia"/>
                <a:cs typeface="Georgia"/>
                <a:sym typeface="Georgia"/>
              </a:rPr>
              <a:t>Not all features are created equal. The data type determines what you can do with it.</a:t>
            </a:r>
            <a:endParaRPr b="0" i="0" sz="1400" u="none" cap="none" strike="noStrike">
              <a:solidFill>
                <a:schemeClr val="dk1"/>
              </a:solidFill>
              <a:latin typeface="Calibri"/>
              <a:ea typeface="Calibri"/>
              <a:cs typeface="Calibri"/>
              <a:sym typeface="Calibri"/>
            </a:endParaRPr>
          </a:p>
        </p:txBody>
      </p:sp>
      <p:sp>
        <p:nvSpPr>
          <p:cNvPr id="62" name="Google Shape;62;p4"/>
          <p:cNvSpPr/>
          <p:nvPr/>
        </p:nvSpPr>
        <p:spPr>
          <a:xfrm>
            <a:off x="365760" y="1325880"/>
            <a:ext cx="4114800" cy="2606040"/>
          </a:xfrm>
          <a:prstGeom prst="rect">
            <a:avLst/>
          </a:prstGeom>
          <a:solidFill>
            <a:srgbClr val="F4ECE9"/>
          </a:solidFill>
          <a:ln cap="flat" cmpd="sng" w="9525">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4"/>
          <p:cNvSpPr/>
          <p:nvPr/>
        </p:nvSpPr>
        <p:spPr>
          <a:xfrm>
            <a:off x="502920" y="1371600"/>
            <a:ext cx="38404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1700"/>
              <a:buFont typeface="Georgia"/>
              <a:buNone/>
            </a:pPr>
            <a:r>
              <a:rPr b="1" i="0" lang="en-US" sz="1700" u="none" cap="none" strike="noStrike">
                <a:solidFill>
                  <a:srgbClr val="7B2D26"/>
                </a:solidFill>
                <a:latin typeface="Georgia"/>
                <a:ea typeface="Georgia"/>
                <a:cs typeface="Georgia"/>
                <a:sym typeface="Georgia"/>
              </a:rPr>
              <a:t>Categorical (Qualitative)</a:t>
            </a:r>
            <a:endParaRPr b="0" i="0" sz="1700" u="none" cap="none" strike="noStrike">
              <a:solidFill>
                <a:schemeClr val="dk1"/>
              </a:solidFill>
              <a:latin typeface="Calibri"/>
              <a:ea typeface="Calibri"/>
              <a:cs typeface="Calibri"/>
              <a:sym typeface="Calibri"/>
            </a:endParaRPr>
          </a:p>
        </p:txBody>
      </p:sp>
      <p:sp>
        <p:nvSpPr>
          <p:cNvPr id="64" name="Google Shape;64;p4"/>
          <p:cNvSpPr/>
          <p:nvPr/>
        </p:nvSpPr>
        <p:spPr>
          <a:xfrm>
            <a:off x="502920" y="1755648"/>
            <a:ext cx="3840480" cy="21031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B2B2B"/>
              </a:buClr>
              <a:buSzPts val="1300"/>
              <a:buFont typeface="Georgia"/>
              <a:buNone/>
            </a:pPr>
            <a:r>
              <a:rPr b="1" i="0" lang="en-US" sz="1300" u="none" cap="none" strike="noStrike">
                <a:solidFill>
                  <a:srgbClr val="2B2B2B"/>
                </a:solidFill>
                <a:latin typeface="Georgia"/>
                <a:ea typeface="Georgia"/>
                <a:cs typeface="Georgia"/>
                <a:sym typeface="Georgia"/>
              </a:rPr>
              <a:t>Nominal — </a:t>
            </a:r>
            <a:r>
              <a:rPr b="0" i="0" lang="en-US" sz="1300" u="none" cap="none" strike="noStrike">
                <a:solidFill>
                  <a:srgbClr val="2B2B2B"/>
                </a:solidFill>
                <a:latin typeface="Georgia"/>
                <a:ea typeface="Georgia"/>
                <a:cs typeface="Georgia"/>
                <a:sym typeface="Georgia"/>
              </a:rPr>
              <a:t>no inherent order.</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06060"/>
              </a:buClr>
              <a:buSzPts val="1200"/>
              <a:buFont typeface="Georgia"/>
              <a:buNone/>
            </a:pPr>
            <a:r>
              <a:rPr b="0" i="1" lang="en-US" sz="1200" u="none" cap="none" strike="noStrike">
                <a:solidFill>
                  <a:srgbClr val="606060"/>
                </a:solidFill>
                <a:latin typeface="Georgia"/>
                <a:ea typeface="Georgia"/>
                <a:cs typeface="Georgia"/>
                <a:sym typeface="Georgia"/>
              </a:rPr>
              <a:t>    spiral / elliptical / irregular</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06060"/>
              </a:buClr>
              <a:buSzPts val="1200"/>
              <a:buFont typeface="Georgia"/>
              <a:buNone/>
            </a:pPr>
            <a:r>
              <a:rPr b="0" i="1" lang="en-US" sz="1200" u="none" cap="none" strike="noStrike">
                <a:solidFill>
                  <a:srgbClr val="606060"/>
                </a:solidFill>
                <a:latin typeface="Georgia"/>
                <a:ea typeface="Georgia"/>
                <a:cs typeface="Georgia"/>
                <a:sym typeface="Georgia"/>
              </a:rPr>
              <a:t>    galaxy ID, filter band (u,g,r,...)</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600"/>
              <a:buFont typeface="Georgia"/>
              <a:buNone/>
            </a:pPr>
            <a:r>
              <a:rPr b="0" i="0" lang="en-US" sz="600" u="none" cap="none" strike="noStrike">
                <a:solidFill>
                  <a:srgbClr val="000000"/>
                </a:solidFill>
                <a:latin typeface="Georgia"/>
                <a:ea typeface="Georgia"/>
                <a:cs typeface="Georgia"/>
                <a:sym typeface="Georgia"/>
              </a:rPr>
              <a:t> </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B2B"/>
              </a:buClr>
              <a:buSzPts val="1300"/>
              <a:buFont typeface="Georgia"/>
              <a:buNone/>
            </a:pPr>
            <a:r>
              <a:rPr b="1" i="0" lang="en-US" sz="1300" u="none" cap="none" strike="noStrike">
                <a:solidFill>
                  <a:srgbClr val="2B2B2B"/>
                </a:solidFill>
                <a:latin typeface="Georgia"/>
                <a:ea typeface="Georgia"/>
                <a:cs typeface="Georgia"/>
                <a:sym typeface="Georgia"/>
              </a:rPr>
              <a:t>Ordinal — </a:t>
            </a:r>
            <a:r>
              <a:rPr b="0" i="0" lang="en-US" sz="1300" u="none" cap="none" strike="noStrike">
                <a:solidFill>
                  <a:srgbClr val="2B2B2B"/>
                </a:solidFill>
                <a:latin typeface="Georgia"/>
                <a:ea typeface="Georgia"/>
                <a:cs typeface="Georgia"/>
                <a:sym typeface="Georgia"/>
              </a:rPr>
              <a:t>ranked, but spacing not meaningful.</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06060"/>
              </a:buClr>
              <a:buSzPts val="1200"/>
              <a:buFont typeface="Georgia"/>
              <a:buNone/>
            </a:pPr>
            <a:r>
              <a:rPr b="0" i="1" lang="en-US" sz="1200" u="none" cap="none" strike="noStrike">
                <a:solidFill>
                  <a:srgbClr val="606060"/>
                </a:solidFill>
                <a:latin typeface="Georgia"/>
                <a:ea typeface="Georgia"/>
                <a:cs typeface="Georgia"/>
                <a:sym typeface="Georgia"/>
              </a:rPr>
              <a:t>    image quality: poor &lt; OK &lt; excellent</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06060"/>
              </a:buClr>
              <a:buSzPts val="1200"/>
              <a:buFont typeface="Georgia"/>
              <a:buNone/>
            </a:pPr>
            <a:r>
              <a:rPr b="0" i="1" lang="en-US" sz="1200" u="none" cap="none" strike="noStrike">
                <a:solidFill>
                  <a:srgbClr val="606060"/>
                </a:solidFill>
                <a:latin typeface="Georgia"/>
                <a:ea typeface="Georgia"/>
                <a:cs typeface="Georgia"/>
                <a:sym typeface="Georgia"/>
              </a:rPr>
              <a:t>    Hubble stage: E → S0 → Sa → Sb → Sc</a:t>
            </a:r>
            <a:endParaRPr b="0" i="0" sz="1300" u="none" cap="none" strike="noStrike">
              <a:solidFill>
                <a:schemeClr val="dk1"/>
              </a:solidFill>
              <a:latin typeface="Calibri"/>
              <a:ea typeface="Calibri"/>
              <a:cs typeface="Calibri"/>
              <a:sym typeface="Calibri"/>
            </a:endParaRPr>
          </a:p>
        </p:txBody>
      </p:sp>
      <p:sp>
        <p:nvSpPr>
          <p:cNvPr id="65" name="Google Shape;65;p4"/>
          <p:cNvSpPr/>
          <p:nvPr/>
        </p:nvSpPr>
        <p:spPr>
          <a:xfrm>
            <a:off x="4663440" y="1325880"/>
            <a:ext cx="4114800" cy="2606040"/>
          </a:xfrm>
          <a:prstGeom prst="rect">
            <a:avLst/>
          </a:prstGeom>
          <a:solidFill>
            <a:srgbClr val="EAF1F4"/>
          </a:solidFill>
          <a:ln cap="flat" cmpd="sng" w="9525">
            <a:solidFill>
              <a:srgbClr val="2F5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4"/>
          <p:cNvSpPr/>
          <p:nvPr/>
        </p:nvSpPr>
        <p:spPr>
          <a:xfrm>
            <a:off x="4800600" y="1371600"/>
            <a:ext cx="38404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F5A7A"/>
              </a:buClr>
              <a:buSzPts val="1700"/>
              <a:buFont typeface="Georgia"/>
              <a:buNone/>
            </a:pPr>
            <a:r>
              <a:rPr b="1" i="0" lang="en-US" sz="1700" u="none" cap="none" strike="noStrike">
                <a:solidFill>
                  <a:srgbClr val="2F5A7A"/>
                </a:solidFill>
                <a:latin typeface="Georgia"/>
                <a:ea typeface="Georgia"/>
                <a:cs typeface="Georgia"/>
                <a:sym typeface="Georgia"/>
              </a:rPr>
              <a:t>Continuous (Quantitative)</a:t>
            </a:r>
            <a:endParaRPr b="0" i="0" sz="1700" u="none" cap="none" strike="noStrike">
              <a:solidFill>
                <a:schemeClr val="dk1"/>
              </a:solidFill>
              <a:latin typeface="Calibri"/>
              <a:ea typeface="Calibri"/>
              <a:cs typeface="Calibri"/>
              <a:sym typeface="Calibri"/>
            </a:endParaRPr>
          </a:p>
        </p:txBody>
      </p:sp>
      <p:sp>
        <p:nvSpPr>
          <p:cNvPr id="67" name="Google Shape;67;p4"/>
          <p:cNvSpPr/>
          <p:nvPr/>
        </p:nvSpPr>
        <p:spPr>
          <a:xfrm>
            <a:off x="4800600" y="1755648"/>
            <a:ext cx="3840480" cy="21031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B2B2B"/>
              </a:buClr>
              <a:buSzPts val="1300"/>
              <a:buFont typeface="Georgia"/>
              <a:buNone/>
            </a:pPr>
            <a:r>
              <a:rPr b="1" i="0" lang="en-US" sz="1300" u="none" cap="none" strike="noStrike">
                <a:solidFill>
                  <a:srgbClr val="2B2B2B"/>
                </a:solidFill>
                <a:latin typeface="Georgia"/>
                <a:ea typeface="Georgia"/>
                <a:cs typeface="Georgia"/>
                <a:sym typeface="Georgia"/>
              </a:rPr>
              <a:t>Interval — </a:t>
            </a:r>
            <a:r>
              <a:rPr b="0" i="0" lang="en-US" sz="1300" u="none" cap="none" strike="noStrike">
                <a:solidFill>
                  <a:srgbClr val="2B2B2B"/>
                </a:solidFill>
                <a:latin typeface="Georgia"/>
                <a:ea typeface="Georgia"/>
                <a:cs typeface="Georgia"/>
                <a:sym typeface="Georgia"/>
              </a:rPr>
              <a:t>differences are meaningful.</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06060"/>
              </a:buClr>
              <a:buSzPts val="1200"/>
              <a:buFont typeface="Georgia"/>
              <a:buNone/>
            </a:pPr>
            <a:r>
              <a:rPr b="0" i="1" lang="en-US" sz="1200" u="none" cap="none" strike="noStrike">
                <a:solidFill>
                  <a:srgbClr val="606060"/>
                </a:solidFill>
                <a:latin typeface="Georgia"/>
                <a:ea typeface="Georgia"/>
                <a:cs typeface="Georgia"/>
                <a:sym typeface="Georgia"/>
              </a:rPr>
              <a:t>    apparent magnitude in r-band</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06060"/>
              </a:buClr>
              <a:buSzPts val="1200"/>
              <a:buFont typeface="Georgia"/>
              <a:buNone/>
            </a:pPr>
            <a:r>
              <a:rPr b="0" i="1" lang="en-US" sz="1200" u="none" cap="none" strike="noStrike">
                <a:solidFill>
                  <a:srgbClr val="606060"/>
                </a:solidFill>
                <a:latin typeface="Georgia"/>
                <a:ea typeface="Georgia"/>
                <a:cs typeface="Georgia"/>
                <a:sym typeface="Georgia"/>
              </a:rPr>
              <a:t>    temperature (°C), RA / Dec coordinates</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600"/>
              <a:buFont typeface="Georgia"/>
              <a:buNone/>
            </a:pPr>
            <a:r>
              <a:rPr b="0" i="0" lang="en-US" sz="600" u="none" cap="none" strike="noStrike">
                <a:solidFill>
                  <a:srgbClr val="000000"/>
                </a:solidFill>
                <a:latin typeface="Georgia"/>
                <a:ea typeface="Georgia"/>
                <a:cs typeface="Georgia"/>
                <a:sym typeface="Georgia"/>
              </a:rPr>
              <a:t> </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B2B"/>
              </a:buClr>
              <a:buSzPts val="1300"/>
              <a:buFont typeface="Georgia"/>
              <a:buNone/>
            </a:pPr>
            <a:r>
              <a:rPr b="1" i="0" lang="en-US" sz="1300" u="none" cap="none" strike="noStrike">
                <a:solidFill>
                  <a:srgbClr val="2B2B2B"/>
                </a:solidFill>
                <a:latin typeface="Georgia"/>
                <a:ea typeface="Georgia"/>
                <a:cs typeface="Georgia"/>
                <a:sym typeface="Georgia"/>
              </a:rPr>
              <a:t>Ratio — </a:t>
            </a:r>
            <a:r>
              <a:rPr b="0" i="0" lang="en-US" sz="1300" u="none" cap="none" strike="noStrike">
                <a:solidFill>
                  <a:srgbClr val="2B2B2B"/>
                </a:solidFill>
                <a:latin typeface="Georgia"/>
                <a:ea typeface="Georgia"/>
                <a:cs typeface="Georgia"/>
                <a:sym typeface="Georgia"/>
              </a:rPr>
              <a:t>true zero → ratios are meaningful.</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06060"/>
              </a:buClr>
              <a:buSzPts val="1200"/>
              <a:buFont typeface="Georgia"/>
              <a:buNone/>
            </a:pPr>
            <a:r>
              <a:rPr b="0" i="1" lang="en-US" sz="1200" u="none" cap="none" strike="noStrike">
                <a:solidFill>
                  <a:srgbClr val="606060"/>
                </a:solidFill>
                <a:latin typeface="Georgia"/>
                <a:ea typeface="Georgia"/>
                <a:cs typeface="Georgia"/>
                <a:sym typeface="Georgia"/>
              </a:rPr>
              <a:t>    flux, luminosity, stellar mass M☆</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06060"/>
              </a:buClr>
              <a:buSzPts val="1200"/>
              <a:buFont typeface="Georgia"/>
              <a:buNone/>
            </a:pPr>
            <a:r>
              <a:rPr b="0" i="1" lang="en-US" sz="1200" u="none" cap="none" strike="noStrike">
                <a:solidFill>
                  <a:srgbClr val="606060"/>
                </a:solidFill>
                <a:latin typeface="Georgia"/>
                <a:ea typeface="Georgia"/>
                <a:cs typeface="Georgia"/>
                <a:sym typeface="Georgia"/>
              </a:rPr>
              <a:t>    redshift z, distance in Mpc</a:t>
            </a:r>
            <a:endParaRPr b="0" i="0" sz="1300" u="none" cap="none" strike="noStrike">
              <a:solidFill>
                <a:schemeClr val="dk1"/>
              </a:solidFill>
              <a:latin typeface="Calibri"/>
              <a:ea typeface="Calibri"/>
              <a:cs typeface="Calibri"/>
              <a:sym typeface="Calibri"/>
            </a:endParaRPr>
          </a:p>
        </p:txBody>
      </p:sp>
      <p:sp>
        <p:nvSpPr>
          <p:cNvPr id="68" name="Google Shape;68;p4"/>
          <p:cNvSpPr/>
          <p:nvPr/>
        </p:nvSpPr>
        <p:spPr>
          <a:xfrm>
            <a:off x="457200" y="4023360"/>
            <a:ext cx="841248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1300"/>
              <a:buFont typeface="Georgia"/>
              <a:buNone/>
            </a:pPr>
            <a:r>
              <a:rPr b="1" i="0" lang="en-US" sz="1300" u="none" cap="none" strike="noStrike">
                <a:solidFill>
                  <a:srgbClr val="7B2D26"/>
                </a:solidFill>
                <a:latin typeface="Georgia"/>
                <a:ea typeface="Georgia"/>
                <a:cs typeface="Georgia"/>
                <a:sym typeface="Georgia"/>
              </a:rPr>
              <a:t>Why it matters:  </a:t>
            </a:r>
            <a:r>
              <a:rPr b="0" i="0" lang="en-US" sz="1300" u="none" cap="none" strike="noStrike">
                <a:solidFill>
                  <a:srgbClr val="2B2B2B"/>
                </a:solidFill>
                <a:latin typeface="Georgia"/>
                <a:ea typeface="Georgia"/>
                <a:cs typeface="Georgia"/>
                <a:sym typeface="Georgia"/>
              </a:rPr>
              <a:t>categorical features cannot be fed directly into a tree or neural net — they must be </a:t>
            </a:r>
            <a:r>
              <a:rPr b="0" i="1" lang="en-US" sz="1300" u="none" cap="none" strike="noStrike">
                <a:solidFill>
                  <a:srgbClr val="2B2B2B"/>
                </a:solidFill>
                <a:latin typeface="Georgia"/>
                <a:ea typeface="Georgia"/>
                <a:cs typeface="Georgia"/>
                <a:sym typeface="Georgia"/>
              </a:rPr>
              <a:t>encoded </a:t>
            </a:r>
            <a:r>
              <a:rPr b="0" i="0" lang="en-US" sz="1300" u="none" cap="none" strike="noStrike">
                <a:solidFill>
                  <a:srgbClr val="2B2B2B"/>
                </a:solidFill>
                <a:latin typeface="Georgia"/>
                <a:ea typeface="Georgia"/>
                <a:cs typeface="Georgia"/>
                <a:sym typeface="Georgia"/>
              </a:rPr>
              <a:t>(Lecture 2). Ordinal vs nominal changes which encoding is correct.</a:t>
            </a:r>
            <a:endParaRPr b="0" i="0" sz="1300" u="none" cap="none" strike="noStrike">
              <a:solidFill>
                <a:schemeClr val="dk1"/>
              </a:solidFill>
              <a:latin typeface="Calibri"/>
              <a:ea typeface="Calibri"/>
              <a:cs typeface="Calibri"/>
              <a:sym typeface="Calibri"/>
            </a:endParaRPr>
          </a:p>
        </p:txBody>
      </p:sp>
      <p:pic>
        <p:nvPicPr>
          <p:cNvPr descr="/sessions/sleepy-friendly-euler/mnt/outputs/logos/cosmicai_logo.png" id="69" name="Google Shape;69;p4"/>
          <p:cNvPicPr preferRelativeResize="0"/>
          <p:nvPr/>
        </p:nvPicPr>
        <p:blipFill rotWithShape="1">
          <a:blip r:embed="rId3">
            <a:alphaModFix/>
          </a:blip>
          <a:srcRect b="0" l="0" r="0" t="0"/>
          <a:stretch/>
        </p:blipFill>
        <p:spPr>
          <a:xfrm>
            <a:off x="228600" y="4526280"/>
            <a:ext cx="1463040" cy="502920"/>
          </a:xfrm>
          <a:prstGeom prst="rect">
            <a:avLst/>
          </a:prstGeom>
          <a:noFill/>
          <a:ln>
            <a:noFill/>
          </a:ln>
        </p:spPr>
      </p:pic>
      <p:sp>
        <p:nvSpPr>
          <p:cNvPr id="70" name="Google Shape;70;p4"/>
          <p:cNvSpPr/>
          <p:nvPr/>
        </p:nvSpPr>
        <p:spPr>
          <a:xfrm>
            <a:off x="2743200" y="4663440"/>
            <a:ext cx="36576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1" i="0" lang="en-US" sz="1200" u="none" cap="none" strike="noStrike">
                <a:solidFill>
                  <a:srgbClr val="2B2B2B"/>
                </a:solidFill>
                <a:latin typeface="Georgia"/>
                <a:ea typeface="Georgia"/>
                <a:cs typeface="Georgia"/>
                <a:sym typeface="Georgia"/>
              </a:rPr>
              <a:t>CosmicAI Summer School</a:t>
            </a:r>
            <a:endParaRPr b="0" i="0" sz="1200" u="none" cap="none" strike="noStrike">
              <a:solidFill>
                <a:schemeClr val="dk1"/>
              </a:solidFill>
              <a:latin typeface="Calibri"/>
              <a:ea typeface="Calibri"/>
              <a:cs typeface="Calibri"/>
              <a:sym typeface="Calibri"/>
            </a:endParaRPr>
          </a:p>
        </p:txBody>
      </p:sp>
      <p:sp>
        <p:nvSpPr>
          <p:cNvPr id="71" name="Google Shape;71;p4"/>
          <p:cNvSpPr/>
          <p:nvPr/>
        </p:nvSpPr>
        <p:spPr>
          <a:xfrm>
            <a:off x="8275320" y="4754880"/>
            <a:ext cx="6858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06060"/>
              </a:buClr>
              <a:buSzPts val="1200"/>
              <a:buFont typeface="Georgia"/>
              <a:buNone/>
            </a:pPr>
            <a:r>
              <a:rPr b="0" i="0" lang="en-US" sz="1200" u="none" cap="none" strike="noStrike">
                <a:solidFill>
                  <a:srgbClr val="606060"/>
                </a:solidFill>
                <a:latin typeface="Georgia"/>
                <a:ea typeface="Georgia"/>
                <a:cs typeface="Georgia"/>
                <a:sym typeface="Georgia"/>
              </a:rPr>
              <a:t>4</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6" name="Shape 76"/>
        <p:cNvGrpSpPr/>
        <p:nvPr/>
      </p:nvGrpSpPr>
      <p:grpSpPr>
        <a:xfrm>
          <a:off x="0" y="0"/>
          <a:ext cx="0" cy="0"/>
          <a:chOff x="0" y="0"/>
          <a:chExt cx="0" cy="0"/>
        </a:xfrm>
      </p:grpSpPr>
      <p:sp>
        <p:nvSpPr>
          <p:cNvPr id="77" name="Google Shape;77;p5"/>
          <p:cNvSpPr/>
          <p:nvPr/>
        </p:nvSpPr>
        <p:spPr>
          <a:xfrm>
            <a:off x="274320" y="137160"/>
            <a:ext cx="704088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2600"/>
              <a:buFont typeface="Georgia"/>
              <a:buNone/>
            </a:pPr>
            <a:r>
              <a:rPr b="0" i="0" lang="en-US" sz="2600" u="none" cap="none" strike="noStrike">
                <a:solidFill>
                  <a:srgbClr val="7B2D26"/>
                </a:solidFill>
                <a:latin typeface="Georgia"/>
                <a:ea typeface="Georgia"/>
                <a:cs typeface="Georgia"/>
                <a:sym typeface="Georgia"/>
              </a:rPr>
              <a:t>Worked Example  —  Data Types</a:t>
            </a:r>
            <a:endParaRPr b="0" i="0" sz="2600" u="none" cap="none" strike="noStrike">
              <a:solidFill>
                <a:schemeClr val="dk1"/>
              </a:solidFill>
              <a:latin typeface="Calibri"/>
              <a:ea typeface="Calibri"/>
              <a:cs typeface="Calibri"/>
              <a:sym typeface="Calibri"/>
            </a:endParaRPr>
          </a:p>
        </p:txBody>
      </p:sp>
      <p:cxnSp>
        <p:nvCxnSpPr>
          <p:cNvPr id="78" name="Google Shape;78;p5"/>
          <p:cNvCxnSpPr/>
          <p:nvPr/>
        </p:nvCxnSpPr>
        <p:spPr>
          <a:xfrm>
            <a:off x="365760" y="685800"/>
            <a:ext cx="8412480" cy="0"/>
          </a:xfrm>
          <a:prstGeom prst="straightConnector1">
            <a:avLst/>
          </a:prstGeom>
          <a:noFill/>
          <a:ln cap="flat" cmpd="sng" w="15875">
            <a:solidFill>
              <a:srgbClr val="B0B0B0"/>
            </a:solidFill>
            <a:prstDash val="solid"/>
            <a:round/>
            <a:headEnd len="sm" w="sm" type="none"/>
            <a:tailEnd len="sm" w="sm" type="none"/>
          </a:ln>
        </p:spPr>
      </p:cxnSp>
      <p:sp>
        <p:nvSpPr>
          <p:cNvPr id="79" name="Google Shape;79;p5"/>
          <p:cNvSpPr/>
          <p:nvPr/>
        </p:nvSpPr>
        <p:spPr>
          <a:xfrm>
            <a:off x="7360920" y="182880"/>
            <a:ext cx="1600200" cy="292608"/>
          </a:xfrm>
          <a:prstGeom prst="rect">
            <a:avLst/>
          </a:prstGeom>
          <a:solidFill>
            <a:srgbClr val="7B2D26"/>
          </a:solidFill>
          <a:ln cap="flat" cmpd="sng" w="12700">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5"/>
          <p:cNvSpPr/>
          <p:nvPr/>
        </p:nvSpPr>
        <p:spPr>
          <a:xfrm>
            <a:off x="7360920" y="182880"/>
            <a:ext cx="1600200"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50"/>
              <a:buFont typeface="Georgia"/>
              <a:buNone/>
            </a:pPr>
            <a:r>
              <a:rPr b="1" i="0" lang="en-US" sz="1050" u="none" cap="none" strike="noStrike">
                <a:solidFill>
                  <a:srgbClr val="FFFFFF"/>
                </a:solidFill>
                <a:latin typeface="Georgia"/>
                <a:ea typeface="Georgia"/>
                <a:cs typeface="Georgia"/>
                <a:sym typeface="Georgia"/>
              </a:rPr>
              <a:t>WORKED EXAMPLE</a:t>
            </a:r>
            <a:endParaRPr b="0" i="0" sz="1050" u="none" cap="none" strike="noStrike">
              <a:solidFill>
                <a:schemeClr val="dk1"/>
              </a:solidFill>
              <a:latin typeface="Calibri"/>
              <a:ea typeface="Calibri"/>
              <a:cs typeface="Calibri"/>
              <a:sym typeface="Calibri"/>
            </a:endParaRPr>
          </a:p>
        </p:txBody>
      </p:sp>
      <p:sp>
        <p:nvSpPr>
          <p:cNvPr id="81" name="Google Shape;81;p5"/>
          <p:cNvSpPr/>
          <p:nvPr/>
        </p:nvSpPr>
        <p:spPr>
          <a:xfrm>
            <a:off x="457200" y="822960"/>
            <a:ext cx="8412480" cy="45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06060"/>
              </a:buClr>
              <a:buSzPts val="1300"/>
              <a:buFont typeface="Georgia"/>
              <a:buNone/>
            </a:pPr>
            <a:r>
              <a:rPr b="0" i="1" lang="en-US" sz="1300" u="none" cap="none" strike="noStrike">
                <a:solidFill>
                  <a:srgbClr val="606060"/>
                </a:solidFill>
                <a:latin typeface="Georgia"/>
                <a:ea typeface="Georgia"/>
                <a:cs typeface="Georgia"/>
                <a:sym typeface="Georgia"/>
              </a:rPr>
              <a:t>For each feature, decide if it is  Nominal,  Ordinal,  Interval,  or Ratio.  Try it for 1 minute, then advance for the answer.</a:t>
            </a:r>
            <a:endParaRPr b="0" i="0" sz="1300" u="none" cap="none" strike="noStrike">
              <a:solidFill>
                <a:schemeClr val="dk1"/>
              </a:solidFill>
              <a:latin typeface="Calibri"/>
              <a:ea typeface="Calibri"/>
              <a:cs typeface="Calibri"/>
              <a:sym typeface="Calibri"/>
            </a:endParaRPr>
          </a:p>
        </p:txBody>
      </p:sp>
      <p:graphicFrame>
        <p:nvGraphicFramePr>
          <p:cNvPr id="82" name="Google Shape;82;p5"/>
          <p:cNvGraphicFramePr/>
          <p:nvPr/>
        </p:nvGraphicFramePr>
        <p:xfrm>
          <a:off x="457200" y="1417320"/>
          <a:ext cx="3000000" cy="3000000"/>
        </p:xfrm>
        <a:graphic>
          <a:graphicData uri="http://schemas.openxmlformats.org/drawingml/2006/table">
            <a:tbl>
              <a:tblPr>
                <a:noFill/>
                <a:tableStyleId>{BA6F7DC6-C268-4AC7-A4F5-CFFF31EB1142}</a:tableStyleId>
              </a:tblPr>
              <a:tblGrid>
                <a:gridCol w="3108950"/>
                <a:gridCol w="3474725"/>
                <a:gridCol w="1645925"/>
              </a:tblGrid>
              <a:tr h="384050">
                <a:tc>
                  <a:txBody>
                    <a:bodyPr/>
                    <a:lstStyle/>
                    <a:p>
                      <a:pPr indent="0" lvl="0" marL="0" marR="0" rtl="0" algn="ctr">
                        <a:spcBef>
                          <a:spcPts val="0"/>
                        </a:spcBef>
                        <a:spcAft>
                          <a:spcPts val="0"/>
                        </a:spcAft>
                        <a:buClr>
                          <a:srgbClr val="FFFFFF"/>
                        </a:buClr>
                        <a:buSzPts val="1300"/>
                        <a:buFont typeface="Georgia"/>
                        <a:buNone/>
                      </a:pPr>
                      <a:r>
                        <a:rPr b="1" lang="en-US" sz="1300" u="none" cap="none" strike="noStrike">
                          <a:solidFill>
                            <a:srgbClr val="FFFFFF"/>
                          </a:solidFill>
                          <a:latin typeface="Georgia"/>
                          <a:ea typeface="Georgia"/>
                          <a:cs typeface="Georgia"/>
                          <a:sym typeface="Georgia"/>
                        </a:rPr>
                        <a:t>Feature</a:t>
                      </a:r>
                      <a:endParaRPr sz="1300" u="none" cap="none" strike="noStrike">
                        <a:latin typeface="Georgia"/>
                        <a:ea typeface="Georgia"/>
                        <a:cs typeface="Georgia"/>
                        <a:sym typeface="Georgia"/>
                      </a:endParaRPr>
                    </a:p>
                  </a:txBody>
                  <a:tcPr marT="73150" marB="73150" marR="73150" marL="73150" anchor="ctr">
                    <a:lnL cap="flat" cmpd="sng" w="9525">
                      <a:solidFill>
                        <a:srgbClr val="B0B0B0"/>
                      </a:solidFill>
                      <a:prstDash val="solid"/>
                      <a:round/>
                      <a:headEnd len="sm" w="sm" type="none"/>
                      <a:tailEnd len="sm" w="sm" type="none"/>
                    </a:lnL>
                    <a:lnR cap="flat" cmpd="sng" w="9525">
                      <a:solidFill>
                        <a:srgbClr val="B0B0B0"/>
                      </a:solidFill>
                      <a:prstDash val="solid"/>
                      <a:round/>
                      <a:headEnd len="sm" w="sm" type="none"/>
                      <a:tailEnd len="sm" w="sm" type="none"/>
                    </a:lnR>
                    <a:lnT cap="flat" cmpd="sng" w="9525">
                      <a:solidFill>
                        <a:srgbClr val="B0B0B0"/>
                      </a:solidFill>
                      <a:prstDash val="solid"/>
                      <a:round/>
                      <a:headEnd len="sm" w="sm" type="none"/>
                      <a:tailEnd len="sm" w="sm" type="none"/>
                    </a:lnT>
                    <a:lnB cap="flat" cmpd="sng" w="9525">
                      <a:solidFill>
                        <a:srgbClr val="B0B0B0"/>
                      </a:solidFill>
                      <a:prstDash val="solid"/>
                      <a:round/>
                      <a:headEnd len="sm" w="sm" type="none"/>
                      <a:tailEnd len="sm" w="sm" type="none"/>
                    </a:lnB>
                    <a:solidFill>
                      <a:srgbClr val="7B2D26"/>
                    </a:solidFill>
                  </a:tcPr>
                </a:tc>
                <a:tc>
                  <a:txBody>
                    <a:bodyPr/>
                    <a:lstStyle/>
                    <a:p>
                      <a:pPr indent="0" lvl="0" marL="0" marR="0" rtl="0" algn="ctr">
                        <a:spcBef>
                          <a:spcPts val="0"/>
                        </a:spcBef>
                        <a:spcAft>
                          <a:spcPts val="0"/>
                        </a:spcAft>
                        <a:buClr>
                          <a:srgbClr val="FFFFFF"/>
                        </a:buClr>
                        <a:buSzPts val="1300"/>
                        <a:buFont typeface="Georgia"/>
                        <a:buNone/>
                      </a:pPr>
                      <a:r>
                        <a:rPr b="1" lang="en-US" sz="1300" u="none" cap="none" strike="noStrike">
                          <a:solidFill>
                            <a:srgbClr val="FFFFFF"/>
                          </a:solidFill>
                          <a:latin typeface="Georgia"/>
                          <a:ea typeface="Georgia"/>
                          <a:cs typeface="Georgia"/>
                          <a:sym typeface="Georgia"/>
                        </a:rPr>
                        <a:t>Example value</a:t>
                      </a:r>
                      <a:endParaRPr sz="1300" u="none" cap="none" strike="noStrike">
                        <a:latin typeface="Georgia"/>
                        <a:ea typeface="Georgia"/>
                        <a:cs typeface="Georgia"/>
                        <a:sym typeface="Georgia"/>
                      </a:endParaRPr>
                    </a:p>
                  </a:txBody>
                  <a:tcPr marT="73150" marB="73150" marR="73150" marL="73150" anchor="ctr">
                    <a:lnL cap="flat" cmpd="sng" w="9525">
                      <a:solidFill>
                        <a:srgbClr val="B0B0B0"/>
                      </a:solidFill>
                      <a:prstDash val="solid"/>
                      <a:round/>
                      <a:headEnd len="sm" w="sm" type="none"/>
                      <a:tailEnd len="sm" w="sm" type="none"/>
                    </a:lnL>
                    <a:lnR cap="flat" cmpd="sng" w="9525">
                      <a:solidFill>
                        <a:srgbClr val="B0B0B0"/>
                      </a:solidFill>
                      <a:prstDash val="solid"/>
                      <a:round/>
                      <a:headEnd len="sm" w="sm" type="none"/>
                      <a:tailEnd len="sm" w="sm" type="none"/>
                    </a:lnR>
                    <a:lnT cap="flat" cmpd="sng" w="9525">
                      <a:solidFill>
                        <a:srgbClr val="B0B0B0"/>
                      </a:solidFill>
                      <a:prstDash val="solid"/>
                      <a:round/>
                      <a:headEnd len="sm" w="sm" type="none"/>
                      <a:tailEnd len="sm" w="sm" type="none"/>
                    </a:lnT>
                    <a:lnB cap="flat" cmpd="sng" w="9525">
                      <a:solidFill>
                        <a:srgbClr val="B0B0B0"/>
                      </a:solidFill>
                      <a:prstDash val="solid"/>
                      <a:round/>
                      <a:headEnd len="sm" w="sm" type="none"/>
                      <a:tailEnd len="sm" w="sm" type="none"/>
                    </a:lnB>
                    <a:solidFill>
                      <a:srgbClr val="7B2D26"/>
                    </a:solidFill>
                  </a:tcPr>
                </a:tc>
                <a:tc>
                  <a:txBody>
                    <a:bodyPr/>
                    <a:lstStyle/>
                    <a:p>
                      <a:pPr indent="0" lvl="0" marL="0" marR="0" rtl="0" algn="ctr">
                        <a:spcBef>
                          <a:spcPts val="0"/>
                        </a:spcBef>
                        <a:spcAft>
                          <a:spcPts val="0"/>
                        </a:spcAft>
                        <a:buClr>
                          <a:srgbClr val="FFFFFF"/>
                        </a:buClr>
                        <a:buSzPts val="1300"/>
                        <a:buFont typeface="Georgia"/>
                        <a:buNone/>
                      </a:pPr>
                      <a:r>
                        <a:rPr b="1" lang="en-US" sz="1300" u="none" cap="none" strike="noStrike">
                          <a:solidFill>
                            <a:srgbClr val="FFFFFF"/>
                          </a:solidFill>
                          <a:latin typeface="Georgia"/>
                          <a:ea typeface="Georgia"/>
                          <a:cs typeface="Georgia"/>
                          <a:sym typeface="Georgia"/>
                        </a:rPr>
                        <a:t>Your answer</a:t>
                      </a:r>
                      <a:endParaRPr sz="1300" u="none" cap="none" strike="noStrike">
                        <a:latin typeface="Georgia"/>
                        <a:ea typeface="Georgia"/>
                        <a:cs typeface="Georgia"/>
                        <a:sym typeface="Georgia"/>
                      </a:endParaRPr>
                    </a:p>
                  </a:txBody>
                  <a:tcPr marT="73150" marB="73150" marR="73150" marL="73150" anchor="ctr">
                    <a:lnL cap="flat" cmpd="sng" w="9525">
                      <a:solidFill>
                        <a:srgbClr val="B0B0B0"/>
                      </a:solidFill>
                      <a:prstDash val="solid"/>
                      <a:round/>
                      <a:headEnd len="sm" w="sm" type="none"/>
                      <a:tailEnd len="sm" w="sm" type="none"/>
                    </a:lnL>
                    <a:lnR cap="flat" cmpd="sng" w="9525">
                      <a:solidFill>
                        <a:srgbClr val="B0B0B0"/>
                      </a:solidFill>
                      <a:prstDash val="solid"/>
                      <a:round/>
                      <a:headEnd len="sm" w="sm" type="none"/>
                      <a:tailEnd len="sm" w="sm" type="none"/>
                    </a:lnR>
                    <a:lnT cap="flat" cmpd="sng" w="9525">
                      <a:solidFill>
                        <a:srgbClr val="B0B0B0"/>
                      </a:solidFill>
                      <a:prstDash val="solid"/>
                      <a:round/>
                      <a:headEnd len="sm" w="sm" type="none"/>
                      <a:tailEnd len="sm" w="sm" type="none"/>
                    </a:lnT>
                    <a:lnB cap="flat" cmpd="sng" w="9525">
                      <a:solidFill>
                        <a:srgbClr val="B0B0B0"/>
                      </a:solidFill>
                      <a:prstDash val="solid"/>
                      <a:round/>
                      <a:headEnd len="sm" w="sm" type="none"/>
                      <a:tailEnd len="sm" w="sm" type="none"/>
                    </a:lnB>
                    <a:solidFill>
                      <a:srgbClr val="7B2D26"/>
                    </a:solidFill>
                  </a:tcPr>
                </a:tc>
              </a:tr>
              <a:tr h="384050">
                <a:tc>
                  <a:txBody>
                    <a:bodyPr/>
                    <a:lstStyle/>
                    <a:p>
                      <a:pPr indent="0" lvl="0" marL="0" marR="0" rtl="0" algn="l">
                        <a:spcBef>
                          <a:spcPts val="0"/>
                        </a:spcBef>
                        <a:spcAft>
                          <a:spcPts val="0"/>
                        </a:spcAft>
                        <a:buClr>
                          <a:srgbClr val="2B2B2B"/>
                        </a:buClr>
                        <a:buSzPts val="1300"/>
                        <a:buFont typeface="Georgia"/>
                        <a:buNone/>
                      </a:pPr>
                      <a:r>
                        <a:rPr lang="en-US" sz="1300" u="none" cap="none" strike="noStrike">
                          <a:solidFill>
                            <a:srgbClr val="2B2B2B"/>
                          </a:solidFill>
                          <a:latin typeface="Georgia"/>
                          <a:ea typeface="Georgia"/>
                          <a:cs typeface="Georgia"/>
                          <a:sym typeface="Georgia"/>
                        </a:rPr>
                        <a:t>galaxy_type</a:t>
                      </a:r>
                      <a:endParaRPr sz="1300" u="none" cap="none" strike="noStrike">
                        <a:latin typeface="Georgia"/>
                        <a:ea typeface="Georgia"/>
                        <a:cs typeface="Georgia"/>
                        <a:sym typeface="Georgia"/>
                      </a:endParaRPr>
                    </a:p>
                  </a:txBody>
                  <a:tcPr marT="91450" marB="91450" marR="91450" marL="91450" anchor="ctr">
                    <a:lnL cap="flat" cmpd="sng" w="9525">
                      <a:solidFill>
                        <a:srgbClr val="B0B0B0"/>
                      </a:solidFill>
                      <a:prstDash val="solid"/>
                      <a:round/>
                      <a:headEnd len="sm" w="sm" type="none"/>
                      <a:tailEnd len="sm" w="sm" type="none"/>
                    </a:lnL>
                    <a:lnR cap="flat" cmpd="sng" w="9525">
                      <a:solidFill>
                        <a:srgbClr val="B0B0B0"/>
                      </a:solidFill>
                      <a:prstDash val="solid"/>
                      <a:round/>
                      <a:headEnd len="sm" w="sm" type="none"/>
                      <a:tailEnd len="sm" w="sm" type="none"/>
                    </a:lnR>
                    <a:lnT cap="flat" cmpd="sng" w="9525">
                      <a:solidFill>
                        <a:srgbClr val="B0B0B0"/>
                      </a:solidFill>
                      <a:prstDash val="solid"/>
                      <a:round/>
                      <a:headEnd len="sm" w="sm" type="none"/>
                      <a:tailEnd len="sm" w="sm" type="none"/>
                    </a:lnT>
                    <a:lnB cap="flat" cmpd="sng" w="9525">
                      <a:solidFill>
                        <a:srgbClr val="B0B0B0"/>
                      </a:solidFill>
                      <a:prstDash val="solid"/>
                      <a:round/>
                      <a:headEnd len="sm" w="sm" type="none"/>
                      <a:tailEnd len="sm" w="sm" type="none"/>
                    </a:lnB>
                  </a:tcPr>
                </a:tc>
                <a:tc>
                  <a:txBody>
                    <a:bodyPr/>
                    <a:lstStyle/>
                    <a:p>
                      <a:pPr indent="0" lvl="0" marL="0" marR="0" rtl="0" algn="l">
                        <a:spcBef>
                          <a:spcPts val="0"/>
                        </a:spcBef>
                        <a:spcAft>
                          <a:spcPts val="0"/>
                        </a:spcAft>
                        <a:buClr>
                          <a:srgbClr val="2B2B2B"/>
                        </a:buClr>
                        <a:buSzPts val="1200"/>
                        <a:buFont typeface="Courier New"/>
                        <a:buNone/>
                      </a:pPr>
                      <a:r>
                        <a:rPr lang="en-US" sz="1200" u="none" cap="none" strike="noStrike">
                          <a:solidFill>
                            <a:srgbClr val="2B2B2B"/>
                          </a:solidFill>
                          <a:latin typeface="Courier New"/>
                          <a:ea typeface="Courier New"/>
                          <a:cs typeface="Courier New"/>
                          <a:sym typeface="Courier New"/>
                        </a:rPr>
                        <a:t>"spiral", "elliptical", "irregular"</a:t>
                      </a:r>
                      <a:endParaRPr sz="1200" u="none" cap="none" strike="noStrike">
                        <a:latin typeface="Courier New"/>
                        <a:ea typeface="Courier New"/>
                        <a:cs typeface="Courier New"/>
                        <a:sym typeface="Courier New"/>
                      </a:endParaRPr>
                    </a:p>
                  </a:txBody>
                  <a:tcPr marT="91450" marB="91450" marR="91450" marL="91450" anchor="ctr">
                    <a:lnL cap="flat" cmpd="sng" w="9525">
                      <a:solidFill>
                        <a:srgbClr val="B0B0B0"/>
                      </a:solidFill>
                      <a:prstDash val="solid"/>
                      <a:round/>
                      <a:headEnd len="sm" w="sm" type="none"/>
                      <a:tailEnd len="sm" w="sm" type="none"/>
                    </a:lnL>
                    <a:lnR cap="flat" cmpd="sng" w="9525">
                      <a:solidFill>
                        <a:srgbClr val="B0B0B0"/>
                      </a:solidFill>
                      <a:prstDash val="solid"/>
                      <a:round/>
                      <a:headEnd len="sm" w="sm" type="none"/>
                      <a:tailEnd len="sm" w="sm" type="none"/>
                    </a:lnR>
                    <a:lnT cap="flat" cmpd="sng" w="9525">
                      <a:solidFill>
                        <a:srgbClr val="B0B0B0"/>
                      </a:solidFill>
                      <a:prstDash val="solid"/>
                      <a:round/>
                      <a:headEnd len="sm" w="sm" type="none"/>
                      <a:tailEnd len="sm" w="sm" type="none"/>
                    </a:lnT>
                    <a:lnB cap="flat" cmpd="sng" w="9525">
                      <a:solidFill>
                        <a:srgbClr val="B0B0B0"/>
                      </a:solidFill>
                      <a:prstDash val="solid"/>
                      <a:round/>
                      <a:headEnd len="sm" w="sm" type="none"/>
                      <a:tailEnd len="sm" w="sm" type="none"/>
                    </a:lnB>
                  </a:tcPr>
                </a:tc>
                <a:tc>
                  <a:txBody>
                    <a:bodyPr/>
                    <a:lstStyle/>
                    <a:p>
                      <a:pPr indent="0" lvl="0" marL="0" marR="0" rtl="0" algn="ctr">
                        <a:spcBef>
                          <a:spcPts val="0"/>
                        </a:spcBef>
                        <a:spcAft>
                          <a:spcPts val="0"/>
                        </a:spcAft>
                        <a:buClr>
                          <a:srgbClr val="606060"/>
                        </a:buClr>
                        <a:buSzPts val="1400"/>
                        <a:buFont typeface="Georgia"/>
                        <a:buNone/>
                      </a:pPr>
                      <a:r>
                        <a:rPr i="1" lang="en-US" sz="1400" u="none" cap="none" strike="noStrike">
                          <a:solidFill>
                            <a:srgbClr val="606060"/>
                          </a:solidFill>
                          <a:latin typeface="Georgia"/>
                          <a:ea typeface="Georgia"/>
                          <a:cs typeface="Georgia"/>
                          <a:sym typeface="Georgia"/>
                        </a:rPr>
                        <a:t>____________</a:t>
                      </a:r>
                      <a:endParaRPr sz="1400" u="none" cap="none" strike="noStrike">
                        <a:latin typeface="Georgia"/>
                        <a:ea typeface="Georgia"/>
                        <a:cs typeface="Georgia"/>
                        <a:sym typeface="Georgia"/>
                      </a:endParaRPr>
                    </a:p>
                  </a:txBody>
                  <a:tcPr marT="91450" marB="91450" marR="91450" marL="91450" anchor="ctr">
                    <a:lnL cap="flat" cmpd="sng" w="9525">
                      <a:solidFill>
                        <a:srgbClr val="B0B0B0"/>
                      </a:solidFill>
                      <a:prstDash val="solid"/>
                      <a:round/>
                      <a:headEnd len="sm" w="sm" type="none"/>
                      <a:tailEnd len="sm" w="sm" type="none"/>
                    </a:lnL>
                    <a:lnR cap="flat" cmpd="sng" w="9525">
                      <a:solidFill>
                        <a:srgbClr val="B0B0B0"/>
                      </a:solidFill>
                      <a:prstDash val="solid"/>
                      <a:round/>
                      <a:headEnd len="sm" w="sm" type="none"/>
                      <a:tailEnd len="sm" w="sm" type="none"/>
                    </a:lnR>
                    <a:lnT cap="flat" cmpd="sng" w="9525">
                      <a:solidFill>
                        <a:srgbClr val="B0B0B0"/>
                      </a:solidFill>
                      <a:prstDash val="solid"/>
                      <a:round/>
                      <a:headEnd len="sm" w="sm" type="none"/>
                      <a:tailEnd len="sm" w="sm" type="none"/>
                    </a:lnT>
                    <a:lnB cap="flat" cmpd="sng" w="9525">
                      <a:solidFill>
                        <a:srgbClr val="B0B0B0"/>
                      </a:solidFill>
                      <a:prstDash val="solid"/>
                      <a:round/>
                      <a:headEnd len="sm" w="sm" type="none"/>
                      <a:tailEnd len="sm" w="sm" type="none"/>
                    </a:lnB>
                  </a:tcPr>
                </a:tc>
              </a:tr>
              <a:tr h="384050">
                <a:tc>
                  <a:txBody>
                    <a:bodyPr/>
                    <a:lstStyle/>
                    <a:p>
                      <a:pPr indent="0" lvl="0" marL="0" marR="0" rtl="0" algn="l">
                        <a:spcBef>
                          <a:spcPts val="0"/>
                        </a:spcBef>
                        <a:spcAft>
                          <a:spcPts val="0"/>
                        </a:spcAft>
                        <a:buClr>
                          <a:srgbClr val="2B2B2B"/>
                        </a:buClr>
                        <a:buSzPts val="1300"/>
                        <a:buFont typeface="Georgia"/>
                        <a:buNone/>
                      </a:pPr>
                      <a:r>
                        <a:rPr lang="en-US" sz="1300" u="none" cap="none" strike="noStrike">
                          <a:solidFill>
                            <a:srgbClr val="2B2B2B"/>
                          </a:solidFill>
                          <a:latin typeface="Georgia"/>
                          <a:ea typeface="Georgia"/>
                          <a:cs typeface="Georgia"/>
                          <a:sym typeface="Georgia"/>
                        </a:rPr>
                        <a:t>seeing_quality</a:t>
                      </a:r>
                      <a:endParaRPr sz="1300" u="none" cap="none" strike="noStrike">
                        <a:latin typeface="Georgia"/>
                        <a:ea typeface="Georgia"/>
                        <a:cs typeface="Georgia"/>
                        <a:sym typeface="Georgia"/>
                      </a:endParaRPr>
                    </a:p>
                  </a:txBody>
                  <a:tcPr marT="91450" marB="91450" marR="91450" marL="91450" anchor="ctr">
                    <a:lnL cap="flat" cmpd="sng" w="9525">
                      <a:solidFill>
                        <a:srgbClr val="B0B0B0"/>
                      </a:solidFill>
                      <a:prstDash val="solid"/>
                      <a:round/>
                      <a:headEnd len="sm" w="sm" type="none"/>
                      <a:tailEnd len="sm" w="sm" type="none"/>
                    </a:lnL>
                    <a:lnR cap="flat" cmpd="sng" w="9525">
                      <a:solidFill>
                        <a:srgbClr val="B0B0B0"/>
                      </a:solidFill>
                      <a:prstDash val="solid"/>
                      <a:round/>
                      <a:headEnd len="sm" w="sm" type="none"/>
                      <a:tailEnd len="sm" w="sm" type="none"/>
                    </a:lnR>
                    <a:lnT cap="flat" cmpd="sng" w="9525">
                      <a:solidFill>
                        <a:srgbClr val="B0B0B0"/>
                      </a:solidFill>
                      <a:prstDash val="solid"/>
                      <a:round/>
                      <a:headEnd len="sm" w="sm" type="none"/>
                      <a:tailEnd len="sm" w="sm" type="none"/>
                    </a:lnT>
                    <a:lnB cap="flat" cmpd="sng" w="9525">
                      <a:solidFill>
                        <a:srgbClr val="B0B0B0"/>
                      </a:solidFill>
                      <a:prstDash val="solid"/>
                      <a:round/>
                      <a:headEnd len="sm" w="sm" type="none"/>
                      <a:tailEnd len="sm" w="sm" type="none"/>
                    </a:lnB>
                  </a:tcPr>
                </a:tc>
                <a:tc>
                  <a:txBody>
                    <a:bodyPr/>
                    <a:lstStyle/>
                    <a:p>
                      <a:pPr indent="0" lvl="0" marL="0" marR="0" rtl="0" algn="l">
                        <a:spcBef>
                          <a:spcPts val="0"/>
                        </a:spcBef>
                        <a:spcAft>
                          <a:spcPts val="0"/>
                        </a:spcAft>
                        <a:buClr>
                          <a:srgbClr val="2B2B2B"/>
                        </a:buClr>
                        <a:buSzPts val="1200"/>
                        <a:buFont typeface="Courier New"/>
                        <a:buNone/>
                      </a:pPr>
                      <a:r>
                        <a:rPr lang="en-US" sz="1200" u="none" cap="none" strike="noStrike">
                          <a:solidFill>
                            <a:srgbClr val="2B2B2B"/>
                          </a:solidFill>
                          <a:latin typeface="Courier New"/>
                          <a:ea typeface="Courier New"/>
                          <a:cs typeface="Courier New"/>
                          <a:sym typeface="Courier New"/>
                        </a:rPr>
                        <a:t>"poor" &lt; "OK" &lt; "excellent"</a:t>
                      </a:r>
                      <a:endParaRPr sz="1200" u="none" cap="none" strike="noStrike">
                        <a:latin typeface="Courier New"/>
                        <a:ea typeface="Courier New"/>
                        <a:cs typeface="Courier New"/>
                        <a:sym typeface="Courier New"/>
                      </a:endParaRPr>
                    </a:p>
                  </a:txBody>
                  <a:tcPr marT="91450" marB="91450" marR="91450" marL="91450" anchor="ctr">
                    <a:lnL cap="flat" cmpd="sng" w="9525">
                      <a:solidFill>
                        <a:srgbClr val="B0B0B0"/>
                      </a:solidFill>
                      <a:prstDash val="solid"/>
                      <a:round/>
                      <a:headEnd len="sm" w="sm" type="none"/>
                      <a:tailEnd len="sm" w="sm" type="none"/>
                    </a:lnL>
                    <a:lnR cap="flat" cmpd="sng" w="9525">
                      <a:solidFill>
                        <a:srgbClr val="B0B0B0"/>
                      </a:solidFill>
                      <a:prstDash val="solid"/>
                      <a:round/>
                      <a:headEnd len="sm" w="sm" type="none"/>
                      <a:tailEnd len="sm" w="sm" type="none"/>
                    </a:lnR>
                    <a:lnT cap="flat" cmpd="sng" w="9525">
                      <a:solidFill>
                        <a:srgbClr val="B0B0B0"/>
                      </a:solidFill>
                      <a:prstDash val="solid"/>
                      <a:round/>
                      <a:headEnd len="sm" w="sm" type="none"/>
                      <a:tailEnd len="sm" w="sm" type="none"/>
                    </a:lnT>
                    <a:lnB cap="flat" cmpd="sng" w="9525">
                      <a:solidFill>
                        <a:srgbClr val="B0B0B0"/>
                      </a:solidFill>
                      <a:prstDash val="solid"/>
                      <a:round/>
                      <a:headEnd len="sm" w="sm" type="none"/>
                      <a:tailEnd len="sm" w="sm" type="none"/>
                    </a:lnB>
                  </a:tcPr>
                </a:tc>
                <a:tc>
                  <a:txBody>
                    <a:bodyPr/>
                    <a:lstStyle/>
                    <a:p>
                      <a:pPr indent="0" lvl="0" marL="0" marR="0" rtl="0" algn="ctr">
                        <a:spcBef>
                          <a:spcPts val="0"/>
                        </a:spcBef>
                        <a:spcAft>
                          <a:spcPts val="0"/>
                        </a:spcAft>
                        <a:buClr>
                          <a:srgbClr val="606060"/>
                        </a:buClr>
                        <a:buSzPts val="1400"/>
                        <a:buFont typeface="Georgia"/>
                        <a:buNone/>
                      </a:pPr>
                      <a:r>
                        <a:rPr i="1" lang="en-US" sz="1400" u="none" cap="none" strike="noStrike">
                          <a:solidFill>
                            <a:srgbClr val="606060"/>
                          </a:solidFill>
                          <a:latin typeface="Georgia"/>
                          <a:ea typeface="Georgia"/>
                          <a:cs typeface="Georgia"/>
                          <a:sym typeface="Georgia"/>
                        </a:rPr>
                        <a:t>____________</a:t>
                      </a:r>
                      <a:endParaRPr sz="1400" u="none" cap="none" strike="noStrike">
                        <a:latin typeface="Georgia"/>
                        <a:ea typeface="Georgia"/>
                        <a:cs typeface="Georgia"/>
                        <a:sym typeface="Georgia"/>
                      </a:endParaRPr>
                    </a:p>
                  </a:txBody>
                  <a:tcPr marT="91450" marB="91450" marR="91450" marL="91450" anchor="ctr">
                    <a:lnL cap="flat" cmpd="sng" w="9525">
                      <a:solidFill>
                        <a:srgbClr val="B0B0B0"/>
                      </a:solidFill>
                      <a:prstDash val="solid"/>
                      <a:round/>
                      <a:headEnd len="sm" w="sm" type="none"/>
                      <a:tailEnd len="sm" w="sm" type="none"/>
                    </a:lnL>
                    <a:lnR cap="flat" cmpd="sng" w="9525">
                      <a:solidFill>
                        <a:srgbClr val="B0B0B0"/>
                      </a:solidFill>
                      <a:prstDash val="solid"/>
                      <a:round/>
                      <a:headEnd len="sm" w="sm" type="none"/>
                      <a:tailEnd len="sm" w="sm" type="none"/>
                    </a:lnR>
                    <a:lnT cap="flat" cmpd="sng" w="9525">
                      <a:solidFill>
                        <a:srgbClr val="B0B0B0"/>
                      </a:solidFill>
                      <a:prstDash val="solid"/>
                      <a:round/>
                      <a:headEnd len="sm" w="sm" type="none"/>
                      <a:tailEnd len="sm" w="sm" type="none"/>
                    </a:lnT>
                    <a:lnB cap="flat" cmpd="sng" w="9525">
                      <a:solidFill>
                        <a:srgbClr val="B0B0B0"/>
                      </a:solidFill>
                      <a:prstDash val="solid"/>
                      <a:round/>
                      <a:headEnd len="sm" w="sm" type="none"/>
                      <a:tailEnd len="sm" w="sm" type="none"/>
                    </a:lnB>
                  </a:tcPr>
                </a:tc>
              </a:tr>
              <a:tr h="384050">
                <a:tc>
                  <a:txBody>
                    <a:bodyPr/>
                    <a:lstStyle/>
                    <a:p>
                      <a:pPr indent="0" lvl="0" marL="0" marR="0" rtl="0" algn="l">
                        <a:spcBef>
                          <a:spcPts val="0"/>
                        </a:spcBef>
                        <a:spcAft>
                          <a:spcPts val="0"/>
                        </a:spcAft>
                        <a:buClr>
                          <a:srgbClr val="2B2B2B"/>
                        </a:buClr>
                        <a:buSzPts val="1300"/>
                        <a:buFont typeface="Georgia"/>
                        <a:buNone/>
                      </a:pPr>
                      <a:r>
                        <a:rPr lang="en-US" sz="1300" u="none" cap="none" strike="noStrike">
                          <a:solidFill>
                            <a:srgbClr val="2B2B2B"/>
                          </a:solidFill>
                          <a:latin typeface="Georgia"/>
                          <a:ea typeface="Georgia"/>
                          <a:cs typeface="Georgia"/>
                          <a:sym typeface="Georgia"/>
                        </a:rPr>
                        <a:t>apparent magnitude (r-band)</a:t>
                      </a:r>
                      <a:endParaRPr sz="1300" u="none" cap="none" strike="noStrike">
                        <a:latin typeface="Georgia"/>
                        <a:ea typeface="Georgia"/>
                        <a:cs typeface="Georgia"/>
                        <a:sym typeface="Georgia"/>
                      </a:endParaRPr>
                    </a:p>
                  </a:txBody>
                  <a:tcPr marT="91450" marB="91450" marR="91450" marL="91450" anchor="ctr">
                    <a:lnL cap="flat" cmpd="sng" w="9525">
                      <a:solidFill>
                        <a:srgbClr val="B0B0B0"/>
                      </a:solidFill>
                      <a:prstDash val="solid"/>
                      <a:round/>
                      <a:headEnd len="sm" w="sm" type="none"/>
                      <a:tailEnd len="sm" w="sm" type="none"/>
                    </a:lnL>
                    <a:lnR cap="flat" cmpd="sng" w="9525">
                      <a:solidFill>
                        <a:srgbClr val="B0B0B0"/>
                      </a:solidFill>
                      <a:prstDash val="solid"/>
                      <a:round/>
                      <a:headEnd len="sm" w="sm" type="none"/>
                      <a:tailEnd len="sm" w="sm" type="none"/>
                    </a:lnR>
                    <a:lnT cap="flat" cmpd="sng" w="9525">
                      <a:solidFill>
                        <a:srgbClr val="B0B0B0"/>
                      </a:solidFill>
                      <a:prstDash val="solid"/>
                      <a:round/>
                      <a:headEnd len="sm" w="sm" type="none"/>
                      <a:tailEnd len="sm" w="sm" type="none"/>
                    </a:lnT>
                    <a:lnB cap="flat" cmpd="sng" w="9525">
                      <a:solidFill>
                        <a:srgbClr val="B0B0B0"/>
                      </a:solidFill>
                      <a:prstDash val="solid"/>
                      <a:round/>
                      <a:headEnd len="sm" w="sm" type="none"/>
                      <a:tailEnd len="sm" w="sm" type="none"/>
                    </a:lnB>
                  </a:tcPr>
                </a:tc>
                <a:tc>
                  <a:txBody>
                    <a:bodyPr/>
                    <a:lstStyle/>
                    <a:p>
                      <a:pPr indent="0" lvl="0" marL="0" marR="0" rtl="0" algn="l">
                        <a:spcBef>
                          <a:spcPts val="0"/>
                        </a:spcBef>
                        <a:spcAft>
                          <a:spcPts val="0"/>
                        </a:spcAft>
                        <a:buClr>
                          <a:srgbClr val="2B2B2B"/>
                        </a:buClr>
                        <a:buSzPts val="1200"/>
                        <a:buFont typeface="Courier New"/>
                        <a:buNone/>
                      </a:pPr>
                      <a:r>
                        <a:rPr lang="en-US" sz="1200" u="none" cap="none" strike="noStrike">
                          <a:solidFill>
                            <a:srgbClr val="2B2B2B"/>
                          </a:solidFill>
                          <a:latin typeface="Courier New"/>
                          <a:ea typeface="Courier New"/>
                          <a:cs typeface="Courier New"/>
                          <a:sym typeface="Courier New"/>
                        </a:rPr>
                        <a:t>18.5  mag</a:t>
                      </a:r>
                      <a:endParaRPr sz="1200" u="none" cap="none" strike="noStrike">
                        <a:latin typeface="Courier New"/>
                        <a:ea typeface="Courier New"/>
                        <a:cs typeface="Courier New"/>
                        <a:sym typeface="Courier New"/>
                      </a:endParaRPr>
                    </a:p>
                  </a:txBody>
                  <a:tcPr marT="91450" marB="91450" marR="91450" marL="91450" anchor="ctr">
                    <a:lnL cap="flat" cmpd="sng" w="9525">
                      <a:solidFill>
                        <a:srgbClr val="B0B0B0"/>
                      </a:solidFill>
                      <a:prstDash val="solid"/>
                      <a:round/>
                      <a:headEnd len="sm" w="sm" type="none"/>
                      <a:tailEnd len="sm" w="sm" type="none"/>
                    </a:lnL>
                    <a:lnR cap="flat" cmpd="sng" w="9525">
                      <a:solidFill>
                        <a:srgbClr val="B0B0B0"/>
                      </a:solidFill>
                      <a:prstDash val="solid"/>
                      <a:round/>
                      <a:headEnd len="sm" w="sm" type="none"/>
                      <a:tailEnd len="sm" w="sm" type="none"/>
                    </a:lnR>
                    <a:lnT cap="flat" cmpd="sng" w="9525">
                      <a:solidFill>
                        <a:srgbClr val="B0B0B0"/>
                      </a:solidFill>
                      <a:prstDash val="solid"/>
                      <a:round/>
                      <a:headEnd len="sm" w="sm" type="none"/>
                      <a:tailEnd len="sm" w="sm" type="none"/>
                    </a:lnT>
                    <a:lnB cap="flat" cmpd="sng" w="9525">
                      <a:solidFill>
                        <a:srgbClr val="B0B0B0"/>
                      </a:solidFill>
                      <a:prstDash val="solid"/>
                      <a:round/>
                      <a:headEnd len="sm" w="sm" type="none"/>
                      <a:tailEnd len="sm" w="sm" type="none"/>
                    </a:lnB>
                  </a:tcPr>
                </a:tc>
                <a:tc>
                  <a:txBody>
                    <a:bodyPr/>
                    <a:lstStyle/>
                    <a:p>
                      <a:pPr indent="0" lvl="0" marL="0" marR="0" rtl="0" algn="ctr">
                        <a:spcBef>
                          <a:spcPts val="0"/>
                        </a:spcBef>
                        <a:spcAft>
                          <a:spcPts val="0"/>
                        </a:spcAft>
                        <a:buClr>
                          <a:srgbClr val="606060"/>
                        </a:buClr>
                        <a:buSzPts val="1400"/>
                        <a:buFont typeface="Georgia"/>
                        <a:buNone/>
                      </a:pPr>
                      <a:r>
                        <a:rPr i="1" lang="en-US" sz="1400" u="none" cap="none" strike="noStrike">
                          <a:solidFill>
                            <a:srgbClr val="606060"/>
                          </a:solidFill>
                          <a:latin typeface="Georgia"/>
                          <a:ea typeface="Georgia"/>
                          <a:cs typeface="Georgia"/>
                          <a:sym typeface="Georgia"/>
                        </a:rPr>
                        <a:t>____________</a:t>
                      </a:r>
                      <a:endParaRPr sz="1400" u="none" cap="none" strike="noStrike">
                        <a:latin typeface="Georgia"/>
                        <a:ea typeface="Georgia"/>
                        <a:cs typeface="Georgia"/>
                        <a:sym typeface="Georgia"/>
                      </a:endParaRPr>
                    </a:p>
                  </a:txBody>
                  <a:tcPr marT="91450" marB="91450" marR="91450" marL="91450" anchor="ctr">
                    <a:lnL cap="flat" cmpd="sng" w="9525">
                      <a:solidFill>
                        <a:srgbClr val="B0B0B0"/>
                      </a:solidFill>
                      <a:prstDash val="solid"/>
                      <a:round/>
                      <a:headEnd len="sm" w="sm" type="none"/>
                      <a:tailEnd len="sm" w="sm" type="none"/>
                    </a:lnL>
                    <a:lnR cap="flat" cmpd="sng" w="9525">
                      <a:solidFill>
                        <a:srgbClr val="B0B0B0"/>
                      </a:solidFill>
                      <a:prstDash val="solid"/>
                      <a:round/>
                      <a:headEnd len="sm" w="sm" type="none"/>
                      <a:tailEnd len="sm" w="sm" type="none"/>
                    </a:lnR>
                    <a:lnT cap="flat" cmpd="sng" w="9525">
                      <a:solidFill>
                        <a:srgbClr val="B0B0B0"/>
                      </a:solidFill>
                      <a:prstDash val="solid"/>
                      <a:round/>
                      <a:headEnd len="sm" w="sm" type="none"/>
                      <a:tailEnd len="sm" w="sm" type="none"/>
                    </a:lnT>
                    <a:lnB cap="flat" cmpd="sng" w="9525">
                      <a:solidFill>
                        <a:srgbClr val="B0B0B0"/>
                      </a:solidFill>
                      <a:prstDash val="solid"/>
                      <a:round/>
                      <a:headEnd len="sm" w="sm" type="none"/>
                      <a:tailEnd len="sm" w="sm" type="none"/>
                    </a:lnB>
                  </a:tcPr>
                </a:tc>
              </a:tr>
              <a:tr h="384050">
                <a:tc>
                  <a:txBody>
                    <a:bodyPr/>
                    <a:lstStyle/>
                    <a:p>
                      <a:pPr indent="0" lvl="0" marL="0" marR="0" rtl="0" algn="l">
                        <a:spcBef>
                          <a:spcPts val="0"/>
                        </a:spcBef>
                        <a:spcAft>
                          <a:spcPts val="0"/>
                        </a:spcAft>
                        <a:buClr>
                          <a:srgbClr val="2B2B2B"/>
                        </a:buClr>
                        <a:buSzPts val="1300"/>
                        <a:buFont typeface="Georgia"/>
                        <a:buNone/>
                      </a:pPr>
                      <a:r>
                        <a:rPr lang="en-US" sz="1300" u="none" cap="none" strike="noStrike">
                          <a:solidFill>
                            <a:srgbClr val="2B2B2B"/>
                          </a:solidFill>
                          <a:latin typeface="Georgia"/>
                          <a:ea typeface="Georgia"/>
                          <a:cs typeface="Georgia"/>
                          <a:sym typeface="Georgia"/>
                        </a:rPr>
                        <a:t>RA coordinate</a:t>
                      </a:r>
                      <a:endParaRPr sz="1300" u="none" cap="none" strike="noStrike">
                        <a:latin typeface="Georgia"/>
                        <a:ea typeface="Georgia"/>
                        <a:cs typeface="Georgia"/>
                        <a:sym typeface="Georgia"/>
                      </a:endParaRPr>
                    </a:p>
                  </a:txBody>
                  <a:tcPr marT="91450" marB="91450" marR="91450" marL="91450" anchor="ctr">
                    <a:lnL cap="flat" cmpd="sng" w="9525">
                      <a:solidFill>
                        <a:srgbClr val="B0B0B0"/>
                      </a:solidFill>
                      <a:prstDash val="solid"/>
                      <a:round/>
                      <a:headEnd len="sm" w="sm" type="none"/>
                      <a:tailEnd len="sm" w="sm" type="none"/>
                    </a:lnL>
                    <a:lnR cap="flat" cmpd="sng" w="9525">
                      <a:solidFill>
                        <a:srgbClr val="B0B0B0"/>
                      </a:solidFill>
                      <a:prstDash val="solid"/>
                      <a:round/>
                      <a:headEnd len="sm" w="sm" type="none"/>
                      <a:tailEnd len="sm" w="sm" type="none"/>
                    </a:lnR>
                    <a:lnT cap="flat" cmpd="sng" w="9525">
                      <a:solidFill>
                        <a:srgbClr val="B0B0B0"/>
                      </a:solidFill>
                      <a:prstDash val="solid"/>
                      <a:round/>
                      <a:headEnd len="sm" w="sm" type="none"/>
                      <a:tailEnd len="sm" w="sm" type="none"/>
                    </a:lnT>
                    <a:lnB cap="flat" cmpd="sng" w="9525">
                      <a:solidFill>
                        <a:srgbClr val="B0B0B0"/>
                      </a:solidFill>
                      <a:prstDash val="solid"/>
                      <a:round/>
                      <a:headEnd len="sm" w="sm" type="none"/>
                      <a:tailEnd len="sm" w="sm" type="none"/>
                    </a:lnB>
                  </a:tcPr>
                </a:tc>
                <a:tc>
                  <a:txBody>
                    <a:bodyPr/>
                    <a:lstStyle/>
                    <a:p>
                      <a:pPr indent="0" lvl="0" marL="0" marR="0" rtl="0" algn="l">
                        <a:spcBef>
                          <a:spcPts val="0"/>
                        </a:spcBef>
                        <a:spcAft>
                          <a:spcPts val="0"/>
                        </a:spcAft>
                        <a:buClr>
                          <a:srgbClr val="2B2B2B"/>
                        </a:buClr>
                        <a:buSzPts val="1200"/>
                        <a:buFont typeface="Courier New"/>
                        <a:buNone/>
                      </a:pPr>
                      <a:r>
                        <a:rPr lang="en-US" sz="1200" u="none" cap="none" strike="noStrike">
                          <a:solidFill>
                            <a:srgbClr val="2B2B2B"/>
                          </a:solidFill>
                          <a:latin typeface="Courier New"/>
                          <a:ea typeface="Courier New"/>
                          <a:cs typeface="Courier New"/>
                          <a:sym typeface="Courier New"/>
                        </a:rPr>
                        <a:t>245.3  deg</a:t>
                      </a:r>
                      <a:endParaRPr sz="1200" u="none" cap="none" strike="noStrike">
                        <a:latin typeface="Courier New"/>
                        <a:ea typeface="Courier New"/>
                        <a:cs typeface="Courier New"/>
                        <a:sym typeface="Courier New"/>
                      </a:endParaRPr>
                    </a:p>
                  </a:txBody>
                  <a:tcPr marT="91450" marB="91450" marR="91450" marL="91450" anchor="ctr">
                    <a:lnL cap="flat" cmpd="sng" w="9525">
                      <a:solidFill>
                        <a:srgbClr val="B0B0B0"/>
                      </a:solidFill>
                      <a:prstDash val="solid"/>
                      <a:round/>
                      <a:headEnd len="sm" w="sm" type="none"/>
                      <a:tailEnd len="sm" w="sm" type="none"/>
                    </a:lnL>
                    <a:lnR cap="flat" cmpd="sng" w="9525">
                      <a:solidFill>
                        <a:srgbClr val="B0B0B0"/>
                      </a:solidFill>
                      <a:prstDash val="solid"/>
                      <a:round/>
                      <a:headEnd len="sm" w="sm" type="none"/>
                      <a:tailEnd len="sm" w="sm" type="none"/>
                    </a:lnR>
                    <a:lnT cap="flat" cmpd="sng" w="9525">
                      <a:solidFill>
                        <a:srgbClr val="B0B0B0"/>
                      </a:solidFill>
                      <a:prstDash val="solid"/>
                      <a:round/>
                      <a:headEnd len="sm" w="sm" type="none"/>
                      <a:tailEnd len="sm" w="sm" type="none"/>
                    </a:lnT>
                    <a:lnB cap="flat" cmpd="sng" w="9525">
                      <a:solidFill>
                        <a:srgbClr val="B0B0B0"/>
                      </a:solidFill>
                      <a:prstDash val="solid"/>
                      <a:round/>
                      <a:headEnd len="sm" w="sm" type="none"/>
                      <a:tailEnd len="sm" w="sm" type="none"/>
                    </a:lnB>
                  </a:tcPr>
                </a:tc>
                <a:tc>
                  <a:txBody>
                    <a:bodyPr/>
                    <a:lstStyle/>
                    <a:p>
                      <a:pPr indent="0" lvl="0" marL="0" marR="0" rtl="0" algn="ctr">
                        <a:spcBef>
                          <a:spcPts val="0"/>
                        </a:spcBef>
                        <a:spcAft>
                          <a:spcPts val="0"/>
                        </a:spcAft>
                        <a:buClr>
                          <a:srgbClr val="606060"/>
                        </a:buClr>
                        <a:buSzPts val="1400"/>
                        <a:buFont typeface="Georgia"/>
                        <a:buNone/>
                      </a:pPr>
                      <a:r>
                        <a:rPr i="1" lang="en-US" sz="1400" u="none" cap="none" strike="noStrike">
                          <a:solidFill>
                            <a:srgbClr val="606060"/>
                          </a:solidFill>
                          <a:latin typeface="Georgia"/>
                          <a:ea typeface="Georgia"/>
                          <a:cs typeface="Georgia"/>
                          <a:sym typeface="Georgia"/>
                        </a:rPr>
                        <a:t>____________</a:t>
                      </a:r>
                      <a:endParaRPr sz="1400" u="none" cap="none" strike="noStrike">
                        <a:latin typeface="Georgia"/>
                        <a:ea typeface="Georgia"/>
                        <a:cs typeface="Georgia"/>
                        <a:sym typeface="Georgia"/>
                      </a:endParaRPr>
                    </a:p>
                  </a:txBody>
                  <a:tcPr marT="91450" marB="91450" marR="91450" marL="91450" anchor="ctr">
                    <a:lnL cap="flat" cmpd="sng" w="9525">
                      <a:solidFill>
                        <a:srgbClr val="B0B0B0"/>
                      </a:solidFill>
                      <a:prstDash val="solid"/>
                      <a:round/>
                      <a:headEnd len="sm" w="sm" type="none"/>
                      <a:tailEnd len="sm" w="sm" type="none"/>
                    </a:lnL>
                    <a:lnR cap="flat" cmpd="sng" w="9525">
                      <a:solidFill>
                        <a:srgbClr val="B0B0B0"/>
                      </a:solidFill>
                      <a:prstDash val="solid"/>
                      <a:round/>
                      <a:headEnd len="sm" w="sm" type="none"/>
                      <a:tailEnd len="sm" w="sm" type="none"/>
                    </a:lnR>
                    <a:lnT cap="flat" cmpd="sng" w="9525">
                      <a:solidFill>
                        <a:srgbClr val="B0B0B0"/>
                      </a:solidFill>
                      <a:prstDash val="solid"/>
                      <a:round/>
                      <a:headEnd len="sm" w="sm" type="none"/>
                      <a:tailEnd len="sm" w="sm" type="none"/>
                    </a:lnT>
                    <a:lnB cap="flat" cmpd="sng" w="9525">
                      <a:solidFill>
                        <a:srgbClr val="B0B0B0"/>
                      </a:solidFill>
                      <a:prstDash val="solid"/>
                      <a:round/>
                      <a:headEnd len="sm" w="sm" type="none"/>
                      <a:tailEnd len="sm" w="sm" type="none"/>
                    </a:lnB>
                  </a:tcPr>
                </a:tc>
              </a:tr>
              <a:tr h="384050">
                <a:tc>
                  <a:txBody>
                    <a:bodyPr/>
                    <a:lstStyle/>
                    <a:p>
                      <a:pPr indent="0" lvl="0" marL="0" marR="0" rtl="0" algn="l">
                        <a:spcBef>
                          <a:spcPts val="0"/>
                        </a:spcBef>
                        <a:spcAft>
                          <a:spcPts val="0"/>
                        </a:spcAft>
                        <a:buClr>
                          <a:srgbClr val="2B2B2B"/>
                        </a:buClr>
                        <a:buSzPts val="1300"/>
                        <a:buFont typeface="Georgia"/>
                        <a:buNone/>
                      </a:pPr>
                      <a:r>
                        <a:rPr lang="en-US" sz="1300" u="none" cap="none" strike="noStrike">
                          <a:solidFill>
                            <a:srgbClr val="2B2B2B"/>
                          </a:solidFill>
                          <a:latin typeface="Georgia"/>
                          <a:ea typeface="Georgia"/>
                          <a:cs typeface="Georgia"/>
                          <a:sym typeface="Georgia"/>
                        </a:rPr>
                        <a:t>flux in r-band</a:t>
                      </a:r>
                      <a:endParaRPr sz="1300" u="none" cap="none" strike="noStrike">
                        <a:latin typeface="Georgia"/>
                        <a:ea typeface="Georgia"/>
                        <a:cs typeface="Georgia"/>
                        <a:sym typeface="Georgia"/>
                      </a:endParaRPr>
                    </a:p>
                  </a:txBody>
                  <a:tcPr marT="91450" marB="91450" marR="91450" marL="91450" anchor="ctr">
                    <a:lnL cap="flat" cmpd="sng" w="9525">
                      <a:solidFill>
                        <a:srgbClr val="B0B0B0"/>
                      </a:solidFill>
                      <a:prstDash val="solid"/>
                      <a:round/>
                      <a:headEnd len="sm" w="sm" type="none"/>
                      <a:tailEnd len="sm" w="sm" type="none"/>
                    </a:lnL>
                    <a:lnR cap="flat" cmpd="sng" w="9525">
                      <a:solidFill>
                        <a:srgbClr val="B0B0B0"/>
                      </a:solidFill>
                      <a:prstDash val="solid"/>
                      <a:round/>
                      <a:headEnd len="sm" w="sm" type="none"/>
                      <a:tailEnd len="sm" w="sm" type="none"/>
                    </a:lnR>
                    <a:lnT cap="flat" cmpd="sng" w="9525">
                      <a:solidFill>
                        <a:srgbClr val="B0B0B0"/>
                      </a:solidFill>
                      <a:prstDash val="solid"/>
                      <a:round/>
                      <a:headEnd len="sm" w="sm" type="none"/>
                      <a:tailEnd len="sm" w="sm" type="none"/>
                    </a:lnT>
                    <a:lnB cap="flat" cmpd="sng" w="9525">
                      <a:solidFill>
                        <a:srgbClr val="B0B0B0"/>
                      </a:solidFill>
                      <a:prstDash val="solid"/>
                      <a:round/>
                      <a:headEnd len="sm" w="sm" type="none"/>
                      <a:tailEnd len="sm" w="sm" type="none"/>
                    </a:lnB>
                  </a:tcPr>
                </a:tc>
                <a:tc>
                  <a:txBody>
                    <a:bodyPr/>
                    <a:lstStyle/>
                    <a:p>
                      <a:pPr indent="0" lvl="0" marL="0" marR="0" rtl="0" algn="l">
                        <a:spcBef>
                          <a:spcPts val="0"/>
                        </a:spcBef>
                        <a:spcAft>
                          <a:spcPts val="0"/>
                        </a:spcAft>
                        <a:buClr>
                          <a:srgbClr val="2B2B2B"/>
                        </a:buClr>
                        <a:buSzPts val="1200"/>
                        <a:buFont typeface="Courier New"/>
                        <a:buNone/>
                      </a:pPr>
                      <a:r>
                        <a:rPr lang="en-US" sz="1200" u="none" cap="none" strike="noStrike">
                          <a:solidFill>
                            <a:srgbClr val="2B2B2B"/>
                          </a:solidFill>
                          <a:latin typeface="Courier New"/>
                          <a:ea typeface="Courier New"/>
                          <a:cs typeface="Courier New"/>
                          <a:sym typeface="Courier New"/>
                        </a:rPr>
                        <a:t>1.5 × 10⁻⁷  erg / s / cm²</a:t>
                      </a:r>
                      <a:endParaRPr sz="1200" u="none" cap="none" strike="noStrike">
                        <a:latin typeface="Courier New"/>
                        <a:ea typeface="Courier New"/>
                        <a:cs typeface="Courier New"/>
                        <a:sym typeface="Courier New"/>
                      </a:endParaRPr>
                    </a:p>
                  </a:txBody>
                  <a:tcPr marT="91450" marB="91450" marR="91450" marL="91450" anchor="ctr">
                    <a:lnL cap="flat" cmpd="sng" w="9525">
                      <a:solidFill>
                        <a:srgbClr val="B0B0B0"/>
                      </a:solidFill>
                      <a:prstDash val="solid"/>
                      <a:round/>
                      <a:headEnd len="sm" w="sm" type="none"/>
                      <a:tailEnd len="sm" w="sm" type="none"/>
                    </a:lnL>
                    <a:lnR cap="flat" cmpd="sng" w="9525">
                      <a:solidFill>
                        <a:srgbClr val="B0B0B0"/>
                      </a:solidFill>
                      <a:prstDash val="solid"/>
                      <a:round/>
                      <a:headEnd len="sm" w="sm" type="none"/>
                      <a:tailEnd len="sm" w="sm" type="none"/>
                    </a:lnR>
                    <a:lnT cap="flat" cmpd="sng" w="9525">
                      <a:solidFill>
                        <a:srgbClr val="B0B0B0"/>
                      </a:solidFill>
                      <a:prstDash val="solid"/>
                      <a:round/>
                      <a:headEnd len="sm" w="sm" type="none"/>
                      <a:tailEnd len="sm" w="sm" type="none"/>
                    </a:lnT>
                    <a:lnB cap="flat" cmpd="sng" w="9525">
                      <a:solidFill>
                        <a:srgbClr val="B0B0B0"/>
                      </a:solidFill>
                      <a:prstDash val="solid"/>
                      <a:round/>
                      <a:headEnd len="sm" w="sm" type="none"/>
                      <a:tailEnd len="sm" w="sm" type="none"/>
                    </a:lnB>
                  </a:tcPr>
                </a:tc>
                <a:tc>
                  <a:txBody>
                    <a:bodyPr/>
                    <a:lstStyle/>
                    <a:p>
                      <a:pPr indent="0" lvl="0" marL="0" marR="0" rtl="0" algn="ctr">
                        <a:spcBef>
                          <a:spcPts val="0"/>
                        </a:spcBef>
                        <a:spcAft>
                          <a:spcPts val="0"/>
                        </a:spcAft>
                        <a:buClr>
                          <a:srgbClr val="606060"/>
                        </a:buClr>
                        <a:buSzPts val="1400"/>
                        <a:buFont typeface="Georgia"/>
                        <a:buNone/>
                      </a:pPr>
                      <a:r>
                        <a:rPr i="1" lang="en-US" sz="1400" u="none" cap="none" strike="noStrike">
                          <a:solidFill>
                            <a:srgbClr val="606060"/>
                          </a:solidFill>
                          <a:latin typeface="Georgia"/>
                          <a:ea typeface="Georgia"/>
                          <a:cs typeface="Georgia"/>
                          <a:sym typeface="Georgia"/>
                        </a:rPr>
                        <a:t>____________</a:t>
                      </a:r>
                      <a:endParaRPr sz="1400" u="none" cap="none" strike="noStrike">
                        <a:latin typeface="Georgia"/>
                        <a:ea typeface="Georgia"/>
                        <a:cs typeface="Georgia"/>
                        <a:sym typeface="Georgia"/>
                      </a:endParaRPr>
                    </a:p>
                  </a:txBody>
                  <a:tcPr marT="91450" marB="91450" marR="91450" marL="91450" anchor="ctr">
                    <a:lnL cap="flat" cmpd="sng" w="9525">
                      <a:solidFill>
                        <a:srgbClr val="B0B0B0"/>
                      </a:solidFill>
                      <a:prstDash val="solid"/>
                      <a:round/>
                      <a:headEnd len="sm" w="sm" type="none"/>
                      <a:tailEnd len="sm" w="sm" type="none"/>
                    </a:lnL>
                    <a:lnR cap="flat" cmpd="sng" w="9525">
                      <a:solidFill>
                        <a:srgbClr val="B0B0B0"/>
                      </a:solidFill>
                      <a:prstDash val="solid"/>
                      <a:round/>
                      <a:headEnd len="sm" w="sm" type="none"/>
                      <a:tailEnd len="sm" w="sm" type="none"/>
                    </a:lnR>
                    <a:lnT cap="flat" cmpd="sng" w="9525">
                      <a:solidFill>
                        <a:srgbClr val="B0B0B0"/>
                      </a:solidFill>
                      <a:prstDash val="solid"/>
                      <a:round/>
                      <a:headEnd len="sm" w="sm" type="none"/>
                      <a:tailEnd len="sm" w="sm" type="none"/>
                    </a:lnT>
                    <a:lnB cap="flat" cmpd="sng" w="9525">
                      <a:solidFill>
                        <a:srgbClr val="B0B0B0"/>
                      </a:solidFill>
                      <a:prstDash val="solid"/>
                      <a:round/>
                      <a:headEnd len="sm" w="sm" type="none"/>
                      <a:tailEnd len="sm" w="sm" type="none"/>
                    </a:lnB>
                  </a:tcPr>
                </a:tc>
              </a:tr>
              <a:tr h="384050">
                <a:tc>
                  <a:txBody>
                    <a:bodyPr/>
                    <a:lstStyle/>
                    <a:p>
                      <a:pPr indent="0" lvl="0" marL="0" marR="0" rtl="0" algn="l">
                        <a:spcBef>
                          <a:spcPts val="0"/>
                        </a:spcBef>
                        <a:spcAft>
                          <a:spcPts val="0"/>
                        </a:spcAft>
                        <a:buClr>
                          <a:srgbClr val="2B2B2B"/>
                        </a:buClr>
                        <a:buSzPts val="1300"/>
                        <a:buFont typeface="Georgia"/>
                        <a:buNone/>
                      </a:pPr>
                      <a:r>
                        <a:rPr lang="en-US" sz="1300" u="none" cap="none" strike="noStrike">
                          <a:solidFill>
                            <a:srgbClr val="2B2B2B"/>
                          </a:solidFill>
                          <a:latin typeface="Georgia"/>
                          <a:ea typeface="Georgia"/>
                          <a:cs typeface="Georgia"/>
                          <a:sym typeface="Georgia"/>
                        </a:rPr>
                        <a:t>redshift  z</a:t>
                      </a:r>
                      <a:endParaRPr sz="1300" u="none" cap="none" strike="noStrike">
                        <a:latin typeface="Georgia"/>
                        <a:ea typeface="Georgia"/>
                        <a:cs typeface="Georgia"/>
                        <a:sym typeface="Georgia"/>
                      </a:endParaRPr>
                    </a:p>
                  </a:txBody>
                  <a:tcPr marT="91450" marB="91450" marR="91450" marL="91450" anchor="ctr">
                    <a:lnL cap="flat" cmpd="sng" w="9525">
                      <a:solidFill>
                        <a:srgbClr val="B0B0B0"/>
                      </a:solidFill>
                      <a:prstDash val="solid"/>
                      <a:round/>
                      <a:headEnd len="sm" w="sm" type="none"/>
                      <a:tailEnd len="sm" w="sm" type="none"/>
                    </a:lnL>
                    <a:lnR cap="flat" cmpd="sng" w="9525">
                      <a:solidFill>
                        <a:srgbClr val="B0B0B0"/>
                      </a:solidFill>
                      <a:prstDash val="solid"/>
                      <a:round/>
                      <a:headEnd len="sm" w="sm" type="none"/>
                      <a:tailEnd len="sm" w="sm" type="none"/>
                    </a:lnR>
                    <a:lnT cap="flat" cmpd="sng" w="9525">
                      <a:solidFill>
                        <a:srgbClr val="B0B0B0"/>
                      </a:solidFill>
                      <a:prstDash val="solid"/>
                      <a:round/>
                      <a:headEnd len="sm" w="sm" type="none"/>
                      <a:tailEnd len="sm" w="sm" type="none"/>
                    </a:lnT>
                    <a:lnB cap="flat" cmpd="sng" w="9525">
                      <a:solidFill>
                        <a:srgbClr val="B0B0B0"/>
                      </a:solidFill>
                      <a:prstDash val="solid"/>
                      <a:round/>
                      <a:headEnd len="sm" w="sm" type="none"/>
                      <a:tailEnd len="sm" w="sm" type="none"/>
                    </a:lnB>
                  </a:tcPr>
                </a:tc>
                <a:tc>
                  <a:txBody>
                    <a:bodyPr/>
                    <a:lstStyle/>
                    <a:p>
                      <a:pPr indent="0" lvl="0" marL="0" marR="0" rtl="0" algn="l">
                        <a:spcBef>
                          <a:spcPts val="0"/>
                        </a:spcBef>
                        <a:spcAft>
                          <a:spcPts val="0"/>
                        </a:spcAft>
                        <a:buClr>
                          <a:srgbClr val="2B2B2B"/>
                        </a:buClr>
                        <a:buSzPts val="1200"/>
                        <a:buFont typeface="Courier New"/>
                        <a:buNone/>
                      </a:pPr>
                      <a:r>
                        <a:rPr lang="en-US" sz="1200" u="none" cap="none" strike="noStrike">
                          <a:solidFill>
                            <a:srgbClr val="2B2B2B"/>
                          </a:solidFill>
                          <a:latin typeface="Courier New"/>
                          <a:ea typeface="Courier New"/>
                          <a:cs typeface="Courier New"/>
                          <a:sym typeface="Courier New"/>
                        </a:rPr>
                        <a:t>0.12</a:t>
                      </a:r>
                      <a:endParaRPr sz="1200" u="none" cap="none" strike="noStrike">
                        <a:latin typeface="Courier New"/>
                        <a:ea typeface="Courier New"/>
                        <a:cs typeface="Courier New"/>
                        <a:sym typeface="Courier New"/>
                      </a:endParaRPr>
                    </a:p>
                  </a:txBody>
                  <a:tcPr marT="91450" marB="91450" marR="91450" marL="91450" anchor="ctr">
                    <a:lnL cap="flat" cmpd="sng" w="9525">
                      <a:solidFill>
                        <a:srgbClr val="B0B0B0"/>
                      </a:solidFill>
                      <a:prstDash val="solid"/>
                      <a:round/>
                      <a:headEnd len="sm" w="sm" type="none"/>
                      <a:tailEnd len="sm" w="sm" type="none"/>
                    </a:lnL>
                    <a:lnR cap="flat" cmpd="sng" w="9525">
                      <a:solidFill>
                        <a:srgbClr val="B0B0B0"/>
                      </a:solidFill>
                      <a:prstDash val="solid"/>
                      <a:round/>
                      <a:headEnd len="sm" w="sm" type="none"/>
                      <a:tailEnd len="sm" w="sm" type="none"/>
                    </a:lnR>
                    <a:lnT cap="flat" cmpd="sng" w="9525">
                      <a:solidFill>
                        <a:srgbClr val="B0B0B0"/>
                      </a:solidFill>
                      <a:prstDash val="solid"/>
                      <a:round/>
                      <a:headEnd len="sm" w="sm" type="none"/>
                      <a:tailEnd len="sm" w="sm" type="none"/>
                    </a:lnT>
                    <a:lnB cap="flat" cmpd="sng" w="9525">
                      <a:solidFill>
                        <a:srgbClr val="B0B0B0"/>
                      </a:solidFill>
                      <a:prstDash val="solid"/>
                      <a:round/>
                      <a:headEnd len="sm" w="sm" type="none"/>
                      <a:tailEnd len="sm" w="sm" type="none"/>
                    </a:lnB>
                  </a:tcPr>
                </a:tc>
                <a:tc>
                  <a:txBody>
                    <a:bodyPr/>
                    <a:lstStyle/>
                    <a:p>
                      <a:pPr indent="0" lvl="0" marL="0" marR="0" rtl="0" algn="ctr">
                        <a:spcBef>
                          <a:spcPts val="0"/>
                        </a:spcBef>
                        <a:spcAft>
                          <a:spcPts val="0"/>
                        </a:spcAft>
                        <a:buClr>
                          <a:srgbClr val="606060"/>
                        </a:buClr>
                        <a:buSzPts val="1400"/>
                        <a:buFont typeface="Georgia"/>
                        <a:buNone/>
                      </a:pPr>
                      <a:r>
                        <a:rPr i="1" lang="en-US" sz="1400" u="none" cap="none" strike="noStrike">
                          <a:solidFill>
                            <a:srgbClr val="606060"/>
                          </a:solidFill>
                          <a:latin typeface="Georgia"/>
                          <a:ea typeface="Georgia"/>
                          <a:cs typeface="Georgia"/>
                          <a:sym typeface="Georgia"/>
                        </a:rPr>
                        <a:t>____________</a:t>
                      </a:r>
                      <a:endParaRPr sz="1400" u="none" cap="none" strike="noStrike">
                        <a:latin typeface="Georgia"/>
                        <a:ea typeface="Georgia"/>
                        <a:cs typeface="Georgia"/>
                        <a:sym typeface="Georgia"/>
                      </a:endParaRPr>
                    </a:p>
                  </a:txBody>
                  <a:tcPr marT="91450" marB="91450" marR="91450" marL="91450" anchor="ctr">
                    <a:lnL cap="flat" cmpd="sng" w="9525">
                      <a:solidFill>
                        <a:srgbClr val="B0B0B0"/>
                      </a:solidFill>
                      <a:prstDash val="solid"/>
                      <a:round/>
                      <a:headEnd len="sm" w="sm" type="none"/>
                      <a:tailEnd len="sm" w="sm" type="none"/>
                    </a:lnL>
                    <a:lnR cap="flat" cmpd="sng" w="9525">
                      <a:solidFill>
                        <a:srgbClr val="B0B0B0"/>
                      </a:solidFill>
                      <a:prstDash val="solid"/>
                      <a:round/>
                      <a:headEnd len="sm" w="sm" type="none"/>
                      <a:tailEnd len="sm" w="sm" type="none"/>
                    </a:lnR>
                    <a:lnT cap="flat" cmpd="sng" w="9525">
                      <a:solidFill>
                        <a:srgbClr val="B0B0B0"/>
                      </a:solidFill>
                      <a:prstDash val="solid"/>
                      <a:round/>
                      <a:headEnd len="sm" w="sm" type="none"/>
                      <a:tailEnd len="sm" w="sm" type="none"/>
                    </a:lnT>
                    <a:lnB cap="flat" cmpd="sng" w="9525">
                      <a:solidFill>
                        <a:srgbClr val="B0B0B0"/>
                      </a:solidFill>
                      <a:prstDash val="solid"/>
                      <a:round/>
                      <a:headEnd len="sm" w="sm" type="none"/>
                      <a:tailEnd len="sm" w="sm" type="none"/>
                    </a:lnB>
                  </a:tcPr>
                </a:tc>
              </a:tr>
            </a:tbl>
          </a:graphicData>
        </a:graphic>
      </p:graphicFrame>
      <p:pic>
        <p:nvPicPr>
          <p:cNvPr descr="/sessions/sleepy-friendly-euler/mnt/outputs/logos/cosmicai_logo.png" id="83" name="Google Shape;83;p5"/>
          <p:cNvPicPr preferRelativeResize="0"/>
          <p:nvPr/>
        </p:nvPicPr>
        <p:blipFill rotWithShape="1">
          <a:blip r:embed="rId3">
            <a:alphaModFix/>
          </a:blip>
          <a:srcRect b="0" l="0" r="0" t="0"/>
          <a:stretch/>
        </p:blipFill>
        <p:spPr>
          <a:xfrm>
            <a:off x="228600" y="4526280"/>
            <a:ext cx="1463040" cy="502920"/>
          </a:xfrm>
          <a:prstGeom prst="rect">
            <a:avLst/>
          </a:prstGeom>
          <a:noFill/>
          <a:ln>
            <a:noFill/>
          </a:ln>
        </p:spPr>
      </p:pic>
      <p:sp>
        <p:nvSpPr>
          <p:cNvPr id="84" name="Google Shape;84;p5"/>
          <p:cNvSpPr/>
          <p:nvPr/>
        </p:nvSpPr>
        <p:spPr>
          <a:xfrm>
            <a:off x="2743200" y="4663440"/>
            <a:ext cx="36576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1" i="0" lang="en-US" sz="1200" u="none" cap="none" strike="noStrike">
                <a:solidFill>
                  <a:srgbClr val="2B2B2B"/>
                </a:solidFill>
                <a:latin typeface="Georgia"/>
                <a:ea typeface="Georgia"/>
                <a:cs typeface="Georgia"/>
                <a:sym typeface="Georgia"/>
              </a:rPr>
              <a:t>CosmicAI Summer School</a:t>
            </a:r>
            <a:endParaRPr b="0" i="0" sz="1200" u="none" cap="none" strike="noStrike">
              <a:solidFill>
                <a:schemeClr val="dk1"/>
              </a:solidFill>
              <a:latin typeface="Calibri"/>
              <a:ea typeface="Calibri"/>
              <a:cs typeface="Calibri"/>
              <a:sym typeface="Calibri"/>
            </a:endParaRPr>
          </a:p>
        </p:txBody>
      </p:sp>
      <p:sp>
        <p:nvSpPr>
          <p:cNvPr id="85" name="Google Shape;85;p5"/>
          <p:cNvSpPr/>
          <p:nvPr/>
        </p:nvSpPr>
        <p:spPr>
          <a:xfrm>
            <a:off x="8275320" y="4754880"/>
            <a:ext cx="6858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06060"/>
              </a:buClr>
              <a:buSzPts val="1200"/>
              <a:buFont typeface="Georgia"/>
              <a:buNone/>
            </a:pPr>
            <a:r>
              <a:rPr b="0" i="0" lang="en-US" sz="1200" u="none" cap="none" strike="noStrike">
                <a:solidFill>
                  <a:srgbClr val="606060"/>
                </a:solidFill>
                <a:latin typeface="Georgia"/>
                <a:ea typeface="Georgia"/>
                <a:cs typeface="Georgia"/>
                <a:sym typeface="Georgia"/>
              </a:rPr>
              <a:t>5</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0" name="Shape 90"/>
        <p:cNvGrpSpPr/>
        <p:nvPr/>
      </p:nvGrpSpPr>
      <p:grpSpPr>
        <a:xfrm>
          <a:off x="0" y="0"/>
          <a:ext cx="0" cy="0"/>
          <a:chOff x="0" y="0"/>
          <a:chExt cx="0" cy="0"/>
        </a:xfrm>
      </p:grpSpPr>
      <p:sp>
        <p:nvSpPr>
          <p:cNvPr id="91" name="Google Shape;91;p6"/>
          <p:cNvSpPr/>
          <p:nvPr/>
        </p:nvSpPr>
        <p:spPr>
          <a:xfrm>
            <a:off x="274320" y="137160"/>
            <a:ext cx="704088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2800"/>
              <a:buFont typeface="Georgia"/>
              <a:buNone/>
            </a:pPr>
            <a:r>
              <a:rPr b="0" i="0" lang="en-US" sz="2800" u="none" cap="none" strike="noStrike">
                <a:solidFill>
                  <a:srgbClr val="7B2D26"/>
                </a:solidFill>
                <a:latin typeface="Georgia"/>
                <a:ea typeface="Georgia"/>
                <a:cs typeface="Georgia"/>
                <a:sym typeface="Georgia"/>
              </a:rPr>
              <a:t>Worked Example — Solution</a:t>
            </a:r>
            <a:endParaRPr b="0" i="0" sz="2800" u="none" cap="none" strike="noStrike">
              <a:solidFill>
                <a:schemeClr val="dk1"/>
              </a:solidFill>
              <a:latin typeface="Calibri"/>
              <a:ea typeface="Calibri"/>
              <a:cs typeface="Calibri"/>
              <a:sym typeface="Calibri"/>
            </a:endParaRPr>
          </a:p>
        </p:txBody>
      </p:sp>
      <p:cxnSp>
        <p:nvCxnSpPr>
          <p:cNvPr id="92" name="Google Shape;92;p6"/>
          <p:cNvCxnSpPr/>
          <p:nvPr/>
        </p:nvCxnSpPr>
        <p:spPr>
          <a:xfrm>
            <a:off x="365760" y="685800"/>
            <a:ext cx="8412480" cy="0"/>
          </a:xfrm>
          <a:prstGeom prst="straightConnector1">
            <a:avLst/>
          </a:prstGeom>
          <a:noFill/>
          <a:ln cap="flat" cmpd="sng" w="15875">
            <a:solidFill>
              <a:srgbClr val="B0B0B0"/>
            </a:solidFill>
            <a:prstDash val="solid"/>
            <a:round/>
            <a:headEnd len="sm" w="sm" type="none"/>
            <a:tailEnd len="sm" w="sm" type="none"/>
          </a:ln>
        </p:spPr>
      </p:cxnSp>
      <p:sp>
        <p:nvSpPr>
          <p:cNvPr id="93" name="Google Shape;93;p6"/>
          <p:cNvSpPr/>
          <p:nvPr/>
        </p:nvSpPr>
        <p:spPr>
          <a:xfrm>
            <a:off x="7360920" y="182880"/>
            <a:ext cx="1600200" cy="292608"/>
          </a:xfrm>
          <a:prstGeom prst="rect">
            <a:avLst/>
          </a:prstGeom>
          <a:solidFill>
            <a:srgbClr val="3A5A3B"/>
          </a:solidFill>
          <a:ln cap="flat" cmpd="sng" w="12700">
            <a:solidFill>
              <a:srgbClr val="3A5A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6"/>
          <p:cNvSpPr/>
          <p:nvPr/>
        </p:nvSpPr>
        <p:spPr>
          <a:xfrm>
            <a:off x="7360920" y="182880"/>
            <a:ext cx="1600200"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50"/>
              <a:buFont typeface="Georgia"/>
              <a:buNone/>
            </a:pPr>
            <a:r>
              <a:rPr b="1" i="0" lang="en-US" sz="1050" u="none" cap="none" strike="noStrike">
                <a:solidFill>
                  <a:srgbClr val="FFFFFF"/>
                </a:solidFill>
                <a:latin typeface="Georgia"/>
                <a:ea typeface="Georgia"/>
                <a:cs typeface="Georgia"/>
                <a:sym typeface="Georgia"/>
              </a:rPr>
              <a:t>ANSWER</a:t>
            </a:r>
            <a:endParaRPr b="0" i="0" sz="1050" u="none" cap="none" strike="noStrike">
              <a:solidFill>
                <a:schemeClr val="dk1"/>
              </a:solidFill>
              <a:latin typeface="Calibri"/>
              <a:ea typeface="Calibri"/>
              <a:cs typeface="Calibri"/>
              <a:sym typeface="Calibri"/>
            </a:endParaRPr>
          </a:p>
        </p:txBody>
      </p:sp>
      <p:graphicFrame>
        <p:nvGraphicFramePr>
          <p:cNvPr id="95" name="Google Shape;95;p6"/>
          <p:cNvGraphicFramePr/>
          <p:nvPr/>
        </p:nvGraphicFramePr>
        <p:xfrm>
          <a:off x="365760" y="868680"/>
          <a:ext cx="3000000" cy="3000000"/>
        </p:xfrm>
        <a:graphic>
          <a:graphicData uri="http://schemas.openxmlformats.org/drawingml/2006/table">
            <a:tbl>
              <a:tblPr>
                <a:noFill/>
                <a:tableStyleId>{BA6F7DC6-C268-4AC7-A4F5-CFFF31EB1142}</a:tableStyleId>
              </a:tblPr>
              <a:tblGrid>
                <a:gridCol w="2560325"/>
                <a:gridCol w="1280150"/>
                <a:gridCol w="4572000"/>
              </a:tblGrid>
              <a:tr h="338325">
                <a:tc>
                  <a:txBody>
                    <a:bodyPr/>
                    <a:lstStyle/>
                    <a:p>
                      <a:pPr indent="0" lvl="0" marL="0" marR="0" rtl="0" algn="ctr">
                        <a:spcBef>
                          <a:spcPts val="0"/>
                        </a:spcBef>
                        <a:spcAft>
                          <a:spcPts val="0"/>
                        </a:spcAft>
                        <a:buClr>
                          <a:srgbClr val="FFFFFF"/>
                        </a:buClr>
                        <a:buSzPts val="1200"/>
                        <a:buFont typeface="Georgia"/>
                        <a:buNone/>
                      </a:pPr>
                      <a:r>
                        <a:rPr b="1" lang="en-US" sz="1200" u="none" cap="none" strike="noStrike">
                          <a:solidFill>
                            <a:srgbClr val="FFFFFF"/>
                          </a:solidFill>
                          <a:latin typeface="Georgia"/>
                          <a:ea typeface="Georgia"/>
                          <a:cs typeface="Georgia"/>
                          <a:sym typeface="Georgia"/>
                        </a:rPr>
                        <a:t>Feature</a:t>
                      </a:r>
                      <a:endParaRPr sz="1200" u="none" cap="none" strike="noStrike">
                        <a:latin typeface="Georgia"/>
                        <a:ea typeface="Georgia"/>
                        <a:cs typeface="Georgia"/>
                        <a:sym typeface="Georgia"/>
                      </a:endParaRPr>
                    </a:p>
                  </a:txBody>
                  <a:tcPr marT="54875" marB="54875" marR="54875" marL="54875" anchor="ctr">
                    <a:lnL cap="flat" cmpd="sng" w="9525">
                      <a:solidFill>
                        <a:srgbClr val="B0B0B0"/>
                      </a:solidFill>
                      <a:prstDash val="solid"/>
                      <a:round/>
                      <a:headEnd len="sm" w="sm" type="none"/>
                      <a:tailEnd len="sm" w="sm" type="none"/>
                    </a:lnL>
                    <a:lnR cap="flat" cmpd="sng" w="9525">
                      <a:solidFill>
                        <a:srgbClr val="B0B0B0"/>
                      </a:solidFill>
                      <a:prstDash val="solid"/>
                      <a:round/>
                      <a:headEnd len="sm" w="sm" type="none"/>
                      <a:tailEnd len="sm" w="sm" type="none"/>
                    </a:lnR>
                    <a:lnT cap="flat" cmpd="sng" w="9525">
                      <a:solidFill>
                        <a:srgbClr val="B0B0B0"/>
                      </a:solidFill>
                      <a:prstDash val="solid"/>
                      <a:round/>
                      <a:headEnd len="sm" w="sm" type="none"/>
                      <a:tailEnd len="sm" w="sm" type="none"/>
                    </a:lnT>
                    <a:lnB cap="flat" cmpd="sng" w="9525">
                      <a:solidFill>
                        <a:srgbClr val="B0B0B0"/>
                      </a:solidFill>
                      <a:prstDash val="solid"/>
                      <a:round/>
                      <a:headEnd len="sm" w="sm" type="none"/>
                      <a:tailEnd len="sm" w="sm" type="none"/>
                    </a:lnB>
                    <a:solidFill>
                      <a:srgbClr val="3A5A3B"/>
                    </a:solidFill>
                  </a:tcPr>
                </a:tc>
                <a:tc>
                  <a:txBody>
                    <a:bodyPr/>
                    <a:lstStyle/>
                    <a:p>
                      <a:pPr indent="0" lvl="0" marL="0" marR="0" rtl="0" algn="ctr">
                        <a:spcBef>
                          <a:spcPts val="0"/>
                        </a:spcBef>
                        <a:spcAft>
                          <a:spcPts val="0"/>
                        </a:spcAft>
                        <a:buClr>
                          <a:srgbClr val="FFFFFF"/>
                        </a:buClr>
                        <a:buSzPts val="1200"/>
                        <a:buFont typeface="Georgia"/>
                        <a:buNone/>
                      </a:pPr>
                      <a:r>
                        <a:rPr b="1" lang="en-US" sz="1200" u="none" cap="none" strike="noStrike">
                          <a:solidFill>
                            <a:srgbClr val="FFFFFF"/>
                          </a:solidFill>
                          <a:latin typeface="Georgia"/>
                          <a:ea typeface="Georgia"/>
                          <a:cs typeface="Georgia"/>
                          <a:sym typeface="Georgia"/>
                        </a:rPr>
                        <a:t>Type</a:t>
                      </a:r>
                      <a:endParaRPr sz="1200" u="none" cap="none" strike="noStrike">
                        <a:latin typeface="Georgia"/>
                        <a:ea typeface="Georgia"/>
                        <a:cs typeface="Georgia"/>
                        <a:sym typeface="Georgia"/>
                      </a:endParaRPr>
                    </a:p>
                  </a:txBody>
                  <a:tcPr marT="54875" marB="54875" marR="54875" marL="54875" anchor="ctr">
                    <a:lnL cap="flat" cmpd="sng" w="9525">
                      <a:solidFill>
                        <a:srgbClr val="B0B0B0"/>
                      </a:solidFill>
                      <a:prstDash val="solid"/>
                      <a:round/>
                      <a:headEnd len="sm" w="sm" type="none"/>
                      <a:tailEnd len="sm" w="sm" type="none"/>
                    </a:lnL>
                    <a:lnR cap="flat" cmpd="sng" w="9525">
                      <a:solidFill>
                        <a:srgbClr val="B0B0B0"/>
                      </a:solidFill>
                      <a:prstDash val="solid"/>
                      <a:round/>
                      <a:headEnd len="sm" w="sm" type="none"/>
                      <a:tailEnd len="sm" w="sm" type="none"/>
                    </a:lnR>
                    <a:lnT cap="flat" cmpd="sng" w="9525">
                      <a:solidFill>
                        <a:srgbClr val="B0B0B0"/>
                      </a:solidFill>
                      <a:prstDash val="solid"/>
                      <a:round/>
                      <a:headEnd len="sm" w="sm" type="none"/>
                      <a:tailEnd len="sm" w="sm" type="none"/>
                    </a:lnT>
                    <a:lnB cap="flat" cmpd="sng" w="9525">
                      <a:solidFill>
                        <a:srgbClr val="B0B0B0"/>
                      </a:solidFill>
                      <a:prstDash val="solid"/>
                      <a:round/>
                      <a:headEnd len="sm" w="sm" type="none"/>
                      <a:tailEnd len="sm" w="sm" type="none"/>
                    </a:lnB>
                    <a:solidFill>
                      <a:srgbClr val="3A5A3B"/>
                    </a:solidFill>
                  </a:tcPr>
                </a:tc>
                <a:tc>
                  <a:txBody>
                    <a:bodyPr/>
                    <a:lstStyle/>
                    <a:p>
                      <a:pPr indent="0" lvl="0" marL="0" marR="0" rtl="0" algn="ctr">
                        <a:spcBef>
                          <a:spcPts val="0"/>
                        </a:spcBef>
                        <a:spcAft>
                          <a:spcPts val="0"/>
                        </a:spcAft>
                        <a:buClr>
                          <a:srgbClr val="FFFFFF"/>
                        </a:buClr>
                        <a:buSzPts val="1200"/>
                        <a:buFont typeface="Georgia"/>
                        <a:buNone/>
                      </a:pPr>
                      <a:r>
                        <a:rPr b="1" lang="en-US" sz="1200" u="none" cap="none" strike="noStrike">
                          <a:solidFill>
                            <a:srgbClr val="FFFFFF"/>
                          </a:solidFill>
                          <a:latin typeface="Georgia"/>
                          <a:ea typeface="Georgia"/>
                          <a:cs typeface="Georgia"/>
                          <a:sym typeface="Georgia"/>
                        </a:rPr>
                        <a:t>Why</a:t>
                      </a:r>
                      <a:endParaRPr sz="1200" u="none" cap="none" strike="noStrike">
                        <a:latin typeface="Georgia"/>
                        <a:ea typeface="Georgia"/>
                        <a:cs typeface="Georgia"/>
                        <a:sym typeface="Georgia"/>
                      </a:endParaRPr>
                    </a:p>
                  </a:txBody>
                  <a:tcPr marT="54875" marB="54875" marR="54875" marL="54875" anchor="ctr">
                    <a:lnL cap="flat" cmpd="sng" w="9525">
                      <a:solidFill>
                        <a:srgbClr val="B0B0B0"/>
                      </a:solidFill>
                      <a:prstDash val="solid"/>
                      <a:round/>
                      <a:headEnd len="sm" w="sm" type="none"/>
                      <a:tailEnd len="sm" w="sm" type="none"/>
                    </a:lnL>
                    <a:lnR cap="flat" cmpd="sng" w="9525">
                      <a:solidFill>
                        <a:srgbClr val="B0B0B0"/>
                      </a:solidFill>
                      <a:prstDash val="solid"/>
                      <a:round/>
                      <a:headEnd len="sm" w="sm" type="none"/>
                      <a:tailEnd len="sm" w="sm" type="none"/>
                    </a:lnR>
                    <a:lnT cap="flat" cmpd="sng" w="9525">
                      <a:solidFill>
                        <a:srgbClr val="B0B0B0"/>
                      </a:solidFill>
                      <a:prstDash val="solid"/>
                      <a:round/>
                      <a:headEnd len="sm" w="sm" type="none"/>
                      <a:tailEnd len="sm" w="sm" type="none"/>
                    </a:lnT>
                    <a:lnB cap="flat" cmpd="sng" w="9525">
                      <a:solidFill>
                        <a:srgbClr val="B0B0B0"/>
                      </a:solidFill>
                      <a:prstDash val="solid"/>
                      <a:round/>
                      <a:headEnd len="sm" w="sm" type="none"/>
                      <a:tailEnd len="sm" w="sm" type="none"/>
                    </a:lnB>
                    <a:solidFill>
                      <a:srgbClr val="3A5A3B"/>
                    </a:solidFill>
                  </a:tcPr>
                </a:tc>
              </a:tr>
              <a:tr h="338325">
                <a:tc>
                  <a:txBody>
                    <a:bodyPr/>
                    <a:lstStyle/>
                    <a:p>
                      <a:pPr indent="0" lvl="0" marL="0" marR="0" rtl="0" algn="l">
                        <a:spcBef>
                          <a:spcPts val="0"/>
                        </a:spcBef>
                        <a:spcAft>
                          <a:spcPts val="0"/>
                        </a:spcAft>
                        <a:buClr>
                          <a:srgbClr val="2B2B2B"/>
                        </a:buClr>
                        <a:buSzPts val="1200"/>
                        <a:buFont typeface="Georgia"/>
                        <a:buNone/>
                      </a:pPr>
                      <a:r>
                        <a:rPr lang="en-US" sz="1200" u="none" cap="none" strike="noStrike">
                          <a:solidFill>
                            <a:srgbClr val="2B2B2B"/>
                          </a:solidFill>
                          <a:latin typeface="Georgia"/>
                          <a:ea typeface="Georgia"/>
                          <a:cs typeface="Georgia"/>
                          <a:sym typeface="Georgia"/>
                        </a:rPr>
                        <a:t>galaxy_type</a:t>
                      </a:r>
                      <a:endParaRPr sz="1200" u="none" cap="none" strike="noStrike">
                        <a:latin typeface="Georgia"/>
                        <a:ea typeface="Georgia"/>
                        <a:cs typeface="Georgia"/>
                        <a:sym typeface="Georgia"/>
                      </a:endParaRPr>
                    </a:p>
                  </a:txBody>
                  <a:tcPr marT="73150" marB="73150" marR="73150" marL="73150" anchor="ctr">
                    <a:lnL cap="flat" cmpd="sng" w="9525">
                      <a:solidFill>
                        <a:srgbClr val="B0B0B0"/>
                      </a:solidFill>
                      <a:prstDash val="solid"/>
                      <a:round/>
                      <a:headEnd len="sm" w="sm" type="none"/>
                      <a:tailEnd len="sm" w="sm" type="none"/>
                    </a:lnL>
                    <a:lnR cap="flat" cmpd="sng" w="9525">
                      <a:solidFill>
                        <a:srgbClr val="B0B0B0"/>
                      </a:solidFill>
                      <a:prstDash val="solid"/>
                      <a:round/>
                      <a:headEnd len="sm" w="sm" type="none"/>
                      <a:tailEnd len="sm" w="sm" type="none"/>
                    </a:lnR>
                    <a:lnT cap="flat" cmpd="sng" w="9525">
                      <a:solidFill>
                        <a:srgbClr val="B0B0B0"/>
                      </a:solidFill>
                      <a:prstDash val="solid"/>
                      <a:round/>
                      <a:headEnd len="sm" w="sm" type="none"/>
                      <a:tailEnd len="sm" w="sm" type="none"/>
                    </a:lnT>
                    <a:lnB cap="flat" cmpd="sng" w="9525">
                      <a:solidFill>
                        <a:srgbClr val="B0B0B0"/>
                      </a:solidFill>
                      <a:prstDash val="solid"/>
                      <a:round/>
                      <a:headEnd len="sm" w="sm" type="none"/>
                      <a:tailEnd len="sm" w="sm" type="none"/>
                    </a:lnB>
                  </a:tcPr>
                </a:tc>
                <a:tc>
                  <a:txBody>
                    <a:bodyPr/>
                    <a:lstStyle/>
                    <a:p>
                      <a:pPr indent="0" lvl="0" marL="0" marR="0" rtl="0" algn="ctr">
                        <a:spcBef>
                          <a:spcPts val="0"/>
                        </a:spcBef>
                        <a:spcAft>
                          <a:spcPts val="0"/>
                        </a:spcAft>
                        <a:buClr>
                          <a:srgbClr val="7B2D26"/>
                        </a:buClr>
                        <a:buSzPts val="1200"/>
                        <a:buFont typeface="Georgia"/>
                        <a:buNone/>
                      </a:pPr>
                      <a:r>
                        <a:rPr b="1" lang="en-US" sz="1200" u="none" cap="none" strike="noStrike">
                          <a:solidFill>
                            <a:srgbClr val="7B2D26"/>
                          </a:solidFill>
                          <a:latin typeface="Georgia"/>
                          <a:ea typeface="Georgia"/>
                          <a:cs typeface="Georgia"/>
                          <a:sym typeface="Georgia"/>
                        </a:rPr>
                        <a:t>Nominal</a:t>
                      </a:r>
                      <a:endParaRPr sz="1200" u="none" cap="none" strike="noStrike">
                        <a:latin typeface="Georgia"/>
                        <a:ea typeface="Georgia"/>
                        <a:cs typeface="Georgia"/>
                        <a:sym typeface="Georgia"/>
                      </a:endParaRPr>
                    </a:p>
                  </a:txBody>
                  <a:tcPr marT="73150" marB="73150" marR="73150" marL="73150" anchor="ctr">
                    <a:lnL cap="flat" cmpd="sng" w="9525">
                      <a:solidFill>
                        <a:srgbClr val="B0B0B0"/>
                      </a:solidFill>
                      <a:prstDash val="solid"/>
                      <a:round/>
                      <a:headEnd len="sm" w="sm" type="none"/>
                      <a:tailEnd len="sm" w="sm" type="none"/>
                    </a:lnL>
                    <a:lnR cap="flat" cmpd="sng" w="9525">
                      <a:solidFill>
                        <a:srgbClr val="B0B0B0"/>
                      </a:solidFill>
                      <a:prstDash val="solid"/>
                      <a:round/>
                      <a:headEnd len="sm" w="sm" type="none"/>
                      <a:tailEnd len="sm" w="sm" type="none"/>
                    </a:lnR>
                    <a:lnT cap="flat" cmpd="sng" w="9525">
                      <a:solidFill>
                        <a:srgbClr val="B0B0B0"/>
                      </a:solidFill>
                      <a:prstDash val="solid"/>
                      <a:round/>
                      <a:headEnd len="sm" w="sm" type="none"/>
                      <a:tailEnd len="sm" w="sm" type="none"/>
                    </a:lnT>
                    <a:lnB cap="flat" cmpd="sng" w="9525">
                      <a:solidFill>
                        <a:srgbClr val="B0B0B0"/>
                      </a:solidFill>
                      <a:prstDash val="solid"/>
                      <a:round/>
                      <a:headEnd len="sm" w="sm" type="none"/>
                      <a:tailEnd len="sm" w="sm" type="none"/>
                    </a:lnB>
                  </a:tcPr>
                </a:tc>
                <a:tc>
                  <a:txBody>
                    <a:bodyPr/>
                    <a:lstStyle/>
                    <a:p>
                      <a:pPr indent="0" lvl="0" marL="0" marR="0" rtl="0" algn="l">
                        <a:spcBef>
                          <a:spcPts val="0"/>
                        </a:spcBef>
                        <a:spcAft>
                          <a:spcPts val="0"/>
                        </a:spcAft>
                        <a:buClr>
                          <a:srgbClr val="2B2B2B"/>
                        </a:buClr>
                        <a:buSzPts val="1100"/>
                        <a:buFont typeface="Georgia"/>
                        <a:buNone/>
                      </a:pPr>
                      <a:r>
                        <a:rPr i="1" lang="en-US" sz="1100" u="none" cap="none" strike="noStrike">
                          <a:solidFill>
                            <a:srgbClr val="2B2B2B"/>
                          </a:solidFill>
                          <a:latin typeface="Georgia"/>
                          <a:ea typeface="Georgia"/>
                          <a:cs typeface="Georgia"/>
                          <a:sym typeface="Georgia"/>
                        </a:rPr>
                        <a:t>no inherent order</a:t>
                      </a:r>
                      <a:endParaRPr sz="1100" u="none" cap="none" strike="noStrike">
                        <a:latin typeface="Georgia"/>
                        <a:ea typeface="Georgia"/>
                        <a:cs typeface="Georgia"/>
                        <a:sym typeface="Georgia"/>
                      </a:endParaRPr>
                    </a:p>
                  </a:txBody>
                  <a:tcPr marT="73150" marB="73150" marR="73150" marL="73150" anchor="ctr">
                    <a:lnL cap="flat" cmpd="sng" w="9525">
                      <a:solidFill>
                        <a:srgbClr val="B0B0B0"/>
                      </a:solidFill>
                      <a:prstDash val="solid"/>
                      <a:round/>
                      <a:headEnd len="sm" w="sm" type="none"/>
                      <a:tailEnd len="sm" w="sm" type="none"/>
                    </a:lnL>
                    <a:lnR cap="flat" cmpd="sng" w="9525">
                      <a:solidFill>
                        <a:srgbClr val="B0B0B0"/>
                      </a:solidFill>
                      <a:prstDash val="solid"/>
                      <a:round/>
                      <a:headEnd len="sm" w="sm" type="none"/>
                      <a:tailEnd len="sm" w="sm" type="none"/>
                    </a:lnR>
                    <a:lnT cap="flat" cmpd="sng" w="9525">
                      <a:solidFill>
                        <a:srgbClr val="B0B0B0"/>
                      </a:solidFill>
                      <a:prstDash val="solid"/>
                      <a:round/>
                      <a:headEnd len="sm" w="sm" type="none"/>
                      <a:tailEnd len="sm" w="sm" type="none"/>
                    </a:lnT>
                    <a:lnB cap="flat" cmpd="sng" w="9525">
                      <a:solidFill>
                        <a:srgbClr val="B0B0B0"/>
                      </a:solidFill>
                      <a:prstDash val="solid"/>
                      <a:round/>
                      <a:headEnd len="sm" w="sm" type="none"/>
                      <a:tailEnd len="sm" w="sm" type="none"/>
                    </a:lnB>
                  </a:tcPr>
                </a:tc>
              </a:tr>
              <a:tr h="338325">
                <a:tc>
                  <a:txBody>
                    <a:bodyPr/>
                    <a:lstStyle/>
                    <a:p>
                      <a:pPr indent="0" lvl="0" marL="0" marR="0" rtl="0" algn="l">
                        <a:spcBef>
                          <a:spcPts val="0"/>
                        </a:spcBef>
                        <a:spcAft>
                          <a:spcPts val="0"/>
                        </a:spcAft>
                        <a:buClr>
                          <a:srgbClr val="2B2B2B"/>
                        </a:buClr>
                        <a:buSzPts val="1200"/>
                        <a:buFont typeface="Georgia"/>
                        <a:buNone/>
                      </a:pPr>
                      <a:r>
                        <a:rPr lang="en-US" sz="1200" u="none" cap="none" strike="noStrike">
                          <a:solidFill>
                            <a:srgbClr val="2B2B2B"/>
                          </a:solidFill>
                          <a:latin typeface="Georgia"/>
                          <a:ea typeface="Georgia"/>
                          <a:cs typeface="Georgia"/>
                          <a:sym typeface="Georgia"/>
                        </a:rPr>
                        <a:t>seeing_quality</a:t>
                      </a:r>
                      <a:endParaRPr sz="1200" u="none" cap="none" strike="noStrike">
                        <a:latin typeface="Georgia"/>
                        <a:ea typeface="Georgia"/>
                        <a:cs typeface="Georgia"/>
                        <a:sym typeface="Georgia"/>
                      </a:endParaRPr>
                    </a:p>
                  </a:txBody>
                  <a:tcPr marT="73150" marB="73150" marR="73150" marL="73150" anchor="ctr">
                    <a:lnL cap="flat" cmpd="sng" w="9525">
                      <a:solidFill>
                        <a:srgbClr val="B0B0B0"/>
                      </a:solidFill>
                      <a:prstDash val="solid"/>
                      <a:round/>
                      <a:headEnd len="sm" w="sm" type="none"/>
                      <a:tailEnd len="sm" w="sm" type="none"/>
                    </a:lnL>
                    <a:lnR cap="flat" cmpd="sng" w="9525">
                      <a:solidFill>
                        <a:srgbClr val="B0B0B0"/>
                      </a:solidFill>
                      <a:prstDash val="solid"/>
                      <a:round/>
                      <a:headEnd len="sm" w="sm" type="none"/>
                      <a:tailEnd len="sm" w="sm" type="none"/>
                    </a:lnR>
                    <a:lnT cap="flat" cmpd="sng" w="9525">
                      <a:solidFill>
                        <a:srgbClr val="B0B0B0"/>
                      </a:solidFill>
                      <a:prstDash val="solid"/>
                      <a:round/>
                      <a:headEnd len="sm" w="sm" type="none"/>
                      <a:tailEnd len="sm" w="sm" type="none"/>
                    </a:lnT>
                    <a:lnB cap="flat" cmpd="sng" w="9525">
                      <a:solidFill>
                        <a:srgbClr val="B0B0B0"/>
                      </a:solidFill>
                      <a:prstDash val="solid"/>
                      <a:round/>
                      <a:headEnd len="sm" w="sm" type="none"/>
                      <a:tailEnd len="sm" w="sm" type="none"/>
                    </a:lnB>
                  </a:tcPr>
                </a:tc>
                <a:tc>
                  <a:txBody>
                    <a:bodyPr/>
                    <a:lstStyle/>
                    <a:p>
                      <a:pPr indent="0" lvl="0" marL="0" marR="0" rtl="0" algn="ctr">
                        <a:spcBef>
                          <a:spcPts val="0"/>
                        </a:spcBef>
                        <a:spcAft>
                          <a:spcPts val="0"/>
                        </a:spcAft>
                        <a:buClr>
                          <a:srgbClr val="7B2D26"/>
                        </a:buClr>
                        <a:buSzPts val="1200"/>
                        <a:buFont typeface="Georgia"/>
                        <a:buNone/>
                      </a:pPr>
                      <a:r>
                        <a:rPr b="1" lang="en-US" sz="1200" u="none" cap="none" strike="noStrike">
                          <a:solidFill>
                            <a:srgbClr val="7B2D26"/>
                          </a:solidFill>
                          <a:latin typeface="Georgia"/>
                          <a:ea typeface="Georgia"/>
                          <a:cs typeface="Georgia"/>
                          <a:sym typeface="Georgia"/>
                        </a:rPr>
                        <a:t>Ordinal</a:t>
                      </a:r>
                      <a:endParaRPr sz="1200" u="none" cap="none" strike="noStrike">
                        <a:latin typeface="Georgia"/>
                        <a:ea typeface="Georgia"/>
                        <a:cs typeface="Georgia"/>
                        <a:sym typeface="Georgia"/>
                      </a:endParaRPr>
                    </a:p>
                  </a:txBody>
                  <a:tcPr marT="73150" marB="73150" marR="73150" marL="73150" anchor="ctr">
                    <a:lnL cap="flat" cmpd="sng" w="9525">
                      <a:solidFill>
                        <a:srgbClr val="B0B0B0"/>
                      </a:solidFill>
                      <a:prstDash val="solid"/>
                      <a:round/>
                      <a:headEnd len="sm" w="sm" type="none"/>
                      <a:tailEnd len="sm" w="sm" type="none"/>
                    </a:lnL>
                    <a:lnR cap="flat" cmpd="sng" w="9525">
                      <a:solidFill>
                        <a:srgbClr val="B0B0B0"/>
                      </a:solidFill>
                      <a:prstDash val="solid"/>
                      <a:round/>
                      <a:headEnd len="sm" w="sm" type="none"/>
                      <a:tailEnd len="sm" w="sm" type="none"/>
                    </a:lnR>
                    <a:lnT cap="flat" cmpd="sng" w="9525">
                      <a:solidFill>
                        <a:srgbClr val="B0B0B0"/>
                      </a:solidFill>
                      <a:prstDash val="solid"/>
                      <a:round/>
                      <a:headEnd len="sm" w="sm" type="none"/>
                      <a:tailEnd len="sm" w="sm" type="none"/>
                    </a:lnT>
                    <a:lnB cap="flat" cmpd="sng" w="9525">
                      <a:solidFill>
                        <a:srgbClr val="B0B0B0"/>
                      </a:solidFill>
                      <a:prstDash val="solid"/>
                      <a:round/>
                      <a:headEnd len="sm" w="sm" type="none"/>
                      <a:tailEnd len="sm" w="sm" type="none"/>
                    </a:lnB>
                  </a:tcPr>
                </a:tc>
                <a:tc>
                  <a:txBody>
                    <a:bodyPr/>
                    <a:lstStyle/>
                    <a:p>
                      <a:pPr indent="0" lvl="0" marL="0" marR="0" rtl="0" algn="l">
                        <a:spcBef>
                          <a:spcPts val="0"/>
                        </a:spcBef>
                        <a:spcAft>
                          <a:spcPts val="0"/>
                        </a:spcAft>
                        <a:buClr>
                          <a:srgbClr val="2B2B2B"/>
                        </a:buClr>
                        <a:buSzPts val="1100"/>
                        <a:buFont typeface="Georgia"/>
                        <a:buNone/>
                      </a:pPr>
                      <a:r>
                        <a:rPr i="1" lang="en-US" sz="1100" u="none" cap="none" strike="noStrike">
                          <a:solidFill>
                            <a:srgbClr val="2B2B2B"/>
                          </a:solidFill>
                          <a:latin typeface="Georgia"/>
                          <a:ea typeface="Georgia"/>
                          <a:cs typeface="Georgia"/>
                          <a:sym typeface="Georgia"/>
                        </a:rPr>
                        <a:t>ranked but spacing not meaningful</a:t>
                      </a:r>
                      <a:endParaRPr sz="1100" u="none" cap="none" strike="noStrike">
                        <a:latin typeface="Georgia"/>
                        <a:ea typeface="Georgia"/>
                        <a:cs typeface="Georgia"/>
                        <a:sym typeface="Georgia"/>
                      </a:endParaRPr>
                    </a:p>
                  </a:txBody>
                  <a:tcPr marT="73150" marB="73150" marR="73150" marL="73150" anchor="ctr">
                    <a:lnL cap="flat" cmpd="sng" w="9525">
                      <a:solidFill>
                        <a:srgbClr val="B0B0B0"/>
                      </a:solidFill>
                      <a:prstDash val="solid"/>
                      <a:round/>
                      <a:headEnd len="sm" w="sm" type="none"/>
                      <a:tailEnd len="sm" w="sm" type="none"/>
                    </a:lnL>
                    <a:lnR cap="flat" cmpd="sng" w="9525">
                      <a:solidFill>
                        <a:srgbClr val="B0B0B0"/>
                      </a:solidFill>
                      <a:prstDash val="solid"/>
                      <a:round/>
                      <a:headEnd len="sm" w="sm" type="none"/>
                      <a:tailEnd len="sm" w="sm" type="none"/>
                    </a:lnR>
                    <a:lnT cap="flat" cmpd="sng" w="9525">
                      <a:solidFill>
                        <a:srgbClr val="B0B0B0"/>
                      </a:solidFill>
                      <a:prstDash val="solid"/>
                      <a:round/>
                      <a:headEnd len="sm" w="sm" type="none"/>
                      <a:tailEnd len="sm" w="sm" type="none"/>
                    </a:lnT>
                    <a:lnB cap="flat" cmpd="sng" w="9525">
                      <a:solidFill>
                        <a:srgbClr val="B0B0B0"/>
                      </a:solidFill>
                      <a:prstDash val="solid"/>
                      <a:round/>
                      <a:headEnd len="sm" w="sm" type="none"/>
                      <a:tailEnd len="sm" w="sm" type="none"/>
                    </a:lnB>
                  </a:tcPr>
                </a:tc>
              </a:tr>
              <a:tr h="338325">
                <a:tc>
                  <a:txBody>
                    <a:bodyPr/>
                    <a:lstStyle/>
                    <a:p>
                      <a:pPr indent="0" lvl="0" marL="0" marR="0" rtl="0" algn="l">
                        <a:spcBef>
                          <a:spcPts val="0"/>
                        </a:spcBef>
                        <a:spcAft>
                          <a:spcPts val="0"/>
                        </a:spcAft>
                        <a:buClr>
                          <a:srgbClr val="2B2B2B"/>
                        </a:buClr>
                        <a:buSzPts val="1200"/>
                        <a:buFont typeface="Georgia"/>
                        <a:buNone/>
                      </a:pPr>
                      <a:r>
                        <a:rPr lang="en-US" sz="1200" u="none" cap="none" strike="noStrike">
                          <a:solidFill>
                            <a:srgbClr val="2B2B2B"/>
                          </a:solidFill>
                          <a:latin typeface="Georgia"/>
                          <a:ea typeface="Georgia"/>
                          <a:cs typeface="Georgia"/>
                          <a:sym typeface="Georgia"/>
                        </a:rPr>
                        <a:t>apparent magnitude</a:t>
                      </a:r>
                      <a:endParaRPr sz="1200" u="none" cap="none" strike="noStrike">
                        <a:latin typeface="Georgia"/>
                        <a:ea typeface="Georgia"/>
                        <a:cs typeface="Georgia"/>
                        <a:sym typeface="Georgia"/>
                      </a:endParaRPr>
                    </a:p>
                  </a:txBody>
                  <a:tcPr marT="73150" marB="73150" marR="73150" marL="73150" anchor="ctr">
                    <a:lnL cap="flat" cmpd="sng" w="9525">
                      <a:solidFill>
                        <a:srgbClr val="B0B0B0"/>
                      </a:solidFill>
                      <a:prstDash val="solid"/>
                      <a:round/>
                      <a:headEnd len="sm" w="sm" type="none"/>
                      <a:tailEnd len="sm" w="sm" type="none"/>
                    </a:lnL>
                    <a:lnR cap="flat" cmpd="sng" w="9525">
                      <a:solidFill>
                        <a:srgbClr val="B0B0B0"/>
                      </a:solidFill>
                      <a:prstDash val="solid"/>
                      <a:round/>
                      <a:headEnd len="sm" w="sm" type="none"/>
                      <a:tailEnd len="sm" w="sm" type="none"/>
                    </a:lnR>
                    <a:lnT cap="flat" cmpd="sng" w="9525">
                      <a:solidFill>
                        <a:srgbClr val="B0B0B0"/>
                      </a:solidFill>
                      <a:prstDash val="solid"/>
                      <a:round/>
                      <a:headEnd len="sm" w="sm" type="none"/>
                      <a:tailEnd len="sm" w="sm" type="none"/>
                    </a:lnT>
                    <a:lnB cap="flat" cmpd="sng" w="9525">
                      <a:solidFill>
                        <a:srgbClr val="B0B0B0"/>
                      </a:solidFill>
                      <a:prstDash val="solid"/>
                      <a:round/>
                      <a:headEnd len="sm" w="sm" type="none"/>
                      <a:tailEnd len="sm" w="sm" type="none"/>
                    </a:lnB>
                  </a:tcPr>
                </a:tc>
                <a:tc>
                  <a:txBody>
                    <a:bodyPr/>
                    <a:lstStyle/>
                    <a:p>
                      <a:pPr indent="0" lvl="0" marL="0" marR="0" rtl="0" algn="ctr">
                        <a:spcBef>
                          <a:spcPts val="0"/>
                        </a:spcBef>
                        <a:spcAft>
                          <a:spcPts val="0"/>
                        </a:spcAft>
                        <a:buClr>
                          <a:srgbClr val="7B2D26"/>
                        </a:buClr>
                        <a:buSzPts val="1200"/>
                        <a:buFont typeface="Georgia"/>
                        <a:buNone/>
                      </a:pPr>
                      <a:r>
                        <a:rPr b="1" lang="en-US" sz="1200" u="none" cap="none" strike="noStrike">
                          <a:solidFill>
                            <a:srgbClr val="7B2D26"/>
                          </a:solidFill>
                          <a:latin typeface="Georgia"/>
                          <a:ea typeface="Georgia"/>
                          <a:cs typeface="Georgia"/>
                          <a:sym typeface="Georgia"/>
                        </a:rPr>
                        <a:t>Interval</a:t>
                      </a:r>
                      <a:endParaRPr sz="1200" u="none" cap="none" strike="noStrike">
                        <a:latin typeface="Georgia"/>
                        <a:ea typeface="Georgia"/>
                        <a:cs typeface="Georgia"/>
                        <a:sym typeface="Georgia"/>
                      </a:endParaRPr>
                    </a:p>
                  </a:txBody>
                  <a:tcPr marT="73150" marB="73150" marR="73150" marL="73150" anchor="ctr">
                    <a:lnL cap="flat" cmpd="sng" w="9525">
                      <a:solidFill>
                        <a:srgbClr val="B0B0B0"/>
                      </a:solidFill>
                      <a:prstDash val="solid"/>
                      <a:round/>
                      <a:headEnd len="sm" w="sm" type="none"/>
                      <a:tailEnd len="sm" w="sm" type="none"/>
                    </a:lnL>
                    <a:lnR cap="flat" cmpd="sng" w="9525">
                      <a:solidFill>
                        <a:srgbClr val="B0B0B0"/>
                      </a:solidFill>
                      <a:prstDash val="solid"/>
                      <a:round/>
                      <a:headEnd len="sm" w="sm" type="none"/>
                      <a:tailEnd len="sm" w="sm" type="none"/>
                    </a:lnR>
                    <a:lnT cap="flat" cmpd="sng" w="9525">
                      <a:solidFill>
                        <a:srgbClr val="B0B0B0"/>
                      </a:solidFill>
                      <a:prstDash val="solid"/>
                      <a:round/>
                      <a:headEnd len="sm" w="sm" type="none"/>
                      <a:tailEnd len="sm" w="sm" type="none"/>
                    </a:lnT>
                    <a:lnB cap="flat" cmpd="sng" w="9525">
                      <a:solidFill>
                        <a:srgbClr val="B0B0B0"/>
                      </a:solidFill>
                      <a:prstDash val="solid"/>
                      <a:round/>
                      <a:headEnd len="sm" w="sm" type="none"/>
                      <a:tailEnd len="sm" w="sm" type="none"/>
                    </a:lnB>
                  </a:tcPr>
                </a:tc>
                <a:tc>
                  <a:txBody>
                    <a:bodyPr/>
                    <a:lstStyle/>
                    <a:p>
                      <a:pPr indent="0" lvl="0" marL="0" marR="0" rtl="0" algn="l">
                        <a:spcBef>
                          <a:spcPts val="0"/>
                        </a:spcBef>
                        <a:spcAft>
                          <a:spcPts val="0"/>
                        </a:spcAft>
                        <a:buClr>
                          <a:srgbClr val="2B2B2B"/>
                        </a:buClr>
                        <a:buSzPts val="1100"/>
                        <a:buFont typeface="Georgia"/>
                        <a:buNone/>
                      </a:pPr>
                      <a:r>
                        <a:rPr i="1" lang="en-US" sz="1100" u="none" cap="none" strike="noStrike">
                          <a:solidFill>
                            <a:srgbClr val="2B2B2B"/>
                          </a:solidFill>
                          <a:latin typeface="Georgia"/>
                          <a:ea typeface="Georgia"/>
                          <a:cs typeface="Georgia"/>
                          <a:sym typeface="Georgia"/>
                        </a:rPr>
                        <a:t>differences meaningful;  no true zero (log scale)</a:t>
                      </a:r>
                      <a:endParaRPr sz="1100" u="none" cap="none" strike="noStrike">
                        <a:latin typeface="Georgia"/>
                        <a:ea typeface="Georgia"/>
                        <a:cs typeface="Georgia"/>
                        <a:sym typeface="Georgia"/>
                      </a:endParaRPr>
                    </a:p>
                  </a:txBody>
                  <a:tcPr marT="73150" marB="73150" marR="73150" marL="73150" anchor="ctr">
                    <a:lnL cap="flat" cmpd="sng" w="9525">
                      <a:solidFill>
                        <a:srgbClr val="B0B0B0"/>
                      </a:solidFill>
                      <a:prstDash val="solid"/>
                      <a:round/>
                      <a:headEnd len="sm" w="sm" type="none"/>
                      <a:tailEnd len="sm" w="sm" type="none"/>
                    </a:lnL>
                    <a:lnR cap="flat" cmpd="sng" w="9525">
                      <a:solidFill>
                        <a:srgbClr val="B0B0B0"/>
                      </a:solidFill>
                      <a:prstDash val="solid"/>
                      <a:round/>
                      <a:headEnd len="sm" w="sm" type="none"/>
                      <a:tailEnd len="sm" w="sm" type="none"/>
                    </a:lnR>
                    <a:lnT cap="flat" cmpd="sng" w="9525">
                      <a:solidFill>
                        <a:srgbClr val="B0B0B0"/>
                      </a:solidFill>
                      <a:prstDash val="solid"/>
                      <a:round/>
                      <a:headEnd len="sm" w="sm" type="none"/>
                      <a:tailEnd len="sm" w="sm" type="none"/>
                    </a:lnT>
                    <a:lnB cap="flat" cmpd="sng" w="9525">
                      <a:solidFill>
                        <a:srgbClr val="B0B0B0"/>
                      </a:solidFill>
                      <a:prstDash val="solid"/>
                      <a:round/>
                      <a:headEnd len="sm" w="sm" type="none"/>
                      <a:tailEnd len="sm" w="sm" type="none"/>
                    </a:lnB>
                  </a:tcPr>
                </a:tc>
              </a:tr>
              <a:tr h="338325">
                <a:tc>
                  <a:txBody>
                    <a:bodyPr/>
                    <a:lstStyle/>
                    <a:p>
                      <a:pPr indent="0" lvl="0" marL="0" marR="0" rtl="0" algn="l">
                        <a:spcBef>
                          <a:spcPts val="0"/>
                        </a:spcBef>
                        <a:spcAft>
                          <a:spcPts val="0"/>
                        </a:spcAft>
                        <a:buClr>
                          <a:srgbClr val="2B2B2B"/>
                        </a:buClr>
                        <a:buSzPts val="1200"/>
                        <a:buFont typeface="Georgia"/>
                        <a:buNone/>
                      </a:pPr>
                      <a:r>
                        <a:rPr lang="en-US" sz="1200" u="none" cap="none" strike="noStrike">
                          <a:solidFill>
                            <a:srgbClr val="2B2B2B"/>
                          </a:solidFill>
                          <a:latin typeface="Georgia"/>
                          <a:ea typeface="Georgia"/>
                          <a:cs typeface="Georgia"/>
                          <a:sym typeface="Georgia"/>
                        </a:rPr>
                        <a:t>RA coordinate</a:t>
                      </a:r>
                      <a:endParaRPr sz="1200" u="none" cap="none" strike="noStrike">
                        <a:latin typeface="Georgia"/>
                        <a:ea typeface="Georgia"/>
                        <a:cs typeface="Georgia"/>
                        <a:sym typeface="Georgia"/>
                      </a:endParaRPr>
                    </a:p>
                  </a:txBody>
                  <a:tcPr marT="73150" marB="73150" marR="73150" marL="73150" anchor="ctr">
                    <a:lnL cap="flat" cmpd="sng" w="9525">
                      <a:solidFill>
                        <a:srgbClr val="B0B0B0"/>
                      </a:solidFill>
                      <a:prstDash val="solid"/>
                      <a:round/>
                      <a:headEnd len="sm" w="sm" type="none"/>
                      <a:tailEnd len="sm" w="sm" type="none"/>
                    </a:lnL>
                    <a:lnR cap="flat" cmpd="sng" w="9525">
                      <a:solidFill>
                        <a:srgbClr val="B0B0B0"/>
                      </a:solidFill>
                      <a:prstDash val="solid"/>
                      <a:round/>
                      <a:headEnd len="sm" w="sm" type="none"/>
                      <a:tailEnd len="sm" w="sm" type="none"/>
                    </a:lnR>
                    <a:lnT cap="flat" cmpd="sng" w="9525">
                      <a:solidFill>
                        <a:srgbClr val="B0B0B0"/>
                      </a:solidFill>
                      <a:prstDash val="solid"/>
                      <a:round/>
                      <a:headEnd len="sm" w="sm" type="none"/>
                      <a:tailEnd len="sm" w="sm" type="none"/>
                    </a:lnT>
                    <a:lnB cap="flat" cmpd="sng" w="9525">
                      <a:solidFill>
                        <a:srgbClr val="B0B0B0"/>
                      </a:solidFill>
                      <a:prstDash val="solid"/>
                      <a:round/>
                      <a:headEnd len="sm" w="sm" type="none"/>
                      <a:tailEnd len="sm" w="sm" type="none"/>
                    </a:lnB>
                  </a:tcPr>
                </a:tc>
                <a:tc>
                  <a:txBody>
                    <a:bodyPr/>
                    <a:lstStyle/>
                    <a:p>
                      <a:pPr indent="0" lvl="0" marL="0" marR="0" rtl="0" algn="ctr">
                        <a:spcBef>
                          <a:spcPts val="0"/>
                        </a:spcBef>
                        <a:spcAft>
                          <a:spcPts val="0"/>
                        </a:spcAft>
                        <a:buClr>
                          <a:srgbClr val="7B2D26"/>
                        </a:buClr>
                        <a:buSzPts val="1200"/>
                        <a:buFont typeface="Georgia"/>
                        <a:buNone/>
                      </a:pPr>
                      <a:r>
                        <a:rPr b="1" lang="en-US" sz="1200" u="none" cap="none" strike="noStrike">
                          <a:solidFill>
                            <a:srgbClr val="7B2D26"/>
                          </a:solidFill>
                          <a:latin typeface="Georgia"/>
                          <a:ea typeface="Georgia"/>
                          <a:cs typeface="Georgia"/>
                          <a:sym typeface="Georgia"/>
                        </a:rPr>
                        <a:t>Interval</a:t>
                      </a:r>
                      <a:endParaRPr sz="1200" u="none" cap="none" strike="noStrike">
                        <a:latin typeface="Georgia"/>
                        <a:ea typeface="Georgia"/>
                        <a:cs typeface="Georgia"/>
                        <a:sym typeface="Georgia"/>
                      </a:endParaRPr>
                    </a:p>
                  </a:txBody>
                  <a:tcPr marT="73150" marB="73150" marR="73150" marL="73150" anchor="ctr">
                    <a:lnL cap="flat" cmpd="sng" w="9525">
                      <a:solidFill>
                        <a:srgbClr val="B0B0B0"/>
                      </a:solidFill>
                      <a:prstDash val="solid"/>
                      <a:round/>
                      <a:headEnd len="sm" w="sm" type="none"/>
                      <a:tailEnd len="sm" w="sm" type="none"/>
                    </a:lnL>
                    <a:lnR cap="flat" cmpd="sng" w="9525">
                      <a:solidFill>
                        <a:srgbClr val="B0B0B0"/>
                      </a:solidFill>
                      <a:prstDash val="solid"/>
                      <a:round/>
                      <a:headEnd len="sm" w="sm" type="none"/>
                      <a:tailEnd len="sm" w="sm" type="none"/>
                    </a:lnR>
                    <a:lnT cap="flat" cmpd="sng" w="9525">
                      <a:solidFill>
                        <a:srgbClr val="B0B0B0"/>
                      </a:solidFill>
                      <a:prstDash val="solid"/>
                      <a:round/>
                      <a:headEnd len="sm" w="sm" type="none"/>
                      <a:tailEnd len="sm" w="sm" type="none"/>
                    </a:lnT>
                    <a:lnB cap="flat" cmpd="sng" w="9525">
                      <a:solidFill>
                        <a:srgbClr val="B0B0B0"/>
                      </a:solidFill>
                      <a:prstDash val="solid"/>
                      <a:round/>
                      <a:headEnd len="sm" w="sm" type="none"/>
                      <a:tailEnd len="sm" w="sm" type="none"/>
                    </a:lnB>
                  </a:tcPr>
                </a:tc>
                <a:tc>
                  <a:txBody>
                    <a:bodyPr/>
                    <a:lstStyle/>
                    <a:p>
                      <a:pPr indent="0" lvl="0" marL="0" marR="0" rtl="0" algn="l">
                        <a:spcBef>
                          <a:spcPts val="0"/>
                        </a:spcBef>
                        <a:spcAft>
                          <a:spcPts val="0"/>
                        </a:spcAft>
                        <a:buClr>
                          <a:srgbClr val="2B2B2B"/>
                        </a:buClr>
                        <a:buSzPts val="1100"/>
                        <a:buFont typeface="Georgia"/>
                        <a:buNone/>
                      </a:pPr>
                      <a:r>
                        <a:rPr i="1" lang="en-US" sz="1100" u="none" cap="none" strike="noStrike">
                          <a:solidFill>
                            <a:srgbClr val="2B2B2B"/>
                          </a:solidFill>
                          <a:latin typeface="Georgia"/>
                          <a:ea typeface="Georgia"/>
                          <a:cs typeface="Georgia"/>
                          <a:sym typeface="Georgia"/>
                        </a:rPr>
                        <a:t>0° is arbitrary (the vernal equinox)</a:t>
                      </a:r>
                      <a:endParaRPr sz="1100" u="none" cap="none" strike="noStrike">
                        <a:latin typeface="Georgia"/>
                        <a:ea typeface="Georgia"/>
                        <a:cs typeface="Georgia"/>
                        <a:sym typeface="Georgia"/>
                      </a:endParaRPr>
                    </a:p>
                  </a:txBody>
                  <a:tcPr marT="73150" marB="73150" marR="73150" marL="73150" anchor="ctr">
                    <a:lnL cap="flat" cmpd="sng" w="9525">
                      <a:solidFill>
                        <a:srgbClr val="B0B0B0"/>
                      </a:solidFill>
                      <a:prstDash val="solid"/>
                      <a:round/>
                      <a:headEnd len="sm" w="sm" type="none"/>
                      <a:tailEnd len="sm" w="sm" type="none"/>
                    </a:lnL>
                    <a:lnR cap="flat" cmpd="sng" w="9525">
                      <a:solidFill>
                        <a:srgbClr val="B0B0B0"/>
                      </a:solidFill>
                      <a:prstDash val="solid"/>
                      <a:round/>
                      <a:headEnd len="sm" w="sm" type="none"/>
                      <a:tailEnd len="sm" w="sm" type="none"/>
                    </a:lnR>
                    <a:lnT cap="flat" cmpd="sng" w="9525">
                      <a:solidFill>
                        <a:srgbClr val="B0B0B0"/>
                      </a:solidFill>
                      <a:prstDash val="solid"/>
                      <a:round/>
                      <a:headEnd len="sm" w="sm" type="none"/>
                      <a:tailEnd len="sm" w="sm" type="none"/>
                    </a:lnT>
                    <a:lnB cap="flat" cmpd="sng" w="9525">
                      <a:solidFill>
                        <a:srgbClr val="B0B0B0"/>
                      </a:solidFill>
                      <a:prstDash val="solid"/>
                      <a:round/>
                      <a:headEnd len="sm" w="sm" type="none"/>
                      <a:tailEnd len="sm" w="sm" type="none"/>
                    </a:lnB>
                  </a:tcPr>
                </a:tc>
              </a:tr>
              <a:tr h="338325">
                <a:tc>
                  <a:txBody>
                    <a:bodyPr/>
                    <a:lstStyle/>
                    <a:p>
                      <a:pPr indent="0" lvl="0" marL="0" marR="0" rtl="0" algn="l">
                        <a:spcBef>
                          <a:spcPts val="0"/>
                        </a:spcBef>
                        <a:spcAft>
                          <a:spcPts val="0"/>
                        </a:spcAft>
                        <a:buClr>
                          <a:srgbClr val="2B2B2B"/>
                        </a:buClr>
                        <a:buSzPts val="1200"/>
                        <a:buFont typeface="Georgia"/>
                        <a:buNone/>
                      </a:pPr>
                      <a:r>
                        <a:rPr lang="en-US" sz="1200" u="none" cap="none" strike="noStrike">
                          <a:solidFill>
                            <a:srgbClr val="2B2B2B"/>
                          </a:solidFill>
                          <a:latin typeface="Georgia"/>
                          <a:ea typeface="Georgia"/>
                          <a:cs typeface="Georgia"/>
                          <a:sym typeface="Georgia"/>
                        </a:rPr>
                        <a:t>flux  (r-band)</a:t>
                      </a:r>
                      <a:endParaRPr sz="1200" u="none" cap="none" strike="noStrike">
                        <a:latin typeface="Georgia"/>
                        <a:ea typeface="Georgia"/>
                        <a:cs typeface="Georgia"/>
                        <a:sym typeface="Georgia"/>
                      </a:endParaRPr>
                    </a:p>
                  </a:txBody>
                  <a:tcPr marT="73150" marB="73150" marR="73150" marL="73150" anchor="ctr">
                    <a:lnL cap="flat" cmpd="sng" w="9525">
                      <a:solidFill>
                        <a:srgbClr val="B0B0B0"/>
                      </a:solidFill>
                      <a:prstDash val="solid"/>
                      <a:round/>
                      <a:headEnd len="sm" w="sm" type="none"/>
                      <a:tailEnd len="sm" w="sm" type="none"/>
                    </a:lnL>
                    <a:lnR cap="flat" cmpd="sng" w="9525">
                      <a:solidFill>
                        <a:srgbClr val="B0B0B0"/>
                      </a:solidFill>
                      <a:prstDash val="solid"/>
                      <a:round/>
                      <a:headEnd len="sm" w="sm" type="none"/>
                      <a:tailEnd len="sm" w="sm" type="none"/>
                    </a:lnR>
                    <a:lnT cap="flat" cmpd="sng" w="9525">
                      <a:solidFill>
                        <a:srgbClr val="B0B0B0"/>
                      </a:solidFill>
                      <a:prstDash val="solid"/>
                      <a:round/>
                      <a:headEnd len="sm" w="sm" type="none"/>
                      <a:tailEnd len="sm" w="sm" type="none"/>
                    </a:lnT>
                    <a:lnB cap="flat" cmpd="sng" w="9525">
                      <a:solidFill>
                        <a:srgbClr val="B0B0B0"/>
                      </a:solidFill>
                      <a:prstDash val="solid"/>
                      <a:round/>
                      <a:headEnd len="sm" w="sm" type="none"/>
                      <a:tailEnd len="sm" w="sm" type="none"/>
                    </a:lnB>
                  </a:tcPr>
                </a:tc>
                <a:tc>
                  <a:txBody>
                    <a:bodyPr/>
                    <a:lstStyle/>
                    <a:p>
                      <a:pPr indent="0" lvl="0" marL="0" marR="0" rtl="0" algn="ctr">
                        <a:spcBef>
                          <a:spcPts val="0"/>
                        </a:spcBef>
                        <a:spcAft>
                          <a:spcPts val="0"/>
                        </a:spcAft>
                        <a:buClr>
                          <a:srgbClr val="7B2D26"/>
                        </a:buClr>
                        <a:buSzPts val="1200"/>
                        <a:buFont typeface="Georgia"/>
                        <a:buNone/>
                      </a:pPr>
                      <a:r>
                        <a:rPr b="1" lang="en-US" sz="1200" u="none" cap="none" strike="noStrike">
                          <a:solidFill>
                            <a:srgbClr val="7B2D26"/>
                          </a:solidFill>
                          <a:latin typeface="Georgia"/>
                          <a:ea typeface="Georgia"/>
                          <a:cs typeface="Georgia"/>
                          <a:sym typeface="Georgia"/>
                        </a:rPr>
                        <a:t>Ratio</a:t>
                      </a:r>
                      <a:endParaRPr sz="1200" u="none" cap="none" strike="noStrike">
                        <a:latin typeface="Georgia"/>
                        <a:ea typeface="Georgia"/>
                        <a:cs typeface="Georgia"/>
                        <a:sym typeface="Georgia"/>
                      </a:endParaRPr>
                    </a:p>
                  </a:txBody>
                  <a:tcPr marT="73150" marB="73150" marR="73150" marL="73150" anchor="ctr">
                    <a:lnL cap="flat" cmpd="sng" w="9525">
                      <a:solidFill>
                        <a:srgbClr val="B0B0B0"/>
                      </a:solidFill>
                      <a:prstDash val="solid"/>
                      <a:round/>
                      <a:headEnd len="sm" w="sm" type="none"/>
                      <a:tailEnd len="sm" w="sm" type="none"/>
                    </a:lnL>
                    <a:lnR cap="flat" cmpd="sng" w="9525">
                      <a:solidFill>
                        <a:srgbClr val="B0B0B0"/>
                      </a:solidFill>
                      <a:prstDash val="solid"/>
                      <a:round/>
                      <a:headEnd len="sm" w="sm" type="none"/>
                      <a:tailEnd len="sm" w="sm" type="none"/>
                    </a:lnR>
                    <a:lnT cap="flat" cmpd="sng" w="9525">
                      <a:solidFill>
                        <a:srgbClr val="B0B0B0"/>
                      </a:solidFill>
                      <a:prstDash val="solid"/>
                      <a:round/>
                      <a:headEnd len="sm" w="sm" type="none"/>
                      <a:tailEnd len="sm" w="sm" type="none"/>
                    </a:lnT>
                    <a:lnB cap="flat" cmpd="sng" w="9525">
                      <a:solidFill>
                        <a:srgbClr val="B0B0B0"/>
                      </a:solidFill>
                      <a:prstDash val="solid"/>
                      <a:round/>
                      <a:headEnd len="sm" w="sm" type="none"/>
                      <a:tailEnd len="sm" w="sm" type="none"/>
                    </a:lnB>
                  </a:tcPr>
                </a:tc>
                <a:tc>
                  <a:txBody>
                    <a:bodyPr/>
                    <a:lstStyle/>
                    <a:p>
                      <a:pPr indent="0" lvl="0" marL="0" marR="0" rtl="0" algn="l">
                        <a:spcBef>
                          <a:spcPts val="0"/>
                        </a:spcBef>
                        <a:spcAft>
                          <a:spcPts val="0"/>
                        </a:spcAft>
                        <a:buClr>
                          <a:srgbClr val="2B2B2B"/>
                        </a:buClr>
                        <a:buSzPts val="1100"/>
                        <a:buFont typeface="Georgia"/>
                        <a:buNone/>
                      </a:pPr>
                      <a:r>
                        <a:rPr i="1" lang="en-US" sz="1100" u="none" cap="none" strike="noStrike">
                          <a:solidFill>
                            <a:srgbClr val="2B2B2B"/>
                          </a:solidFill>
                          <a:latin typeface="Georgia"/>
                          <a:ea typeface="Georgia"/>
                          <a:cs typeface="Georgia"/>
                          <a:sym typeface="Georgia"/>
                        </a:rPr>
                        <a:t>zero flux IS true zero;  ratios meaningful</a:t>
                      </a:r>
                      <a:endParaRPr sz="1100" u="none" cap="none" strike="noStrike">
                        <a:latin typeface="Georgia"/>
                        <a:ea typeface="Georgia"/>
                        <a:cs typeface="Georgia"/>
                        <a:sym typeface="Georgia"/>
                      </a:endParaRPr>
                    </a:p>
                  </a:txBody>
                  <a:tcPr marT="73150" marB="73150" marR="73150" marL="73150" anchor="ctr">
                    <a:lnL cap="flat" cmpd="sng" w="9525">
                      <a:solidFill>
                        <a:srgbClr val="B0B0B0"/>
                      </a:solidFill>
                      <a:prstDash val="solid"/>
                      <a:round/>
                      <a:headEnd len="sm" w="sm" type="none"/>
                      <a:tailEnd len="sm" w="sm" type="none"/>
                    </a:lnL>
                    <a:lnR cap="flat" cmpd="sng" w="9525">
                      <a:solidFill>
                        <a:srgbClr val="B0B0B0"/>
                      </a:solidFill>
                      <a:prstDash val="solid"/>
                      <a:round/>
                      <a:headEnd len="sm" w="sm" type="none"/>
                      <a:tailEnd len="sm" w="sm" type="none"/>
                    </a:lnR>
                    <a:lnT cap="flat" cmpd="sng" w="9525">
                      <a:solidFill>
                        <a:srgbClr val="B0B0B0"/>
                      </a:solidFill>
                      <a:prstDash val="solid"/>
                      <a:round/>
                      <a:headEnd len="sm" w="sm" type="none"/>
                      <a:tailEnd len="sm" w="sm" type="none"/>
                    </a:lnT>
                    <a:lnB cap="flat" cmpd="sng" w="9525">
                      <a:solidFill>
                        <a:srgbClr val="B0B0B0"/>
                      </a:solidFill>
                      <a:prstDash val="solid"/>
                      <a:round/>
                      <a:headEnd len="sm" w="sm" type="none"/>
                      <a:tailEnd len="sm" w="sm" type="none"/>
                    </a:lnB>
                  </a:tcPr>
                </a:tc>
              </a:tr>
              <a:tr h="338325">
                <a:tc>
                  <a:txBody>
                    <a:bodyPr/>
                    <a:lstStyle/>
                    <a:p>
                      <a:pPr indent="0" lvl="0" marL="0" marR="0" rtl="0" algn="l">
                        <a:spcBef>
                          <a:spcPts val="0"/>
                        </a:spcBef>
                        <a:spcAft>
                          <a:spcPts val="0"/>
                        </a:spcAft>
                        <a:buClr>
                          <a:srgbClr val="2B2B2B"/>
                        </a:buClr>
                        <a:buSzPts val="1200"/>
                        <a:buFont typeface="Georgia"/>
                        <a:buNone/>
                      </a:pPr>
                      <a:r>
                        <a:rPr lang="en-US" sz="1200" u="none" cap="none" strike="noStrike">
                          <a:solidFill>
                            <a:srgbClr val="2B2B2B"/>
                          </a:solidFill>
                          <a:latin typeface="Georgia"/>
                          <a:ea typeface="Georgia"/>
                          <a:cs typeface="Georgia"/>
                          <a:sym typeface="Georgia"/>
                        </a:rPr>
                        <a:t>redshift  z</a:t>
                      </a:r>
                      <a:endParaRPr sz="1200" u="none" cap="none" strike="noStrike">
                        <a:latin typeface="Georgia"/>
                        <a:ea typeface="Georgia"/>
                        <a:cs typeface="Georgia"/>
                        <a:sym typeface="Georgia"/>
                      </a:endParaRPr>
                    </a:p>
                  </a:txBody>
                  <a:tcPr marT="73150" marB="73150" marR="73150" marL="73150" anchor="ctr">
                    <a:lnL cap="flat" cmpd="sng" w="9525">
                      <a:solidFill>
                        <a:srgbClr val="B0B0B0"/>
                      </a:solidFill>
                      <a:prstDash val="solid"/>
                      <a:round/>
                      <a:headEnd len="sm" w="sm" type="none"/>
                      <a:tailEnd len="sm" w="sm" type="none"/>
                    </a:lnL>
                    <a:lnR cap="flat" cmpd="sng" w="9525">
                      <a:solidFill>
                        <a:srgbClr val="B0B0B0"/>
                      </a:solidFill>
                      <a:prstDash val="solid"/>
                      <a:round/>
                      <a:headEnd len="sm" w="sm" type="none"/>
                      <a:tailEnd len="sm" w="sm" type="none"/>
                    </a:lnR>
                    <a:lnT cap="flat" cmpd="sng" w="9525">
                      <a:solidFill>
                        <a:srgbClr val="B0B0B0"/>
                      </a:solidFill>
                      <a:prstDash val="solid"/>
                      <a:round/>
                      <a:headEnd len="sm" w="sm" type="none"/>
                      <a:tailEnd len="sm" w="sm" type="none"/>
                    </a:lnT>
                    <a:lnB cap="flat" cmpd="sng" w="9525">
                      <a:solidFill>
                        <a:srgbClr val="B0B0B0"/>
                      </a:solidFill>
                      <a:prstDash val="solid"/>
                      <a:round/>
                      <a:headEnd len="sm" w="sm" type="none"/>
                      <a:tailEnd len="sm" w="sm" type="none"/>
                    </a:lnB>
                  </a:tcPr>
                </a:tc>
                <a:tc>
                  <a:txBody>
                    <a:bodyPr/>
                    <a:lstStyle/>
                    <a:p>
                      <a:pPr indent="0" lvl="0" marL="0" marR="0" rtl="0" algn="ctr">
                        <a:spcBef>
                          <a:spcPts val="0"/>
                        </a:spcBef>
                        <a:spcAft>
                          <a:spcPts val="0"/>
                        </a:spcAft>
                        <a:buClr>
                          <a:srgbClr val="7B2D26"/>
                        </a:buClr>
                        <a:buSzPts val="1200"/>
                        <a:buFont typeface="Georgia"/>
                        <a:buNone/>
                      </a:pPr>
                      <a:r>
                        <a:rPr b="1" lang="en-US" sz="1200" u="none" cap="none" strike="noStrike">
                          <a:solidFill>
                            <a:srgbClr val="7B2D26"/>
                          </a:solidFill>
                          <a:latin typeface="Georgia"/>
                          <a:ea typeface="Georgia"/>
                          <a:cs typeface="Georgia"/>
                          <a:sym typeface="Georgia"/>
                        </a:rPr>
                        <a:t>Ratio</a:t>
                      </a:r>
                      <a:endParaRPr sz="1200" u="none" cap="none" strike="noStrike">
                        <a:latin typeface="Georgia"/>
                        <a:ea typeface="Georgia"/>
                        <a:cs typeface="Georgia"/>
                        <a:sym typeface="Georgia"/>
                      </a:endParaRPr>
                    </a:p>
                  </a:txBody>
                  <a:tcPr marT="73150" marB="73150" marR="73150" marL="73150" anchor="ctr">
                    <a:lnL cap="flat" cmpd="sng" w="9525">
                      <a:solidFill>
                        <a:srgbClr val="B0B0B0"/>
                      </a:solidFill>
                      <a:prstDash val="solid"/>
                      <a:round/>
                      <a:headEnd len="sm" w="sm" type="none"/>
                      <a:tailEnd len="sm" w="sm" type="none"/>
                    </a:lnL>
                    <a:lnR cap="flat" cmpd="sng" w="9525">
                      <a:solidFill>
                        <a:srgbClr val="B0B0B0"/>
                      </a:solidFill>
                      <a:prstDash val="solid"/>
                      <a:round/>
                      <a:headEnd len="sm" w="sm" type="none"/>
                      <a:tailEnd len="sm" w="sm" type="none"/>
                    </a:lnR>
                    <a:lnT cap="flat" cmpd="sng" w="9525">
                      <a:solidFill>
                        <a:srgbClr val="B0B0B0"/>
                      </a:solidFill>
                      <a:prstDash val="solid"/>
                      <a:round/>
                      <a:headEnd len="sm" w="sm" type="none"/>
                      <a:tailEnd len="sm" w="sm" type="none"/>
                    </a:lnT>
                    <a:lnB cap="flat" cmpd="sng" w="9525">
                      <a:solidFill>
                        <a:srgbClr val="B0B0B0"/>
                      </a:solidFill>
                      <a:prstDash val="solid"/>
                      <a:round/>
                      <a:headEnd len="sm" w="sm" type="none"/>
                      <a:tailEnd len="sm" w="sm" type="none"/>
                    </a:lnB>
                  </a:tcPr>
                </a:tc>
                <a:tc>
                  <a:txBody>
                    <a:bodyPr/>
                    <a:lstStyle/>
                    <a:p>
                      <a:pPr indent="0" lvl="0" marL="0" marR="0" rtl="0" algn="l">
                        <a:spcBef>
                          <a:spcPts val="0"/>
                        </a:spcBef>
                        <a:spcAft>
                          <a:spcPts val="0"/>
                        </a:spcAft>
                        <a:buClr>
                          <a:srgbClr val="2B2B2B"/>
                        </a:buClr>
                        <a:buSzPts val="1100"/>
                        <a:buFont typeface="Georgia"/>
                        <a:buNone/>
                      </a:pPr>
                      <a:r>
                        <a:rPr i="1" lang="en-US" sz="1100" u="none" cap="none" strike="noStrike">
                          <a:solidFill>
                            <a:srgbClr val="2B2B2B"/>
                          </a:solidFill>
                          <a:latin typeface="Georgia"/>
                          <a:ea typeface="Georgia"/>
                          <a:cs typeface="Georgia"/>
                          <a:sym typeface="Georgia"/>
                        </a:rPr>
                        <a:t>z = 0 means stationary;  z₁/z₂ is meaningful</a:t>
                      </a:r>
                      <a:endParaRPr sz="1100" u="none" cap="none" strike="noStrike">
                        <a:latin typeface="Georgia"/>
                        <a:ea typeface="Georgia"/>
                        <a:cs typeface="Georgia"/>
                        <a:sym typeface="Georgia"/>
                      </a:endParaRPr>
                    </a:p>
                  </a:txBody>
                  <a:tcPr marT="73150" marB="73150" marR="73150" marL="73150" anchor="ctr">
                    <a:lnL cap="flat" cmpd="sng" w="9525">
                      <a:solidFill>
                        <a:srgbClr val="B0B0B0"/>
                      </a:solidFill>
                      <a:prstDash val="solid"/>
                      <a:round/>
                      <a:headEnd len="sm" w="sm" type="none"/>
                      <a:tailEnd len="sm" w="sm" type="none"/>
                    </a:lnL>
                    <a:lnR cap="flat" cmpd="sng" w="9525">
                      <a:solidFill>
                        <a:srgbClr val="B0B0B0"/>
                      </a:solidFill>
                      <a:prstDash val="solid"/>
                      <a:round/>
                      <a:headEnd len="sm" w="sm" type="none"/>
                      <a:tailEnd len="sm" w="sm" type="none"/>
                    </a:lnR>
                    <a:lnT cap="flat" cmpd="sng" w="9525">
                      <a:solidFill>
                        <a:srgbClr val="B0B0B0"/>
                      </a:solidFill>
                      <a:prstDash val="solid"/>
                      <a:round/>
                      <a:headEnd len="sm" w="sm" type="none"/>
                      <a:tailEnd len="sm" w="sm" type="none"/>
                    </a:lnT>
                    <a:lnB cap="flat" cmpd="sng" w="9525">
                      <a:solidFill>
                        <a:srgbClr val="B0B0B0"/>
                      </a:solidFill>
                      <a:prstDash val="solid"/>
                      <a:round/>
                      <a:headEnd len="sm" w="sm" type="none"/>
                      <a:tailEnd len="sm" w="sm" type="none"/>
                    </a:lnB>
                  </a:tcPr>
                </a:tc>
              </a:tr>
            </a:tbl>
          </a:graphicData>
        </a:graphic>
      </p:graphicFrame>
      <p:sp>
        <p:nvSpPr>
          <p:cNvPr id="96" name="Google Shape;96;p6"/>
          <p:cNvSpPr/>
          <p:nvPr/>
        </p:nvSpPr>
        <p:spPr>
          <a:xfrm>
            <a:off x="365760" y="3520440"/>
            <a:ext cx="8412480" cy="914400"/>
          </a:xfrm>
          <a:prstGeom prst="rect">
            <a:avLst/>
          </a:prstGeom>
          <a:solidFill>
            <a:srgbClr val="F4ECE9"/>
          </a:solidFill>
          <a:ln cap="flat" cmpd="sng" w="9525">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6"/>
          <p:cNvSpPr/>
          <p:nvPr/>
        </p:nvSpPr>
        <p:spPr>
          <a:xfrm>
            <a:off x="502920" y="3611880"/>
            <a:ext cx="818388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1300"/>
              <a:buFont typeface="Georgia"/>
              <a:buNone/>
            </a:pPr>
            <a:r>
              <a:rPr b="1" i="0" lang="en-US" sz="1300" u="none" cap="none" strike="noStrike">
                <a:solidFill>
                  <a:srgbClr val="7B2D26"/>
                </a:solidFill>
                <a:latin typeface="Georgia"/>
                <a:ea typeface="Georgia"/>
                <a:cs typeface="Georgia"/>
                <a:sym typeface="Georgia"/>
              </a:rPr>
              <a:t>Why this matters in Lecture 2:  </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1300"/>
              <a:buFont typeface="Georgia"/>
              <a:buNone/>
            </a:pPr>
            <a:r>
              <a:rPr b="1" i="0" lang="en-US" sz="1300" u="none" cap="none" strike="noStrike">
                <a:solidFill>
                  <a:srgbClr val="000000"/>
                </a:solidFill>
                <a:latin typeface="Georgia"/>
                <a:ea typeface="Georgia"/>
                <a:cs typeface="Georgia"/>
                <a:sym typeface="Georgia"/>
              </a:rPr>
              <a:t>Nominal </a:t>
            </a:r>
            <a:r>
              <a:rPr b="0" i="0" lang="en-US" sz="1300" u="none" cap="none" strike="noStrike">
                <a:solidFill>
                  <a:srgbClr val="2B2B2B"/>
                </a:solidFill>
                <a:latin typeface="Georgia"/>
                <a:ea typeface="Georgia"/>
                <a:cs typeface="Georgia"/>
                <a:sym typeface="Georgia"/>
              </a:rPr>
              <a:t>→ one-hot encode.  </a:t>
            </a:r>
            <a:r>
              <a:rPr b="1" i="0" lang="en-US" sz="1300" u="none" cap="none" strike="noStrike">
                <a:solidFill>
                  <a:srgbClr val="000000"/>
                </a:solidFill>
                <a:latin typeface="Georgia"/>
                <a:ea typeface="Georgia"/>
                <a:cs typeface="Georgia"/>
                <a:sym typeface="Georgia"/>
              </a:rPr>
              <a:t>Ordinal </a:t>
            </a:r>
            <a:r>
              <a:rPr b="0" i="0" lang="en-US" sz="1300" u="none" cap="none" strike="noStrike">
                <a:solidFill>
                  <a:srgbClr val="2B2B2B"/>
                </a:solidFill>
                <a:latin typeface="Georgia"/>
                <a:ea typeface="Georgia"/>
                <a:cs typeface="Georgia"/>
                <a:sym typeface="Georgia"/>
              </a:rPr>
              <a:t>→ label-encode preserving the order.  </a:t>
            </a:r>
            <a:r>
              <a:rPr b="1" i="0" lang="en-US" sz="1300" u="none" cap="none" strike="noStrike">
                <a:solidFill>
                  <a:srgbClr val="000000"/>
                </a:solidFill>
                <a:latin typeface="Georgia"/>
                <a:ea typeface="Georgia"/>
                <a:cs typeface="Georgia"/>
                <a:sym typeface="Georgia"/>
              </a:rPr>
              <a:t>Interval / Ratio </a:t>
            </a:r>
            <a:r>
              <a:rPr b="0" i="0" lang="en-US" sz="1300" u="none" cap="none" strike="noStrike">
                <a:solidFill>
                  <a:srgbClr val="2B2B2B"/>
                </a:solidFill>
                <a:latin typeface="Georgia"/>
                <a:ea typeface="Georgia"/>
                <a:cs typeface="Georgia"/>
                <a:sym typeface="Georgia"/>
              </a:rPr>
              <a:t>→ use as-is, optionally scale (Standard or MinMax).</a:t>
            </a:r>
            <a:endParaRPr b="0" i="0" sz="1300" u="none" cap="none" strike="noStrike">
              <a:solidFill>
                <a:schemeClr val="dk1"/>
              </a:solidFill>
              <a:latin typeface="Calibri"/>
              <a:ea typeface="Calibri"/>
              <a:cs typeface="Calibri"/>
              <a:sym typeface="Calibri"/>
            </a:endParaRPr>
          </a:p>
        </p:txBody>
      </p:sp>
      <p:pic>
        <p:nvPicPr>
          <p:cNvPr descr="/sessions/sleepy-friendly-euler/mnt/outputs/logos/cosmicai_logo.png" id="98" name="Google Shape;98;p6"/>
          <p:cNvPicPr preferRelativeResize="0"/>
          <p:nvPr/>
        </p:nvPicPr>
        <p:blipFill rotWithShape="1">
          <a:blip r:embed="rId3">
            <a:alphaModFix/>
          </a:blip>
          <a:srcRect b="0" l="0" r="0" t="0"/>
          <a:stretch/>
        </p:blipFill>
        <p:spPr>
          <a:xfrm>
            <a:off x="228600" y="4526280"/>
            <a:ext cx="1463040" cy="502920"/>
          </a:xfrm>
          <a:prstGeom prst="rect">
            <a:avLst/>
          </a:prstGeom>
          <a:noFill/>
          <a:ln>
            <a:noFill/>
          </a:ln>
        </p:spPr>
      </p:pic>
      <p:sp>
        <p:nvSpPr>
          <p:cNvPr id="99" name="Google Shape;99;p6"/>
          <p:cNvSpPr/>
          <p:nvPr/>
        </p:nvSpPr>
        <p:spPr>
          <a:xfrm>
            <a:off x="2743200" y="4663440"/>
            <a:ext cx="36576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1" i="0" lang="en-US" sz="1200" u="none" cap="none" strike="noStrike">
                <a:solidFill>
                  <a:srgbClr val="2B2B2B"/>
                </a:solidFill>
                <a:latin typeface="Georgia"/>
                <a:ea typeface="Georgia"/>
                <a:cs typeface="Georgia"/>
                <a:sym typeface="Georgia"/>
              </a:rPr>
              <a:t>CosmicAI Summer School</a:t>
            </a:r>
            <a:endParaRPr b="0" i="0" sz="1200" u="none" cap="none" strike="noStrike">
              <a:solidFill>
                <a:schemeClr val="dk1"/>
              </a:solidFill>
              <a:latin typeface="Calibri"/>
              <a:ea typeface="Calibri"/>
              <a:cs typeface="Calibri"/>
              <a:sym typeface="Calibri"/>
            </a:endParaRPr>
          </a:p>
        </p:txBody>
      </p:sp>
      <p:sp>
        <p:nvSpPr>
          <p:cNvPr id="100" name="Google Shape;100;p6"/>
          <p:cNvSpPr/>
          <p:nvPr/>
        </p:nvSpPr>
        <p:spPr>
          <a:xfrm>
            <a:off x="8275320" y="4754880"/>
            <a:ext cx="6858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06060"/>
              </a:buClr>
              <a:buSzPts val="1200"/>
              <a:buFont typeface="Georgia"/>
              <a:buNone/>
            </a:pPr>
            <a:r>
              <a:rPr b="0" i="0" lang="en-US" sz="1200" u="none" cap="none" strike="noStrike">
                <a:solidFill>
                  <a:srgbClr val="606060"/>
                </a:solidFill>
                <a:latin typeface="Georgia"/>
                <a:ea typeface="Georgia"/>
                <a:cs typeface="Georgia"/>
                <a:sym typeface="Georgia"/>
              </a:rPr>
              <a:t>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105" name="Shape 105"/>
        <p:cNvGrpSpPr/>
        <p:nvPr/>
      </p:nvGrpSpPr>
      <p:grpSpPr>
        <a:xfrm>
          <a:off x="0" y="0"/>
          <a:ext cx="0" cy="0"/>
          <a:chOff x="0" y="0"/>
          <a:chExt cx="0" cy="0"/>
        </a:xfrm>
      </p:grpSpPr>
      <p:sp>
        <p:nvSpPr>
          <p:cNvPr id="106" name="Google Shape;106;p7"/>
          <p:cNvSpPr/>
          <p:nvPr/>
        </p:nvSpPr>
        <p:spPr>
          <a:xfrm>
            <a:off x="274320" y="137160"/>
            <a:ext cx="704088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2800"/>
              <a:buFont typeface="Georgia"/>
              <a:buNone/>
            </a:pPr>
            <a:r>
              <a:rPr b="0" i="0" lang="en-US" sz="2800" u="none" cap="none" strike="noStrike">
                <a:solidFill>
                  <a:srgbClr val="7B2D26"/>
                </a:solidFill>
                <a:latin typeface="Georgia"/>
                <a:ea typeface="Georgia"/>
                <a:cs typeface="Georgia"/>
                <a:sym typeface="Georgia"/>
              </a:rPr>
              <a:t>Quick Check  1</a:t>
            </a:r>
            <a:endParaRPr b="0" i="0" sz="2800" u="none" cap="none" strike="noStrike">
              <a:solidFill>
                <a:schemeClr val="dk1"/>
              </a:solidFill>
              <a:latin typeface="Calibri"/>
              <a:ea typeface="Calibri"/>
              <a:cs typeface="Calibri"/>
              <a:sym typeface="Calibri"/>
            </a:endParaRPr>
          </a:p>
        </p:txBody>
      </p:sp>
      <p:cxnSp>
        <p:nvCxnSpPr>
          <p:cNvPr id="107" name="Google Shape;107;p7"/>
          <p:cNvCxnSpPr/>
          <p:nvPr/>
        </p:nvCxnSpPr>
        <p:spPr>
          <a:xfrm>
            <a:off x="365760" y="685800"/>
            <a:ext cx="8412480" cy="0"/>
          </a:xfrm>
          <a:prstGeom prst="straightConnector1">
            <a:avLst/>
          </a:prstGeom>
          <a:noFill/>
          <a:ln cap="flat" cmpd="sng" w="15875">
            <a:solidFill>
              <a:srgbClr val="B0B0B0"/>
            </a:solidFill>
            <a:prstDash val="solid"/>
            <a:round/>
            <a:headEnd len="sm" w="sm" type="none"/>
            <a:tailEnd len="sm" w="sm" type="none"/>
          </a:ln>
        </p:spPr>
      </p:cxnSp>
      <p:sp>
        <p:nvSpPr>
          <p:cNvPr id="108" name="Google Shape;108;p7"/>
          <p:cNvSpPr/>
          <p:nvPr/>
        </p:nvSpPr>
        <p:spPr>
          <a:xfrm>
            <a:off x="7360920" y="182880"/>
            <a:ext cx="1600200" cy="292608"/>
          </a:xfrm>
          <a:prstGeom prst="rect">
            <a:avLst/>
          </a:prstGeom>
          <a:solidFill>
            <a:srgbClr val="2F5A7A"/>
          </a:solidFill>
          <a:ln cap="flat" cmpd="sng" w="12700">
            <a:solidFill>
              <a:srgbClr val="2F5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7"/>
          <p:cNvSpPr/>
          <p:nvPr/>
        </p:nvSpPr>
        <p:spPr>
          <a:xfrm>
            <a:off x="7360920" y="182880"/>
            <a:ext cx="1600200"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50"/>
              <a:buFont typeface="Georgia"/>
              <a:buNone/>
            </a:pPr>
            <a:r>
              <a:rPr b="1" i="0" lang="en-US" sz="1050" u="none" cap="none" strike="noStrike">
                <a:solidFill>
                  <a:srgbClr val="FFFFFF"/>
                </a:solidFill>
                <a:latin typeface="Georgia"/>
                <a:ea typeface="Georgia"/>
                <a:cs typeface="Georgia"/>
                <a:sym typeface="Georgia"/>
              </a:rPr>
              <a:t>QUIZ</a:t>
            </a:r>
            <a:endParaRPr b="0" i="0" sz="1050" u="none" cap="none" strike="noStrike">
              <a:solidFill>
                <a:schemeClr val="dk1"/>
              </a:solidFill>
              <a:latin typeface="Calibri"/>
              <a:ea typeface="Calibri"/>
              <a:cs typeface="Calibri"/>
              <a:sym typeface="Calibri"/>
            </a:endParaRPr>
          </a:p>
        </p:txBody>
      </p:sp>
      <p:sp>
        <p:nvSpPr>
          <p:cNvPr id="110" name="Google Shape;110;p7"/>
          <p:cNvSpPr/>
          <p:nvPr/>
        </p:nvSpPr>
        <p:spPr>
          <a:xfrm>
            <a:off x="457200" y="822960"/>
            <a:ext cx="841248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B2B2B"/>
              </a:buClr>
              <a:buSzPts val="1700"/>
              <a:buFont typeface="Georgia"/>
              <a:buNone/>
            </a:pPr>
            <a:r>
              <a:rPr b="0" i="1" lang="en-US" sz="1700" u="none" cap="none" strike="noStrike">
                <a:solidFill>
                  <a:srgbClr val="2B2B2B"/>
                </a:solidFill>
                <a:latin typeface="Georgia"/>
                <a:ea typeface="Georgia"/>
                <a:cs typeface="Georgia"/>
                <a:sym typeface="Georgia"/>
              </a:rPr>
              <a:t>Which of these is BEST treated as an  ORDINAL  feature?</a:t>
            </a:r>
            <a:endParaRPr b="0" i="0" sz="1700" u="none" cap="none" strike="noStrike">
              <a:solidFill>
                <a:schemeClr val="dk1"/>
              </a:solidFill>
              <a:latin typeface="Calibri"/>
              <a:ea typeface="Calibri"/>
              <a:cs typeface="Calibri"/>
              <a:sym typeface="Calibri"/>
            </a:endParaRPr>
          </a:p>
        </p:txBody>
      </p:sp>
      <p:sp>
        <p:nvSpPr>
          <p:cNvPr id="111" name="Google Shape;111;p7"/>
          <p:cNvSpPr/>
          <p:nvPr/>
        </p:nvSpPr>
        <p:spPr>
          <a:xfrm>
            <a:off x="457200" y="1463040"/>
            <a:ext cx="4023360" cy="1371600"/>
          </a:xfrm>
          <a:prstGeom prst="rect">
            <a:avLst/>
          </a:prstGeom>
          <a:solidFill>
            <a:srgbClr val="FFFFFF"/>
          </a:solidFill>
          <a:ln cap="flat" cmpd="sng" w="10150">
            <a:solidFill>
              <a:srgbClr val="2F5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7"/>
          <p:cNvSpPr/>
          <p:nvPr/>
        </p:nvSpPr>
        <p:spPr>
          <a:xfrm>
            <a:off x="594360" y="1691640"/>
            <a:ext cx="502920" cy="502920"/>
          </a:xfrm>
          <a:prstGeom prst="ellipse">
            <a:avLst/>
          </a:prstGeom>
          <a:solidFill>
            <a:srgbClr val="2F5A7A"/>
          </a:solidFill>
          <a:ln cap="flat" cmpd="sng" w="12700">
            <a:solidFill>
              <a:srgbClr val="2F5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7"/>
          <p:cNvSpPr/>
          <p:nvPr/>
        </p:nvSpPr>
        <p:spPr>
          <a:xfrm>
            <a:off x="594360" y="1691640"/>
            <a:ext cx="50292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A</a:t>
            </a:r>
            <a:endParaRPr b="0" i="0" sz="1800" u="none" cap="none" strike="noStrike">
              <a:solidFill>
                <a:schemeClr val="dk1"/>
              </a:solidFill>
              <a:latin typeface="Calibri"/>
              <a:ea typeface="Calibri"/>
              <a:cs typeface="Calibri"/>
              <a:sym typeface="Calibri"/>
            </a:endParaRPr>
          </a:p>
        </p:txBody>
      </p:sp>
      <p:sp>
        <p:nvSpPr>
          <p:cNvPr id="114" name="Google Shape;114;p7"/>
          <p:cNvSpPr/>
          <p:nvPr/>
        </p:nvSpPr>
        <p:spPr>
          <a:xfrm>
            <a:off x="1234440" y="1554480"/>
            <a:ext cx="310896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B"/>
              </a:buClr>
              <a:buSzPts val="1300"/>
              <a:buFont typeface="Georgia"/>
              <a:buNone/>
            </a:pPr>
            <a:r>
              <a:rPr b="0" i="0" lang="en-US" sz="1300" u="none" cap="none" strike="noStrike">
                <a:solidFill>
                  <a:srgbClr val="2B2B2B"/>
                </a:solidFill>
                <a:latin typeface="Georgia"/>
                <a:ea typeface="Georgia"/>
                <a:cs typeface="Georgia"/>
                <a:sym typeface="Georgia"/>
              </a:rPr>
              <a:t>Galaxy ID number</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B2B"/>
              </a:buClr>
              <a:buSzPts val="1300"/>
              <a:buFont typeface="Georgia"/>
              <a:buNone/>
            </a:pPr>
            <a:r>
              <a:rPr b="0" i="0" lang="en-US" sz="1300" u="none" cap="none" strike="noStrike">
                <a:solidFill>
                  <a:srgbClr val="2B2B2B"/>
                </a:solidFill>
                <a:latin typeface="Georgia"/>
                <a:ea typeface="Georgia"/>
                <a:cs typeface="Georgia"/>
                <a:sym typeface="Georgia"/>
              </a:rPr>
              <a:t>(e.g.  587725073921…)</a:t>
            </a:r>
            <a:endParaRPr b="0" i="0" sz="1300" u="none" cap="none" strike="noStrike">
              <a:solidFill>
                <a:schemeClr val="dk1"/>
              </a:solidFill>
              <a:latin typeface="Calibri"/>
              <a:ea typeface="Calibri"/>
              <a:cs typeface="Calibri"/>
              <a:sym typeface="Calibri"/>
            </a:endParaRPr>
          </a:p>
        </p:txBody>
      </p:sp>
      <p:sp>
        <p:nvSpPr>
          <p:cNvPr id="115" name="Google Shape;115;p7"/>
          <p:cNvSpPr/>
          <p:nvPr/>
        </p:nvSpPr>
        <p:spPr>
          <a:xfrm>
            <a:off x="4663440" y="1463040"/>
            <a:ext cx="4023360" cy="1371600"/>
          </a:xfrm>
          <a:prstGeom prst="rect">
            <a:avLst/>
          </a:prstGeom>
          <a:solidFill>
            <a:srgbClr val="FFFFFF"/>
          </a:solidFill>
          <a:ln cap="flat" cmpd="sng" w="10150">
            <a:solidFill>
              <a:srgbClr val="2F5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7"/>
          <p:cNvSpPr/>
          <p:nvPr/>
        </p:nvSpPr>
        <p:spPr>
          <a:xfrm>
            <a:off x="4800600" y="1691640"/>
            <a:ext cx="502920" cy="502920"/>
          </a:xfrm>
          <a:prstGeom prst="ellipse">
            <a:avLst/>
          </a:prstGeom>
          <a:solidFill>
            <a:srgbClr val="2F5A7A"/>
          </a:solidFill>
          <a:ln cap="flat" cmpd="sng" w="12700">
            <a:solidFill>
              <a:srgbClr val="2F5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7"/>
          <p:cNvSpPr/>
          <p:nvPr/>
        </p:nvSpPr>
        <p:spPr>
          <a:xfrm>
            <a:off x="4800600" y="1691640"/>
            <a:ext cx="50292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B</a:t>
            </a:r>
            <a:endParaRPr b="0" i="0" sz="1800" u="none" cap="none" strike="noStrike">
              <a:solidFill>
                <a:schemeClr val="dk1"/>
              </a:solidFill>
              <a:latin typeface="Calibri"/>
              <a:ea typeface="Calibri"/>
              <a:cs typeface="Calibri"/>
              <a:sym typeface="Calibri"/>
            </a:endParaRPr>
          </a:p>
        </p:txBody>
      </p:sp>
      <p:sp>
        <p:nvSpPr>
          <p:cNvPr id="118" name="Google Shape;118;p7"/>
          <p:cNvSpPr/>
          <p:nvPr/>
        </p:nvSpPr>
        <p:spPr>
          <a:xfrm>
            <a:off x="5440680" y="1554480"/>
            <a:ext cx="310896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B"/>
              </a:buClr>
              <a:buSzPts val="1300"/>
              <a:buFont typeface="Georgia"/>
              <a:buNone/>
            </a:pPr>
            <a:r>
              <a:rPr b="0" i="0" lang="en-US" sz="1300" u="none" cap="none" strike="noStrike">
                <a:solidFill>
                  <a:srgbClr val="2B2B2B"/>
                </a:solidFill>
                <a:latin typeface="Georgia"/>
                <a:ea typeface="Georgia"/>
                <a:cs typeface="Georgia"/>
                <a:sym typeface="Georgia"/>
              </a:rPr>
              <a:t>Hubble morphological stage</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B2B"/>
              </a:buClr>
              <a:buSzPts val="1300"/>
              <a:buFont typeface="Georgia"/>
              <a:buNone/>
            </a:pPr>
            <a:r>
              <a:rPr b="0" i="0" lang="en-US" sz="1300" u="none" cap="none" strike="noStrike">
                <a:solidFill>
                  <a:srgbClr val="2B2B2B"/>
                </a:solidFill>
                <a:latin typeface="Georgia"/>
                <a:ea typeface="Georgia"/>
                <a:cs typeface="Georgia"/>
                <a:sym typeface="Georgia"/>
              </a:rPr>
              <a:t>E  →  S0  →  Sa  →  Sb  →  Sc</a:t>
            </a:r>
            <a:endParaRPr b="0" i="0" sz="1300" u="none" cap="none" strike="noStrike">
              <a:solidFill>
                <a:schemeClr val="dk1"/>
              </a:solidFill>
              <a:latin typeface="Calibri"/>
              <a:ea typeface="Calibri"/>
              <a:cs typeface="Calibri"/>
              <a:sym typeface="Calibri"/>
            </a:endParaRPr>
          </a:p>
        </p:txBody>
      </p:sp>
      <p:sp>
        <p:nvSpPr>
          <p:cNvPr id="119" name="Google Shape;119;p7"/>
          <p:cNvSpPr/>
          <p:nvPr/>
        </p:nvSpPr>
        <p:spPr>
          <a:xfrm>
            <a:off x="457200" y="3017520"/>
            <a:ext cx="4023360" cy="1371600"/>
          </a:xfrm>
          <a:prstGeom prst="rect">
            <a:avLst/>
          </a:prstGeom>
          <a:solidFill>
            <a:srgbClr val="FFFFFF"/>
          </a:solidFill>
          <a:ln cap="flat" cmpd="sng" w="10150">
            <a:solidFill>
              <a:srgbClr val="2F5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7"/>
          <p:cNvSpPr/>
          <p:nvPr/>
        </p:nvSpPr>
        <p:spPr>
          <a:xfrm>
            <a:off x="594360" y="3246120"/>
            <a:ext cx="502920" cy="502920"/>
          </a:xfrm>
          <a:prstGeom prst="ellipse">
            <a:avLst/>
          </a:prstGeom>
          <a:solidFill>
            <a:srgbClr val="2F5A7A"/>
          </a:solidFill>
          <a:ln cap="flat" cmpd="sng" w="12700">
            <a:solidFill>
              <a:srgbClr val="2F5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7"/>
          <p:cNvSpPr/>
          <p:nvPr/>
        </p:nvSpPr>
        <p:spPr>
          <a:xfrm>
            <a:off x="594360" y="3246120"/>
            <a:ext cx="50292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C</a:t>
            </a:r>
            <a:endParaRPr b="0" i="0" sz="1800" u="none" cap="none" strike="noStrike">
              <a:solidFill>
                <a:schemeClr val="dk1"/>
              </a:solidFill>
              <a:latin typeface="Calibri"/>
              <a:ea typeface="Calibri"/>
              <a:cs typeface="Calibri"/>
              <a:sym typeface="Calibri"/>
            </a:endParaRPr>
          </a:p>
        </p:txBody>
      </p:sp>
      <p:sp>
        <p:nvSpPr>
          <p:cNvPr id="122" name="Google Shape;122;p7"/>
          <p:cNvSpPr/>
          <p:nvPr/>
        </p:nvSpPr>
        <p:spPr>
          <a:xfrm>
            <a:off x="1234440" y="3108960"/>
            <a:ext cx="310896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B"/>
              </a:buClr>
              <a:buSzPts val="1300"/>
              <a:buFont typeface="Georgia"/>
              <a:buNone/>
            </a:pPr>
            <a:r>
              <a:rPr b="0" i="0" lang="en-US" sz="1300" u="none" cap="none" strike="noStrike">
                <a:solidFill>
                  <a:srgbClr val="2B2B2B"/>
                </a:solidFill>
                <a:latin typeface="Georgia"/>
                <a:ea typeface="Georgia"/>
                <a:cs typeface="Georgia"/>
                <a:sym typeface="Georgia"/>
              </a:rPr>
              <a:t>Spectroscopic redshift</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B2B"/>
              </a:buClr>
              <a:buSzPts val="1300"/>
              <a:buFont typeface="Georgia"/>
              <a:buNone/>
            </a:pPr>
            <a:r>
              <a:rPr b="0" i="0" lang="en-US" sz="1300" u="none" cap="none" strike="noStrike">
                <a:solidFill>
                  <a:srgbClr val="2B2B2B"/>
                </a:solidFill>
                <a:latin typeface="Georgia"/>
                <a:ea typeface="Georgia"/>
                <a:cs typeface="Georgia"/>
                <a:sym typeface="Georgia"/>
              </a:rPr>
              <a:t>z = 0.12</a:t>
            </a:r>
            <a:endParaRPr b="0" i="0" sz="1300" u="none" cap="none" strike="noStrike">
              <a:solidFill>
                <a:schemeClr val="dk1"/>
              </a:solidFill>
              <a:latin typeface="Calibri"/>
              <a:ea typeface="Calibri"/>
              <a:cs typeface="Calibri"/>
              <a:sym typeface="Calibri"/>
            </a:endParaRPr>
          </a:p>
        </p:txBody>
      </p:sp>
      <p:sp>
        <p:nvSpPr>
          <p:cNvPr id="123" name="Google Shape;123;p7"/>
          <p:cNvSpPr/>
          <p:nvPr/>
        </p:nvSpPr>
        <p:spPr>
          <a:xfrm>
            <a:off x="4663440" y="3017520"/>
            <a:ext cx="4023360" cy="1371600"/>
          </a:xfrm>
          <a:prstGeom prst="rect">
            <a:avLst/>
          </a:prstGeom>
          <a:solidFill>
            <a:srgbClr val="FFFFFF"/>
          </a:solidFill>
          <a:ln cap="flat" cmpd="sng" w="10150">
            <a:solidFill>
              <a:srgbClr val="2F5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7"/>
          <p:cNvSpPr/>
          <p:nvPr/>
        </p:nvSpPr>
        <p:spPr>
          <a:xfrm>
            <a:off x="4800600" y="3246120"/>
            <a:ext cx="502920" cy="502920"/>
          </a:xfrm>
          <a:prstGeom prst="ellipse">
            <a:avLst/>
          </a:prstGeom>
          <a:solidFill>
            <a:srgbClr val="2F5A7A"/>
          </a:solidFill>
          <a:ln cap="flat" cmpd="sng" w="12700">
            <a:solidFill>
              <a:srgbClr val="2F5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7"/>
          <p:cNvSpPr/>
          <p:nvPr/>
        </p:nvSpPr>
        <p:spPr>
          <a:xfrm>
            <a:off x="4800600" y="3246120"/>
            <a:ext cx="50292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D</a:t>
            </a:r>
            <a:endParaRPr b="0" i="0" sz="1800" u="none" cap="none" strike="noStrike">
              <a:solidFill>
                <a:schemeClr val="dk1"/>
              </a:solidFill>
              <a:latin typeface="Calibri"/>
              <a:ea typeface="Calibri"/>
              <a:cs typeface="Calibri"/>
              <a:sym typeface="Calibri"/>
            </a:endParaRPr>
          </a:p>
        </p:txBody>
      </p:sp>
      <p:sp>
        <p:nvSpPr>
          <p:cNvPr id="126" name="Google Shape;126;p7"/>
          <p:cNvSpPr/>
          <p:nvPr/>
        </p:nvSpPr>
        <p:spPr>
          <a:xfrm>
            <a:off x="5440680" y="3108960"/>
            <a:ext cx="310896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B"/>
              </a:buClr>
              <a:buSzPts val="1300"/>
              <a:buFont typeface="Georgia"/>
              <a:buNone/>
            </a:pPr>
            <a:r>
              <a:rPr b="0" i="0" lang="en-US" sz="1300" u="none" cap="none" strike="noStrike">
                <a:solidFill>
                  <a:srgbClr val="2B2B2B"/>
                </a:solidFill>
                <a:latin typeface="Georgia"/>
                <a:ea typeface="Georgia"/>
                <a:cs typeface="Georgia"/>
                <a:sym typeface="Georgia"/>
              </a:rPr>
              <a:t>Galaxy color  (label)</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B2B"/>
              </a:buClr>
              <a:buSzPts val="1300"/>
              <a:buFont typeface="Georgia"/>
              <a:buNone/>
            </a:pPr>
            <a:r>
              <a:rPr b="0" i="0" lang="en-US" sz="1300" u="none" cap="none" strike="noStrike">
                <a:solidFill>
                  <a:srgbClr val="2B2B2B"/>
                </a:solidFill>
                <a:latin typeface="Georgia"/>
                <a:ea typeface="Georgia"/>
                <a:cs typeface="Georgia"/>
                <a:sym typeface="Georgia"/>
              </a:rPr>
              <a:t>"blue" / "red" / "green"</a:t>
            </a:r>
            <a:endParaRPr b="0" i="0" sz="1300" u="none" cap="none" strike="noStrike">
              <a:solidFill>
                <a:schemeClr val="dk1"/>
              </a:solidFill>
              <a:latin typeface="Calibri"/>
              <a:ea typeface="Calibri"/>
              <a:cs typeface="Calibri"/>
              <a:sym typeface="Calibri"/>
            </a:endParaRPr>
          </a:p>
        </p:txBody>
      </p:sp>
      <p:sp>
        <p:nvSpPr>
          <p:cNvPr id="127" name="Google Shape;127;p7"/>
          <p:cNvSpPr/>
          <p:nvPr/>
        </p:nvSpPr>
        <p:spPr>
          <a:xfrm>
            <a:off x="457200" y="4343400"/>
            <a:ext cx="841248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06060"/>
              </a:buClr>
              <a:buSzPts val="1200"/>
              <a:buFont typeface="Georgia"/>
              <a:buNone/>
            </a:pPr>
            <a:r>
              <a:rPr b="0" i="1" lang="en-US" sz="1200" u="none" cap="none" strike="noStrike">
                <a:solidFill>
                  <a:srgbClr val="606060"/>
                </a:solidFill>
                <a:latin typeface="Georgia"/>
                <a:ea typeface="Georgia"/>
                <a:cs typeface="Georgia"/>
                <a:sym typeface="Georgia"/>
              </a:rPr>
              <a:t>Pick  A,  B,  C,  or  D  —  then advance for the answer.</a:t>
            </a:r>
            <a:endParaRPr b="0" i="0" sz="1200" u="none" cap="none" strike="noStrike">
              <a:solidFill>
                <a:schemeClr val="dk1"/>
              </a:solidFill>
              <a:latin typeface="Calibri"/>
              <a:ea typeface="Calibri"/>
              <a:cs typeface="Calibri"/>
              <a:sym typeface="Calibri"/>
            </a:endParaRPr>
          </a:p>
        </p:txBody>
      </p:sp>
      <p:pic>
        <p:nvPicPr>
          <p:cNvPr descr="/sessions/sleepy-friendly-euler/mnt/outputs/logos/cosmicai_logo.png" id="128" name="Google Shape;128;p7"/>
          <p:cNvPicPr preferRelativeResize="0"/>
          <p:nvPr/>
        </p:nvPicPr>
        <p:blipFill rotWithShape="1">
          <a:blip r:embed="rId3">
            <a:alphaModFix/>
          </a:blip>
          <a:srcRect b="0" l="0" r="0" t="0"/>
          <a:stretch/>
        </p:blipFill>
        <p:spPr>
          <a:xfrm>
            <a:off x="228600" y="4526280"/>
            <a:ext cx="1463040" cy="502920"/>
          </a:xfrm>
          <a:prstGeom prst="rect">
            <a:avLst/>
          </a:prstGeom>
          <a:noFill/>
          <a:ln>
            <a:noFill/>
          </a:ln>
        </p:spPr>
      </p:pic>
      <p:sp>
        <p:nvSpPr>
          <p:cNvPr id="129" name="Google Shape;129;p7"/>
          <p:cNvSpPr/>
          <p:nvPr/>
        </p:nvSpPr>
        <p:spPr>
          <a:xfrm>
            <a:off x="2743200" y="4663440"/>
            <a:ext cx="36576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1" i="0" lang="en-US" sz="1200" u="none" cap="none" strike="noStrike">
                <a:solidFill>
                  <a:srgbClr val="2B2B2B"/>
                </a:solidFill>
                <a:latin typeface="Georgia"/>
                <a:ea typeface="Georgia"/>
                <a:cs typeface="Georgia"/>
                <a:sym typeface="Georgia"/>
              </a:rPr>
              <a:t>CosmicAI Summer School</a:t>
            </a:r>
            <a:endParaRPr b="0" i="0" sz="1200" u="none" cap="none" strike="noStrike">
              <a:solidFill>
                <a:schemeClr val="dk1"/>
              </a:solidFill>
              <a:latin typeface="Calibri"/>
              <a:ea typeface="Calibri"/>
              <a:cs typeface="Calibri"/>
              <a:sym typeface="Calibri"/>
            </a:endParaRPr>
          </a:p>
        </p:txBody>
      </p:sp>
      <p:sp>
        <p:nvSpPr>
          <p:cNvPr id="130" name="Google Shape;130;p7"/>
          <p:cNvSpPr/>
          <p:nvPr/>
        </p:nvSpPr>
        <p:spPr>
          <a:xfrm>
            <a:off x="8275320" y="4754880"/>
            <a:ext cx="6858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06060"/>
              </a:buClr>
              <a:buSzPts val="1200"/>
              <a:buFont typeface="Georgia"/>
              <a:buNone/>
            </a:pPr>
            <a:r>
              <a:rPr b="0" i="0" lang="en-US" sz="1200" u="none" cap="none" strike="noStrike">
                <a:solidFill>
                  <a:srgbClr val="606060"/>
                </a:solidFill>
                <a:latin typeface="Georgia"/>
                <a:ea typeface="Georgia"/>
                <a:cs typeface="Georgia"/>
                <a:sym typeface="Georgia"/>
              </a:rPr>
              <a:t>7</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135" name="Shape 135"/>
        <p:cNvGrpSpPr/>
        <p:nvPr/>
      </p:nvGrpSpPr>
      <p:grpSpPr>
        <a:xfrm>
          <a:off x="0" y="0"/>
          <a:ext cx="0" cy="0"/>
          <a:chOff x="0" y="0"/>
          <a:chExt cx="0" cy="0"/>
        </a:xfrm>
      </p:grpSpPr>
      <p:sp>
        <p:nvSpPr>
          <p:cNvPr id="136" name="Google Shape;136;p8"/>
          <p:cNvSpPr/>
          <p:nvPr/>
        </p:nvSpPr>
        <p:spPr>
          <a:xfrm>
            <a:off x="274320" y="137160"/>
            <a:ext cx="704088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2800"/>
              <a:buFont typeface="Georgia"/>
              <a:buNone/>
            </a:pPr>
            <a:r>
              <a:rPr b="0" i="0" lang="en-US" sz="2800" u="none" cap="none" strike="noStrike">
                <a:solidFill>
                  <a:srgbClr val="7B2D26"/>
                </a:solidFill>
                <a:latin typeface="Georgia"/>
                <a:ea typeface="Georgia"/>
                <a:cs typeface="Georgia"/>
                <a:sym typeface="Georgia"/>
              </a:rPr>
              <a:t>Quick Check  1  —  Answer</a:t>
            </a:r>
            <a:endParaRPr b="0" i="0" sz="2800" u="none" cap="none" strike="noStrike">
              <a:solidFill>
                <a:schemeClr val="dk1"/>
              </a:solidFill>
              <a:latin typeface="Calibri"/>
              <a:ea typeface="Calibri"/>
              <a:cs typeface="Calibri"/>
              <a:sym typeface="Calibri"/>
            </a:endParaRPr>
          </a:p>
        </p:txBody>
      </p:sp>
      <p:cxnSp>
        <p:nvCxnSpPr>
          <p:cNvPr id="137" name="Google Shape;137;p8"/>
          <p:cNvCxnSpPr/>
          <p:nvPr/>
        </p:nvCxnSpPr>
        <p:spPr>
          <a:xfrm>
            <a:off x="365760" y="685800"/>
            <a:ext cx="8412480" cy="0"/>
          </a:xfrm>
          <a:prstGeom prst="straightConnector1">
            <a:avLst/>
          </a:prstGeom>
          <a:noFill/>
          <a:ln cap="flat" cmpd="sng" w="15875">
            <a:solidFill>
              <a:srgbClr val="B0B0B0"/>
            </a:solidFill>
            <a:prstDash val="solid"/>
            <a:round/>
            <a:headEnd len="sm" w="sm" type="none"/>
            <a:tailEnd len="sm" w="sm" type="none"/>
          </a:ln>
        </p:spPr>
      </p:cxnSp>
      <p:sp>
        <p:nvSpPr>
          <p:cNvPr id="138" name="Google Shape;138;p8"/>
          <p:cNvSpPr/>
          <p:nvPr/>
        </p:nvSpPr>
        <p:spPr>
          <a:xfrm>
            <a:off x="7360920" y="182880"/>
            <a:ext cx="1600200" cy="292608"/>
          </a:xfrm>
          <a:prstGeom prst="rect">
            <a:avLst/>
          </a:prstGeom>
          <a:solidFill>
            <a:srgbClr val="3A5A3B"/>
          </a:solidFill>
          <a:ln cap="flat" cmpd="sng" w="12700">
            <a:solidFill>
              <a:srgbClr val="3A5A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8"/>
          <p:cNvSpPr/>
          <p:nvPr/>
        </p:nvSpPr>
        <p:spPr>
          <a:xfrm>
            <a:off x="7360920" y="182880"/>
            <a:ext cx="1600200"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50"/>
              <a:buFont typeface="Georgia"/>
              <a:buNone/>
            </a:pPr>
            <a:r>
              <a:rPr b="1" i="0" lang="en-US" sz="1050" u="none" cap="none" strike="noStrike">
                <a:solidFill>
                  <a:srgbClr val="FFFFFF"/>
                </a:solidFill>
                <a:latin typeface="Georgia"/>
                <a:ea typeface="Georgia"/>
                <a:cs typeface="Georgia"/>
                <a:sym typeface="Georgia"/>
              </a:rPr>
              <a:t>ANSWER</a:t>
            </a:r>
            <a:endParaRPr b="0" i="0" sz="1050" u="none" cap="none" strike="noStrike">
              <a:solidFill>
                <a:schemeClr val="dk1"/>
              </a:solidFill>
              <a:latin typeface="Calibri"/>
              <a:ea typeface="Calibri"/>
              <a:cs typeface="Calibri"/>
              <a:sym typeface="Calibri"/>
            </a:endParaRPr>
          </a:p>
        </p:txBody>
      </p:sp>
      <p:sp>
        <p:nvSpPr>
          <p:cNvPr id="140" name="Google Shape;140;p8"/>
          <p:cNvSpPr/>
          <p:nvPr/>
        </p:nvSpPr>
        <p:spPr>
          <a:xfrm>
            <a:off x="457200" y="960120"/>
            <a:ext cx="4023360" cy="1325880"/>
          </a:xfrm>
          <a:prstGeom prst="rect">
            <a:avLst/>
          </a:prstGeom>
          <a:solidFill>
            <a:srgbClr val="FFFFFF"/>
          </a:solidFill>
          <a:ln cap="flat" cmpd="sng" w="9525">
            <a:solidFill>
              <a:srgbClr val="B0B0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8"/>
          <p:cNvSpPr/>
          <p:nvPr/>
        </p:nvSpPr>
        <p:spPr>
          <a:xfrm>
            <a:off x="594360" y="1143000"/>
            <a:ext cx="502920" cy="502920"/>
          </a:xfrm>
          <a:prstGeom prst="ellipse">
            <a:avLst/>
          </a:prstGeom>
          <a:solidFill>
            <a:srgbClr val="2F5A7A"/>
          </a:solidFill>
          <a:ln cap="flat" cmpd="sng" w="12700">
            <a:solidFill>
              <a:srgbClr val="2F5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8"/>
          <p:cNvSpPr/>
          <p:nvPr/>
        </p:nvSpPr>
        <p:spPr>
          <a:xfrm>
            <a:off x="594360" y="1143000"/>
            <a:ext cx="50292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A</a:t>
            </a:r>
            <a:endParaRPr b="0" i="0" sz="1800" u="none" cap="none" strike="noStrike">
              <a:solidFill>
                <a:schemeClr val="dk1"/>
              </a:solidFill>
              <a:latin typeface="Calibri"/>
              <a:ea typeface="Calibri"/>
              <a:cs typeface="Calibri"/>
              <a:sym typeface="Calibri"/>
            </a:endParaRPr>
          </a:p>
        </p:txBody>
      </p:sp>
      <p:sp>
        <p:nvSpPr>
          <p:cNvPr id="143" name="Google Shape;143;p8"/>
          <p:cNvSpPr/>
          <p:nvPr/>
        </p:nvSpPr>
        <p:spPr>
          <a:xfrm>
            <a:off x="1234440" y="1051560"/>
            <a:ext cx="310896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B"/>
              </a:buClr>
              <a:buSzPts val="1350"/>
              <a:buFont typeface="Georgia"/>
              <a:buNone/>
            </a:pPr>
            <a:r>
              <a:rPr b="0" i="0" lang="en-US" sz="1350" u="none" cap="none" strike="noStrike">
                <a:solidFill>
                  <a:srgbClr val="2B2B2B"/>
                </a:solidFill>
                <a:latin typeface="Georgia"/>
                <a:ea typeface="Georgia"/>
                <a:cs typeface="Georgia"/>
                <a:sym typeface="Georgia"/>
              </a:rPr>
              <a:t>Galaxy ID number</a:t>
            </a:r>
            <a:endParaRPr b="0" i="0" sz="1350" u="none" cap="none" strike="noStrike">
              <a:solidFill>
                <a:schemeClr val="dk1"/>
              </a:solidFill>
              <a:latin typeface="Calibri"/>
              <a:ea typeface="Calibri"/>
              <a:cs typeface="Calibri"/>
              <a:sym typeface="Calibri"/>
            </a:endParaRPr>
          </a:p>
        </p:txBody>
      </p:sp>
      <p:sp>
        <p:nvSpPr>
          <p:cNvPr id="144" name="Google Shape;144;p8"/>
          <p:cNvSpPr/>
          <p:nvPr/>
        </p:nvSpPr>
        <p:spPr>
          <a:xfrm>
            <a:off x="1234440" y="1508760"/>
            <a:ext cx="3108960" cy="7315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06060"/>
              </a:buClr>
              <a:buSzPts val="1150"/>
              <a:buFont typeface="Georgia"/>
              <a:buNone/>
            </a:pPr>
            <a:r>
              <a:rPr b="0" i="1" lang="en-US" sz="1150" u="none" cap="none" strike="noStrike">
                <a:solidFill>
                  <a:srgbClr val="606060"/>
                </a:solidFill>
                <a:latin typeface="Georgia"/>
                <a:ea typeface="Georgia"/>
                <a:cs typeface="Georgia"/>
                <a:sym typeface="Georgia"/>
              </a:rPr>
              <a:t>Nominal — IDs have no meaningful order</a:t>
            </a:r>
            <a:endParaRPr b="0" i="0" sz="1150" u="none" cap="none" strike="noStrike">
              <a:solidFill>
                <a:schemeClr val="dk1"/>
              </a:solidFill>
              <a:latin typeface="Calibri"/>
              <a:ea typeface="Calibri"/>
              <a:cs typeface="Calibri"/>
              <a:sym typeface="Calibri"/>
            </a:endParaRPr>
          </a:p>
        </p:txBody>
      </p:sp>
      <p:sp>
        <p:nvSpPr>
          <p:cNvPr id="145" name="Google Shape;145;p8"/>
          <p:cNvSpPr/>
          <p:nvPr/>
        </p:nvSpPr>
        <p:spPr>
          <a:xfrm>
            <a:off x="4663440" y="960120"/>
            <a:ext cx="4023360" cy="1325880"/>
          </a:xfrm>
          <a:prstGeom prst="rect">
            <a:avLst/>
          </a:prstGeom>
          <a:solidFill>
            <a:srgbClr val="F4ECE9"/>
          </a:solidFill>
          <a:ln cap="flat" cmpd="sng" w="25400">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8"/>
          <p:cNvSpPr/>
          <p:nvPr/>
        </p:nvSpPr>
        <p:spPr>
          <a:xfrm>
            <a:off x="4800600" y="1143000"/>
            <a:ext cx="502920" cy="502920"/>
          </a:xfrm>
          <a:prstGeom prst="ellipse">
            <a:avLst/>
          </a:prstGeom>
          <a:solidFill>
            <a:srgbClr val="7B2D26"/>
          </a:solidFill>
          <a:ln cap="flat" cmpd="sng" w="12700">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8"/>
          <p:cNvSpPr/>
          <p:nvPr/>
        </p:nvSpPr>
        <p:spPr>
          <a:xfrm>
            <a:off x="4800600" y="1143000"/>
            <a:ext cx="50292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B</a:t>
            </a:r>
            <a:endParaRPr b="0" i="0" sz="1800" u="none" cap="none" strike="noStrike">
              <a:solidFill>
                <a:schemeClr val="dk1"/>
              </a:solidFill>
              <a:latin typeface="Calibri"/>
              <a:ea typeface="Calibri"/>
              <a:cs typeface="Calibri"/>
              <a:sym typeface="Calibri"/>
            </a:endParaRPr>
          </a:p>
        </p:txBody>
      </p:sp>
      <p:sp>
        <p:nvSpPr>
          <p:cNvPr id="148" name="Google Shape;148;p8"/>
          <p:cNvSpPr/>
          <p:nvPr/>
        </p:nvSpPr>
        <p:spPr>
          <a:xfrm>
            <a:off x="5440680" y="1051560"/>
            <a:ext cx="310896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1350"/>
              <a:buFont typeface="Georgia"/>
              <a:buNone/>
            </a:pPr>
            <a:r>
              <a:rPr b="1" i="0" lang="en-US" sz="1350" u="none" cap="none" strike="noStrike">
                <a:solidFill>
                  <a:srgbClr val="7B2D26"/>
                </a:solidFill>
                <a:latin typeface="Georgia"/>
                <a:ea typeface="Georgia"/>
                <a:cs typeface="Georgia"/>
                <a:sym typeface="Georgia"/>
              </a:rPr>
              <a:t>Hubble morphological stage</a:t>
            </a:r>
            <a:endParaRPr b="0" i="0" sz="1350" u="none" cap="none" strike="noStrike">
              <a:solidFill>
                <a:schemeClr val="dk1"/>
              </a:solidFill>
              <a:latin typeface="Calibri"/>
              <a:ea typeface="Calibri"/>
              <a:cs typeface="Calibri"/>
              <a:sym typeface="Calibri"/>
            </a:endParaRPr>
          </a:p>
        </p:txBody>
      </p:sp>
      <p:sp>
        <p:nvSpPr>
          <p:cNvPr id="149" name="Google Shape;149;p8"/>
          <p:cNvSpPr/>
          <p:nvPr/>
        </p:nvSpPr>
        <p:spPr>
          <a:xfrm>
            <a:off x="5440680" y="1508760"/>
            <a:ext cx="3108960" cy="7315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06060"/>
              </a:buClr>
              <a:buSzPts val="1150"/>
              <a:buFont typeface="Georgia"/>
              <a:buNone/>
            </a:pPr>
            <a:r>
              <a:rPr b="0" i="1" lang="en-US" sz="1150" u="none" cap="none" strike="noStrike">
                <a:solidFill>
                  <a:srgbClr val="606060"/>
                </a:solidFill>
                <a:latin typeface="Georgia"/>
                <a:ea typeface="Georgia"/>
                <a:cs typeface="Georgia"/>
                <a:sym typeface="Georgia"/>
              </a:rPr>
              <a:t>Ranked: E &lt; S0 &lt; Sa &lt; Sb &lt; Sc</a:t>
            </a:r>
            <a:endParaRPr b="0" i="0" sz="1150" u="none" cap="none" strike="noStrike">
              <a:solidFill>
                <a:schemeClr val="dk1"/>
              </a:solidFill>
              <a:latin typeface="Calibri"/>
              <a:ea typeface="Calibri"/>
              <a:cs typeface="Calibri"/>
              <a:sym typeface="Calibri"/>
            </a:endParaRPr>
          </a:p>
        </p:txBody>
      </p:sp>
      <p:sp>
        <p:nvSpPr>
          <p:cNvPr id="150" name="Google Shape;150;p8"/>
          <p:cNvSpPr/>
          <p:nvPr/>
        </p:nvSpPr>
        <p:spPr>
          <a:xfrm>
            <a:off x="8275320" y="1051560"/>
            <a:ext cx="365760" cy="4114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7B2D26"/>
              </a:buClr>
              <a:buSzPts val="2200"/>
              <a:buFont typeface="Georgia"/>
              <a:buNone/>
            </a:pPr>
            <a:r>
              <a:rPr b="1" i="0" lang="en-US" sz="2200" u="none" cap="none" strike="noStrike">
                <a:solidFill>
                  <a:srgbClr val="7B2D26"/>
                </a:solidFill>
                <a:latin typeface="Georgia"/>
                <a:ea typeface="Georgia"/>
                <a:cs typeface="Georgia"/>
                <a:sym typeface="Georgia"/>
              </a:rPr>
              <a:t>✓</a:t>
            </a:r>
            <a:endParaRPr b="0" i="0" sz="2200" u="none" cap="none" strike="noStrike">
              <a:solidFill>
                <a:schemeClr val="dk1"/>
              </a:solidFill>
              <a:latin typeface="Calibri"/>
              <a:ea typeface="Calibri"/>
              <a:cs typeface="Calibri"/>
              <a:sym typeface="Calibri"/>
            </a:endParaRPr>
          </a:p>
        </p:txBody>
      </p:sp>
      <p:sp>
        <p:nvSpPr>
          <p:cNvPr id="151" name="Google Shape;151;p8"/>
          <p:cNvSpPr/>
          <p:nvPr/>
        </p:nvSpPr>
        <p:spPr>
          <a:xfrm>
            <a:off x="457200" y="2468880"/>
            <a:ext cx="4023360" cy="1325880"/>
          </a:xfrm>
          <a:prstGeom prst="rect">
            <a:avLst/>
          </a:prstGeom>
          <a:solidFill>
            <a:srgbClr val="FFFFFF"/>
          </a:solidFill>
          <a:ln cap="flat" cmpd="sng" w="9525">
            <a:solidFill>
              <a:srgbClr val="B0B0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8"/>
          <p:cNvSpPr/>
          <p:nvPr/>
        </p:nvSpPr>
        <p:spPr>
          <a:xfrm>
            <a:off x="594360" y="2651760"/>
            <a:ext cx="502920" cy="502920"/>
          </a:xfrm>
          <a:prstGeom prst="ellipse">
            <a:avLst/>
          </a:prstGeom>
          <a:solidFill>
            <a:srgbClr val="2F5A7A"/>
          </a:solidFill>
          <a:ln cap="flat" cmpd="sng" w="12700">
            <a:solidFill>
              <a:srgbClr val="2F5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8"/>
          <p:cNvSpPr/>
          <p:nvPr/>
        </p:nvSpPr>
        <p:spPr>
          <a:xfrm>
            <a:off x="594360" y="2651760"/>
            <a:ext cx="50292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C</a:t>
            </a:r>
            <a:endParaRPr b="0" i="0" sz="1800" u="none" cap="none" strike="noStrike">
              <a:solidFill>
                <a:schemeClr val="dk1"/>
              </a:solidFill>
              <a:latin typeface="Calibri"/>
              <a:ea typeface="Calibri"/>
              <a:cs typeface="Calibri"/>
              <a:sym typeface="Calibri"/>
            </a:endParaRPr>
          </a:p>
        </p:txBody>
      </p:sp>
      <p:sp>
        <p:nvSpPr>
          <p:cNvPr id="154" name="Google Shape;154;p8"/>
          <p:cNvSpPr/>
          <p:nvPr/>
        </p:nvSpPr>
        <p:spPr>
          <a:xfrm>
            <a:off x="1234440" y="2560320"/>
            <a:ext cx="310896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B"/>
              </a:buClr>
              <a:buSzPts val="1350"/>
              <a:buFont typeface="Georgia"/>
              <a:buNone/>
            </a:pPr>
            <a:r>
              <a:rPr b="0" i="0" lang="en-US" sz="1350" u="none" cap="none" strike="noStrike">
                <a:solidFill>
                  <a:srgbClr val="2B2B2B"/>
                </a:solidFill>
                <a:latin typeface="Georgia"/>
                <a:ea typeface="Georgia"/>
                <a:cs typeface="Georgia"/>
                <a:sym typeface="Georgia"/>
              </a:rPr>
              <a:t>Spectroscopic redshift</a:t>
            </a:r>
            <a:endParaRPr b="0" i="0" sz="1350" u="none" cap="none" strike="noStrike">
              <a:solidFill>
                <a:schemeClr val="dk1"/>
              </a:solidFill>
              <a:latin typeface="Calibri"/>
              <a:ea typeface="Calibri"/>
              <a:cs typeface="Calibri"/>
              <a:sym typeface="Calibri"/>
            </a:endParaRPr>
          </a:p>
        </p:txBody>
      </p:sp>
      <p:sp>
        <p:nvSpPr>
          <p:cNvPr id="155" name="Google Shape;155;p8"/>
          <p:cNvSpPr/>
          <p:nvPr/>
        </p:nvSpPr>
        <p:spPr>
          <a:xfrm>
            <a:off x="1234440" y="3017520"/>
            <a:ext cx="3108960" cy="7315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06060"/>
              </a:buClr>
              <a:buSzPts val="1150"/>
              <a:buFont typeface="Georgia"/>
              <a:buNone/>
            </a:pPr>
            <a:r>
              <a:rPr b="0" i="1" lang="en-US" sz="1150" u="none" cap="none" strike="noStrike">
                <a:solidFill>
                  <a:srgbClr val="606060"/>
                </a:solidFill>
                <a:latin typeface="Georgia"/>
                <a:ea typeface="Georgia"/>
                <a:cs typeface="Georgia"/>
                <a:sym typeface="Georgia"/>
              </a:rPr>
              <a:t>Ratio — continuous numeric value</a:t>
            </a:r>
            <a:endParaRPr b="0" i="0" sz="1150" u="none" cap="none" strike="noStrike">
              <a:solidFill>
                <a:schemeClr val="dk1"/>
              </a:solidFill>
              <a:latin typeface="Calibri"/>
              <a:ea typeface="Calibri"/>
              <a:cs typeface="Calibri"/>
              <a:sym typeface="Calibri"/>
            </a:endParaRPr>
          </a:p>
        </p:txBody>
      </p:sp>
      <p:sp>
        <p:nvSpPr>
          <p:cNvPr id="156" name="Google Shape;156;p8"/>
          <p:cNvSpPr/>
          <p:nvPr/>
        </p:nvSpPr>
        <p:spPr>
          <a:xfrm>
            <a:off x="4663440" y="2468880"/>
            <a:ext cx="4023360" cy="1325880"/>
          </a:xfrm>
          <a:prstGeom prst="rect">
            <a:avLst/>
          </a:prstGeom>
          <a:solidFill>
            <a:srgbClr val="FFFFFF"/>
          </a:solidFill>
          <a:ln cap="flat" cmpd="sng" w="9525">
            <a:solidFill>
              <a:srgbClr val="B0B0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8"/>
          <p:cNvSpPr/>
          <p:nvPr/>
        </p:nvSpPr>
        <p:spPr>
          <a:xfrm>
            <a:off x="4800600" y="2651760"/>
            <a:ext cx="502920" cy="502920"/>
          </a:xfrm>
          <a:prstGeom prst="ellipse">
            <a:avLst/>
          </a:prstGeom>
          <a:solidFill>
            <a:srgbClr val="2F5A7A"/>
          </a:solidFill>
          <a:ln cap="flat" cmpd="sng" w="12700">
            <a:solidFill>
              <a:srgbClr val="2F5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8"/>
          <p:cNvSpPr/>
          <p:nvPr/>
        </p:nvSpPr>
        <p:spPr>
          <a:xfrm>
            <a:off x="4800600" y="2651760"/>
            <a:ext cx="50292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D</a:t>
            </a:r>
            <a:endParaRPr b="0" i="0" sz="1800" u="none" cap="none" strike="noStrike">
              <a:solidFill>
                <a:schemeClr val="dk1"/>
              </a:solidFill>
              <a:latin typeface="Calibri"/>
              <a:ea typeface="Calibri"/>
              <a:cs typeface="Calibri"/>
              <a:sym typeface="Calibri"/>
            </a:endParaRPr>
          </a:p>
        </p:txBody>
      </p:sp>
      <p:sp>
        <p:nvSpPr>
          <p:cNvPr id="159" name="Google Shape;159;p8"/>
          <p:cNvSpPr/>
          <p:nvPr/>
        </p:nvSpPr>
        <p:spPr>
          <a:xfrm>
            <a:off x="5440680" y="2560320"/>
            <a:ext cx="310896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B"/>
              </a:buClr>
              <a:buSzPts val="1350"/>
              <a:buFont typeface="Georgia"/>
              <a:buNone/>
            </a:pPr>
            <a:r>
              <a:rPr b="0" i="0" lang="en-US" sz="1350" u="none" cap="none" strike="noStrike">
                <a:solidFill>
                  <a:srgbClr val="2B2B2B"/>
                </a:solidFill>
                <a:latin typeface="Georgia"/>
                <a:ea typeface="Georgia"/>
                <a:cs typeface="Georgia"/>
                <a:sym typeface="Georgia"/>
              </a:rPr>
              <a:t>Galaxy color (label)</a:t>
            </a:r>
            <a:endParaRPr b="0" i="0" sz="1350" u="none" cap="none" strike="noStrike">
              <a:solidFill>
                <a:schemeClr val="dk1"/>
              </a:solidFill>
              <a:latin typeface="Calibri"/>
              <a:ea typeface="Calibri"/>
              <a:cs typeface="Calibri"/>
              <a:sym typeface="Calibri"/>
            </a:endParaRPr>
          </a:p>
        </p:txBody>
      </p:sp>
      <p:sp>
        <p:nvSpPr>
          <p:cNvPr id="160" name="Google Shape;160;p8"/>
          <p:cNvSpPr/>
          <p:nvPr/>
        </p:nvSpPr>
        <p:spPr>
          <a:xfrm>
            <a:off x="5440680" y="3017520"/>
            <a:ext cx="3108960" cy="7315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06060"/>
              </a:buClr>
              <a:buSzPts val="1150"/>
              <a:buFont typeface="Georgia"/>
              <a:buNone/>
            </a:pPr>
            <a:r>
              <a:rPr b="0" i="1" lang="en-US" sz="1150" u="none" cap="none" strike="noStrike">
                <a:solidFill>
                  <a:srgbClr val="606060"/>
                </a:solidFill>
                <a:latin typeface="Georgia"/>
                <a:ea typeface="Georgia"/>
                <a:cs typeface="Georgia"/>
                <a:sym typeface="Georgia"/>
              </a:rPr>
              <a:t>Nominal — labels have no order</a:t>
            </a:r>
            <a:endParaRPr b="0" i="0" sz="1150" u="none" cap="none" strike="noStrike">
              <a:solidFill>
                <a:schemeClr val="dk1"/>
              </a:solidFill>
              <a:latin typeface="Calibri"/>
              <a:ea typeface="Calibri"/>
              <a:cs typeface="Calibri"/>
              <a:sym typeface="Calibri"/>
            </a:endParaRPr>
          </a:p>
        </p:txBody>
      </p:sp>
      <p:sp>
        <p:nvSpPr>
          <p:cNvPr id="161" name="Google Shape;161;p8"/>
          <p:cNvSpPr/>
          <p:nvPr/>
        </p:nvSpPr>
        <p:spPr>
          <a:xfrm>
            <a:off x="365760" y="3840480"/>
            <a:ext cx="8412480" cy="731520"/>
          </a:xfrm>
          <a:prstGeom prst="rect">
            <a:avLst/>
          </a:prstGeom>
          <a:solidFill>
            <a:srgbClr val="F4ECE9"/>
          </a:solidFill>
          <a:ln cap="flat" cmpd="sng" w="9525">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8"/>
          <p:cNvSpPr/>
          <p:nvPr/>
        </p:nvSpPr>
        <p:spPr>
          <a:xfrm>
            <a:off x="502920" y="3886200"/>
            <a:ext cx="818388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1250"/>
              <a:buFont typeface="Georgia"/>
              <a:buNone/>
            </a:pPr>
            <a:r>
              <a:rPr b="1" i="0" lang="en-US" sz="1250" u="none" cap="none" strike="noStrike">
                <a:solidFill>
                  <a:srgbClr val="7B2D26"/>
                </a:solidFill>
                <a:latin typeface="Georgia"/>
                <a:ea typeface="Georgia"/>
                <a:cs typeface="Georgia"/>
                <a:sym typeface="Georgia"/>
              </a:rPr>
              <a:t>Why B:  </a:t>
            </a:r>
            <a:r>
              <a:rPr b="0" i="0" lang="en-US" sz="1250" u="none" cap="none" strike="noStrike">
                <a:solidFill>
                  <a:srgbClr val="2B2B2B"/>
                </a:solidFill>
                <a:latin typeface="Georgia"/>
                <a:ea typeface="Georgia"/>
                <a:cs typeface="Georgia"/>
                <a:sym typeface="Georgia"/>
              </a:rPr>
              <a:t>Hubble stage has an inherent rank — but the spacing between Sa, Sb, Sc isn't a uniform numeric quantity. That's the textbook definition of </a:t>
            </a:r>
            <a:r>
              <a:rPr b="1" i="1" lang="en-US" sz="1250" u="none" cap="none" strike="noStrike">
                <a:solidFill>
                  <a:srgbClr val="7B2D26"/>
                </a:solidFill>
                <a:latin typeface="Georgia"/>
                <a:ea typeface="Georgia"/>
                <a:cs typeface="Georgia"/>
                <a:sym typeface="Georgia"/>
              </a:rPr>
              <a:t>ordinal.</a:t>
            </a:r>
            <a:endParaRPr b="0" i="0" sz="1250" u="none" cap="none" strike="noStrike">
              <a:solidFill>
                <a:schemeClr val="dk1"/>
              </a:solidFill>
              <a:latin typeface="Calibri"/>
              <a:ea typeface="Calibri"/>
              <a:cs typeface="Calibri"/>
              <a:sym typeface="Calibri"/>
            </a:endParaRPr>
          </a:p>
        </p:txBody>
      </p:sp>
      <p:pic>
        <p:nvPicPr>
          <p:cNvPr descr="/sessions/sleepy-friendly-euler/mnt/outputs/logos/cosmicai_logo.png" id="163" name="Google Shape;163;p8"/>
          <p:cNvPicPr preferRelativeResize="0"/>
          <p:nvPr/>
        </p:nvPicPr>
        <p:blipFill rotWithShape="1">
          <a:blip r:embed="rId3">
            <a:alphaModFix/>
          </a:blip>
          <a:srcRect b="0" l="0" r="0" t="0"/>
          <a:stretch/>
        </p:blipFill>
        <p:spPr>
          <a:xfrm>
            <a:off x="228600" y="4526280"/>
            <a:ext cx="1463040" cy="502920"/>
          </a:xfrm>
          <a:prstGeom prst="rect">
            <a:avLst/>
          </a:prstGeom>
          <a:noFill/>
          <a:ln>
            <a:noFill/>
          </a:ln>
        </p:spPr>
      </p:pic>
      <p:sp>
        <p:nvSpPr>
          <p:cNvPr id="164" name="Google Shape;164;p8"/>
          <p:cNvSpPr/>
          <p:nvPr/>
        </p:nvSpPr>
        <p:spPr>
          <a:xfrm>
            <a:off x="2743200" y="4663440"/>
            <a:ext cx="36576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1" i="0" lang="en-US" sz="1200" u="none" cap="none" strike="noStrike">
                <a:solidFill>
                  <a:srgbClr val="2B2B2B"/>
                </a:solidFill>
                <a:latin typeface="Georgia"/>
                <a:ea typeface="Georgia"/>
                <a:cs typeface="Georgia"/>
                <a:sym typeface="Georgia"/>
              </a:rPr>
              <a:t>CosmicAI Summer School</a:t>
            </a:r>
            <a:endParaRPr b="0" i="0" sz="1200" u="none" cap="none" strike="noStrike">
              <a:solidFill>
                <a:schemeClr val="dk1"/>
              </a:solidFill>
              <a:latin typeface="Calibri"/>
              <a:ea typeface="Calibri"/>
              <a:cs typeface="Calibri"/>
              <a:sym typeface="Calibri"/>
            </a:endParaRPr>
          </a:p>
        </p:txBody>
      </p:sp>
      <p:sp>
        <p:nvSpPr>
          <p:cNvPr id="165" name="Google Shape;165;p8"/>
          <p:cNvSpPr/>
          <p:nvPr/>
        </p:nvSpPr>
        <p:spPr>
          <a:xfrm>
            <a:off x="8275320" y="4754880"/>
            <a:ext cx="6858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06060"/>
              </a:buClr>
              <a:buSzPts val="1200"/>
              <a:buFont typeface="Georgia"/>
              <a:buNone/>
            </a:pPr>
            <a:r>
              <a:rPr b="0" i="0" lang="en-US" sz="1200" u="none" cap="none" strike="noStrike">
                <a:solidFill>
                  <a:srgbClr val="606060"/>
                </a:solidFill>
                <a:latin typeface="Georgia"/>
                <a:ea typeface="Georgia"/>
                <a:cs typeface="Georgia"/>
                <a:sym typeface="Georgia"/>
              </a:rPr>
              <a:t>8</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0" name="Shape 170"/>
        <p:cNvGrpSpPr/>
        <p:nvPr/>
      </p:nvGrpSpPr>
      <p:grpSpPr>
        <a:xfrm>
          <a:off x="0" y="0"/>
          <a:ext cx="0" cy="0"/>
          <a:chOff x="0" y="0"/>
          <a:chExt cx="0" cy="0"/>
        </a:xfrm>
      </p:grpSpPr>
      <p:sp>
        <p:nvSpPr>
          <p:cNvPr id="171" name="Google Shape;171;p9"/>
          <p:cNvSpPr/>
          <p:nvPr/>
        </p:nvSpPr>
        <p:spPr>
          <a:xfrm>
            <a:off x="274320" y="137160"/>
            <a:ext cx="859536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3000"/>
              <a:buFont typeface="Georgia"/>
              <a:buNone/>
            </a:pPr>
            <a:r>
              <a:rPr b="0" i="0" lang="en-US" sz="3000" u="none" cap="none" strike="noStrike">
                <a:solidFill>
                  <a:srgbClr val="7B2D26"/>
                </a:solidFill>
                <a:latin typeface="Georgia"/>
                <a:ea typeface="Georgia"/>
                <a:cs typeface="Georgia"/>
                <a:sym typeface="Georgia"/>
              </a:rPr>
              <a:t>Step 4 — Exploratory Data Analysis</a:t>
            </a:r>
            <a:endParaRPr b="0" i="0" sz="3000" u="none" cap="none" strike="noStrike">
              <a:solidFill>
                <a:schemeClr val="dk1"/>
              </a:solidFill>
              <a:latin typeface="Calibri"/>
              <a:ea typeface="Calibri"/>
              <a:cs typeface="Calibri"/>
              <a:sym typeface="Calibri"/>
            </a:endParaRPr>
          </a:p>
        </p:txBody>
      </p:sp>
      <p:cxnSp>
        <p:nvCxnSpPr>
          <p:cNvPr id="172" name="Google Shape;172;p9"/>
          <p:cNvCxnSpPr/>
          <p:nvPr/>
        </p:nvCxnSpPr>
        <p:spPr>
          <a:xfrm>
            <a:off x="365760" y="777240"/>
            <a:ext cx="8412480" cy="0"/>
          </a:xfrm>
          <a:prstGeom prst="straightConnector1">
            <a:avLst/>
          </a:prstGeom>
          <a:noFill/>
          <a:ln cap="flat" cmpd="sng" w="15875">
            <a:solidFill>
              <a:srgbClr val="B0B0B0"/>
            </a:solidFill>
            <a:prstDash val="solid"/>
            <a:round/>
            <a:headEnd len="sm" w="sm" type="none"/>
            <a:tailEnd len="sm" w="sm" type="none"/>
          </a:ln>
        </p:spPr>
      </p:cxnSp>
      <p:sp>
        <p:nvSpPr>
          <p:cNvPr id="173" name="Google Shape;173;p9"/>
          <p:cNvSpPr/>
          <p:nvPr/>
        </p:nvSpPr>
        <p:spPr>
          <a:xfrm>
            <a:off x="457200" y="914400"/>
            <a:ext cx="84124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06060"/>
              </a:buClr>
              <a:buSzPts val="1500"/>
              <a:buFont typeface="Georgia"/>
              <a:buNone/>
            </a:pPr>
            <a:r>
              <a:rPr b="0" i="1" lang="en-US" sz="1500" u="none" cap="none" strike="noStrike">
                <a:solidFill>
                  <a:srgbClr val="606060"/>
                </a:solidFill>
                <a:latin typeface="Georgia"/>
                <a:ea typeface="Georgia"/>
                <a:cs typeface="Georgia"/>
                <a:sym typeface="Georgia"/>
              </a:rPr>
              <a:t>EDA is the first conversation with your data — before any model.</a:t>
            </a:r>
            <a:endParaRPr b="0" i="0" sz="1500" u="none" cap="none" strike="noStrike">
              <a:solidFill>
                <a:schemeClr val="dk1"/>
              </a:solidFill>
              <a:latin typeface="Calibri"/>
              <a:ea typeface="Calibri"/>
              <a:cs typeface="Calibri"/>
              <a:sym typeface="Calibri"/>
            </a:endParaRPr>
          </a:p>
        </p:txBody>
      </p:sp>
      <p:sp>
        <p:nvSpPr>
          <p:cNvPr id="174" name="Google Shape;174;p9"/>
          <p:cNvSpPr/>
          <p:nvPr/>
        </p:nvSpPr>
        <p:spPr>
          <a:xfrm>
            <a:off x="457200" y="1417320"/>
            <a:ext cx="4023360" cy="1325880"/>
          </a:xfrm>
          <a:prstGeom prst="rect">
            <a:avLst/>
          </a:prstGeom>
          <a:solidFill>
            <a:srgbClr val="F9F4F1"/>
          </a:solidFill>
          <a:ln cap="flat" cmpd="sng" w="9525">
            <a:solidFill>
              <a:srgbClr val="B0B0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9"/>
          <p:cNvSpPr/>
          <p:nvPr/>
        </p:nvSpPr>
        <p:spPr>
          <a:xfrm>
            <a:off x="594360" y="1490472"/>
            <a:ext cx="37490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1500"/>
              <a:buFont typeface="Georgia"/>
              <a:buNone/>
            </a:pPr>
            <a:r>
              <a:rPr b="1" i="0" lang="en-US" sz="1500" u="none" cap="none" strike="noStrike">
                <a:solidFill>
                  <a:srgbClr val="7B2D26"/>
                </a:solidFill>
                <a:latin typeface="Georgia"/>
                <a:ea typeface="Georgia"/>
                <a:cs typeface="Georgia"/>
                <a:sym typeface="Georgia"/>
              </a:rPr>
              <a:t>1. Basic shape</a:t>
            </a:r>
            <a:endParaRPr b="0" i="0" sz="1500" u="none" cap="none" strike="noStrike">
              <a:solidFill>
                <a:schemeClr val="dk1"/>
              </a:solidFill>
              <a:latin typeface="Calibri"/>
              <a:ea typeface="Calibri"/>
              <a:cs typeface="Calibri"/>
              <a:sym typeface="Calibri"/>
            </a:endParaRPr>
          </a:p>
        </p:txBody>
      </p:sp>
      <p:sp>
        <p:nvSpPr>
          <p:cNvPr id="176" name="Google Shape;176;p9"/>
          <p:cNvSpPr/>
          <p:nvPr/>
        </p:nvSpPr>
        <p:spPr>
          <a:xfrm>
            <a:off x="594360" y="1828800"/>
            <a:ext cx="37490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B2B2B"/>
              </a:buClr>
              <a:buSzPts val="1300"/>
              <a:buFont typeface="Georgia"/>
              <a:buNone/>
            </a:pPr>
            <a:r>
              <a:rPr b="0" i="0" lang="en-US" sz="1300" u="none" cap="none" strike="noStrike">
                <a:solidFill>
                  <a:srgbClr val="2B2B2B"/>
                </a:solidFill>
                <a:latin typeface="Georgia"/>
                <a:ea typeface="Georgia"/>
                <a:cs typeface="Georgia"/>
                <a:sym typeface="Georgia"/>
              </a:rPr>
              <a:t>How many examples (rows)? How many features (cols)? Any missing values? Are types numeric or strings?</a:t>
            </a:r>
            <a:endParaRPr b="0" i="0" sz="1300" u="none" cap="none" strike="noStrike">
              <a:solidFill>
                <a:schemeClr val="dk1"/>
              </a:solidFill>
              <a:latin typeface="Calibri"/>
              <a:ea typeface="Calibri"/>
              <a:cs typeface="Calibri"/>
              <a:sym typeface="Calibri"/>
            </a:endParaRPr>
          </a:p>
        </p:txBody>
      </p:sp>
      <p:sp>
        <p:nvSpPr>
          <p:cNvPr id="177" name="Google Shape;177;p9"/>
          <p:cNvSpPr/>
          <p:nvPr/>
        </p:nvSpPr>
        <p:spPr>
          <a:xfrm>
            <a:off x="4663440" y="1417320"/>
            <a:ext cx="4023360" cy="1325880"/>
          </a:xfrm>
          <a:prstGeom prst="rect">
            <a:avLst/>
          </a:prstGeom>
          <a:solidFill>
            <a:srgbClr val="F9F4F1"/>
          </a:solidFill>
          <a:ln cap="flat" cmpd="sng" w="9525">
            <a:solidFill>
              <a:srgbClr val="B0B0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9"/>
          <p:cNvSpPr/>
          <p:nvPr/>
        </p:nvSpPr>
        <p:spPr>
          <a:xfrm>
            <a:off x="4800600" y="1490472"/>
            <a:ext cx="37490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1500"/>
              <a:buFont typeface="Georgia"/>
              <a:buNone/>
            </a:pPr>
            <a:r>
              <a:rPr b="1" i="0" lang="en-US" sz="1500" u="none" cap="none" strike="noStrike">
                <a:solidFill>
                  <a:srgbClr val="7B2D26"/>
                </a:solidFill>
                <a:latin typeface="Georgia"/>
                <a:ea typeface="Georgia"/>
                <a:cs typeface="Georgia"/>
                <a:sym typeface="Georgia"/>
              </a:rPr>
              <a:t>2. Distributions</a:t>
            </a:r>
            <a:endParaRPr b="0" i="0" sz="1500" u="none" cap="none" strike="noStrike">
              <a:solidFill>
                <a:schemeClr val="dk1"/>
              </a:solidFill>
              <a:latin typeface="Calibri"/>
              <a:ea typeface="Calibri"/>
              <a:cs typeface="Calibri"/>
              <a:sym typeface="Calibri"/>
            </a:endParaRPr>
          </a:p>
        </p:txBody>
      </p:sp>
      <p:sp>
        <p:nvSpPr>
          <p:cNvPr id="179" name="Google Shape;179;p9"/>
          <p:cNvSpPr/>
          <p:nvPr/>
        </p:nvSpPr>
        <p:spPr>
          <a:xfrm>
            <a:off x="4800600" y="1828800"/>
            <a:ext cx="37490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B2B2B"/>
              </a:buClr>
              <a:buSzPts val="1300"/>
              <a:buFont typeface="Georgia"/>
              <a:buNone/>
            </a:pPr>
            <a:r>
              <a:rPr b="0" i="0" lang="en-US" sz="1300" u="none" cap="none" strike="noStrike">
                <a:solidFill>
                  <a:srgbClr val="2B2B2B"/>
                </a:solidFill>
                <a:latin typeface="Georgia"/>
                <a:ea typeface="Georgia"/>
                <a:cs typeface="Georgia"/>
                <a:sym typeface="Georgia"/>
              </a:rPr>
              <a:t>Histogram &amp; box plot per feature. Skewed? Bimodal? Outliers? Same scale across features?</a:t>
            </a:r>
            <a:endParaRPr b="0" i="0" sz="1300" u="none" cap="none" strike="noStrike">
              <a:solidFill>
                <a:schemeClr val="dk1"/>
              </a:solidFill>
              <a:latin typeface="Calibri"/>
              <a:ea typeface="Calibri"/>
              <a:cs typeface="Calibri"/>
              <a:sym typeface="Calibri"/>
            </a:endParaRPr>
          </a:p>
        </p:txBody>
      </p:sp>
      <p:sp>
        <p:nvSpPr>
          <p:cNvPr id="180" name="Google Shape;180;p9"/>
          <p:cNvSpPr/>
          <p:nvPr/>
        </p:nvSpPr>
        <p:spPr>
          <a:xfrm>
            <a:off x="457200" y="2834640"/>
            <a:ext cx="4023360" cy="1325880"/>
          </a:xfrm>
          <a:prstGeom prst="rect">
            <a:avLst/>
          </a:prstGeom>
          <a:solidFill>
            <a:srgbClr val="F9F4F1"/>
          </a:solidFill>
          <a:ln cap="flat" cmpd="sng" w="9525">
            <a:solidFill>
              <a:srgbClr val="B0B0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9"/>
          <p:cNvSpPr/>
          <p:nvPr/>
        </p:nvSpPr>
        <p:spPr>
          <a:xfrm>
            <a:off x="594360" y="2907792"/>
            <a:ext cx="37490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1500"/>
              <a:buFont typeface="Georgia"/>
              <a:buNone/>
            </a:pPr>
            <a:r>
              <a:rPr b="1" i="0" lang="en-US" sz="1500" u="none" cap="none" strike="noStrike">
                <a:solidFill>
                  <a:srgbClr val="7B2D26"/>
                </a:solidFill>
                <a:latin typeface="Georgia"/>
                <a:ea typeface="Georgia"/>
                <a:cs typeface="Georgia"/>
                <a:sym typeface="Georgia"/>
              </a:rPr>
              <a:t>3. Relationships</a:t>
            </a:r>
            <a:endParaRPr b="0" i="0" sz="1500" u="none" cap="none" strike="noStrike">
              <a:solidFill>
                <a:schemeClr val="dk1"/>
              </a:solidFill>
              <a:latin typeface="Calibri"/>
              <a:ea typeface="Calibri"/>
              <a:cs typeface="Calibri"/>
              <a:sym typeface="Calibri"/>
            </a:endParaRPr>
          </a:p>
        </p:txBody>
      </p:sp>
      <p:sp>
        <p:nvSpPr>
          <p:cNvPr id="182" name="Google Shape;182;p9"/>
          <p:cNvSpPr/>
          <p:nvPr/>
        </p:nvSpPr>
        <p:spPr>
          <a:xfrm>
            <a:off x="594360" y="3246120"/>
            <a:ext cx="37490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B2B2B"/>
              </a:buClr>
              <a:buSzPts val="1300"/>
              <a:buFont typeface="Georgia"/>
              <a:buNone/>
            </a:pPr>
            <a:r>
              <a:rPr b="0" i="0" lang="en-US" sz="1300" u="none" cap="none" strike="noStrike">
                <a:solidFill>
                  <a:srgbClr val="2B2B2B"/>
                </a:solidFill>
                <a:latin typeface="Georgia"/>
                <a:ea typeface="Georgia"/>
                <a:cs typeface="Georgia"/>
                <a:sym typeface="Georgia"/>
              </a:rPr>
              <a:t>Correlation matrix, pair plots, scatter plots. Are some features redundant? Do features track the target?</a:t>
            </a:r>
            <a:endParaRPr b="0" i="0" sz="1300" u="none" cap="none" strike="noStrike">
              <a:solidFill>
                <a:schemeClr val="dk1"/>
              </a:solidFill>
              <a:latin typeface="Calibri"/>
              <a:ea typeface="Calibri"/>
              <a:cs typeface="Calibri"/>
              <a:sym typeface="Calibri"/>
            </a:endParaRPr>
          </a:p>
        </p:txBody>
      </p:sp>
      <p:sp>
        <p:nvSpPr>
          <p:cNvPr id="183" name="Google Shape;183;p9"/>
          <p:cNvSpPr/>
          <p:nvPr/>
        </p:nvSpPr>
        <p:spPr>
          <a:xfrm>
            <a:off x="4663440" y="2834640"/>
            <a:ext cx="4023360" cy="1325880"/>
          </a:xfrm>
          <a:prstGeom prst="rect">
            <a:avLst/>
          </a:prstGeom>
          <a:solidFill>
            <a:srgbClr val="F9F4F1"/>
          </a:solidFill>
          <a:ln cap="flat" cmpd="sng" w="9525">
            <a:solidFill>
              <a:srgbClr val="B0B0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9"/>
          <p:cNvSpPr/>
          <p:nvPr/>
        </p:nvSpPr>
        <p:spPr>
          <a:xfrm>
            <a:off x="4800600" y="2907792"/>
            <a:ext cx="37490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1500"/>
              <a:buFont typeface="Georgia"/>
              <a:buNone/>
            </a:pPr>
            <a:r>
              <a:rPr b="1" i="0" lang="en-US" sz="1500" u="none" cap="none" strike="noStrike">
                <a:solidFill>
                  <a:srgbClr val="7B2D26"/>
                </a:solidFill>
                <a:latin typeface="Georgia"/>
                <a:ea typeface="Georgia"/>
                <a:cs typeface="Georgia"/>
                <a:sym typeface="Georgia"/>
              </a:rPr>
              <a:t>4. Class &amp; sample balance</a:t>
            </a:r>
            <a:endParaRPr b="0" i="0" sz="1500" u="none" cap="none" strike="noStrike">
              <a:solidFill>
                <a:schemeClr val="dk1"/>
              </a:solidFill>
              <a:latin typeface="Calibri"/>
              <a:ea typeface="Calibri"/>
              <a:cs typeface="Calibri"/>
              <a:sym typeface="Calibri"/>
            </a:endParaRPr>
          </a:p>
        </p:txBody>
      </p:sp>
      <p:sp>
        <p:nvSpPr>
          <p:cNvPr id="185" name="Google Shape;185;p9"/>
          <p:cNvSpPr/>
          <p:nvPr/>
        </p:nvSpPr>
        <p:spPr>
          <a:xfrm>
            <a:off x="4800600" y="3246120"/>
            <a:ext cx="37490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B2B2B"/>
              </a:buClr>
              <a:buSzPts val="1300"/>
              <a:buFont typeface="Georgia"/>
              <a:buNone/>
            </a:pPr>
            <a:r>
              <a:rPr b="0" i="0" lang="en-US" sz="1300" u="none" cap="none" strike="noStrike">
                <a:solidFill>
                  <a:srgbClr val="2B2B2B"/>
                </a:solidFill>
                <a:latin typeface="Georgia"/>
                <a:ea typeface="Georgia"/>
                <a:cs typeface="Georgia"/>
                <a:sym typeface="Georgia"/>
              </a:rPr>
              <a:t>If classification: is one class 95% of the data? If regression: is the target uniformly sampled, or biased to bright/nearby?</a:t>
            </a:r>
            <a:endParaRPr b="0" i="0" sz="1300" u="none" cap="none" strike="noStrike">
              <a:solidFill>
                <a:schemeClr val="dk1"/>
              </a:solidFill>
              <a:latin typeface="Calibri"/>
              <a:ea typeface="Calibri"/>
              <a:cs typeface="Calibri"/>
              <a:sym typeface="Calibri"/>
            </a:endParaRPr>
          </a:p>
        </p:txBody>
      </p:sp>
      <p:sp>
        <p:nvSpPr>
          <p:cNvPr id="186" name="Google Shape;186;p9"/>
          <p:cNvSpPr/>
          <p:nvPr/>
        </p:nvSpPr>
        <p:spPr>
          <a:xfrm>
            <a:off x="457200" y="4160520"/>
            <a:ext cx="84124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1300"/>
              <a:buFont typeface="Georgia"/>
              <a:buNone/>
            </a:pPr>
            <a:r>
              <a:rPr b="1" i="0" lang="en-US" sz="1300" u="none" cap="none" strike="noStrike">
                <a:solidFill>
                  <a:srgbClr val="7B2D26"/>
                </a:solidFill>
                <a:latin typeface="Georgia"/>
                <a:ea typeface="Georgia"/>
                <a:cs typeface="Georgia"/>
                <a:sym typeface="Georgia"/>
              </a:rPr>
              <a:t>Rule of thumb:  </a:t>
            </a:r>
            <a:r>
              <a:rPr b="0" i="0" lang="en-US" sz="1300" u="none" cap="none" strike="noStrike">
                <a:solidFill>
                  <a:srgbClr val="2B2B2B"/>
                </a:solidFill>
                <a:latin typeface="Georgia"/>
                <a:ea typeface="Georgia"/>
                <a:cs typeface="Georgia"/>
                <a:sym typeface="Georgia"/>
              </a:rPr>
              <a:t>skip EDA → discover your data bugs in the </a:t>
            </a:r>
            <a:r>
              <a:rPr b="0" i="1" lang="en-US" sz="1300" u="none" cap="none" strike="noStrike">
                <a:solidFill>
                  <a:srgbClr val="2B2B2B"/>
                </a:solidFill>
                <a:latin typeface="Georgia"/>
                <a:ea typeface="Georgia"/>
                <a:cs typeface="Georgia"/>
                <a:sym typeface="Georgia"/>
              </a:rPr>
              <a:t>model results</a:t>
            </a:r>
            <a:r>
              <a:rPr b="0" i="0" lang="en-US" sz="1300" u="none" cap="none" strike="noStrike">
                <a:solidFill>
                  <a:srgbClr val="2B2B2B"/>
                </a:solidFill>
                <a:latin typeface="Georgia"/>
                <a:ea typeface="Georgia"/>
                <a:cs typeface="Georgia"/>
                <a:sym typeface="Georgia"/>
              </a:rPr>
              <a:t>.</a:t>
            </a:r>
            <a:endParaRPr b="0" i="0" sz="1300" u="none" cap="none" strike="noStrike">
              <a:solidFill>
                <a:schemeClr val="dk1"/>
              </a:solidFill>
              <a:latin typeface="Calibri"/>
              <a:ea typeface="Calibri"/>
              <a:cs typeface="Calibri"/>
              <a:sym typeface="Calibri"/>
            </a:endParaRPr>
          </a:p>
        </p:txBody>
      </p:sp>
      <p:pic>
        <p:nvPicPr>
          <p:cNvPr descr="/sessions/sleepy-friendly-euler/mnt/outputs/logos/cosmicai_logo.png" id="187" name="Google Shape;187;p9"/>
          <p:cNvPicPr preferRelativeResize="0"/>
          <p:nvPr/>
        </p:nvPicPr>
        <p:blipFill rotWithShape="1">
          <a:blip r:embed="rId3">
            <a:alphaModFix/>
          </a:blip>
          <a:srcRect b="0" l="0" r="0" t="0"/>
          <a:stretch/>
        </p:blipFill>
        <p:spPr>
          <a:xfrm>
            <a:off x="228600" y="4526280"/>
            <a:ext cx="1463040" cy="502920"/>
          </a:xfrm>
          <a:prstGeom prst="rect">
            <a:avLst/>
          </a:prstGeom>
          <a:noFill/>
          <a:ln>
            <a:noFill/>
          </a:ln>
        </p:spPr>
      </p:pic>
      <p:sp>
        <p:nvSpPr>
          <p:cNvPr id="188" name="Google Shape;188;p9"/>
          <p:cNvSpPr/>
          <p:nvPr/>
        </p:nvSpPr>
        <p:spPr>
          <a:xfrm>
            <a:off x="2743200" y="4663440"/>
            <a:ext cx="36576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1" i="0" lang="en-US" sz="1200" u="none" cap="none" strike="noStrike">
                <a:solidFill>
                  <a:srgbClr val="2B2B2B"/>
                </a:solidFill>
                <a:latin typeface="Georgia"/>
                <a:ea typeface="Georgia"/>
                <a:cs typeface="Georgia"/>
                <a:sym typeface="Georgia"/>
              </a:rPr>
              <a:t>CosmicAI Summer School</a:t>
            </a:r>
            <a:endParaRPr b="0" i="0" sz="1200" u="none" cap="none" strike="noStrike">
              <a:solidFill>
                <a:schemeClr val="dk1"/>
              </a:solidFill>
              <a:latin typeface="Calibri"/>
              <a:ea typeface="Calibri"/>
              <a:cs typeface="Calibri"/>
              <a:sym typeface="Calibri"/>
            </a:endParaRPr>
          </a:p>
        </p:txBody>
      </p:sp>
      <p:sp>
        <p:nvSpPr>
          <p:cNvPr id="189" name="Google Shape;189;p9"/>
          <p:cNvSpPr/>
          <p:nvPr/>
        </p:nvSpPr>
        <p:spPr>
          <a:xfrm>
            <a:off x="8275320" y="4754880"/>
            <a:ext cx="6858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06060"/>
              </a:buClr>
              <a:buSzPts val="1200"/>
              <a:buFont typeface="Georgia"/>
              <a:buNone/>
            </a:pPr>
            <a:r>
              <a:rPr b="0" i="0" lang="en-US" sz="1200" u="none" cap="none" strike="noStrike">
                <a:solidFill>
                  <a:srgbClr val="606060"/>
                </a:solidFill>
                <a:latin typeface="Georgia"/>
                <a:ea typeface="Georgia"/>
                <a:cs typeface="Georgia"/>
                <a:sym typeface="Georgia"/>
              </a:rPr>
              <a:t>9</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4" name="Shape 194"/>
        <p:cNvGrpSpPr/>
        <p:nvPr/>
      </p:nvGrpSpPr>
      <p:grpSpPr>
        <a:xfrm>
          <a:off x="0" y="0"/>
          <a:ext cx="0" cy="0"/>
          <a:chOff x="0" y="0"/>
          <a:chExt cx="0" cy="0"/>
        </a:xfrm>
      </p:grpSpPr>
      <p:sp>
        <p:nvSpPr>
          <p:cNvPr id="195" name="Google Shape;195;p10"/>
          <p:cNvSpPr/>
          <p:nvPr/>
        </p:nvSpPr>
        <p:spPr>
          <a:xfrm>
            <a:off x="274320" y="137160"/>
            <a:ext cx="704088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2600"/>
              <a:buFont typeface="Georgia"/>
              <a:buNone/>
            </a:pPr>
            <a:r>
              <a:rPr b="0" i="0" lang="en-US" sz="2600" u="none" cap="none" strike="noStrike">
                <a:solidFill>
                  <a:srgbClr val="7B2D26"/>
                </a:solidFill>
                <a:latin typeface="Georgia"/>
                <a:ea typeface="Georgia"/>
                <a:cs typeface="Georgia"/>
                <a:sym typeface="Georgia"/>
              </a:rPr>
              <a:t>Worked Example  —  Frame It</a:t>
            </a:r>
            <a:endParaRPr b="0" i="0" sz="2600" u="none" cap="none" strike="noStrike">
              <a:solidFill>
                <a:schemeClr val="dk1"/>
              </a:solidFill>
              <a:latin typeface="Calibri"/>
              <a:ea typeface="Calibri"/>
              <a:cs typeface="Calibri"/>
              <a:sym typeface="Calibri"/>
            </a:endParaRPr>
          </a:p>
        </p:txBody>
      </p:sp>
      <p:cxnSp>
        <p:nvCxnSpPr>
          <p:cNvPr id="196" name="Google Shape;196;p10"/>
          <p:cNvCxnSpPr/>
          <p:nvPr/>
        </p:nvCxnSpPr>
        <p:spPr>
          <a:xfrm>
            <a:off x="365760" y="685800"/>
            <a:ext cx="8412480" cy="0"/>
          </a:xfrm>
          <a:prstGeom prst="straightConnector1">
            <a:avLst/>
          </a:prstGeom>
          <a:noFill/>
          <a:ln cap="flat" cmpd="sng" w="15875">
            <a:solidFill>
              <a:srgbClr val="B0B0B0"/>
            </a:solidFill>
            <a:prstDash val="solid"/>
            <a:round/>
            <a:headEnd len="sm" w="sm" type="none"/>
            <a:tailEnd len="sm" w="sm" type="none"/>
          </a:ln>
        </p:spPr>
      </p:cxnSp>
      <p:sp>
        <p:nvSpPr>
          <p:cNvPr id="197" name="Google Shape;197;p10"/>
          <p:cNvSpPr/>
          <p:nvPr/>
        </p:nvSpPr>
        <p:spPr>
          <a:xfrm>
            <a:off x="7360920" y="182880"/>
            <a:ext cx="1600200" cy="292608"/>
          </a:xfrm>
          <a:prstGeom prst="rect">
            <a:avLst/>
          </a:prstGeom>
          <a:solidFill>
            <a:srgbClr val="7B2D26"/>
          </a:solidFill>
          <a:ln cap="flat" cmpd="sng" w="12700">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0"/>
          <p:cNvSpPr/>
          <p:nvPr/>
        </p:nvSpPr>
        <p:spPr>
          <a:xfrm>
            <a:off x="7360920" y="182880"/>
            <a:ext cx="1600200"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50"/>
              <a:buFont typeface="Georgia"/>
              <a:buNone/>
            </a:pPr>
            <a:r>
              <a:rPr b="1" i="0" lang="en-US" sz="1050" u="none" cap="none" strike="noStrike">
                <a:solidFill>
                  <a:srgbClr val="FFFFFF"/>
                </a:solidFill>
                <a:latin typeface="Georgia"/>
                <a:ea typeface="Georgia"/>
                <a:cs typeface="Georgia"/>
                <a:sym typeface="Georgia"/>
              </a:rPr>
              <a:t>WORKED EXAMPLE</a:t>
            </a:r>
            <a:endParaRPr b="0" i="0" sz="1050" u="none" cap="none" strike="noStrike">
              <a:solidFill>
                <a:schemeClr val="dk1"/>
              </a:solidFill>
              <a:latin typeface="Calibri"/>
              <a:ea typeface="Calibri"/>
              <a:cs typeface="Calibri"/>
              <a:sym typeface="Calibri"/>
            </a:endParaRPr>
          </a:p>
        </p:txBody>
      </p:sp>
      <p:sp>
        <p:nvSpPr>
          <p:cNvPr id="199" name="Google Shape;199;p10"/>
          <p:cNvSpPr/>
          <p:nvPr/>
        </p:nvSpPr>
        <p:spPr>
          <a:xfrm>
            <a:off x="365760" y="868680"/>
            <a:ext cx="8412480" cy="1691640"/>
          </a:xfrm>
          <a:prstGeom prst="rect">
            <a:avLst/>
          </a:prstGeom>
          <a:solidFill>
            <a:srgbClr val="F9F4F1"/>
          </a:solidFill>
          <a:ln cap="flat" cmpd="sng" w="9525">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0"/>
          <p:cNvSpPr/>
          <p:nvPr/>
        </p:nvSpPr>
        <p:spPr>
          <a:xfrm>
            <a:off x="502920" y="914400"/>
            <a:ext cx="82296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1400"/>
              <a:buFont typeface="Georgia"/>
              <a:buNone/>
            </a:pPr>
            <a:r>
              <a:rPr b="1" i="1" lang="en-US" sz="1400" u="none" cap="none" strike="noStrike">
                <a:solidFill>
                  <a:srgbClr val="7B2D26"/>
                </a:solidFill>
                <a:latin typeface="Georgia"/>
                <a:ea typeface="Georgia"/>
                <a:cs typeface="Georgia"/>
                <a:sym typeface="Georgia"/>
              </a:rPr>
              <a:t>Scenario</a:t>
            </a:r>
            <a:endParaRPr b="0" i="0" sz="1400" u="none" cap="none" strike="noStrike">
              <a:solidFill>
                <a:schemeClr val="dk1"/>
              </a:solidFill>
              <a:latin typeface="Calibri"/>
              <a:ea typeface="Calibri"/>
              <a:cs typeface="Calibri"/>
              <a:sym typeface="Calibri"/>
            </a:endParaRPr>
          </a:p>
        </p:txBody>
      </p:sp>
      <p:sp>
        <p:nvSpPr>
          <p:cNvPr id="201" name="Google Shape;201;p10"/>
          <p:cNvSpPr/>
          <p:nvPr/>
        </p:nvSpPr>
        <p:spPr>
          <a:xfrm>
            <a:off x="502920" y="1234440"/>
            <a:ext cx="8183880" cy="13258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B2B2B"/>
              </a:buClr>
              <a:buSzPts val="1250"/>
              <a:buFont typeface="Georgia"/>
              <a:buNone/>
            </a:pPr>
            <a:r>
              <a:rPr b="0" i="0" lang="en-US" sz="1250" u="none" cap="none" strike="noStrike">
                <a:solidFill>
                  <a:srgbClr val="2B2B2B"/>
                </a:solidFill>
                <a:latin typeface="Georgia"/>
                <a:ea typeface="Georgia"/>
                <a:cs typeface="Georgia"/>
                <a:sym typeface="Georgia"/>
              </a:rPr>
              <a:t>You receive an SDSS catalog of  </a:t>
            </a:r>
            <a:r>
              <a:rPr b="1" i="0" lang="en-US" sz="1250" u="none" cap="none" strike="noStrike">
                <a:solidFill>
                  <a:srgbClr val="000000"/>
                </a:solidFill>
                <a:latin typeface="Georgia"/>
                <a:ea typeface="Georgia"/>
                <a:cs typeface="Georgia"/>
                <a:sym typeface="Georgia"/>
              </a:rPr>
              <a:t>50 000 </a:t>
            </a:r>
            <a:r>
              <a:rPr b="0" i="0" lang="en-US" sz="1250" u="none" cap="none" strike="noStrike">
                <a:solidFill>
                  <a:srgbClr val="2B2B2B"/>
                </a:solidFill>
                <a:latin typeface="Georgia"/>
                <a:ea typeface="Georgia"/>
                <a:cs typeface="Georgia"/>
                <a:sym typeface="Georgia"/>
              </a:rPr>
              <a:t>galaxies. Each row has:</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B2B"/>
              </a:buClr>
              <a:buSzPts val="1250"/>
              <a:buFont typeface="Courier New"/>
              <a:buNone/>
            </a:pPr>
            <a:r>
              <a:rPr b="0" i="0" lang="en-US" sz="1250" u="none" cap="none" strike="noStrike">
                <a:solidFill>
                  <a:srgbClr val="2B2B2B"/>
                </a:solidFill>
                <a:latin typeface="Courier New"/>
                <a:ea typeface="Courier New"/>
                <a:cs typeface="Courier New"/>
                <a:sym typeface="Courier New"/>
              </a:rPr>
              <a:t>u, g, r, i, z magnitudes </a:t>
            </a:r>
            <a:r>
              <a:rPr b="0" i="1" lang="en-US" sz="1250" u="none" cap="none" strike="noStrike">
                <a:solidFill>
                  <a:srgbClr val="606060"/>
                </a:solidFill>
                <a:latin typeface="Georgia"/>
                <a:ea typeface="Georgia"/>
                <a:cs typeface="Georgia"/>
                <a:sym typeface="Georgia"/>
              </a:rPr>
              <a:t>(continuous numeric)</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B2B"/>
              </a:buClr>
              <a:buSzPts val="1250"/>
              <a:buFont typeface="Georgia"/>
              <a:buNone/>
            </a:pPr>
            <a:r>
              <a:rPr b="0" i="0" lang="en-US" sz="1250" u="none" cap="none" strike="noStrike">
                <a:solidFill>
                  <a:srgbClr val="2B2B2B"/>
                </a:solidFill>
                <a:latin typeface="Georgia"/>
                <a:ea typeface="Georgia"/>
                <a:cs typeface="Georgia"/>
                <a:sym typeface="Georgia"/>
              </a:rPr>
              <a:t>a measured spectroscopic redshift  </a:t>
            </a:r>
            <a:r>
              <a:rPr b="1" i="0" lang="en-US" sz="1250" u="none" cap="none" strike="noStrike">
                <a:solidFill>
                  <a:srgbClr val="7B2D26"/>
                </a:solidFill>
                <a:latin typeface="Courier New"/>
                <a:ea typeface="Courier New"/>
                <a:cs typeface="Courier New"/>
                <a:sym typeface="Courier New"/>
              </a:rPr>
              <a:t>z_spec</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B2B"/>
              </a:buClr>
              <a:buSzPts val="1250"/>
              <a:buFont typeface="Courier New"/>
              <a:buNone/>
            </a:pPr>
            <a:r>
              <a:rPr b="0" i="0" lang="en-US" sz="1250" u="none" cap="none" strike="noStrike">
                <a:solidFill>
                  <a:srgbClr val="2B2B2B"/>
                </a:solidFill>
                <a:latin typeface="Courier New"/>
                <a:ea typeface="Courier New"/>
                <a:cs typeface="Courier New"/>
                <a:sym typeface="Courier New"/>
              </a:rPr>
              <a:t>galaxy_id</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500"/>
              <a:buFont typeface="Georgia"/>
              <a:buNone/>
            </a:pPr>
            <a:r>
              <a:rPr b="0" i="0" lang="en-US" sz="500" u="none" cap="none" strike="noStrike">
                <a:solidFill>
                  <a:srgbClr val="000000"/>
                </a:solidFill>
                <a:latin typeface="Georgia"/>
                <a:ea typeface="Georgia"/>
                <a:cs typeface="Georgia"/>
                <a:sym typeface="Georgia"/>
              </a:rPr>
              <a:t> </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7B2D26"/>
              </a:buClr>
              <a:buSzPts val="1250"/>
              <a:buFont typeface="Georgia"/>
              <a:buNone/>
            </a:pPr>
            <a:r>
              <a:rPr b="1" i="0" lang="en-US" sz="1250" u="none" cap="none" strike="noStrike">
                <a:solidFill>
                  <a:srgbClr val="7B2D26"/>
                </a:solidFill>
                <a:latin typeface="Georgia"/>
                <a:ea typeface="Georgia"/>
                <a:cs typeface="Georgia"/>
                <a:sym typeface="Georgia"/>
              </a:rPr>
              <a:t>Your goal:  </a:t>
            </a:r>
            <a:r>
              <a:rPr b="0" i="0" lang="en-US" sz="1250" u="none" cap="none" strike="noStrike">
                <a:solidFill>
                  <a:srgbClr val="2B2B2B"/>
                </a:solidFill>
                <a:latin typeface="Georgia"/>
                <a:ea typeface="Georgia"/>
                <a:cs typeface="Georgia"/>
                <a:sym typeface="Georgia"/>
              </a:rPr>
              <a:t>predict  z  for  </a:t>
            </a:r>
            <a:r>
              <a:rPr b="1" i="1" lang="en-US" sz="1250" u="none" cap="none" strike="noStrike">
                <a:solidFill>
                  <a:srgbClr val="000000"/>
                </a:solidFill>
                <a:latin typeface="Georgia"/>
                <a:ea typeface="Georgia"/>
                <a:cs typeface="Georgia"/>
                <a:sym typeface="Georgia"/>
              </a:rPr>
              <a:t>new </a:t>
            </a:r>
            <a:r>
              <a:rPr b="0" i="0" lang="en-US" sz="1250" u="none" cap="none" strike="noStrike">
                <a:solidFill>
                  <a:srgbClr val="2B2B2B"/>
                </a:solidFill>
                <a:latin typeface="Georgia"/>
                <a:ea typeface="Georgia"/>
                <a:cs typeface="Georgia"/>
                <a:sym typeface="Georgia"/>
              </a:rPr>
              <a:t>galaxies that have only photometry (no spectroscopy).</a:t>
            </a:r>
            <a:endParaRPr b="0" i="0" sz="1250" u="none" cap="none" strike="noStrike">
              <a:solidFill>
                <a:schemeClr val="dk1"/>
              </a:solidFill>
              <a:latin typeface="Calibri"/>
              <a:ea typeface="Calibri"/>
              <a:cs typeface="Calibri"/>
              <a:sym typeface="Calibri"/>
            </a:endParaRPr>
          </a:p>
        </p:txBody>
      </p:sp>
      <p:sp>
        <p:nvSpPr>
          <p:cNvPr id="202" name="Google Shape;202;p10"/>
          <p:cNvSpPr/>
          <p:nvPr/>
        </p:nvSpPr>
        <p:spPr>
          <a:xfrm>
            <a:off x="365760" y="2743200"/>
            <a:ext cx="84124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1400"/>
              <a:buFont typeface="Georgia"/>
              <a:buNone/>
            </a:pPr>
            <a:r>
              <a:rPr b="1" i="1" lang="en-US" sz="1400" u="none" cap="none" strike="noStrike">
                <a:solidFill>
                  <a:srgbClr val="7B2D26"/>
                </a:solidFill>
                <a:latin typeface="Georgia"/>
                <a:ea typeface="Georgia"/>
                <a:cs typeface="Georgia"/>
                <a:sym typeface="Georgia"/>
              </a:rPr>
              <a:t>Write down on paper:</a:t>
            </a:r>
            <a:endParaRPr b="0" i="0" sz="1400" u="none" cap="none" strike="noStrike">
              <a:solidFill>
                <a:schemeClr val="dk1"/>
              </a:solidFill>
              <a:latin typeface="Calibri"/>
              <a:ea typeface="Calibri"/>
              <a:cs typeface="Calibri"/>
              <a:sym typeface="Calibri"/>
            </a:endParaRPr>
          </a:p>
        </p:txBody>
      </p:sp>
      <p:sp>
        <p:nvSpPr>
          <p:cNvPr id="203" name="Google Shape;203;p10"/>
          <p:cNvSpPr/>
          <p:nvPr/>
        </p:nvSpPr>
        <p:spPr>
          <a:xfrm>
            <a:off x="914400" y="3108960"/>
            <a:ext cx="73152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B"/>
              </a:buClr>
              <a:buSzPts val="1400"/>
              <a:buFont typeface="Georgia"/>
              <a:buNone/>
            </a:pPr>
            <a:r>
              <a:rPr b="0" i="0" lang="en-US" sz="1400" u="none" cap="none" strike="noStrike">
                <a:solidFill>
                  <a:srgbClr val="2B2B2B"/>
                </a:solidFill>
                <a:latin typeface="Georgia"/>
                <a:ea typeface="Georgia"/>
                <a:cs typeface="Georgia"/>
                <a:sym typeface="Georgia"/>
              </a:rPr>
              <a:t>1.  Classification or regression?</a:t>
            </a:r>
            <a:endParaRPr b="0" i="0" sz="1400" u="none" cap="none" strike="noStrike">
              <a:solidFill>
                <a:schemeClr val="dk1"/>
              </a:solidFill>
              <a:latin typeface="Calibri"/>
              <a:ea typeface="Calibri"/>
              <a:cs typeface="Calibri"/>
              <a:sym typeface="Calibri"/>
            </a:endParaRPr>
          </a:p>
        </p:txBody>
      </p:sp>
      <p:sp>
        <p:nvSpPr>
          <p:cNvPr id="204" name="Google Shape;204;p10"/>
          <p:cNvSpPr/>
          <p:nvPr/>
        </p:nvSpPr>
        <p:spPr>
          <a:xfrm>
            <a:off x="914400" y="3438144"/>
            <a:ext cx="73152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B"/>
              </a:buClr>
              <a:buSzPts val="1400"/>
              <a:buFont typeface="Georgia"/>
              <a:buNone/>
            </a:pPr>
            <a:r>
              <a:rPr b="0" i="0" lang="en-US" sz="1400" u="none" cap="none" strike="noStrike">
                <a:solidFill>
                  <a:srgbClr val="2B2B2B"/>
                </a:solidFill>
                <a:latin typeface="Georgia"/>
                <a:ea typeface="Georgia"/>
                <a:cs typeface="Georgia"/>
                <a:sym typeface="Georgia"/>
              </a:rPr>
              <a:t>2.  What is  X?</a:t>
            </a:r>
            <a:endParaRPr b="0" i="0" sz="1400" u="none" cap="none" strike="noStrike">
              <a:solidFill>
                <a:schemeClr val="dk1"/>
              </a:solidFill>
              <a:latin typeface="Calibri"/>
              <a:ea typeface="Calibri"/>
              <a:cs typeface="Calibri"/>
              <a:sym typeface="Calibri"/>
            </a:endParaRPr>
          </a:p>
        </p:txBody>
      </p:sp>
      <p:sp>
        <p:nvSpPr>
          <p:cNvPr id="205" name="Google Shape;205;p10"/>
          <p:cNvSpPr/>
          <p:nvPr/>
        </p:nvSpPr>
        <p:spPr>
          <a:xfrm>
            <a:off x="914400" y="3767328"/>
            <a:ext cx="73152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B"/>
              </a:buClr>
              <a:buSzPts val="1400"/>
              <a:buFont typeface="Georgia"/>
              <a:buNone/>
            </a:pPr>
            <a:r>
              <a:rPr b="0" i="0" lang="en-US" sz="1400" u="none" cap="none" strike="noStrike">
                <a:solidFill>
                  <a:srgbClr val="2B2B2B"/>
                </a:solidFill>
                <a:latin typeface="Georgia"/>
                <a:ea typeface="Georgia"/>
                <a:cs typeface="Georgia"/>
                <a:sym typeface="Georgia"/>
              </a:rPr>
              <a:t>3.  What is  y?</a:t>
            </a:r>
            <a:endParaRPr b="0" i="0" sz="1400" u="none" cap="none" strike="noStrike">
              <a:solidFill>
                <a:schemeClr val="dk1"/>
              </a:solidFill>
              <a:latin typeface="Calibri"/>
              <a:ea typeface="Calibri"/>
              <a:cs typeface="Calibri"/>
              <a:sym typeface="Calibri"/>
            </a:endParaRPr>
          </a:p>
        </p:txBody>
      </p:sp>
      <p:sp>
        <p:nvSpPr>
          <p:cNvPr id="206" name="Google Shape;206;p10"/>
          <p:cNvSpPr/>
          <p:nvPr/>
        </p:nvSpPr>
        <p:spPr>
          <a:xfrm>
            <a:off x="914400" y="4096512"/>
            <a:ext cx="73152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B"/>
              </a:buClr>
              <a:buSzPts val="1400"/>
              <a:buFont typeface="Georgia"/>
              <a:buNone/>
            </a:pPr>
            <a:r>
              <a:rPr b="0" i="0" lang="en-US" sz="1400" u="none" cap="none" strike="noStrike">
                <a:solidFill>
                  <a:srgbClr val="2B2B2B"/>
                </a:solidFill>
                <a:latin typeface="Georgia"/>
                <a:ea typeface="Georgia"/>
                <a:cs typeface="Georgia"/>
                <a:sym typeface="Georgia"/>
              </a:rPr>
              <a:t>4.  What's a good success metric?</a:t>
            </a:r>
            <a:endParaRPr b="0" i="0" sz="1400" u="none" cap="none" strike="noStrike">
              <a:solidFill>
                <a:schemeClr val="dk1"/>
              </a:solidFill>
              <a:latin typeface="Calibri"/>
              <a:ea typeface="Calibri"/>
              <a:cs typeface="Calibri"/>
              <a:sym typeface="Calibri"/>
            </a:endParaRPr>
          </a:p>
        </p:txBody>
      </p:sp>
      <p:sp>
        <p:nvSpPr>
          <p:cNvPr id="207" name="Google Shape;207;p10"/>
          <p:cNvSpPr/>
          <p:nvPr/>
        </p:nvSpPr>
        <p:spPr>
          <a:xfrm>
            <a:off x="457200" y="4297680"/>
            <a:ext cx="841248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06060"/>
              </a:buClr>
              <a:buSzPts val="1200"/>
              <a:buFont typeface="Georgia"/>
              <a:buNone/>
            </a:pPr>
            <a:r>
              <a:rPr b="0" i="1" lang="en-US" sz="1200" u="none" cap="none" strike="noStrike">
                <a:solidFill>
                  <a:srgbClr val="606060"/>
                </a:solidFill>
                <a:latin typeface="Georgia"/>
                <a:ea typeface="Georgia"/>
                <a:cs typeface="Georgia"/>
                <a:sym typeface="Georgia"/>
              </a:rPr>
              <a:t>Pause and try — then advance.</a:t>
            </a:r>
            <a:endParaRPr b="0" i="0" sz="1200" u="none" cap="none" strike="noStrike">
              <a:solidFill>
                <a:schemeClr val="dk1"/>
              </a:solidFill>
              <a:latin typeface="Calibri"/>
              <a:ea typeface="Calibri"/>
              <a:cs typeface="Calibri"/>
              <a:sym typeface="Calibri"/>
            </a:endParaRPr>
          </a:p>
        </p:txBody>
      </p:sp>
      <p:pic>
        <p:nvPicPr>
          <p:cNvPr descr="/sessions/sleepy-friendly-euler/mnt/outputs/logos/cosmicai_logo.png" id="208" name="Google Shape;208;p10"/>
          <p:cNvPicPr preferRelativeResize="0"/>
          <p:nvPr/>
        </p:nvPicPr>
        <p:blipFill rotWithShape="1">
          <a:blip r:embed="rId3">
            <a:alphaModFix/>
          </a:blip>
          <a:srcRect b="0" l="0" r="0" t="0"/>
          <a:stretch/>
        </p:blipFill>
        <p:spPr>
          <a:xfrm>
            <a:off x="228600" y="4526280"/>
            <a:ext cx="1463040" cy="502920"/>
          </a:xfrm>
          <a:prstGeom prst="rect">
            <a:avLst/>
          </a:prstGeom>
          <a:noFill/>
          <a:ln>
            <a:noFill/>
          </a:ln>
        </p:spPr>
      </p:pic>
      <p:sp>
        <p:nvSpPr>
          <p:cNvPr id="209" name="Google Shape;209;p10"/>
          <p:cNvSpPr/>
          <p:nvPr/>
        </p:nvSpPr>
        <p:spPr>
          <a:xfrm>
            <a:off x="2743200" y="4663440"/>
            <a:ext cx="36576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1" i="0" lang="en-US" sz="1200" u="none" cap="none" strike="noStrike">
                <a:solidFill>
                  <a:srgbClr val="2B2B2B"/>
                </a:solidFill>
                <a:latin typeface="Georgia"/>
                <a:ea typeface="Georgia"/>
                <a:cs typeface="Georgia"/>
                <a:sym typeface="Georgia"/>
              </a:rPr>
              <a:t>CosmicAI Summer School</a:t>
            </a:r>
            <a:endParaRPr b="0" i="0" sz="1200" u="none" cap="none" strike="noStrike">
              <a:solidFill>
                <a:schemeClr val="dk1"/>
              </a:solidFill>
              <a:latin typeface="Calibri"/>
              <a:ea typeface="Calibri"/>
              <a:cs typeface="Calibri"/>
              <a:sym typeface="Calibri"/>
            </a:endParaRPr>
          </a:p>
        </p:txBody>
      </p:sp>
      <p:sp>
        <p:nvSpPr>
          <p:cNvPr id="210" name="Google Shape;210;p10"/>
          <p:cNvSpPr/>
          <p:nvPr/>
        </p:nvSpPr>
        <p:spPr>
          <a:xfrm>
            <a:off x="8275320" y="4754880"/>
            <a:ext cx="6858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06060"/>
              </a:buClr>
              <a:buSzPts val="1200"/>
              <a:buFont typeface="Georgia"/>
              <a:buNone/>
            </a:pPr>
            <a:r>
              <a:rPr b="0" i="0" lang="en-US" sz="1200" u="none" cap="none" strike="noStrike">
                <a:solidFill>
                  <a:srgbClr val="606060"/>
                </a:solidFill>
                <a:latin typeface="Georgia"/>
                <a:ea typeface="Georgia"/>
                <a:cs typeface="Georgia"/>
                <a:sym typeface="Georgia"/>
              </a:rPr>
              <a:t>10</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5" name="Shape 215"/>
        <p:cNvGrpSpPr/>
        <p:nvPr/>
      </p:nvGrpSpPr>
      <p:grpSpPr>
        <a:xfrm>
          <a:off x="0" y="0"/>
          <a:ext cx="0" cy="0"/>
          <a:chOff x="0" y="0"/>
          <a:chExt cx="0" cy="0"/>
        </a:xfrm>
      </p:grpSpPr>
      <p:sp>
        <p:nvSpPr>
          <p:cNvPr id="216" name="Google Shape;216;p11"/>
          <p:cNvSpPr/>
          <p:nvPr/>
        </p:nvSpPr>
        <p:spPr>
          <a:xfrm>
            <a:off x="274320" y="137160"/>
            <a:ext cx="704088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2800"/>
              <a:buFont typeface="Georgia"/>
              <a:buNone/>
            </a:pPr>
            <a:r>
              <a:rPr b="0" i="0" lang="en-US" sz="2800" u="none" cap="none" strike="noStrike">
                <a:solidFill>
                  <a:srgbClr val="7B2D26"/>
                </a:solidFill>
                <a:latin typeface="Georgia"/>
                <a:ea typeface="Georgia"/>
                <a:cs typeface="Georgia"/>
                <a:sym typeface="Georgia"/>
              </a:rPr>
              <a:t>Worked Example — Solution</a:t>
            </a:r>
            <a:endParaRPr b="0" i="0" sz="2800" u="none" cap="none" strike="noStrike">
              <a:solidFill>
                <a:schemeClr val="dk1"/>
              </a:solidFill>
              <a:latin typeface="Calibri"/>
              <a:ea typeface="Calibri"/>
              <a:cs typeface="Calibri"/>
              <a:sym typeface="Calibri"/>
            </a:endParaRPr>
          </a:p>
        </p:txBody>
      </p:sp>
      <p:cxnSp>
        <p:nvCxnSpPr>
          <p:cNvPr id="217" name="Google Shape;217;p11"/>
          <p:cNvCxnSpPr/>
          <p:nvPr/>
        </p:nvCxnSpPr>
        <p:spPr>
          <a:xfrm>
            <a:off x="365760" y="685800"/>
            <a:ext cx="8412480" cy="0"/>
          </a:xfrm>
          <a:prstGeom prst="straightConnector1">
            <a:avLst/>
          </a:prstGeom>
          <a:noFill/>
          <a:ln cap="flat" cmpd="sng" w="15875">
            <a:solidFill>
              <a:srgbClr val="B0B0B0"/>
            </a:solidFill>
            <a:prstDash val="solid"/>
            <a:round/>
            <a:headEnd len="sm" w="sm" type="none"/>
            <a:tailEnd len="sm" w="sm" type="none"/>
          </a:ln>
        </p:spPr>
      </p:cxnSp>
      <p:sp>
        <p:nvSpPr>
          <p:cNvPr id="218" name="Google Shape;218;p11"/>
          <p:cNvSpPr/>
          <p:nvPr/>
        </p:nvSpPr>
        <p:spPr>
          <a:xfrm>
            <a:off x="7360920" y="182880"/>
            <a:ext cx="1600200" cy="292608"/>
          </a:xfrm>
          <a:prstGeom prst="rect">
            <a:avLst/>
          </a:prstGeom>
          <a:solidFill>
            <a:srgbClr val="3A5A3B"/>
          </a:solidFill>
          <a:ln cap="flat" cmpd="sng" w="12700">
            <a:solidFill>
              <a:srgbClr val="3A5A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1"/>
          <p:cNvSpPr/>
          <p:nvPr/>
        </p:nvSpPr>
        <p:spPr>
          <a:xfrm>
            <a:off x="7360920" y="182880"/>
            <a:ext cx="1600200"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50"/>
              <a:buFont typeface="Georgia"/>
              <a:buNone/>
            </a:pPr>
            <a:r>
              <a:rPr b="1" i="0" lang="en-US" sz="1050" u="none" cap="none" strike="noStrike">
                <a:solidFill>
                  <a:srgbClr val="FFFFFF"/>
                </a:solidFill>
                <a:latin typeface="Georgia"/>
                <a:ea typeface="Georgia"/>
                <a:cs typeface="Georgia"/>
                <a:sym typeface="Georgia"/>
              </a:rPr>
              <a:t>ANSWER</a:t>
            </a:r>
            <a:endParaRPr b="0" i="0" sz="1050" u="none" cap="none" strike="noStrike">
              <a:solidFill>
                <a:schemeClr val="dk1"/>
              </a:solidFill>
              <a:latin typeface="Calibri"/>
              <a:ea typeface="Calibri"/>
              <a:cs typeface="Calibri"/>
              <a:sym typeface="Calibri"/>
            </a:endParaRPr>
          </a:p>
        </p:txBody>
      </p:sp>
      <p:sp>
        <p:nvSpPr>
          <p:cNvPr id="220" name="Google Shape;220;p11"/>
          <p:cNvSpPr/>
          <p:nvPr/>
        </p:nvSpPr>
        <p:spPr>
          <a:xfrm>
            <a:off x="365760" y="868680"/>
            <a:ext cx="4114800" cy="1508760"/>
          </a:xfrm>
          <a:prstGeom prst="rect">
            <a:avLst/>
          </a:prstGeom>
          <a:solidFill>
            <a:srgbClr val="F9F4F1"/>
          </a:solidFill>
          <a:ln cap="flat" cmpd="sng" w="9525">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a:off x="502920" y="914400"/>
            <a:ext cx="38404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06060"/>
              </a:buClr>
              <a:buSzPts val="1300"/>
              <a:buFont typeface="Georgia"/>
              <a:buNone/>
            </a:pPr>
            <a:r>
              <a:rPr b="0" i="1" lang="en-US" sz="1300" u="none" cap="none" strike="noStrike">
                <a:solidFill>
                  <a:srgbClr val="606060"/>
                </a:solidFill>
                <a:latin typeface="Georgia"/>
                <a:ea typeface="Georgia"/>
                <a:cs typeface="Georgia"/>
                <a:sym typeface="Georgia"/>
              </a:rPr>
              <a:t>1.  Classification or regression?</a:t>
            </a:r>
            <a:endParaRPr b="0" i="0" sz="1300" u="none" cap="none" strike="noStrike">
              <a:solidFill>
                <a:schemeClr val="dk1"/>
              </a:solidFill>
              <a:latin typeface="Calibri"/>
              <a:ea typeface="Calibri"/>
              <a:cs typeface="Calibri"/>
              <a:sym typeface="Calibri"/>
            </a:endParaRPr>
          </a:p>
        </p:txBody>
      </p:sp>
      <p:sp>
        <p:nvSpPr>
          <p:cNvPr id="222" name="Google Shape;222;p11"/>
          <p:cNvSpPr/>
          <p:nvPr/>
        </p:nvSpPr>
        <p:spPr>
          <a:xfrm>
            <a:off x="502920" y="1234440"/>
            <a:ext cx="38404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1600"/>
              <a:buFont typeface="Georgia"/>
              <a:buNone/>
            </a:pPr>
            <a:r>
              <a:rPr b="1" i="0" lang="en-US" sz="1600" u="none" cap="none" strike="noStrike">
                <a:solidFill>
                  <a:srgbClr val="7B2D26"/>
                </a:solidFill>
                <a:latin typeface="Georgia"/>
                <a:ea typeface="Georgia"/>
                <a:cs typeface="Georgia"/>
                <a:sym typeface="Georgia"/>
              </a:rPr>
              <a:t>Regression</a:t>
            </a:r>
            <a:endParaRPr b="0" i="0" sz="1600" u="none" cap="none" strike="noStrike">
              <a:solidFill>
                <a:schemeClr val="dk1"/>
              </a:solidFill>
              <a:latin typeface="Calibri"/>
              <a:ea typeface="Calibri"/>
              <a:cs typeface="Calibri"/>
              <a:sym typeface="Calibri"/>
            </a:endParaRPr>
          </a:p>
        </p:txBody>
      </p:sp>
      <p:sp>
        <p:nvSpPr>
          <p:cNvPr id="223" name="Google Shape;223;p11"/>
          <p:cNvSpPr/>
          <p:nvPr/>
        </p:nvSpPr>
        <p:spPr>
          <a:xfrm>
            <a:off x="502920" y="1737360"/>
            <a:ext cx="3840480" cy="5943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B2B2B"/>
              </a:buClr>
              <a:buSzPts val="1150"/>
              <a:buFont typeface="Georgia"/>
              <a:buNone/>
            </a:pPr>
            <a:r>
              <a:rPr b="0" i="1" lang="en-US" sz="1150" u="none" cap="none" strike="noStrike">
                <a:solidFill>
                  <a:srgbClr val="2B2B2B"/>
                </a:solidFill>
                <a:latin typeface="Georgia"/>
                <a:ea typeface="Georgia"/>
                <a:cs typeface="Georgia"/>
                <a:sym typeface="Georgia"/>
              </a:rPr>
              <a:t>z is a continuous real number  (no discrete classes).</a:t>
            </a:r>
            <a:endParaRPr b="0" i="0" sz="1150" u="none" cap="none" strike="noStrike">
              <a:solidFill>
                <a:schemeClr val="dk1"/>
              </a:solidFill>
              <a:latin typeface="Calibri"/>
              <a:ea typeface="Calibri"/>
              <a:cs typeface="Calibri"/>
              <a:sym typeface="Calibri"/>
            </a:endParaRPr>
          </a:p>
        </p:txBody>
      </p:sp>
      <p:sp>
        <p:nvSpPr>
          <p:cNvPr id="224" name="Google Shape;224;p11"/>
          <p:cNvSpPr/>
          <p:nvPr/>
        </p:nvSpPr>
        <p:spPr>
          <a:xfrm>
            <a:off x="4663440" y="868680"/>
            <a:ext cx="4114800" cy="1508760"/>
          </a:xfrm>
          <a:prstGeom prst="rect">
            <a:avLst/>
          </a:prstGeom>
          <a:solidFill>
            <a:srgbClr val="F9F4F1"/>
          </a:solidFill>
          <a:ln cap="flat" cmpd="sng" w="9525">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a:off x="4800600" y="914400"/>
            <a:ext cx="38404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06060"/>
              </a:buClr>
              <a:buSzPts val="1300"/>
              <a:buFont typeface="Georgia"/>
              <a:buNone/>
            </a:pPr>
            <a:r>
              <a:rPr b="0" i="1" lang="en-US" sz="1300" u="none" cap="none" strike="noStrike">
                <a:solidFill>
                  <a:srgbClr val="606060"/>
                </a:solidFill>
                <a:latin typeface="Georgia"/>
                <a:ea typeface="Georgia"/>
                <a:cs typeface="Georgia"/>
                <a:sym typeface="Georgia"/>
              </a:rPr>
              <a:t>2.  What is  X?</a:t>
            </a:r>
            <a:endParaRPr b="0" i="0" sz="1300" u="none" cap="none" strike="noStrike">
              <a:solidFill>
                <a:schemeClr val="dk1"/>
              </a:solidFill>
              <a:latin typeface="Calibri"/>
              <a:ea typeface="Calibri"/>
              <a:cs typeface="Calibri"/>
              <a:sym typeface="Calibri"/>
            </a:endParaRPr>
          </a:p>
        </p:txBody>
      </p:sp>
      <p:sp>
        <p:nvSpPr>
          <p:cNvPr id="226" name="Google Shape;226;p11"/>
          <p:cNvSpPr/>
          <p:nvPr/>
        </p:nvSpPr>
        <p:spPr>
          <a:xfrm>
            <a:off x="4800600" y="1234440"/>
            <a:ext cx="38404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1600"/>
              <a:buFont typeface="Courier New"/>
              <a:buNone/>
            </a:pPr>
            <a:r>
              <a:rPr b="1" i="0" lang="en-US" sz="1600" u="none" cap="none" strike="noStrike">
                <a:solidFill>
                  <a:srgbClr val="7B2D26"/>
                </a:solidFill>
                <a:latin typeface="Courier New"/>
                <a:ea typeface="Courier New"/>
                <a:cs typeface="Courier New"/>
                <a:sym typeface="Courier New"/>
              </a:rPr>
              <a:t>X  =  (u, g, r, i, z)</a:t>
            </a:r>
            <a:endParaRPr b="0" i="0" sz="1600" u="none" cap="none" strike="noStrike">
              <a:solidFill>
                <a:schemeClr val="dk1"/>
              </a:solidFill>
              <a:latin typeface="Calibri"/>
              <a:ea typeface="Calibri"/>
              <a:cs typeface="Calibri"/>
              <a:sym typeface="Calibri"/>
            </a:endParaRPr>
          </a:p>
        </p:txBody>
      </p:sp>
      <p:sp>
        <p:nvSpPr>
          <p:cNvPr id="227" name="Google Shape;227;p11"/>
          <p:cNvSpPr/>
          <p:nvPr/>
        </p:nvSpPr>
        <p:spPr>
          <a:xfrm>
            <a:off x="4800600" y="1737360"/>
            <a:ext cx="3840480" cy="5943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B2B2B"/>
              </a:buClr>
              <a:buSzPts val="1150"/>
              <a:buFont typeface="Georgia"/>
              <a:buNone/>
            </a:pPr>
            <a:r>
              <a:rPr b="0" i="1" lang="en-US" sz="1150" u="none" cap="none" strike="noStrike">
                <a:solidFill>
                  <a:srgbClr val="2B2B2B"/>
                </a:solidFill>
                <a:latin typeface="Georgia"/>
                <a:ea typeface="Georgia"/>
                <a:cs typeface="Georgia"/>
                <a:sym typeface="Georgia"/>
              </a:rPr>
              <a:t>5 photometric magnitudes — optionally with derived colors  (u-g, g-r, r-i).</a:t>
            </a:r>
            <a:endParaRPr b="0" i="0" sz="1150" u="none" cap="none" strike="noStrike">
              <a:solidFill>
                <a:schemeClr val="dk1"/>
              </a:solidFill>
              <a:latin typeface="Calibri"/>
              <a:ea typeface="Calibri"/>
              <a:cs typeface="Calibri"/>
              <a:sym typeface="Calibri"/>
            </a:endParaRPr>
          </a:p>
        </p:txBody>
      </p:sp>
      <p:sp>
        <p:nvSpPr>
          <p:cNvPr id="228" name="Google Shape;228;p11"/>
          <p:cNvSpPr/>
          <p:nvPr/>
        </p:nvSpPr>
        <p:spPr>
          <a:xfrm>
            <a:off x="365760" y="2514600"/>
            <a:ext cx="4114800" cy="1508760"/>
          </a:xfrm>
          <a:prstGeom prst="rect">
            <a:avLst/>
          </a:prstGeom>
          <a:solidFill>
            <a:srgbClr val="F9F4F1"/>
          </a:solidFill>
          <a:ln cap="flat" cmpd="sng" w="9525">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1"/>
          <p:cNvSpPr/>
          <p:nvPr/>
        </p:nvSpPr>
        <p:spPr>
          <a:xfrm>
            <a:off x="502920" y="2560320"/>
            <a:ext cx="38404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06060"/>
              </a:buClr>
              <a:buSzPts val="1300"/>
              <a:buFont typeface="Georgia"/>
              <a:buNone/>
            </a:pPr>
            <a:r>
              <a:rPr b="0" i="1" lang="en-US" sz="1300" u="none" cap="none" strike="noStrike">
                <a:solidFill>
                  <a:srgbClr val="606060"/>
                </a:solidFill>
                <a:latin typeface="Georgia"/>
                <a:ea typeface="Georgia"/>
                <a:cs typeface="Georgia"/>
                <a:sym typeface="Georgia"/>
              </a:rPr>
              <a:t>3.  What is  y?</a:t>
            </a:r>
            <a:endParaRPr b="0" i="0" sz="1300" u="none" cap="none" strike="noStrike">
              <a:solidFill>
                <a:schemeClr val="dk1"/>
              </a:solidFill>
              <a:latin typeface="Calibri"/>
              <a:ea typeface="Calibri"/>
              <a:cs typeface="Calibri"/>
              <a:sym typeface="Calibri"/>
            </a:endParaRPr>
          </a:p>
        </p:txBody>
      </p:sp>
      <p:sp>
        <p:nvSpPr>
          <p:cNvPr id="230" name="Google Shape;230;p11"/>
          <p:cNvSpPr/>
          <p:nvPr/>
        </p:nvSpPr>
        <p:spPr>
          <a:xfrm>
            <a:off x="502920" y="2880360"/>
            <a:ext cx="38404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1600"/>
              <a:buFont typeface="Courier New"/>
              <a:buNone/>
            </a:pPr>
            <a:r>
              <a:rPr b="1" i="0" lang="en-US" sz="1600" u="none" cap="none" strike="noStrike">
                <a:solidFill>
                  <a:srgbClr val="7B2D26"/>
                </a:solidFill>
                <a:latin typeface="Courier New"/>
                <a:ea typeface="Courier New"/>
                <a:cs typeface="Courier New"/>
                <a:sym typeface="Courier New"/>
              </a:rPr>
              <a:t>y  =  z_spec</a:t>
            </a:r>
            <a:endParaRPr b="0" i="0" sz="1600" u="none" cap="none" strike="noStrike">
              <a:solidFill>
                <a:schemeClr val="dk1"/>
              </a:solidFill>
              <a:latin typeface="Calibri"/>
              <a:ea typeface="Calibri"/>
              <a:cs typeface="Calibri"/>
              <a:sym typeface="Calibri"/>
            </a:endParaRPr>
          </a:p>
        </p:txBody>
      </p:sp>
      <p:sp>
        <p:nvSpPr>
          <p:cNvPr id="231" name="Google Shape;231;p11"/>
          <p:cNvSpPr/>
          <p:nvPr/>
        </p:nvSpPr>
        <p:spPr>
          <a:xfrm>
            <a:off x="502920" y="3383280"/>
            <a:ext cx="3840480" cy="5943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B2B2B"/>
              </a:buClr>
              <a:buSzPts val="1150"/>
              <a:buFont typeface="Georgia"/>
              <a:buNone/>
            </a:pPr>
            <a:r>
              <a:rPr b="0" i="1" lang="en-US" sz="1150" u="none" cap="none" strike="noStrike">
                <a:solidFill>
                  <a:srgbClr val="2B2B2B"/>
                </a:solidFill>
                <a:latin typeface="Georgia"/>
                <a:ea typeface="Georgia"/>
                <a:cs typeface="Georgia"/>
                <a:sym typeface="Georgia"/>
              </a:rPr>
              <a:t>The single column we want to predict, for each galaxy.</a:t>
            </a:r>
            <a:endParaRPr b="0" i="0" sz="1150" u="none" cap="none" strike="noStrike">
              <a:solidFill>
                <a:schemeClr val="dk1"/>
              </a:solidFill>
              <a:latin typeface="Calibri"/>
              <a:ea typeface="Calibri"/>
              <a:cs typeface="Calibri"/>
              <a:sym typeface="Calibri"/>
            </a:endParaRPr>
          </a:p>
        </p:txBody>
      </p:sp>
      <p:sp>
        <p:nvSpPr>
          <p:cNvPr id="232" name="Google Shape;232;p11"/>
          <p:cNvSpPr/>
          <p:nvPr/>
        </p:nvSpPr>
        <p:spPr>
          <a:xfrm>
            <a:off x="4663440" y="2514600"/>
            <a:ext cx="4114800" cy="1508760"/>
          </a:xfrm>
          <a:prstGeom prst="rect">
            <a:avLst/>
          </a:prstGeom>
          <a:solidFill>
            <a:srgbClr val="F9F4F1"/>
          </a:solidFill>
          <a:ln cap="flat" cmpd="sng" w="9525">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a:off x="4800600" y="2560320"/>
            <a:ext cx="38404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06060"/>
              </a:buClr>
              <a:buSzPts val="1300"/>
              <a:buFont typeface="Georgia"/>
              <a:buNone/>
            </a:pPr>
            <a:r>
              <a:rPr b="0" i="1" lang="en-US" sz="1300" u="none" cap="none" strike="noStrike">
                <a:solidFill>
                  <a:srgbClr val="606060"/>
                </a:solidFill>
                <a:latin typeface="Georgia"/>
                <a:ea typeface="Georgia"/>
                <a:cs typeface="Georgia"/>
                <a:sym typeface="Georgia"/>
              </a:rPr>
              <a:t>4.  Success metric?</a:t>
            </a:r>
            <a:endParaRPr b="0" i="0" sz="1300" u="none" cap="none" strike="noStrike">
              <a:solidFill>
                <a:schemeClr val="dk1"/>
              </a:solidFill>
              <a:latin typeface="Calibri"/>
              <a:ea typeface="Calibri"/>
              <a:cs typeface="Calibri"/>
              <a:sym typeface="Calibri"/>
            </a:endParaRPr>
          </a:p>
        </p:txBody>
      </p:sp>
      <p:sp>
        <p:nvSpPr>
          <p:cNvPr id="234" name="Google Shape;234;p11"/>
          <p:cNvSpPr/>
          <p:nvPr/>
        </p:nvSpPr>
        <p:spPr>
          <a:xfrm>
            <a:off x="4800600" y="2880360"/>
            <a:ext cx="38404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1600"/>
              <a:buFont typeface="Georgia"/>
              <a:buNone/>
            </a:pPr>
            <a:r>
              <a:rPr b="1" i="0" lang="en-US" sz="1600" u="none" cap="none" strike="noStrike">
                <a:solidFill>
                  <a:srgbClr val="7B2D26"/>
                </a:solidFill>
                <a:latin typeface="Georgia"/>
                <a:ea typeface="Georgia"/>
                <a:cs typeface="Georgia"/>
                <a:sym typeface="Georgia"/>
              </a:rPr>
              <a:t>RMSE  +  bias  +  scatter</a:t>
            </a:r>
            <a:endParaRPr b="0" i="0" sz="1600" u="none" cap="none" strike="noStrike">
              <a:solidFill>
                <a:schemeClr val="dk1"/>
              </a:solidFill>
              <a:latin typeface="Calibri"/>
              <a:ea typeface="Calibri"/>
              <a:cs typeface="Calibri"/>
              <a:sym typeface="Calibri"/>
            </a:endParaRPr>
          </a:p>
        </p:txBody>
      </p:sp>
      <p:sp>
        <p:nvSpPr>
          <p:cNvPr id="235" name="Google Shape;235;p11"/>
          <p:cNvSpPr/>
          <p:nvPr/>
        </p:nvSpPr>
        <p:spPr>
          <a:xfrm>
            <a:off x="4800600" y="3383280"/>
            <a:ext cx="3840480" cy="5943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B2B2B"/>
              </a:buClr>
              <a:buSzPts val="1150"/>
              <a:buFont typeface="Georgia"/>
              <a:buNone/>
            </a:pPr>
            <a:r>
              <a:rPr b="0" i="1" lang="en-US" sz="1150" u="none" cap="none" strike="noStrike">
                <a:solidFill>
                  <a:srgbClr val="2B2B2B"/>
                </a:solidFill>
                <a:latin typeface="Georgia"/>
                <a:ea typeface="Georgia"/>
                <a:cs typeface="Georgia"/>
                <a:sym typeface="Georgia"/>
              </a:rPr>
              <a:t>Standard photo-z trio: σ(Δz), ⟨Δz⟩, and outlier fraction.</a:t>
            </a:r>
            <a:endParaRPr b="0" i="0" sz="1150" u="none" cap="none" strike="noStrike">
              <a:solidFill>
                <a:schemeClr val="dk1"/>
              </a:solidFill>
              <a:latin typeface="Calibri"/>
              <a:ea typeface="Calibri"/>
              <a:cs typeface="Calibri"/>
              <a:sym typeface="Calibri"/>
            </a:endParaRPr>
          </a:p>
        </p:txBody>
      </p:sp>
      <p:sp>
        <p:nvSpPr>
          <p:cNvPr id="236" name="Google Shape;236;p11"/>
          <p:cNvSpPr/>
          <p:nvPr/>
        </p:nvSpPr>
        <p:spPr>
          <a:xfrm>
            <a:off x="365760" y="4069080"/>
            <a:ext cx="8412480" cy="365760"/>
          </a:xfrm>
          <a:prstGeom prst="rect">
            <a:avLst/>
          </a:prstGeom>
          <a:solidFill>
            <a:srgbClr val="EAF1F4"/>
          </a:solidFill>
          <a:ln cap="flat" cmpd="sng" w="9525">
            <a:solidFill>
              <a:srgbClr val="2F5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a:off x="502920" y="4087368"/>
            <a:ext cx="818388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F5A7A"/>
              </a:buClr>
              <a:buSzPts val="1200"/>
              <a:buFont typeface="Georgia"/>
              <a:buNone/>
            </a:pPr>
            <a:r>
              <a:rPr b="1" i="0" lang="en-US" sz="1200" u="none" cap="none" strike="noStrike">
                <a:solidFill>
                  <a:srgbClr val="2F5A7A"/>
                </a:solidFill>
                <a:latin typeface="Georgia"/>
                <a:ea typeface="Georgia"/>
                <a:cs typeface="Georgia"/>
                <a:sym typeface="Georgia"/>
              </a:rPr>
              <a:t>You just framed the photo-z problem  </a:t>
            </a:r>
            <a:r>
              <a:rPr b="0" i="0" lang="en-US" sz="1200" u="none" cap="none" strike="noStrike">
                <a:solidFill>
                  <a:srgbClr val="2B2B2B"/>
                </a:solidFill>
                <a:latin typeface="Georgia"/>
                <a:ea typeface="Georgia"/>
                <a:cs typeface="Georgia"/>
                <a:sym typeface="Georgia"/>
              </a:rPr>
              <a:t>— the exact case study you'll solve in  </a:t>
            </a:r>
            <a:r>
              <a:rPr b="1" i="0" lang="en-US" sz="1200" u="none" cap="none" strike="noStrike">
                <a:solidFill>
                  <a:srgbClr val="2F5A7A"/>
                </a:solidFill>
                <a:latin typeface="Georgia"/>
                <a:ea typeface="Georgia"/>
                <a:cs typeface="Georgia"/>
                <a:sym typeface="Georgia"/>
              </a:rPr>
              <a:t>Lecture 4!</a:t>
            </a:r>
            <a:endParaRPr b="0" i="0" sz="1200" u="none" cap="none" strike="noStrike">
              <a:solidFill>
                <a:schemeClr val="dk1"/>
              </a:solidFill>
              <a:latin typeface="Calibri"/>
              <a:ea typeface="Calibri"/>
              <a:cs typeface="Calibri"/>
              <a:sym typeface="Calibri"/>
            </a:endParaRPr>
          </a:p>
        </p:txBody>
      </p:sp>
      <p:pic>
        <p:nvPicPr>
          <p:cNvPr descr="/sessions/sleepy-friendly-euler/mnt/outputs/logos/cosmicai_logo.png" id="238" name="Google Shape;238;p11"/>
          <p:cNvPicPr preferRelativeResize="0"/>
          <p:nvPr/>
        </p:nvPicPr>
        <p:blipFill rotWithShape="1">
          <a:blip r:embed="rId3">
            <a:alphaModFix/>
          </a:blip>
          <a:srcRect b="0" l="0" r="0" t="0"/>
          <a:stretch/>
        </p:blipFill>
        <p:spPr>
          <a:xfrm>
            <a:off x="228600" y="4526280"/>
            <a:ext cx="1463040" cy="502920"/>
          </a:xfrm>
          <a:prstGeom prst="rect">
            <a:avLst/>
          </a:prstGeom>
          <a:noFill/>
          <a:ln>
            <a:noFill/>
          </a:ln>
        </p:spPr>
      </p:pic>
      <p:sp>
        <p:nvSpPr>
          <p:cNvPr id="239" name="Google Shape;239;p11"/>
          <p:cNvSpPr/>
          <p:nvPr/>
        </p:nvSpPr>
        <p:spPr>
          <a:xfrm>
            <a:off x="2743200" y="4663440"/>
            <a:ext cx="36576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1" i="0" lang="en-US" sz="1200" u="none" cap="none" strike="noStrike">
                <a:solidFill>
                  <a:srgbClr val="2B2B2B"/>
                </a:solidFill>
                <a:latin typeface="Georgia"/>
                <a:ea typeface="Georgia"/>
                <a:cs typeface="Georgia"/>
                <a:sym typeface="Georgia"/>
              </a:rPr>
              <a:t>CosmicAI Summer School</a:t>
            </a:r>
            <a:endParaRPr b="0" i="0" sz="1200" u="none" cap="none" strike="noStrike">
              <a:solidFill>
                <a:schemeClr val="dk1"/>
              </a:solidFill>
              <a:latin typeface="Calibri"/>
              <a:ea typeface="Calibri"/>
              <a:cs typeface="Calibri"/>
              <a:sym typeface="Calibri"/>
            </a:endParaRPr>
          </a:p>
        </p:txBody>
      </p:sp>
      <p:sp>
        <p:nvSpPr>
          <p:cNvPr id="240" name="Google Shape;240;p11"/>
          <p:cNvSpPr/>
          <p:nvPr/>
        </p:nvSpPr>
        <p:spPr>
          <a:xfrm>
            <a:off x="8275320" y="4754880"/>
            <a:ext cx="6858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06060"/>
              </a:buClr>
              <a:buSzPts val="1200"/>
              <a:buFont typeface="Georgia"/>
              <a:buNone/>
            </a:pPr>
            <a:r>
              <a:rPr b="0" i="0" lang="en-US" sz="1200" u="none" cap="none" strike="noStrike">
                <a:solidFill>
                  <a:srgbClr val="606060"/>
                </a:solidFill>
                <a:latin typeface="Georgia"/>
                <a:ea typeface="Georgia"/>
                <a:cs typeface="Georgia"/>
                <a:sym typeface="Georgia"/>
              </a:rPr>
              <a:t>11</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5" name="Shape 245"/>
        <p:cNvGrpSpPr/>
        <p:nvPr/>
      </p:nvGrpSpPr>
      <p:grpSpPr>
        <a:xfrm>
          <a:off x="0" y="0"/>
          <a:ext cx="0" cy="0"/>
          <a:chOff x="0" y="0"/>
          <a:chExt cx="0" cy="0"/>
        </a:xfrm>
      </p:grpSpPr>
      <p:sp>
        <p:nvSpPr>
          <p:cNvPr id="246" name="Google Shape;246;p12"/>
          <p:cNvSpPr/>
          <p:nvPr/>
        </p:nvSpPr>
        <p:spPr>
          <a:xfrm>
            <a:off x="274320" y="137160"/>
            <a:ext cx="859536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3000"/>
              <a:buFont typeface="Georgia"/>
              <a:buNone/>
            </a:pPr>
            <a:r>
              <a:rPr b="0" i="0" lang="en-US" sz="3000" u="none" cap="none" strike="noStrike">
                <a:solidFill>
                  <a:srgbClr val="7B2D26"/>
                </a:solidFill>
                <a:latin typeface="Georgia"/>
                <a:ea typeface="Georgia"/>
                <a:cs typeface="Georgia"/>
                <a:sym typeface="Georgia"/>
              </a:rPr>
              <a:t>EDA in Practice — Distributions</a:t>
            </a:r>
            <a:endParaRPr b="0" i="0" sz="3000" u="none" cap="none" strike="noStrike">
              <a:solidFill>
                <a:schemeClr val="dk1"/>
              </a:solidFill>
              <a:latin typeface="Calibri"/>
              <a:ea typeface="Calibri"/>
              <a:cs typeface="Calibri"/>
              <a:sym typeface="Calibri"/>
            </a:endParaRPr>
          </a:p>
        </p:txBody>
      </p:sp>
      <p:cxnSp>
        <p:nvCxnSpPr>
          <p:cNvPr id="247" name="Google Shape;247;p12"/>
          <p:cNvCxnSpPr/>
          <p:nvPr/>
        </p:nvCxnSpPr>
        <p:spPr>
          <a:xfrm>
            <a:off x="365760" y="777240"/>
            <a:ext cx="8412480" cy="0"/>
          </a:xfrm>
          <a:prstGeom prst="straightConnector1">
            <a:avLst/>
          </a:prstGeom>
          <a:noFill/>
          <a:ln cap="flat" cmpd="sng" w="15875">
            <a:solidFill>
              <a:srgbClr val="B0B0B0"/>
            </a:solidFill>
            <a:prstDash val="solid"/>
            <a:round/>
            <a:headEnd len="sm" w="sm" type="none"/>
            <a:tailEnd len="sm" w="sm" type="none"/>
          </a:ln>
        </p:spPr>
      </p:cxnSp>
      <p:sp>
        <p:nvSpPr>
          <p:cNvPr id="248" name="Google Shape;248;p12"/>
          <p:cNvSpPr/>
          <p:nvPr/>
        </p:nvSpPr>
        <p:spPr>
          <a:xfrm>
            <a:off x="457200" y="914400"/>
            <a:ext cx="3931920" cy="2743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7B2D26"/>
              </a:buClr>
              <a:buSzPts val="1500"/>
              <a:buFont typeface="Georgia"/>
              <a:buNone/>
            </a:pPr>
            <a:r>
              <a:rPr b="1" i="0" lang="en-US" sz="1500" u="none" cap="none" strike="noStrike">
                <a:solidFill>
                  <a:srgbClr val="7B2D26"/>
                </a:solidFill>
                <a:latin typeface="Georgia"/>
                <a:ea typeface="Georgia"/>
                <a:cs typeface="Georgia"/>
                <a:sym typeface="Georgia"/>
              </a:rPr>
              <a:t>What to look at per feature:</a:t>
            </a:r>
            <a:endParaRPr b="0" i="0" sz="14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2B2B2B"/>
              </a:buClr>
              <a:buSzPts val="600"/>
              <a:buFont typeface="Georgia"/>
              <a:buNone/>
            </a:pPr>
            <a:r>
              <a:rPr b="0" i="0" lang="en-US" sz="600" u="none" cap="none" strike="noStrike">
                <a:solidFill>
                  <a:srgbClr val="2B2B2B"/>
                </a:solidFill>
                <a:latin typeface="Georgia"/>
                <a:ea typeface="Georgia"/>
                <a:cs typeface="Georgia"/>
                <a:sym typeface="Georgia"/>
              </a:rPr>
              <a:t> </a:t>
            </a:r>
            <a:endParaRPr b="0" i="0" sz="14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2B2B2B"/>
              </a:buClr>
              <a:buSzPts val="1400"/>
              <a:buFont typeface="Georgia"/>
              <a:buNone/>
            </a:pPr>
            <a:r>
              <a:rPr b="1" i="0" lang="en-US" sz="1400" u="none" cap="none" strike="noStrike">
                <a:solidFill>
                  <a:srgbClr val="2B2B2B"/>
                </a:solidFill>
                <a:latin typeface="Georgia"/>
                <a:ea typeface="Georgia"/>
                <a:cs typeface="Georgia"/>
                <a:sym typeface="Georgia"/>
              </a:rPr>
              <a:t>Center: </a:t>
            </a:r>
            <a:r>
              <a:rPr b="0" i="0" lang="en-US" sz="1400" u="none" cap="none" strike="noStrike">
                <a:solidFill>
                  <a:srgbClr val="2B2B2B"/>
                </a:solidFill>
                <a:latin typeface="Georgia"/>
                <a:ea typeface="Georgia"/>
                <a:cs typeface="Georgia"/>
                <a:sym typeface="Georgia"/>
              </a:rPr>
              <a:t>mean, median.</a:t>
            </a:r>
            <a:endParaRPr b="0" i="0" sz="14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2B2B2B"/>
              </a:buClr>
              <a:buSzPts val="1400"/>
              <a:buFont typeface="Georgia"/>
              <a:buNone/>
            </a:pPr>
            <a:r>
              <a:rPr b="1" i="0" lang="en-US" sz="1400" u="none" cap="none" strike="noStrike">
                <a:solidFill>
                  <a:srgbClr val="2B2B2B"/>
                </a:solidFill>
                <a:latin typeface="Georgia"/>
                <a:ea typeface="Georgia"/>
                <a:cs typeface="Georgia"/>
                <a:sym typeface="Georgia"/>
              </a:rPr>
              <a:t>Spread: </a:t>
            </a:r>
            <a:r>
              <a:rPr b="0" i="0" lang="en-US" sz="1400" u="none" cap="none" strike="noStrike">
                <a:solidFill>
                  <a:srgbClr val="2B2B2B"/>
                </a:solidFill>
                <a:latin typeface="Georgia"/>
                <a:ea typeface="Georgia"/>
                <a:cs typeface="Georgia"/>
                <a:sym typeface="Georgia"/>
              </a:rPr>
              <a:t>std-dev, IQR, range.</a:t>
            </a:r>
            <a:endParaRPr b="0" i="0" sz="14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2B2B2B"/>
              </a:buClr>
              <a:buSzPts val="1400"/>
              <a:buFont typeface="Georgia"/>
              <a:buNone/>
            </a:pPr>
            <a:r>
              <a:rPr b="1" i="0" lang="en-US" sz="1400" u="none" cap="none" strike="noStrike">
                <a:solidFill>
                  <a:srgbClr val="2B2B2B"/>
                </a:solidFill>
                <a:latin typeface="Georgia"/>
                <a:ea typeface="Georgia"/>
                <a:cs typeface="Georgia"/>
                <a:sym typeface="Georgia"/>
              </a:rPr>
              <a:t>Shape: </a:t>
            </a:r>
            <a:r>
              <a:rPr b="0" i="0" lang="en-US" sz="1400" u="none" cap="none" strike="noStrike">
                <a:solidFill>
                  <a:srgbClr val="2B2B2B"/>
                </a:solidFill>
                <a:latin typeface="Georgia"/>
                <a:ea typeface="Georgia"/>
                <a:cs typeface="Georgia"/>
                <a:sym typeface="Georgia"/>
              </a:rPr>
              <a:t>skew, heavy tails, bimodality.</a:t>
            </a:r>
            <a:endParaRPr b="0" i="0" sz="14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2B2B2B"/>
              </a:buClr>
              <a:buSzPts val="1400"/>
              <a:buFont typeface="Georgia"/>
              <a:buNone/>
            </a:pPr>
            <a:r>
              <a:rPr b="1" i="0" lang="en-US" sz="1400" u="none" cap="none" strike="noStrike">
                <a:solidFill>
                  <a:srgbClr val="2B2B2B"/>
                </a:solidFill>
                <a:latin typeface="Georgia"/>
                <a:ea typeface="Georgia"/>
                <a:cs typeface="Georgia"/>
                <a:sym typeface="Georgia"/>
              </a:rPr>
              <a:t>Outliers: </a:t>
            </a:r>
            <a:r>
              <a:rPr b="0" i="0" lang="en-US" sz="1400" u="none" cap="none" strike="noStrike">
                <a:solidFill>
                  <a:srgbClr val="2B2B2B"/>
                </a:solidFill>
                <a:latin typeface="Georgia"/>
                <a:ea typeface="Georgia"/>
                <a:cs typeface="Georgia"/>
                <a:sym typeface="Georgia"/>
              </a:rPr>
              <a:t>Z-score &gt; 3 or  &gt; 1.5·IQR  (Lec 2).</a:t>
            </a:r>
            <a:endParaRPr b="0" i="0" sz="14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2B2B2B"/>
              </a:buClr>
              <a:buSzPts val="1400"/>
              <a:buFont typeface="Georgia"/>
              <a:buNone/>
            </a:pPr>
            <a:r>
              <a:rPr b="1" i="0" lang="en-US" sz="1400" u="none" cap="none" strike="noStrike">
                <a:solidFill>
                  <a:srgbClr val="2B2B2B"/>
                </a:solidFill>
                <a:latin typeface="Georgia"/>
                <a:ea typeface="Georgia"/>
                <a:cs typeface="Georgia"/>
                <a:sym typeface="Georgia"/>
              </a:rPr>
              <a:t>Scale: </a:t>
            </a:r>
            <a:r>
              <a:rPr b="0" i="0" lang="en-US" sz="1400" u="none" cap="none" strike="noStrike">
                <a:solidFill>
                  <a:srgbClr val="2B2B2B"/>
                </a:solidFill>
                <a:latin typeface="Georgia"/>
                <a:ea typeface="Georgia"/>
                <a:cs typeface="Georgia"/>
                <a:sym typeface="Georgia"/>
              </a:rPr>
              <a:t>are different features on wildly different ranges?</a:t>
            </a:r>
            <a:endParaRPr b="0" i="0" sz="1400" u="none" cap="none" strike="noStrike">
              <a:solidFill>
                <a:schemeClr val="dk1"/>
              </a:solidFill>
              <a:latin typeface="Calibri"/>
              <a:ea typeface="Calibri"/>
              <a:cs typeface="Calibri"/>
              <a:sym typeface="Calibri"/>
            </a:endParaRPr>
          </a:p>
        </p:txBody>
      </p:sp>
      <p:pic>
        <p:nvPicPr>
          <p:cNvPr descr="/sessions/sleepy-friendly-euler/mnt/outputs/figs/fig_distribution.png" id="249" name="Google Shape;249;p12"/>
          <p:cNvPicPr preferRelativeResize="0"/>
          <p:nvPr/>
        </p:nvPicPr>
        <p:blipFill rotWithShape="1">
          <a:blip r:embed="rId3">
            <a:alphaModFix/>
          </a:blip>
          <a:srcRect b="0" l="0" r="0" t="0"/>
          <a:stretch/>
        </p:blipFill>
        <p:spPr>
          <a:xfrm>
            <a:off x="4526280" y="914400"/>
            <a:ext cx="4434840" cy="2514600"/>
          </a:xfrm>
          <a:prstGeom prst="rect">
            <a:avLst/>
          </a:prstGeom>
          <a:noFill/>
          <a:ln>
            <a:noFill/>
          </a:ln>
        </p:spPr>
      </p:pic>
      <p:sp>
        <p:nvSpPr>
          <p:cNvPr id="250" name="Google Shape;250;p12"/>
          <p:cNvSpPr/>
          <p:nvPr/>
        </p:nvSpPr>
        <p:spPr>
          <a:xfrm>
            <a:off x="457200" y="3794760"/>
            <a:ext cx="8412480" cy="640080"/>
          </a:xfrm>
          <a:prstGeom prst="rect">
            <a:avLst/>
          </a:prstGeom>
          <a:solidFill>
            <a:srgbClr val="F4ECE9"/>
          </a:solidFill>
          <a:ln cap="flat" cmpd="sng" w="9525">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2"/>
          <p:cNvSpPr/>
          <p:nvPr/>
        </p:nvSpPr>
        <p:spPr>
          <a:xfrm>
            <a:off x="594360" y="3840480"/>
            <a:ext cx="818388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1250"/>
              <a:buFont typeface="Georgia"/>
              <a:buNone/>
            </a:pPr>
            <a:r>
              <a:rPr b="1" i="0" lang="en-US" sz="1250" u="none" cap="none" strike="noStrike">
                <a:solidFill>
                  <a:srgbClr val="7B2D26"/>
                </a:solidFill>
                <a:latin typeface="Georgia"/>
                <a:ea typeface="Georgia"/>
                <a:cs typeface="Georgia"/>
                <a:sym typeface="Georgia"/>
              </a:rPr>
              <a:t>Astro takeaway:  </a:t>
            </a:r>
            <a:r>
              <a:rPr b="0" i="0" lang="en-US" sz="1250" u="none" cap="none" strike="noStrike">
                <a:solidFill>
                  <a:srgbClr val="2B2B2B"/>
                </a:solidFill>
                <a:latin typeface="Georgia"/>
                <a:ea typeface="Georgia"/>
                <a:cs typeface="Georgia"/>
                <a:sym typeface="Georgia"/>
              </a:rPr>
              <a:t>magnitudes are usually skewed (a faint tail). Flux / luminosity are even more skewed (log-normal). Often we work with  </a:t>
            </a:r>
            <a:r>
              <a:rPr b="0" i="0" lang="en-US" sz="1250" u="none" cap="none" strike="noStrike">
                <a:solidFill>
                  <a:srgbClr val="2B2B2B"/>
                </a:solidFill>
                <a:latin typeface="Courier New"/>
                <a:ea typeface="Courier New"/>
                <a:cs typeface="Courier New"/>
                <a:sym typeface="Courier New"/>
              </a:rPr>
              <a:t>log(flux)</a:t>
            </a:r>
            <a:r>
              <a:rPr b="0" i="0" lang="en-US" sz="1250" u="none" cap="none" strike="noStrike">
                <a:solidFill>
                  <a:srgbClr val="2B2B2B"/>
                </a:solidFill>
                <a:latin typeface="Georgia"/>
                <a:ea typeface="Georgia"/>
                <a:cs typeface="Georgia"/>
                <a:sym typeface="Georgia"/>
              </a:rPr>
              <a:t>  instead of  </a:t>
            </a:r>
            <a:r>
              <a:rPr b="0" i="0" lang="en-US" sz="1250" u="none" cap="none" strike="noStrike">
                <a:solidFill>
                  <a:srgbClr val="2B2B2B"/>
                </a:solidFill>
                <a:latin typeface="Courier New"/>
                <a:ea typeface="Courier New"/>
                <a:cs typeface="Courier New"/>
                <a:sym typeface="Courier New"/>
              </a:rPr>
              <a:t>flux</a:t>
            </a:r>
            <a:r>
              <a:rPr b="0" i="0" lang="en-US" sz="1250" u="none" cap="none" strike="noStrike">
                <a:solidFill>
                  <a:srgbClr val="2B2B2B"/>
                </a:solidFill>
                <a:latin typeface="Georgia"/>
                <a:ea typeface="Georgia"/>
                <a:cs typeface="Georgia"/>
                <a:sym typeface="Georgia"/>
              </a:rPr>
              <a:t>  to get a friendlier shape for the model.</a:t>
            </a:r>
            <a:endParaRPr b="0" i="0" sz="1250" u="none" cap="none" strike="noStrike">
              <a:solidFill>
                <a:schemeClr val="dk1"/>
              </a:solidFill>
              <a:latin typeface="Calibri"/>
              <a:ea typeface="Calibri"/>
              <a:cs typeface="Calibri"/>
              <a:sym typeface="Calibri"/>
            </a:endParaRPr>
          </a:p>
        </p:txBody>
      </p:sp>
      <p:pic>
        <p:nvPicPr>
          <p:cNvPr descr="/sessions/sleepy-friendly-euler/mnt/outputs/logos/cosmicai_logo.png" id="252" name="Google Shape;252;p12"/>
          <p:cNvPicPr preferRelativeResize="0"/>
          <p:nvPr/>
        </p:nvPicPr>
        <p:blipFill rotWithShape="1">
          <a:blip r:embed="rId4">
            <a:alphaModFix/>
          </a:blip>
          <a:srcRect b="0" l="0" r="0" t="0"/>
          <a:stretch/>
        </p:blipFill>
        <p:spPr>
          <a:xfrm>
            <a:off x="228600" y="4526280"/>
            <a:ext cx="1463040" cy="502920"/>
          </a:xfrm>
          <a:prstGeom prst="rect">
            <a:avLst/>
          </a:prstGeom>
          <a:noFill/>
          <a:ln>
            <a:noFill/>
          </a:ln>
        </p:spPr>
      </p:pic>
      <p:sp>
        <p:nvSpPr>
          <p:cNvPr id="253" name="Google Shape;253;p12"/>
          <p:cNvSpPr/>
          <p:nvPr/>
        </p:nvSpPr>
        <p:spPr>
          <a:xfrm>
            <a:off x="2743200" y="4663440"/>
            <a:ext cx="36576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1" i="0" lang="en-US" sz="1200" u="none" cap="none" strike="noStrike">
                <a:solidFill>
                  <a:srgbClr val="2B2B2B"/>
                </a:solidFill>
                <a:latin typeface="Georgia"/>
                <a:ea typeface="Georgia"/>
                <a:cs typeface="Georgia"/>
                <a:sym typeface="Georgia"/>
              </a:rPr>
              <a:t>CosmicAI Summer School</a:t>
            </a:r>
            <a:endParaRPr b="0" i="0" sz="1200" u="none" cap="none" strike="noStrike">
              <a:solidFill>
                <a:schemeClr val="dk1"/>
              </a:solidFill>
              <a:latin typeface="Calibri"/>
              <a:ea typeface="Calibri"/>
              <a:cs typeface="Calibri"/>
              <a:sym typeface="Calibri"/>
            </a:endParaRPr>
          </a:p>
        </p:txBody>
      </p:sp>
      <p:sp>
        <p:nvSpPr>
          <p:cNvPr id="254" name="Google Shape;254;p12"/>
          <p:cNvSpPr/>
          <p:nvPr/>
        </p:nvSpPr>
        <p:spPr>
          <a:xfrm>
            <a:off x="8275320" y="4754880"/>
            <a:ext cx="6858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06060"/>
              </a:buClr>
              <a:buSzPts val="1200"/>
              <a:buFont typeface="Georgia"/>
              <a:buNone/>
            </a:pPr>
            <a:r>
              <a:rPr b="0" i="0" lang="en-US" sz="1200" u="none" cap="none" strike="noStrike">
                <a:solidFill>
                  <a:srgbClr val="606060"/>
                </a:solidFill>
                <a:latin typeface="Georgia"/>
                <a:ea typeface="Georgia"/>
                <a:cs typeface="Georgia"/>
                <a:sym typeface="Georgia"/>
              </a:rPr>
              <a:t>12</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9" name="Shape 259"/>
        <p:cNvGrpSpPr/>
        <p:nvPr/>
      </p:nvGrpSpPr>
      <p:grpSpPr>
        <a:xfrm>
          <a:off x="0" y="0"/>
          <a:ext cx="0" cy="0"/>
          <a:chOff x="0" y="0"/>
          <a:chExt cx="0" cy="0"/>
        </a:xfrm>
      </p:grpSpPr>
      <p:sp>
        <p:nvSpPr>
          <p:cNvPr id="260" name="Google Shape;260;p13"/>
          <p:cNvSpPr/>
          <p:nvPr/>
        </p:nvSpPr>
        <p:spPr>
          <a:xfrm>
            <a:off x="274320" y="137160"/>
            <a:ext cx="859536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3000"/>
              <a:buFont typeface="Georgia"/>
              <a:buNone/>
            </a:pPr>
            <a:r>
              <a:rPr b="0" i="0" lang="en-US" sz="3000" u="none" cap="none" strike="noStrike">
                <a:solidFill>
                  <a:srgbClr val="7B2D26"/>
                </a:solidFill>
                <a:latin typeface="Georgia"/>
                <a:ea typeface="Georgia"/>
                <a:cs typeface="Georgia"/>
                <a:sym typeface="Georgia"/>
              </a:rPr>
              <a:t>EDA in Practice — Correlations</a:t>
            </a:r>
            <a:endParaRPr b="0" i="0" sz="3000" u="none" cap="none" strike="noStrike">
              <a:solidFill>
                <a:schemeClr val="dk1"/>
              </a:solidFill>
              <a:latin typeface="Calibri"/>
              <a:ea typeface="Calibri"/>
              <a:cs typeface="Calibri"/>
              <a:sym typeface="Calibri"/>
            </a:endParaRPr>
          </a:p>
        </p:txBody>
      </p:sp>
      <p:cxnSp>
        <p:nvCxnSpPr>
          <p:cNvPr id="261" name="Google Shape;261;p13"/>
          <p:cNvCxnSpPr/>
          <p:nvPr/>
        </p:nvCxnSpPr>
        <p:spPr>
          <a:xfrm>
            <a:off x="365760" y="777240"/>
            <a:ext cx="8412480" cy="0"/>
          </a:xfrm>
          <a:prstGeom prst="straightConnector1">
            <a:avLst/>
          </a:prstGeom>
          <a:noFill/>
          <a:ln cap="flat" cmpd="sng" w="15875">
            <a:solidFill>
              <a:srgbClr val="B0B0B0"/>
            </a:solidFill>
            <a:prstDash val="solid"/>
            <a:round/>
            <a:headEnd len="sm" w="sm" type="none"/>
            <a:tailEnd len="sm" w="sm" type="none"/>
          </a:ln>
        </p:spPr>
      </p:cxnSp>
      <p:sp>
        <p:nvSpPr>
          <p:cNvPr id="262" name="Google Shape;262;p13"/>
          <p:cNvSpPr/>
          <p:nvPr/>
        </p:nvSpPr>
        <p:spPr>
          <a:xfrm>
            <a:off x="457200" y="914400"/>
            <a:ext cx="3931920" cy="3108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7B2D26"/>
              </a:buClr>
              <a:buSzPts val="1350"/>
              <a:buFont typeface="Georgia"/>
              <a:buNone/>
            </a:pPr>
            <a:r>
              <a:rPr b="1" i="0" lang="en-US" sz="1350" u="none" cap="none" strike="noStrike">
                <a:solidFill>
                  <a:srgbClr val="7B2D26"/>
                </a:solidFill>
                <a:latin typeface="Georgia"/>
                <a:ea typeface="Georgia"/>
                <a:cs typeface="Georgia"/>
                <a:sym typeface="Georgia"/>
              </a:rPr>
              <a:t>Pearson correlation  </a:t>
            </a:r>
            <a:r>
              <a:rPr b="0" i="0" lang="en-US" sz="1350" u="none" cap="none" strike="noStrike">
                <a:solidFill>
                  <a:srgbClr val="2B2B2B"/>
                </a:solidFill>
                <a:latin typeface="Georgia"/>
                <a:ea typeface="Georgia"/>
                <a:cs typeface="Georgia"/>
                <a:sym typeface="Georgia"/>
              </a:rPr>
              <a:t>r ∈ [−1, +1]:</a:t>
            </a:r>
            <a:endParaRPr b="0" i="0" sz="13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2B2B2B"/>
              </a:buClr>
              <a:buSzPts val="600"/>
              <a:buFont typeface="Georgia"/>
              <a:buNone/>
            </a:pPr>
            <a:r>
              <a:rPr b="0" i="0" lang="en-US" sz="600" u="none" cap="none" strike="noStrike">
                <a:solidFill>
                  <a:srgbClr val="2B2B2B"/>
                </a:solidFill>
                <a:latin typeface="Georgia"/>
                <a:ea typeface="Georgia"/>
                <a:cs typeface="Georgia"/>
                <a:sym typeface="Georgia"/>
              </a:rPr>
              <a:t> </a:t>
            </a:r>
            <a:endParaRPr b="0" i="0" sz="13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7B2D26"/>
              </a:buClr>
              <a:buSzPts val="1350"/>
              <a:buFont typeface="Courier New"/>
              <a:buNone/>
            </a:pPr>
            <a:r>
              <a:rPr b="1" i="0" lang="en-US" sz="1350" u="none" cap="none" strike="noStrike">
                <a:solidFill>
                  <a:srgbClr val="7B2D26"/>
                </a:solidFill>
                <a:latin typeface="Courier New"/>
                <a:ea typeface="Courier New"/>
                <a:cs typeface="Courier New"/>
                <a:sym typeface="Courier New"/>
              </a:rPr>
              <a:t>+1  </a:t>
            </a:r>
            <a:r>
              <a:rPr b="0" i="0" lang="en-US" sz="1350" u="none" cap="none" strike="noStrike">
                <a:solidFill>
                  <a:srgbClr val="2B2B2B"/>
                </a:solidFill>
                <a:latin typeface="Georgia"/>
                <a:ea typeface="Georgia"/>
                <a:cs typeface="Georgia"/>
                <a:sym typeface="Georgia"/>
              </a:rPr>
              <a:t>perfect positive linear</a:t>
            </a:r>
            <a:endParaRPr b="0" i="0" sz="13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606060"/>
              </a:buClr>
              <a:buSzPts val="1350"/>
              <a:buFont typeface="Courier New"/>
              <a:buNone/>
            </a:pPr>
            <a:r>
              <a:rPr b="1" i="0" lang="en-US" sz="1350" u="none" cap="none" strike="noStrike">
                <a:solidFill>
                  <a:srgbClr val="606060"/>
                </a:solidFill>
                <a:latin typeface="Courier New"/>
                <a:ea typeface="Courier New"/>
                <a:cs typeface="Courier New"/>
                <a:sym typeface="Courier New"/>
              </a:rPr>
              <a:t> 0  </a:t>
            </a:r>
            <a:r>
              <a:rPr b="0" i="0" lang="en-US" sz="1350" u="none" cap="none" strike="noStrike">
                <a:solidFill>
                  <a:srgbClr val="2B2B2B"/>
                </a:solidFill>
                <a:latin typeface="Georgia"/>
                <a:ea typeface="Georgia"/>
                <a:cs typeface="Georgia"/>
                <a:sym typeface="Georgia"/>
              </a:rPr>
              <a:t>no linear relationship</a:t>
            </a:r>
            <a:endParaRPr b="0" i="0" sz="13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2F5A7A"/>
              </a:buClr>
              <a:buSzPts val="1350"/>
              <a:buFont typeface="Courier New"/>
              <a:buNone/>
            </a:pPr>
            <a:r>
              <a:rPr b="1" i="0" lang="en-US" sz="1350" u="none" cap="none" strike="noStrike">
                <a:solidFill>
                  <a:srgbClr val="2F5A7A"/>
                </a:solidFill>
                <a:latin typeface="Courier New"/>
                <a:ea typeface="Courier New"/>
                <a:cs typeface="Courier New"/>
                <a:sym typeface="Courier New"/>
              </a:rPr>
              <a:t>−1  </a:t>
            </a:r>
            <a:r>
              <a:rPr b="0" i="0" lang="en-US" sz="1350" u="none" cap="none" strike="noStrike">
                <a:solidFill>
                  <a:srgbClr val="2B2B2B"/>
                </a:solidFill>
                <a:latin typeface="Georgia"/>
                <a:ea typeface="Georgia"/>
                <a:cs typeface="Georgia"/>
                <a:sym typeface="Georgia"/>
              </a:rPr>
              <a:t>perfect negative linear</a:t>
            </a:r>
            <a:endParaRPr b="0" i="0" sz="13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2B2B2B"/>
              </a:buClr>
              <a:buSzPts val="600"/>
              <a:buFont typeface="Georgia"/>
              <a:buNone/>
            </a:pPr>
            <a:r>
              <a:rPr b="0" i="0" lang="en-US" sz="600" u="none" cap="none" strike="noStrike">
                <a:solidFill>
                  <a:srgbClr val="2B2B2B"/>
                </a:solidFill>
                <a:latin typeface="Georgia"/>
                <a:ea typeface="Georgia"/>
                <a:cs typeface="Georgia"/>
                <a:sym typeface="Georgia"/>
              </a:rPr>
              <a:t> </a:t>
            </a:r>
            <a:endParaRPr b="0" i="0" sz="13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2B2B2B"/>
              </a:buClr>
              <a:buSzPts val="1350"/>
              <a:buFont typeface="Georgia"/>
              <a:buNone/>
            </a:pPr>
            <a:r>
              <a:rPr b="0" i="0" lang="en-US" sz="1350" u="none" cap="none" strike="noStrike">
                <a:solidFill>
                  <a:srgbClr val="2B2B2B"/>
                </a:solidFill>
                <a:latin typeface="Georgia"/>
                <a:ea typeface="Georgia"/>
                <a:cs typeface="Georgia"/>
                <a:sym typeface="Georgia"/>
              </a:rPr>
              <a:t>Highly correlated features carry redundant information — we'll prune or combine in </a:t>
            </a:r>
            <a:r>
              <a:rPr b="0" i="1" lang="en-US" sz="1350" u="none" cap="none" strike="noStrike">
                <a:solidFill>
                  <a:srgbClr val="2B2B2B"/>
                </a:solidFill>
                <a:latin typeface="Georgia"/>
                <a:ea typeface="Georgia"/>
                <a:cs typeface="Georgia"/>
                <a:sym typeface="Georgia"/>
              </a:rPr>
              <a:t>Lec 2 </a:t>
            </a:r>
            <a:r>
              <a:rPr b="0" i="0" lang="en-US" sz="1350" u="none" cap="none" strike="noStrike">
                <a:solidFill>
                  <a:srgbClr val="2B2B2B"/>
                </a:solidFill>
                <a:latin typeface="Georgia"/>
                <a:ea typeface="Georgia"/>
                <a:cs typeface="Georgia"/>
                <a:sym typeface="Georgia"/>
              </a:rPr>
              <a:t>(feature selection, PCA).</a:t>
            </a:r>
            <a:endParaRPr b="0" i="0" sz="1350" u="none" cap="none" strike="noStrike">
              <a:solidFill>
                <a:schemeClr val="dk1"/>
              </a:solidFill>
              <a:latin typeface="Calibri"/>
              <a:ea typeface="Calibri"/>
              <a:cs typeface="Calibri"/>
              <a:sym typeface="Calibri"/>
            </a:endParaRPr>
          </a:p>
        </p:txBody>
      </p:sp>
      <p:pic>
        <p:nvPicPr>
          <p:cNvPr descr="/sessions/sleepy-friendly-euler/mnt/outputs/figs/fig_correlation.png" id="263" name="Google Shape;263;p13"/>
          <p:cNvPicPr preferRelativeResize="0"/>
          <p:nvPr/>
        </p:nvPicPr>
        <p:blipFill rotWithShape="1">
          <a:blip r:embed="rId3">
            <a:alphaModFix/>
          </a:blip>
          <a:srcRect b="0" l="0" r="0" t="0"/>
          <a:stretch/>
        </p:blipFill>
        <p:spPr>
          <a:xfrm>
            <a:off x="4572000" y="868680"/>
            <a:ext cx="4343400" cy="3108960"/>
          </a:xfrm>
          <a:prstGeom prst="rect">
            <a:avLst/>
          </a:prstGeom>
          <a:noFill/>
          <a:ln>
            <a:noFill/>
          </a:ln>
        </p:spPr>
      </p:pic>
      <p:sp>
        <p:nvSpPr>
          <p:cNvPr id="264" name="Google Shape;264;p13"/>
          <p:cNvSpPr/>
          <p:nvPr/>
        </p:nvSpPr>
        <p:spPr>
          <a:xfrm>
            <a:off x="457200" y="4114800"/>
            <a:ext cx="841248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1150"/>
              <a:buFont typeface="Georgia"/>
              <a:buNone/>
            </a:pPr>
            <a:r>
              <a:rPr b="1" i="0" lang="en-US" sz="1150" u="none" cap="none" strike="noStrike">
                <a:solidFill>
                  <a:srgbClr val="7B2D26"/>
                </a:solidFill>
                <a:latin typeface="Georgia"/>
                <a:ea typeface="Georgia"/>
                <a:cs typeface="Georgia"/>
                <a:sym typeface="Georgia"/>
              </a:rPr>
              <a:t>Why the bands all look red:  </a:t>
            </a:r>
            <a:r>
              <a:rPr b="0" i="0" lang="en-US" sz="1150" u="none" cap="none" strike="noStrike">
                <a:solidFill>
                  <a:srgbClr val="2B2B2B"/>
                </a:solidFill>
                <a:latin typeface="Georgia"/>
                <a:ea typeface="Georgia"/>
                <a:cs typeface="Georgia"/>
                <a:sym typeface="Georgia"/>
              </a:rPr>
              <a:t>ugriz magnitudes of one galaxy move together — brighter in r usually means brighter in i, g, z. Colors (u−g, g−r) decorrelate this and carry the physics.</a:t>
            </a:r>
            <a:endParaRPr b="0" i="0" sz="1150" u="none" cap="none" strike="noStrike">
              <a:solidFill>
                <a:schemeClr val="dk1"/>
              </a:solidFill>
              <a:latin typeface="Calibri"/>
              <a:ea typeface="Calibri"/>
              <a:cs typeface="Calibri"/>
              <a:sym typeface="Calibri"/>
            </a:endParaRPr>
          </a:p>
        </p:txBody>
      </p:sp>
      <p:pic>
        <p:nvPicPr>
          <p:cNvPr descr="/sessions/sleepy-friendly-euler/mnt/outputs/logos/cosmicai_logo.png" id="265" name="Google Shape;265;p13"/>
          <p:cNvPicPr preferRelativeResize="0"/>
          <p:nvPr/>
        </p:nvPicPr>
        <p:blipFill rotWithShape="1">
          <a:blip r:embed="rId4">
            <a:alphaModFix/>
          </a:blip>
          <a:srcRect b="0" l="0" r="0" t="0"/>
          <a:stretch/>
        </p:blipFill>
        <p:spPr>
          <a:xfrm>
            <a:off x="228600" y="4526280"/>
            <a:ext cx="1463040" cy="502920"/>
          </a:xfrm>
          <a:prstGeom prst="rect">
            <a:avLst/>
          </a:prstGeom>
          <a:noFill/>
          <a:ln>
            <a:noFill/>
          </a:ln>
        </p:spPr>
      </p:pic>
      <p:sp>
        <p:nvSpPr>
          <p:cNvPr id="266" name="Google Shape;266;p13"/>
          <p:cNvSpPr/>
          <p:nvPr/>
        </p:nvSpPr>
        <p:spPr>
          <a:xfrm>
            <a:off x="2743200" y="4663440"/>
            <a:ext cx="36576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1" i="0" lang="en-US" sz="1200" u="none" cap="none" strike="noStrike">
                <a:solidFill>
                  <a:srgbClr val="2B2B2B"/>
                </a:solidFill>
                <a:latin typeface="Georgia"/>
                <a:ea typeface="Georgia"/>
                <a:cs typeface="Georgia"/>
                <a:sym typeface="Georgia"/>
              </a:rPr>
              <a:t>CosmicAI Summer School</a:t>
            </a:r>
            <a:endParaRPr b="0" i="0" sz="1200" u="none" cap="none" strike="noStrike">
              <a:solidFill>
                <a:schemeClr val="dk1"/>
              </a:solidFill>
              <a:latin typeface="Calibri"/>
              <a:ea typeface="Calibri"/>
              <a:cs typeface="Calibri"/>
              <a:sym typeface="Calibri"/>
            </a:endParaRPr>
          </a:p>
        </p:txBody>
      </p:sp>
      <p:sp>
        <p:nvSpPr>
          <p:cNvPr id="267" name="Google Shape;267;p13"/>
          <p:cNvSpPr/>
          <p:nvPr/>
        </p:nvSpPr>
        <p:spPr>
          <a:xfrm>
            <a:off x="8275320" y="4754880"/>
            <a:ext cx="6858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06060"/>
              </a:buClr>
              <a:buSzPts val="1200"/>
              <a:buFont typeface="Georgia"/>
              <a:buNone/>
            </a:pPr>
            <a:r>
              <a:rPr b="0" i="0" lang="en-US" sz="1200" u="none" cap="none" strike="noStrike">
                <a:solidFill>
                  <a:srgbClr val="606060"/>
                </a:solidFill>
                <a:latin typeface="Georgia"/>
                <a:ea typeface="Georgia"/>
                <a:cs typeface="Georgia"/>
                <a:sym typeface="Georgia"/>
              </a:rPr>
              <a:t>13</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2" name="Shape 272"/>
        <p:cNvGrpSpPr/>
        <p:nvPr/>
      </p:nvGrpSpPr>
      <p:grpSpPr>
        <a:xfrm>
          <a:off x="0" y="0"/>
          <a:ext cx="0" cy="0"/>
          <a:chOff x="0" y="0"/>
          <a:chExt cx="0" cy="0"/>
        </a:xfrm>
      </p:grpSpPr>
      <p:sp>
        <p:nvSpPr>
          <p:cNvPr id="273" name="Google Shape;273;p14"/>
          <p:cNvSpPr/>
          <p:nvPr/>
        </p:nvSpPr>
        <p:spPr>
          <a:xfrm>
            <a:off x="274320" y="137160"/>
            <a:ext cx="859536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3000"/>
              <a:buFont typeface="Georgia"/>
              <a:buNone/>
            </a:pPr>
            <a:r>
              <a:rPr b="0" i="0" lang="en-US" sz="3000" u="none" cap="none" strike="noStrike">
                <a:solidFill>
                  <a:srgbClr val="7B2D26"/>
                </a:solidFill>
                <a:latin typeface="Georgia"/>
                <a:ea typeface="Georgia"/>
                <a:cs typeface="Georgia"/>
                <a:sym typeface="Georgia"/>
              </a:rPr>
              <a:t>EDA Gotcha — Distribution Shift</a:t>
            </a:r>
            <a:endParaRPr b="0" i="0" sz="3000" u="none" cap="none" strike="noStrike">
              <a:solidFill>
                <a:schemeClr val="dk1"/>
              </a:solidFill>
              <a:latin typeface="Calibri"/>
              <a:ea typeface="Calibri"/>
              <a:cs typeface="Calibri"/>
              <a:sym typeface="Calibri"/>
            </a:endParaRPr>
          </a:p>
        </p:txBody>
      </p:sp>
      <p:cxnSp>
        <p:nvCxnSpPr>
          <p:cNvPr id="274" name="Google Shape;274;p14"/>
          <p:cNvCxnSpPr/>
          <p:nvPr/>
        </p:nvCxnSpPr>
        <p:spPr>
          <a:xfrm>
            <a:off x="365760" y="777240"/>
            <a:ext cx="8412480" cy="0"/>
          </a:xfrm>
          <a:prstGeom prst="straightConnector1">
            <a:avLst/>
          </a:prstGeom>
          <a:noFill/>
          <a:ln cap="flat" cmpd="sng" w="15875">
            <a:solidFill>
              <a:srgbClr val="B0B0B0"/>
            </a:solidFill>
            <a:prstDash val="solid"/>
            <a:round/>
            <a:headEnd len="sm" w="sm" type="none"/>
            <a:tailEnd len="sm" w="sm" type="none"/>
          </a:ln>
        </p:spPr>
      </p:cxnSp>
      <p:pic>
        <p:nvPicPr>
          <p:cNvPr descr="/sessions/sleepy-friendly-euler/mnt/outputs/figs/fig_shift.png" id="275" name="Google Shape;275;p14"/>
          <p:cNvPicPr preferRelativeResize="0"/>
          <p:nvPr/>
        </p:nvPicPr>
        <p:blipFill rotWithShape="1">
          <a:blip r:embed="rId3">
            <a:alphaModFix/>
          </a:blip>
          <a:srcRect b="0" l="0" r="0" t="0"/>
          <a:stretch/>
        </p:blipFill>
        <p:spPr>
          <a:xfrm>
            <a:off x="914400" y="868680"/>
            <a:ext cx="7315200" cy="2148840"/>
          </a:xfrm>
          <a:prstGeom prst="rect">
            <a:avLst/>
          </a:prstGeom>
          <a:noFill/>
          <a:ln>
            <a:noFill/>
          </a:ln>
        </p:spPr>
      </p:pic>
      <p:sp>
        <p:nvSpPr>
          <p:cNvPr id="276" name="Google Shape;276;p14"/>
          <p:cNvSpPr/>
          <p:nvPr/>
        </p:nvSpPr>
        <p:spPr>
          <a:xfrm>
            <a:off x="457200" y="3108960"/>
            <a:ext cx="4160520" cy="10515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7B2D26"/>
              </a:buClr>
              <a:buSzPts val="1250"/>
              <a:buFont typeface="Georgia"/>
              <a:buNone/>
            </a:pPr>
            <a:r>
              <a:rPr b="1" i="0" lang="en-US" sz="1250" u="none" cap="none" strike="noStrike">
                <a:solidFill>
                  <a:srgbClr val="7B2D26"/>
                </a:solidFill>
                <a:latin typeface="Georgia"/>
                <a:ea typeface="Georgia"/>
                <a:cs typeface="Georgia"/>
                <a:sym typeface="Georgia"/>
              </a:rPr>
              <a:t>What you see:  </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B2B"/>
              </a:buClr>
              <a:buSzPts val="1250"/>
              <a:buFont typeface="Georgia"/>
              <a:buNone/>
            </a:pPr>
            <a:r>
              <a:rPr b="0" i="0" lang="en-US" sz="1250" u="none" cap="none" strike="noStrike">
                <a:solidFill>
                  <a:srgbClr val="2B2B2B"/>
                </a:solidFill>
                <a:latin typeface="Georgia"/>
                <a:ea typeface="Georgia"/>
                <a:cs typeface="Georgia"/>
                <a:sym typeface="Georgia"/>
              </a:rPr>
              <a:t>Your training set is </a:t>
            </a:r>
            <a:r>
              <a:rPr b="0" i="1" lang="en-US" sz="1250" u="none" cap="none" strike="noStrike">
                <a:solidFill>
                  <a:srgbClr val="2B2B2B"/>
                </a:solidFill>
                <a:latin typeface="Georgia"/>
                <a:ea typeface="Georgia"/>
                <a:cs typeface="Georgia"/>
                <a:sym typeface="Georgia"/>
              </a:rPr>
              <a:t>brighter, </a:t>
            </a:r>
            <a:r>
              <a:rPr b="0" i="0" lang="en-US" sz="1250" u="none" cap="none" strike="noStrike">
                <a:solidFill>
                  <a:srgbClr val="2B2B2B"/>
                </a:solidFill>
                <a:latin typeface="Georgia"/>
                <a:ea typeface="Georgia"/>
                <a:cs typeface="Georgia"/>
                <a:sym typeface="Georgia"/>
              </a:rPr>
              <a:t>your deployment data is </a:t>
            </a:r>
            <a:r>
              <a:rPr b="0" i="1" lang="en-US" sz="1250" u="none" cap="none" strike="noStrike">
                <a:solidFill>
                  <a:srgbClr val="2B2B2B"/>
                </a:solidFill>
                <a:latin typeface="Georgia"/>
                <a:ea typeface="Georgia"/>
                <a:cs typeface="Georgia"/>
                <a:sym typeface="Georgia"/>
              </a:rPr>
              <a:t>fainter. </a:t>
            </a:r>
            <a:r>
              <a:rPr b="0" i="0" lang="en-US" sz="1250" u="none" cap="none" strike="noStrike">
                <a:solidFill>
                  <a:srgbClr val="2B2B2B"/>
                </a:solidFill>
                <a:latin typeface="Georgia"/>
                <a:ea typeface="Georgia"/>
                <a:cs typeface="Georgia"/>
                <a:sym typeface="Georgia"/>
              </a:rPr>
              <a:t>The model is being asked to extrapolate.</a:t>
            </a:r>
            <a:endParaRPr b="0" i="0" sz="1250" u="none" cap="none" strike="noStrike">
              <a:solidFill>
                <a:schemeClr val="dk1"/>
              </a:solidFill>
              <a:latin typeface="Calibri"/>
              <a:ea typeface="Calibri"/>
              <a:cs typeface="Calibri"/>
              <a:sym typeface="Calibri"/>
            </a:endParaRPr>
          </a:p>
        </p:txBody>
      </p:sp>
      <p:sp>
        <p:nvSpPr>
          <p:cNvPr id="277" name="Google Shape;277;p14"/>
          <p:cNvSpPr/>
          <p:nvPr/>
        </p:nvSpPr>
        <p:spPr>
          <a:xfrm>
            <a:off x="4709160" y="3108960"/>
            <a:ext cx="4160520" cy="10515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7B2D26"/>
              </a:buClr>
              <a:buSzPts val="1250"/>
              <a:buFont typeface="Georgia"/>
              <a:buNone/>
            </a:pPr>
            <a:r>
              <a:rPr b="1" i="0" lang="en-US" sz="1250" u="none" cap="none" strike="noStrike">
                <a:solidFill>
                  <a:srgbClr val="7B2D26"/>
                </a:solidFill>
                <a:latin typeface="Georgia"/>
                <a:ea typeface="Georgia"/>
                <a:cs typeface="Georgia"/>
                <a:sym typeface="Georgia"/>
              </a:rPr>
              <a:t>Why it matters:  </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B2B"/>
              </a:buClr>
              <a:buSzPts val="1250"/>
              <a:buFont typeface="Georgia"/>
              <a:buNone/>
            </a:pPr>
            <a:r>
              <a:rPr b="0" i="0" lang="en-US" sz="1250" u="none" cap="none" strike="noStrike">
                <a:solidFill>
                  <a:srgbClr val="2B2B2B"/>
                </a:solidFill>
                <a:latin typeface="Georgia"/>
                <a:ea typeface="Georgia"/>
                <a:cs typeface="Georgia"/>
                <a:sym typeface="Georgia"/>
              </a:rPr>
              <a:t>test-set accuracy was a </a:t>
            </a:r>
            <a:r>
              <a:rPr b="0" i="1" lang="en-US" sz="1250" u="none" cap="none" strike="noStrike">
                <a:solidFill>
                  <a:srgbClr val="2B2B2B"/>
                </a:solidFill>
                <a:latin typeface="Georgia"/>
                <a:ea typeface="Georgia"/>
                <a:cs typeface="Georgia"/>
                <a:sym typeface="Georgia"/>
              </a:rPr>
              <a:t>lie </a:t>
            </a:r>
            <a:r>
              <a:rPr b="0" i="0" lang="en-US" sz="1250" u="none" cap="none" strike="noStrike">
                <a:solidFill>
                  <a:srgbClr val="2B2B2B"/>
                </a:solidFill>
                <a:latin typeface="Georgia"/>
                <a:ea typeface="Georgia"/>
                <a:cs typeface="Georgia"/>
                <a:sym typeface="Georgia"/>
              </a:rPr>
              <a:t>— it measured the wrong distribution. Photo-z catalogs notoriously break on faint galaxies for exactly this reason.</a:t>
            </a:r>
            <a:endParaRPr b="0" i="0" sz="1250" u="none" cap="none" strike="noStrike">
              <a:solidFill>
                <a:schemeClr val="dk1"/>
              </a:solidFill>
              <a:latin typeface="Calibri"/>
              <a:ea typeface="Calibri"/>
              <a:cs typeface="Calibri"/>
              <a:sym typeface="Calibri"/>
            </a:endParaRPr>
          </a:p>
        </p:txBody>
      </p:sp>
      <p:sp>
        <p:nvSpPr>
          <p:cNvPr id="278" name="Google Shape;278;p14"/>
          <p:cNvSpPr/>
          <p:nvPr/>
        </p:nvSpPr>
        <p:spPr>
          <a:xfrm>
            <a:off x="457200" y="4206240"/>
            <a:ext cx="84124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1250"/>
              <a:buFont typeface="Georgia"/>
              <a:buNone/>
            </a:pPr>
            <a:r>
              <a:rPr b="1" i="0" lang="en-US" sz="1250" u="none" cap="none" strike="noStrike">
                <a:solidFill>
                  <a:srgbClr val="7B2D26"/>
                </a:solidFill>
                <a:latin typeface="Georgia"/>
                <a:ea typeface="Georgia"/>
                <a:cs typeface="Georgia"/>
                <a:sym typeface="Georgia"/>
              </a:rPr>
              <a:t>Detect it early:  </a:t>
            </a:r>
            <a:r>
              <a:rPr b="0" i="0" lang="en-US" sz="1250" u="none" cap="none" strike="noStrike">
                <a:solidFill>
                  <a:srgbClr val="2B2B2B"/>
                </a:solidFill>
                <a:latin typeface="Georgia"/>
                <a:ea typeface="Georgia"/>
                <a:cs typeface="Georgia"/>
                <a:sym typeface="Georgia"/>
              </a:rPr>
              <a:t>overlay histograms of every feature, train vs deploy. If they don't overlap, you're in trouble.</a:t>
            </a:r>
            <a:endParaRPr b="0" i="0" sz="1250" u="none" cap="none" strike="noStrike">
              <a:solidFill>
                <a:schemeClr val="dk1"/>
              </a:solidFill>
              <a:latin typeface="Calibri"/>
              <a:ea typeface="Calibri"/>
              <a:cs typeface="Calibri"/>
              <a:sym typeface="Calibri"/>
            </a:endParaRPr>
          </a:p>
        </p:txBody>
      </p:sp>
      <p:pic>
        <p:nvPicPr>
          <p:cNvPr descr="/sessions/sleepy-friendly-euler/mnt/outputs/logos/cosmicai_logo.png" id="279" name="Google Shape;279;p14"/>
          <p:cNvPicPr preferRelativeResize="0"/>
          <p:nvPr/>
        </p:nvPicPr>
        <p:blipFill rotWithShape="1">
          <a:blip r:embed="rId4">
            <a:alphaModFix/>
          </a:blip>
          <a:srcRect b="0" l="0" r="0" t="0"/>
          <a:stretch/>
        </p:blipFill>
        <p:spPr>
          <a:xfrm>
            <a:off x="228600" y="4526280"/>
            <a:ext cx="1463040" cy="502920"/>
          </a:xfrm>
          <a:prstGeom prst="rect">
            <a:avLst/>
          </a:prstGeom>
          <a:noFill/>
          <a:ln>
            <a:noFill/>
          </a:ln>
        </p:spPr>
      </p:pic>
      <p:sp>
        <p:nvSpPr>
          <p:cNvPr id="280" name="Google Shape;280;p14"/>
          <p:cNvSpPr/>
          <p:nvPr/>
        </p:nvSpPr>
        <p:spPr>
          <a:xfrm>
            <a:off x="2743200" y="4663440"/>
            <a:ext cx="36576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1" i="0" lang="en-US" sz="1200" u="none" cap="none" strike="noStrike">
                <a:solidFill>
                  <a:srgbClr val="2B2B2B"/>
                </a:solidFill>
                <a:latin typeface="Georgia"/>
                <a:ea typeface="Georgia"/>
                <a:cs typeface="Georgia"/>
                <a:sym typeface="Georgia"/>
              </a:rPr>
              <a:t>CosmicAI Summer School</a:t>
            </a:r>
            <a:endParaRPr b="0" i="0" sz="1200" u="none" cap="none" strike="noStrike">
              <a:solidFill>
                <a:schemeClr val="dk1"/>
              </a:solidFill>
              <a:latin typeface="Calibri"/>
              <a:ea typeface="Calibri"/>
              <a:cs typeface="Calibri"/>
              <a:sym typeface="Calibri"/>
            </a:endParaRPr>
          </a:p>
        </p:txBody>
      </p:sp>
      <p:sp>
        <p:nvSpPr>
          <p:cNvPr id="281" name="Google Shape;281;p14"/>
          <p:cNvSpPr/>
          <p:nvPr/>
        </p:nvSpPr>
        <p:spPr>
          <a:xfrm>
            <a:off x="8275320" y="4754880"/>
            <a:ext cx="6858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06060"/>
              </a:buClr>
              <a:buSzPts val="1200"/>
              <a:buFont typeface="Georgia"/>
              <a:buNone/>
            </a:pPr>
            <a:r>
              <a:rPr b="0" i="0" lang="en-US" sz="1200" u="none" cap="none" strike="noStrike">
                <a:solidFill>
                  <a:srgbClr val="606060"/>
                </a:solidFill>
                <a:latin typeface="Georgia"/>
                <a:ea typeface="Georgia"/>
                <a:cs typeface="Georgia"/>
                <a:sym typeface="Georgia"/>
              </a:rPr>
              <a:t>14</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6" name="Shape 286"/>
        <p:cNvGrpSpPr/>
        <p:nvPr/>
      </p:nvGrpSpPr>
      <p:grpSpPr>
        <a:xfrm>
          <a:off x="0" y="0"/>
          <a:ext cx="0" cy="0"/>
          <a:chOff x="0" y="0"/>
          <a:chExt cx="0" cy="0"/>
        </a:xfrm>
      </p:grpSpPr>
      <p:sp>
        <p:nvSpPr>
          <p:cNvPr id="287" name="Google Shape;287;p15"/>
          <p:cNvSpPr/>
          <p:nvPr/>
        </p:nvSpPr>
        <p:spPr>
          <a:xfrm>
            <a:off x="274320" y="137160"/>
            <a:ext cx="859536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3000"/>
              <a:buFont typeface="Georgia"/>
              <a:buNone/>
            </a:pPr>
            <a:r>
              <a:rPr b="0" i="0" lang="en-US" sz="3000" u="none" cap="none" strike="noStrike">
                <a:solidFill>
                  <a:srgbClr val="7B2D26"/>
                </a:solidFill>
                <a:latin typeface="Georgia"/>
                <a:ea typeface="Georgia"/>
                <a:cs typeface="Georgia"/>
                <a:sym typeface="Georgia"/>
              </a:rPr>
              <a:t>Dimensionality — How Many Features?</a:t>
            </a:r>
            <a:endParaRPr b="0" i="0" sz="3000" u="none" cap="none" strike="noStrike">
              <a:solidFill>
                <a:schemeClr val="dk1"/>
              </a:solidFill>
              <a:latin typeface="Calibri"/>
              <a:ea typeface="Calibri"/>
              <a:cs typeface="Calibri"/>
              <a:sym typeface="Calibri"/>
            </a:endParaRPr>
          </a:p>
        </p:txBody>
      </p:sp>
      <p:cxnSp>
        <p:nvCxnSpPr>
          <p:cNvPr id="288" name="Google Shape;288;p15"/>
          <p:cNvCxnSpPr/>
          <p:nvPr/>
        </p:nvCxnSpPr>
        <p:spPr>
          <a:xfrm>
            <a:off x="365760" y="777240"/>
            <a:ext cx="8412480" cy="0"/>
          </a:xfrm>
          <a:prstGeom prst="straightConnector1">
            <a:avLst/>
          </a:prstGeom>
          <a:noFill/>
          <a:ln cap="flat" cmpd="sng" w="15875">
            <a:solidFill>
              <a:srgbClr val="B0B0B0"/>
            </a:solidFill>
            <a:prstDash val="solid"/>
            <a:round/>
            <a:headEnd len="sm" w="sm" type="none"/>
            <a:tailEnd len="sm" w="sm" type="none"/>
          </a:ln>
        </p:spPr>
      </p:cxnSp>
      <p:sp>
        <p:nvSpPr>
          <p:cNvPr id="289" name="Google Shape;289;p15"/>
          <p:cNvSpPr/>
          <p:nvPr/>
        </p:nvSpPr>
        <p:spPr>
          <a:xfrm>
            <a:off x="457200" y="914400"/>
            <a:ext cx="84124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06060"/>
              </a:buClr>
              <a:buSzPts val="1500"/>
              <a:buFont typeface="Georgia"/>
              <a:buNone/>
            </a:pPr>
            <a:r>
              <a:rPr b="0" i="1" lang="en-US" sz="1500" u="none" cap="none" strike="noStrike">
                <a:solidFill>
                  <a:srgbClr val="606060"/>
                </a:solidFill>
                <a:latin typeface="Georgia"/>
                <a:ea typeface="Georgia"/>
                <a:cs typeface="Georgia"/>
                <a:sym typeface="Georgia"/>
              </a:rPr>
              <a:t>Each feature is one axis. Adding a feature = one more axis.</a:t>
            </a:r>
            <a:endParaRPr b="0" i="0" sz="1500" u="none" cap="none" strike="noStrike">
              <a:solidFill>
                <a:schemeClr val="dk1"/>
              </a:solidFill>
              <a:latin typeface="Calibri"/>
              <a:ea typeface="Calibri"/>
              <a:cs typeface="Calibri"/>
              <a:sym typeface="Calibri"/>
            </a:endParaRPr>
          </a:p>
        </p:txBody>
      </p:sp>
      <p:sp>
        <p:nvSpPr>
          <p:cNvPr id="290" name="Google Shape;290;p15"/>
          <p:cNvSpPr/>
          <p:nvPr/>
        </p:nvSpPr>
        <p:spPr>
          <a:xfrm>
            <a:off x="457200" y="1417320"/>
            <a:ext cx="2651760" cy="2377440"/>
          </a:xfrm>
          <a:prstGeom prst="rect">
            <a:avLst/>
          </a:prstGeom>
          <a:solidFill>
            <a:srgbClr val="F9F4F1"/>
          </a:solidFill>
          <a:ln cap="flat" cmpd="sng" w="9525">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5"/>
          <p:cNvSpPr/>
          <p:nvPr/>
        </p:nvSpPr>
        <p:spPr>
          <a:xfrm>
            <a:off x="548640" y="1463040"/>
            <a:ext cx="246888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2400"/>
              <a:buFont typeface="Georgia"/>
              <a:buNone/>
            </a:pPr>
            <a:r>
              <a:rPr b="1" i="0" lang="en-US" sz="2400" u="none" cap="none" strike="noStrike">
                <a:solidFill>
                  <a:srgbClr val="7B2D26"/>
                </a:solidFill>
                <a:latin typeface="Georgia"/>
                <a:ea typeface="Georgia"/>
                <a:cs typeface="Georgia"/>
                <a:sym typeface="Georgia"/>
              </a:rPr>
              <a:t>d = 1</a:t>
            </a:r>
            <a:endParaRPr b="0" i="0" sz="2400" u="none" cap="none" strike="noStrike">
              <a:solidFill>
                <a:schemeClr val="dk1"/>
              </a:solidFill>
              <a:latin typeface="Calibri"/>
              <a:ea typeface="Calibri"/>
              <a:cs typeface="Calibri"/>
              <a:sym typeface="Calibri"/>
            </a:endParaRPr>
          </a:p>
        </p:txBody>
      </p:sp>
      <p:sp>
        <p:nvSpPr>
          <p:cNvPr id="292" name="Google Shape;292;p15"/>
          <p:cNvSpPr/>
          <p:nvPr/>
        </p:nvSpPr>
        <p:spPr>
          <a:xfrm>
            <a:off x="548640" y="1920240"/>
            <a:ext cx="246888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06060"/>
              </a:buClr>
              <a:buSzPts val="1300"/>
              <a:buFont typeface="Georgia"/>
              <a:buNone/>
            </a:pPr>
            <a:r>
              <a:rPr b="0" i="1" lang="en-US" sz="1300" u="none" cap="none" strike="noStrike">
                <a:solidFill>
                  <a:srgbClr val="606060"/>
                </a:solidFill>
                <a:latin typeface="Georgia"/>
                <a:ea typeface="Georgia"/>
                <a:cs typeface="Georgia"/>
                <a:sym typeface="Georgia"/>
              </a:rPr>
              <a:t>r-band magnitude</a:t>
            </a:r>
            <a:endParaRPr b="0" i="0" sz="1300" u="none" cap="none" strike="noStrike">
              <a:solidFill>
                <a:schemeClr val="dk1"/>
              </a:solidFill>
              <a:latin typeface="Calibri"/>
              <a:ea typeface="Calibri"/>
              <a:cs typeface="Calibri"/>
              <a:sym typeface="Calibri"/>
            </a:endParaRPr>
          </a:p>
        </p:txBody>
      </p:sp>
      <p:sp>
        <p:nvSpPr>
          <p:cNvPr id="293" name="Google Shape;293;p15"/>
          <p:cNvSpPr/>
          <p:nvPr/>
        </p:nvSpPr>
        <p:spPr>
          <a:xfrm>
            <a:off x="594360" y="2286000"/>
            <a:ext cx="2377440" cy="14173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0" i="0" lang="en-US" sz="1200" u="none" cap="none" strike="noStrike">
                <a:solidFill>
                  <a:srgbClr val="2B2B2B"/>
                </a:solidFill>
                <a:latin typeface="Georgia"/>
                <a:ea typeface="Georgia"/>
                <a:cs typeface="Georgia"/>
                <a:sym typeface="Georgia"/>
              </a:rPr>
              <a:t>A line of galaxies on one axis. Easy to plot, easy to learn — but very little information.</a:t>
            </a:r>
            <a:endParaRPr b="0" i="0" sz="1200" u="none" cap="none" strike="noStrike">
              <a:solidFill>
                <a:schemeClr val="dk1"/>
              </a:solidFill>
              <a:latin typeface="Calibri"/>
              <a:ea typeface="Calibri"/>
              <a:cs typeface="Calibri"/>
              <a:sym typeface="Calibri"/>
            </a:endParaRPr>
          </a:p>
        </p:txBody>
      </p:sp>
      <p:sp>
        <p:nvSpPr>
          <p:cNvPr id="294" name="Google Shape;294;p15"/>
          <p:cNvSpPr/>
          <p:nvPr/>
        </p:nvSpPr>
        <p:spPr>
          <a:xfrm>
            <a:off x="3246120" y="1417320"/>
            <a:ext cx="2651760" cy="2377440"/>
          </a:xfrm>
          <a:prstGeom prst="rect">
            <a:avLst/>
          </a:prstGeom>
          <a:solidFill>
            <a:srgbClr val="F4ECE9"/>
          </a:solidFill>
          <a:ln cap="flat" cmpd="sng" w="9525">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5"/>
          <p:cNvSpPr/>
          <p:nvPr/>
        </p:nvSpPr>
        <p:spPr>
          <a:xfrm>
            <a:off x="3337560" y="1463040"/>
            <a:ext cx="246888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2400"/>
              <a:buFont typeface="Georgia"/>
              <a:buNone/>
            </a:pPr>
            <a:r>
              <a:rPr b="1" i="0" lang="en-US" sz="2400" u="none" cap="none" strike="noStrike">
                <a:solidFill>
                  <a:srgbClr val="7B2D26"/>
                </a:solidFill>
                <a:latin typeface="Georgia"/>
                <a:ea typeface="Georgia"/>
                <a:cs typeface="Georgia"/>
                <a:sym typeface="Georgia"/>
              </a:rPr>
              <a:t>d = 5</a:t>
            </a:r>
            <a:endParaRPr b="0" i="0" sz="2400" u="none" cap="none" strike="noStrike">
              <a:solidFill>
                <a:schemeClr val="dk1"/>
              </a:solidFill>
              <a:latin typeface="Calibri"/>
              <a:ea typeface="Calibri"/>
              <a:cs typeface="Calibri"/>
              <a:sym typeface="Calibri"/>
            </a:endParaRPr>
          </a:p>
        </p:txBody>
      </p:sp>
      <p:sp>
        <p:nvSpPr>
          <p:cNvPr id="296" name="Google Shape;296;p15"/>
          <p:cNvSpPr/>
          <p:nvPr/>
        </p:nvSpPr>
        <p:spPr>
          <a:xfrm>
            <a:off x="3337560" y="1920240"/>
            <a:ext cx="246888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06060"/>
              </a:buClr>
              <a:buSzPts val="1300"/>
              <a:buFont typeface="Georgia"/>
              <a:buNone/>
            </a:pPr>
            <a:r>
              <a:rPr b="0" i="1" lang="en-US" sz="1300" u="none" cap="none" strike="noStrike">
                <a:solidFill>
                  <a:srgbClr val="606060"/>
                </a:solidFill>
                <a:latin typeface="Georgia"/>
                <a:ea typeface="Georgia"/>
                <a:cs typeface="Georgia"/>
                <a:sym typeface="Georgia"/>
              </a:rPr>
              <a:t>ugriz magnitudes</a:t>
            </a:r>
            <a:endParaRPr b="0" i="0" sz="1300" u="none" cap="none" strike="noStrike">
              <a:solidFill>
                <a:schemeClr val="dk1"/>
              </a:solidFill>
              <a:latin typeface="Calibri"/>
              <a:ea typeface="Calibri"/>
              <a:cs typeface="Calibri"/>
              <a:sym typeface="Calibri"/>
            </a:endParaRPr>
          </a:p>
        </p:txBody>
      </p:sp>
      <p:sp>
        <p:nvSpPr>
          <p:cNvPr id="297" name="Google Shape;297;p15"/>
          <p:cNvSpPr/>
          <p:nvPr/>
        </p:nvSpPr>
        <p:spPr>
          <a:xfrm>
            <a:off x="3383280" y="2286000"/>
            <a:ext cx="2377440" cy="14173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0" i="0" lang="en-US" sz="1200" u="none" cap="none" strike="noStrike">
                <a:solidFill>
                  <a:srgbClr val="2B2B2B"/>
                </a:solidFill>
                <a:latin typeface="Georgia"/>
                <a:ea typeface="Georgia"/>
                <a:cs typeface="Georgia"/>
                <a:sym typeface="Georgia"/>
              </a:rPr>
              <a:t>A point in a 5-D color/brightness space. This is the regime of classic photometric redshift.</a:t>
            </a:r>
            <a:endParaRPr b="0" i="0" sz="1200" u="none" cap="none" strike="noStrike">
              <a:solidFill>
                <a:schemeClr val="dk1"/>
              </a:solidFill>
              <a:latin typeface="Calibri"/>
              <a:ea typeface="Calibri"/>
              <a:cs typeface="Calibri"/>
              <a:sym typeface="Calibri"/>
            </a:endParaRPr>
          </a:p>
        </p:txBody>
      </p:sp>
      <p:sp>
        <p:nvSpPr>
          <p:cNvPr id="298" name="Google Shape;298;p15"/>
          <p:cNvSpPr/>
          <p:nvPr/>
        </p:nvSpPr>
        <p:spPr>
          <a:xfrm>
            <a:off x="6035040" y="1417320"/>
            <a:ext cx="2651760" cy="2377440"/>
          </a:xfrm>
          <a:prstGeom prst="rect">
            <a:avLst/>
          </a:prstGeom>
          <a:solidFill>
            <a:srgbClr val="F9F4F1"/>
          </a:solidFill>
          <a:ln cap="flat" cmpd="sng" w="9525">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5"/>
          <p:cNvSpPr/>
          <p:nvPr/>
        </p:nvSpPr>
        <p:spPr>
          <a:xfrm>
            <a:off x="6126480" y="1463040"/>
            <a:ext cx="246888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2400"/>
              <a:buFont typeface="Georgia"/>
              <a:buNone/>
            </a:pPr>
            <a:r>
              <a:rPr b="1" i="0" lang="en-US" sz="2400" u="none" cap="none" strike="noStrike">
                <a:solidFill>
                  <a:srgbClr val="7B2D26"/>
                </a:solidFill>
                <a:latin typeface="Georgia"/>
                <a:ea typeface="Georgia"/>
                <a:cs typeface="Georgia"/>
                <a:sym typeface="Georgia"/>
              </a:rPr>
              <a:t>d = 10⁴+</a:t>
            </a:r>
            <a:endParaRPr b="0" i="0" sz="2400" u="none" cap="none" strike="noStrike">
              <a:solidFill>
                <a:schemeClr val="dk1"/>
              </a:solidFill>
              <a:latin typeface="Calibri"/>
              <a:ea typeface="Calibri"/>
              <a:cs typeface="Calibri"/>
              <a:sym typeface="Calibri"/>
            </a:endParaRPr>
          </a:p>
        </p:txBody>
      </p:sp>
      <p:sp>
        <p:nvSpPr>
          <p:cNvPr id="300" name="Google Shape;300;p15"/>
          <p:cNvSpPr/>
          <p:nvPr/>
        </p:nvSpPr>
        <p:spPr>
          <a:xfrm>
            <a:off x="6126480" y="1920240"/>
            <a:ext cx="246888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06060"/>
              </a:buClr>
              <a:buSzPts val="1300"/>
              <a:buFont typeface="Georgia"/>
              <a:buNone/>
            </a:pPr>
            <a:r>
              <a:rPr b="0" i="1" lang="en-US" sz="1300" u="none" cap="none" strike="noStrike">
                <a:solidFill>
                  <a:srgbClr val="606060"/>
                </a:solidFill>
                <a:latin typeface="Georgia"/>
                <a:ea typeface="Georgia"/>
                <a:cs typeface="Georgia"/>
                <a:sym typeface="Georgia"/>
              </a:rPr>
              <a:t>raw galaxy image</a:t>
            </a:r>
            <a:endParaRPr b="0" i="0" sz="1300" u="none" cap="none" strike="noStrike">
              <a:solidFill>
                <a:schemeClr val="dk1"/>
              </a:solidFill>
              <a:latin typeface="Calibri"/>
              <a:ea typeface="Calibri"/>
              <a:cs typeface="Calibri"/>
              <a:sym typeface="Calibri"/>
            </a:endParaRPr>
          </a:p>
        </p:txBody>
      </p:sp>
      <p:sp>
        <p:nvSpPr>
          <p:cNvPr id="301" name="Google Shape;301;p15"/>
          <p:cNvSpPr/>
          <p:nvPr/>
        </p:nvSpPr>
        <p:spPr>
          <a:xfrm>
            <a:off x="6172200" y="2286000"/>
            <a:ext cx="2377440" cy="14173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0" i="0" lang="en-US" sz="1200" u="none" cap="none" strike="noStrike">
                <a:solidFill>
                  <a:srgbClr val="2B2B2B"/>
                </a:solidFill>
                <a:latin typeface="Georgia"/>
                <a:ea typeface="Georgia"/>
                <a:cs typeface="Georgia"/>
                <a:sym typeface="Georgia"/>
              </a:rPr>
              <a:t>A 64×64 cutout is 4 096 features. Now you need CNNs, lots of data, and clever architectures.</a:t>
            </a:r>
            <a:endParaRPr b="0" i="0" sz="1200" u="none" cap="none" strike="noStrike">
              <a:solidFill>
                <a:schemeClr val="dk1"/>
              </a:solidFill>
              <a:latin typeface="Calibri"/>
              <a:ea typeface="Calibri"/>
              <a:cs typeface="Calibri"/>
              <a:sym typeface="Calibri"/>
            </a:endParaRPr>
          </a:p>
        </p:txBody>
      </p:sp>
      <p:sp>
        <p:nvSpPr>
          <p:cNvPr id="302" name="Google Shape;302;p15"/>
          <p:cNvSpPr/>
          <p:nvPr/>
        </p:nvSpPr>
        <p:spPr>
          <a:xfrm>
            <a:off x="457200" y="3931920"/>
            <a:ext cx="84124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1350"/>
              <a:buFont typeface="Georgia"/>
              <a:buNone/>
            </a:pPr>
            <a:r>
              <a:rPr b="1" i="0" lang="en-US" sz="1350" u="none" cap="none" strike="noStrike">
                <a:solidFill>
                  <a:srgbClr val="7B2D26"/>
                </a:solidFill>
                <a:latin typeface="Georgia"/>
                <a:ea typeface="Georgia"/>
                <a:cs typeface="Georgia"/>
                <a:sym typeface="Georgia"/>
              </a:rPr>
              <a:t>Intuition:  </a:t>
            </a:r>
            <a:r>
              <a:rPr b="0" i="0" lang="en-US" sz="1350" u="none" cap="none" strike="noStrike">
                <a:solidFill>
                  <a:srgbClr val="2B2B2B"/>
                </a:solidFill>
                <a:latin typeface="Georgia"/>
                <a:ea typeface="Georgia"/>
                <a:cs typeface="Georgia"/>
                <a:sym typeface="Georgia"/>
              </a:rPr>
              <a:t>more features can help (more information per example) — </a:t>
            </a:r>
            <a:r>
              <a:rPr b="1" i="0" lang="en-US" sz="1350" u="none" cap="none" strike="noStrike">
                <a:solidFill>
                  <a:srgbClr val="2B2B2B"/>
                </a:solidFill>
                <a:latin typeface="Georgia"/>
                <a:ea typeface="Georgia"/>
                <a:cs typeface="Georgia"/>
                <a:sym typeface="Georgia"/>
              </a:rPr>
              <a:t>but only if your dataset is big enough to support them.</a:t>
            </a:r>
            <a:endParaRPr b="0" i="0" sz="1350" u="none" cap="none" strike="noStrike">
              <a:solidFill>
                <a:schemeClr val="dk1"/>
              </a:solidFill>
              <a:latin typeface="Calibri"/>
              <a:ea typeface="Calibri"/>
              <a:cs typeface="Calibri"/>
              <a:sym typeface="Calibri"/>
            </a:endParaRPr>
          </a:p>
        </p:txBody>
      </p:sp>
      <p:pic>
        <p:nvPicPr>
          <p:cNvPr descr="/sessions/sleepy-friendly-euler/mnt/outputs/logos/cosmicai_logo.png" id="303" name="Google Shape;303;p15"/>
          <p:cNvPicPr preferRelativeResize="0"/>
          <p:nvPr/>
        </p:nvPicPr>
        <p:blipFill rotWithShape="1">
          <a:blip r:embed="rId3">
            <a:alphaModFix/>
          </a:blip>
          <a:srcRect b="0" l="0" r="0" t="0"/>
          <a:stretch/>
        </p:blipFill>
        <p:spPr>
          <a:xfrm>
            <a:off x="228600" y="4526280"/>
            <a:ext cx="1463040" cy="502920"/>
          </a:xfrm>
          <a:prstGeom prst="rect">
            <a:avLst/>
          </a:prstGeom>
          <a:noFill/>
          <a:ln>
            <a:noFill/>
          </a:ln>
        </p:spPr>
      </p:pic>
      <p:sp>
        <p:nvSpPr>
          <p:cNvPr id="304" name="Google Shape;304;p15"/>
          <p:cNvSpPr/>
          <p:nvPr/>
        </p:nvSpPr>
        <p:spPr>
          <a:xfrm>
            <a:off x="2743200" y="4663440"/>
            <a:ext cx="36576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1" i="0" lang="en-US" sz="1200" u="none" cap="none" strike="noStrike">
                <a:solidFill>
                  <a:srgbClr val="2B2B2B"/>
                </a:solidFill>
                <a:latin typeface="Georgia"/>
                <a:ea typeface="Georgia"/>
                <a:cs typeface="Georgia"/>
                <a:sym typeface="Georgia"/>
              </a:rPr>
              <a:t>CosmicAI Summer School</a:t>
            </a:r>
            <a:endParaRPr b="0" i="0" sz="1200" u="none" cap="none" strike="noStrike">
              <a:solidFill>
                <a:schemeClr val="dk1"/>
              </a:solidFill>
              <a:latin typeface="Calibri"/>
              <a:ea typeface="Calibri"/>
              <a:cs typeface="Calibri"/>
              <a:sym typeface="Calibri"/>
            </a:endParaRPr>
          </a:p>
        </p:txBody>
      </p:sp>
      <p:sp>
        <p:nvSpPr>
          <p:cNvPr id="305" name="Google Shape;305;p15"/>
          <p:cNvSpPr/>
          <p:nvPr/>
        </p:nvSpPr>
        <p:spPr>
          <a:xfrm>
            <a:off x="8275320" y="4754880"/>
            <a:ext cx="6858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06060"/>
              </a:buClr>
              <a:buSzPts val="1200"/>
              <a:buFont typeface="Georgia"/>
              <a:buNone/>
            </a:pPr>
            <a:r>
              <a:rPr b="0" i="0" lang="en-US" sz="1200" u="none" cap="none" strike="noStrike">
                <a:solidFill>
                  <a:srgbClr val="606060"/>
                </a:solidFill>
                <a:latin typeface="Georgia"/>
                <a:ea typeface="Georgia"/>
                <a:cs typeface="Georgia"/>
                <a:sym typeface="Georgia"/>
              </a:rPr>
              <a:t>15</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0" name="Shape 310"/>
        <p:cNvGrpSpPr/>
        <p:nvPr/>
      </p:nvGrpSpPr>
      <p:grpSpPr>
        <a:xfrm>
          <a:off x="0" y="0"/>
          <a:ext cx="0" cy="0"/>
          <a:chOff x="0" y="0"/>
          <a:chExt cx="0" cy="0"/>
        </a:xfrm>
      </p:grpSpPr>
      <p:sp>
        <p:nvSpPr>
          <p:cNvPr id="311" name="Google Shape;311;p16"/>
          <p:cNvSpPr/>
          <p:nvPr/>
        </p:nvSpPr>
        <p:spPr>
          <a:xfrm>
            <a:off x="274320" y="137160"/>
            <a:ext cx="859536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3000"/>
              <a:buFont typeface="Georgia"/>
              <a:buNone/>
            </a:pPr>
            <a:r>
              <a:rPr b="0" i="0" lang="en-US" sz="3000" u="none" cap="none" strike="noStrike">
                <a:solidFill>
                  <a:srgbClr val="7B2D26"/>
                </a:solidFill>
                <a:latin typeface="Georgia"/>
                <a:ea typeface="Georgia"/>
                <a:cs typeface="Georgia"/>
                <a:sym typeface="Georgia"/>
              </a:rPr>
              <a:t>The Curse of Dimensionality</a:t>
            </a:r>
            <a:endParaRPr b="0" i="0" sz="3000" u="none" cap="none" strike="noStrike">
              <a:solidFill>
                <a:schemeClr val="dk1"/>
              </a:solidFill>
              <a:latin typeface="Calibri"/>
              <a:ea typeface="Calibri"/>
              <a:cs typeface="Calibri"/>
              <a:sym typeface="Calibri"/>
            </a:endParaRPr>
          </a:p>
        </p:txBody>
      </p:sp>
      <p:cxnSp>
        <p:nvCxnSpPr>
          <p:cNvPr id="312" name="Google Shape;312;p16"/>
          <p:cNvCxnSpPr/>
          <p:nvPr/>
        </p:nvCxnSpPr>
        <p:spPr>
          <a:xfrm>
            <a:off x="365760" y="777240"/>
            <a:ext cx="8412480" cy="0"/>
          </a:xfrm>
          <a:prstGeom prst="straightConnector1">
            <a:avLst/>
          </a:prstGeom>
          <a:noFill/>
          <a:ln cap="flat" cmpd="sng" w="15875">
            <a:solidFill>
              <a:srgbClr val="B0B0B0"/>
            </a:solidFill>
            <a:prstDash val="solid"/>
            <a:round/>
            <a:headEnd len="sm" w="sm" type="none"/>
            <a:tailEnd len="sm" w="sm" type="none"/>
          </a:ln>
        </p:spPr>
      </p:cxnSp>
      <p:sp>
        <p:nvSpPr>
          <p:cNvPr id="313" name="Google Shape;313;p16"/>
          <p:cNvSpPr/>
          <p:nvPr/>
        </p:nvSpPr>
        <p:spPr>
          <a:xfrm>
            <a:off x="411480" y="914400"/>
            <a:ext cx="4206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B2B2B"/>
              </a:buClr>
              <a:buSzPts val="1350"/>
              <a:buFont typeface="Georgia"/>
              <a:buNone/>
            </a:pPr>
            <a:r>
              <a:rPr b="0" i="0" lang="en-US" sz="1350" u="none" cap="none" strike="noStrike">
                <a:solidFill>
                  <a:srgbClr val="2B2B2B"/>
                </a:solidFill>
                <a:latin typeface="Georgia"/>
                <a:ea typeface="Georgia"/>
                <a:cs typeface="Georgia"/>
                <a:sym typeface="Georgia"/>
              </a:rPr>
              <a:t>To capture a fraction  p  of points in a uniform d-dimensional unit cube, you need a sub-cube of edge length:</a:t>
            </a:r>
            <a:endParaRPr b="0" i="0" sz="1350" u="none" cap="none" strike="noStrike">
              <a:solidFill>
                <a:schemeClr val="dk1"/>
              </a:solidFill>
              <a:latin typeface="Calibri"/>
              <a:ea typeface="Calibri"/>
              <a:cs typeface="Calibri"/>
              <a:sym typeface="Calibri"/>
            </a:endParaRPr>
          </a:p>
        </p:txBody>
      </p:sp>
      <p:sp>
        <p:nvSpPr>
          <p:cNvPr id="314" name="Google Shape;314;p16"/>
          <p:cNvSpPr/>
          <p:nvPr/>
        </p:nvSpPr>
        <p:spPr>
          <a:xfrm>
            <a:off x="594360" y="1874520"/>
            <a:ext cx="3886200" cy="640080"/>
          </a:xfrm>
          <a:prstGeom prst="rect">
            <a:avLst/>
          </a:prstGeom>
          <a:solidFill>
            <a:srgbClr val="F4ECE9"/>
          </a:solidFill>
          <a:ln cap="flat" cmpd="sng" w="9525">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6"/>
          <p:cNvSpPr/>
          <p:nvPr/>
        </p:nvSpPr>
        <p:spPr>
          <a:xfrm>
            <a:off x="594360" y="1874520"/>
            <a:ext cx="388620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2200"/>
              <a:buFont typeface="Courier New"/>
              <a:buNone/>
            </a:pPr>
            <a:r>
              <a:rPr b="1" i="0" lang="en-US" sz="2200" u="none" cap="none" strike="noStrike">
                <a:solidFill>
                  <a:srgbClr val="7B2D26"/>
                </a:solidFill>
                <a:latin typeface="Courier New"/>
                <a:ea typeface="Courier New"/>
                <a:cs typeface="Courier New"/>
                <a:sym typeface="Courier New"/>
              </a:rPr>
              <a:t>ℓ(d)  =  p^(1/d)</a:t>
            </a:r>
            <a:endParaRPr b="0" i="0" sz="2200" u="none" cap="none" strike="noStrike">
              <a:solidFill>
                <a:schemeClr val="dk1"/>
              </a:solidFill>
              <a:latin typeface="Calibri"/>
              <a:ea typeface="Calibri"/>
              <a:cs typeface="Calibri"/>
              <a:sym typeface="Calibri"/>
            </a:endParaRPr>
          </a:p>
        </p:txBody>
      </p:sp>
      <p:sp>
        <p:nvSpPr>
          <p:cNvPr id="316" name="Google Shape;316;p16"/>
          <p:cNvSpPr/>
          <p:nvPr/>
        </p:nvSpPr>
        <p:spPr>
          <a:xfrm>
            <a:off x="457200" y="2651760"/>
            <a:ext cx="4160520" cy="18745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7B2D26"/>
              </a:buClr>
              <a:buSzPts val="1250"/>
              <a:buFont typeface="Georgia"/>
              <a:buNone/>
            </a:pPr>
            <a:r>
              <a:rPr b="1" i="0" lang="en-US" sz="1250" u="none" cap="none" strike="noStrike">
                <a:solidFill>
                  <a:srgbClr val="7B2D26"/>
                </a:solidFill>
                <a:latin typeface="Georgia"/>
                <a:ea typeface="Georgia"/>
                <a:cs typeface="Georgia"/>
                <a:sym typeface="Georgia"/>
              </a:rPr>
              <a:t>Worked example (p = 10%):</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B2B"/>
              </a:buClr>
              <a:buSzPts val="1200"/>
              <a:buFont typeface="Courier New"/>
              <a:buNone/>
            </a:pPr>
            <a:r>
              <a:rPr b="0" i="0" lang="en-US" sz="1200" u="none" cap="none" strike="noStrike">
                <a:solidFill>
                  <a:srgbClr val="2B2B2B"/>
                </a:solidFill>
                <a:latin typeface="Courier New"/>
                <a:ea typeface="Courier New"/>
                <a:cs typeface="Courier New"/>
                <a:sym typeface="Courier New"/>
              </a:rPr>
              <a:t> d = 1  →  ℓ = 0.10  (10% of axis)</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B2B"/>
              </a:buClr>
              <a:buSzPts val="1200"/>
              <a:buFont typeface="Courier New"/>
              <a:buNone/>
            </a:pPr>
            <a:r>
              <a:rPr b="0" i="0" lang="en-US" sz="1200" u="none" cap="none" strike="noStrike">
                <a:solidFill>
                  <a:srgbClr val="2B2B2B"/>
                </a:solidFill>
                <a:latin typeface="Courier New"/>
                <a:ea typeface="Courier New"/>
                <a:cs typeface="Courier New"/>
                <a:sym typeface="Courier New"/>
              </a:rPr>
              <a:t> d = 5  →  ℓ ≈ 0.63  (63% of each axis)</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7B2D26"/>
              </a:buClr>
              <a:buSzPts val="1200"/>
              <a:buFont typeface="Courier New"/>
              <a:buNone/>
            </a:pPr>
            <a:r>
              <a:rPr b="1" i="0" lang="en-US" sz="1200" u="none" cap="none" strike="noStrike">
                <a:solidFill>
                  <a:srgbClr val="7B2D26"/>
                </a:solidFill>
                <a:latin typeface="Courier New"/>
                <a:ea typeface="Courier New"/>
                <a:cs typeface="Courier New"/>
                <a:sym typeface="Courier New"/>
              </a:rPr>
              <a:t> d = 10 →  ℓ ≈ 0.79  (almost the whole cube!)</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600"/>
              <a:buFont typeface="Georgia"/>
              <a:buNone/>
            </a:pPr>
            <a:r>
              <a:rPr b="0" i="0" lang="en-US" sz="600" u="none" cap="none" strike="noStrike">
                <a:solidFill>
                  <a:srgbClr val="000000"/>
                </a:solidFill>
                <a:latin typeface="Georgia"/>
                <a:ea typeface="Georgia"/>
                <a:cs typeface="Georgia"/>
                <a:sym typeface="Georgia"/>
              </a:rPr>
              <a:t> </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B2B"/>
              </a:buClr>
              <a:buSzPts val="1250"/>
              <a:buFont typeface="Georgia"/>
              <a:buNone/>
            </a:pPr>
            <a:r>
              <a:rPr b="0" i="0" lang="en-US" sz="1250" u="none" cap="none" strike="noStrike">
                <a:solidFill>
                  <a:srgbClr val="2B2B2B"/>
                </a:solidFill>
                <a:latin typeface="Georgia"/>
                <a:ea typeface="Georgia"/>
                <a:cs typeface="Georgia"/>
                <a:sym typeface="Georgia"/>
              </a:rPr>
              <a:t>→ In high-D, </a:t>
            </a:r>
            <a:r>
              <a:rPr b="1" i="0" lang="en-US" sz="1250" u="none" cap="none" strike="noStrike">
                <a:solidFill>
                  <a:srgbClr val="2B2B2B"/>
                </a:solidFill>
                <a:latin typeface="Georgia"/>
                <a:ea typeface="Georgia"/>
                <a:cs typeface="Georgia"/>
                <a:sym typeface="Georgia"/>
              </a:rPr>
              <a:t>all points are far apart. </a:t>
            </a:r>
            <a:r>
              <a:rPr b="0" i="0" lang="en-US" sz="1250" u="none" cap="none" strike="noStrike">
                <a:solidFill>
                  <a:srgbClr val="2B2B2B"/>
                </a:solidFill>
                <a:latin typeface="Georgia"/>
                <a:ea typeface="Georgia"/>
                <a:cs typeface="Georgia"/>
                <a:sym typeface="Georgia"/>
              </a:rPr>
              <a:t>Nearest-neighbour intuitions stop working.</a:t>
            </a:r>
            <a:endParaRPr b="0" i="0" sz="1250" u="none" cap="none" strike="noStrike">
              <a:solidFill>
                <a:schemeClr val="dk1"/>
              </a:solidFill>
              <a:latin typeface="Calibri"/>
              <a:ea typeface="Calibri"/>
              <a:cs typeface="Calibri"/>
              <a:sym typeface="Calibri"/>
            </a:endParaRPr>
          </a:p>
        </p:txBody>
      </p:sp>
      <p:pic>
        <p:nvPicPr>
          <p:cNvPr descr="/sessions/sleepy-friendly-euler/mnt/outputs/figs/fig_curse.png" id="317" name="Google Shape;317;p16"/>
          <p:cNvPicPr preferRelativeResize="0"/>
          <p:nvPr/>
        </p:nvPicPr>
        <p:blipFill rotWithShape="1">
          <a:blip r:embed="rId3">
            <a:alphaModFix/>
          </a:blip>
          <a:srcRect b="0" l="0" r="0" t="0"/>
          <a:stretch/>
        </p:blipFill>
        <p:spPr>
          <a:xfrm>
            <a:off x="4617720" y="914400"/>
            <a:ext cx="4434840" cy="2651760"/>
          </a:xfrm>
          <a:prstGeom prst="rect">
            <a:avLst/>
          </a:prstGeom>
          <a:noFill/>
          <a:ln>
            <a:noFill/>
          </a:ln>
        </p:spPr>
      </p:pic>
      <p:sp>
        <p:nvSpPr>
          <p:cNvPr id="318" name="Google Shape;318;p16"/>
          <p:cNvSpPr/>
          <p:nvPr/>
        </p:nvSpPr>
        <p:spPr>
          <a:xfrm>
            <a:off x="4663440" y="3703320"/>
            <a:ext cx="4343400" cy="822960"/>
          </a:xfrm>
          <a:prstGeom prst="rect">
            <a:avLst/>
          </a:prstGeom>
          <a:solidFill>
            <a:srgbClr val="EAF1F4"/>
          </a:solidFill>
          <a:ln cap="flat" cmpd="sng" w="9525">
            <a:solidFill>
              <a:srgbClr val="2F5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6"/>
          <p:cNvSpPr/>
          <p:nvPr/>
        </p:nvSpPr>
        <p:spPr>
          <a:xfrm>
            <a:off x="4754880" y="3730752"/>
            <a:ext cx="416052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F5A7A"/>
              </a:buClr>
              <a:buSzPts val="1150"/>
              <a:buFont typeface="Georgia"/>
              <a:buNone/>
            </a:pPr>
            <a:r>
              <a:rPr b="1" i="0" lang="en-US" sz="1150" u="none" cap="none" strike="noStrike">
                <a:solidFill>
                  <a:srgbClr val="2F5A7A"/>
                </a:solidFill>
                <a:latin typeface="Georgia"/>
                <a:ea typeface="Georgia"/>
                <a:cs typeface="Georgia"/>
                <a:sym typeface="Georgia"/>
              </a:rPr>
              <a:t>Practical implication:  </a:t>
            </a:r>
            <a:r>
              <a:rPr b="0" i="0" lang="en-US" sz="1150" u="none" cap="none" strike="noStrike">
                <a:solidFill>
                  <a:srgbClr val="2B2B2B"/>
                </a:solidFill>
                <a:latin typeface="Georgia"/>
                <a:ea typeface="Georgia"/>
                <a:cs typeface="Georgia"/>
                <a:sym typeface="Georgia"/>
              </a:rPr>
              <a:t>the more features you add, the more data (and the more clever models) you need to fill that space. Otherwise you'll overfit.</a:t>
            </a:r>
            <a:endParaRPr b="0" i="0" sz="1150" u="none" cap="none" strike="noStrike">
              <a:solidFill>
                <a:schemeClr val="dk1"/>
              </a:solidFill>
              <a:latin typeface="Calibri"/>
              <a:ea typeface="Calibri"/>
              <a:cs typeface="Calibri"/>
              <a:sym typeface="Calibri"/>
            </a:endParaRPr>
          </a:p>
        </p:txBody>
      </p:sp>
      <p:pic>
        <p:nvPicPr>
          <p:cNvPr descr="/sessions/sleepy-friendly-euler/mnt/outputs/logos/cosmicai_logo.png" id="320" name="Google Shape;320;p16"/>
          <p:cNvPicPr preferRelativeResize="0"/>
          <p:nvPr/>
        </p:nvPicPr>
        <p:blipFill rotWithShape="1">
          <a:blip r:embed="rId4">
            <a:alphaModFix/>
          </a:blip>
          <a:srcRect b="0" l="0" r="0" t="0"/>
          <a:stretch/>
        </p:blipFill>
        <p:spPr>
          <a:xfrm>
            <a:off x="228600" y="4526280"/>
            <a:ext cx="1463040" cy="502920"/>
          </a:xfrm>
          <a:prstGeom prst="rect">
            <a:avLst/>
          </a:prstGeom>
          <a:noFill/>
          <a:ln>
            <a:noFill/>
          </a:ln>
        </p:spPr>
      </p:pic>
      <p:sp>
        <p:nvSpPr>
          <p:cNvPr id="321" name="Google Shape;321;p16"/>
          <p:cNvSpPr/>
          <p:nvPr/>
        </p:nvSpPr>
        <p:spPr>
          <a:xfrm>
            <a:off x="2743200" y="4663440"/>
            <a:ext cx="36576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1" i="0" lang="en-US" sz="1200" u="none" cap="none" strike="noStrike">
                <a:solidFill>
                  <a:srgbClr val="2B2B2B"/>
                </a:solidFill>
                <a:latin typeface="Georgia"/>
                <a:ea typeface="Georgia"/>
                <a:cs typeface="Georgia"/>
                <a:sym typeface="Georgia"/>
              </a:rPr>
              <a:t>CosmicAI Summer School</a:t>
            </a:r>
            <a:endParaRPr b="0" i="0" sz="1200" u="none" cap="none" strike="noStrike">
              <a:solidFill>
                <a:schemeClr val="dk1"/>
              </a:solidFill>
              <a:latin typeface="Calibri"/>
              <a:ea typeface="Calibri"/>
              <a:cs typeface="Calibri"/>
              <a:sym typeface="Calibri"/>
            </a:endParaRPr>
          </a:p>
        </p:txBody>
      </p:sp>
      <p:sp>
        <p:nvSpPr>
          <p:cNvPr id="322" name="Google Shape;322;p16"/>
          <p:cNvSpPr/>
          <p:nvPr/>
        </p:nvSpPr>
        <p:spPr>
          <a:xfrm>
            <a:off x="8275320" y="4754880"/>
            <a:ext cx="6858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06060"/>
              </a:buClr>
              <a:buSzPts val="1200"/>
              <a:buFont typeface="Georgia"/>
              <a:buNone/>
            </a:pPr>
            <a:r>
              <a:rPr b="0" i="0" lang="en-US" sz="1200" u="none" cap="none" strike="noStrike">
                <a:solidFill>
                  <a:srgbClr val="606060"/>
                </a:solidFill>
                <a:latin typeface="Georgia"/>
                <a:ea typeface="Georgia"/>
                <a:cs typeface="Georgia"/>
                <a:sym typeface="Georgia"/>
              </a:rPr>
              <a:t>16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327" name="Shape 327"/>
        <p:cNvGrpSpPr/>
        <p:nvPr/>
      </p:nvGrpSpPr>
      <p:grpSpPr>
        <a:xfrm>
          <a:off x="0" y="0"/>
          <a:ext cx="0" cy="0"/>
          <a:chOff x="0" y="0"/>
          <a:chExt cx="0" cy="0"/>
        </a:xfrm>
      </p:grpSpPr>
      <p:sp>
        <p:nvSpPr>
          <p:cNvPr id="328" name="Google Shape;328;p17"/>
          <p:cNvSpPr/>
          <p:nvPr/>
        </p:nvSpPr>
        <p:spPr>
          <a:xfrm>
            <a:off x="274320" y="137160"/>
            <a:ext cx="704088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2800"/>
              <a:buFont typeface="Georgia"/>
              <a:buNone/>
            </a:pPr>
            <a:r>
              <a:rPr b="0" i="0" lang="en-US" sz="2800" u="none" cap="none" strike="noStrike">
                <a:solidFill>
                  <a:srgbClr val="7B2D26"/>
                </a:solidFill>
                <a:latin typeface="Georgia"/>
                <a:ea typeface="Georgia"/>
                <a:cs typeface="Georgia"/>
                <a:sym typeface="Georgia"/>
              </a:rPr>
              <a:t>Quick Check  2</a:t>
            </a:r>
            <a:endParaRPr b="0" i="0" sz="2800" u="none" cap="none" strike="noStrike">
              <a:solidFill>
                <a:schemeClr val="dk1"/>
              </a:solidFill>
              <a:latin typeface="Calibri"/>
              <a:ea typeface="Calibri"/>
              <a:cs typeface="Calibri"/>
              <a:sym typeface="Calibri"/>
            </a:endParaRPr>
          </a:p>
        </p:txBody>
      </p:sp>
      <p:cxnSp>
        <p:nvCxnSpPr>
          <p:cNvPr id="329" name="Google Shape;329;p17"/>
          <p:cNvCxnSpPr/>
          <p:nvPr/>
        </p:nvCxnSpPr>
        <p:spPr>
          <a:xfrm>
            <a:off x="365760" y="685800"/>
            <a:ext cx="8412480" cy="0"/>
          </a:xfrm>
          <a:prstGeom prst="straightConnector1">
            <a:avLst/>
          </a:prstGeom>
          <a:noFill/>
          <a:ln cap="flat" cmpd="sng" w="15875">
            <a:solidFill>
              <a:srgbClr val="B0B0B0"/>
            </a:solidFill>
            <a:prstDash val="solid"/>
            <a:round/>
            <a:headEnd len="sm" w="sm" type="none"/>
            <a:tailEnd len="sm" w="sm" type="none"/>
          </a:ln>
        </p:spPr>
      </p:cxnSp>
      <p:sp>
        <p:nvSpPr>
          <p:cNvPr id="330" name="Google Shape;330;p17"/>
          <p:cNvSpPr/>
          <p:nvPr/>
        </p:nvSpPr>
        <p:spPr>
          <a:xfrm>
            <a:off x="7360920" y="182880"/>
            <a:ext cx="1600200" cy="292608"/>
          </a:xfrm>
          <a:prstGeom prst="rect">
            <a:avLst/>
          </a:prstGeom>
          <a:solidFill>
            <a:srgbClr val="2F5A7A"/>
          </a:solidFill>
          <a:ln cap="flat" cmpd="sng" w="12700">
            <a:solidFill>
              <a:srgbClr val="2F5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7"/>
          <p:cNvSpPr/>
          <p:nvPr/>
        </p:nvSpPr>
        <p:spPr>
          <a:xfrm>
            <a:off x="7360920" y="182880"/>
            <a:ext cx="1600200"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50"/>
              <a:buFont typeface="Georgia"/>
              <a:buNone/>
            </a:pPr>
            <a:r>
              <a:rPr b="1" i="0" lang="en-US" sz="1050" u="none" cap="none" strike="noStrike">
                <a:solidFill>
                  <a:srgbClr val="FFFFFF"/>
                </a:solidFill>
                <a:latin typeface="Georgia"/>
                <a:ea typeface="Georgia"/>
                <a:cs typeface="Georgia"/>
                <a:sym typeface="Georgia"/>
              </a:rPr>
              <a:t>QUIZ</a:t>
            </a:r>
            <a:endParaRPr b="0" i="0" sz="1050" u="none" cap="none" strike="noStrike">
              <a:solidFill>
                <a:schemeClr val="dk1"/>
              </a:solidFill>
              <a:latin typeface="Calibri"/>
              <a:ea typeface="Calibri"/>
              <a:cs typeface="Calibri"/>
              <a:sym typeface="Calibri"/>
            </a:endParaRPr>
          </a:p>
        </p:txBody>
      </p:sp>
      <p:sp>
        <p:nvSpPr>
          <p:cNvPr id="332" name="Google Shape;332;p17"/>
          <p:cNvSpPr/>
          <p:nvPr/>
        </p:nvSpPr>
        <p:spPr>
          <a:xfrm>
            <a:off x="457200" y="822960"/>
            <a:ext cx="841248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B2B2B"/>
              </a:buClr>
              <a:buSzPts val="1450"/>
              <a:buFont typeface="Georgia"/>
              <a:buNone/>
            </a:pPr>
            <a:r>
              <a:rPr b="0" i="1" lang="en-US" sz="1450" u="none" cap="none" strike="noStrike">
                <a:solidFill>
                  <a:srgbClr val="2B2B2B"/>
                </a:solidFill>
                <a:latin typeface="Georgia"/>
                <a:ea typeface="Georgia"/>
                <a:cs typeface="Georgia"/>
                <a:sym typeface="Georgia"/>
              </a:rPr>
              <a:t>You're predicting a value from  N = 1000  examples. As you add MORE features  (raise d),  what happens to your model's ability to learn?</a:t>
            </a:r>
            <a:endParaRPr b="0" i="0" sz="1450" u="none" cap="none" strike="noStrike">
              <a:solidFill>
                <a:schemeClr val="dk1"/>
              </a:solidFill>
              <a:latin typeface="Calibri"/>
              <a:ea typeface="Calibri"/>
              <a:cs typeface="Calibri"/>
              <a:sym typeface="Calibri"/>
            </a:endParaRPr>
          </a:p>
        </p:txBody>
      </p:sp>
      <p:sp>
        <p:nvSpPr>
          <p:cNvPr id="333" name="Google Shape;333;p17"/>
          <p:cNvSpPr/>
          <p:nvPr/>
        </p:nvSpPr>
        <p:spPr>
          <a:xfrm>
            <a:off x="457200" y="1691640"/>
            <a:ext cx="4023360" cy="1280160"/>
          </a:xfrm>
          <a:prstGeom prst="rect">
            <a:avLst/>
          </a:prstGeom>
          <a:solidFill>
            <a:srgbClr val="FFFFFF"/>
          </a:solidFill>
          <a:ln cap="flat" cmpd="sng" w="10150">
            <a:solidFill>
              <a:srgbClr val="2F5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7"/>
          <p:cNvSpPr/>
          <p:nvPr/>
        </p:nvSpPr>
        <p:spPr>
          <a:xfrm>
            <a:off x="594360" y="1874520"/>
            <a:ext cx="502920" cy="502920"/>
          </a:xfrm>
          <a:prstGeom prst="ellipse">
            <a:avLst/>
          </a:prstGeom>
          <a:solidFill>
            <a:srgbClr val="2F5A7A"/>
          </a:solidFill>
          <a:ln cap="flat" cmpd="sng" w="12700">
            <a:solidFill>
              <a:srgbClr val="2F5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7"/>
          <p:cNvSpPr/>
          <p:nvPr/>
        </p:nvSpPr>
        <p:spPr>
          <a:xfrm>
            <a:off x="594360" y="1874520"/>
            <a:ext cx="50292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A</a:t>
            </a:r>
            <a:endParaRPr b="0" i="0" sz="1800" u="none" cap="none" strike="noStrike">
              <a:solidFill>
                <a:schemeClr val="dk1"/>
              </a:solidFill>
              <a:latin typeface="Calibri"/>
              <a:ea typeface="Calibri"/>
              <a:cs typeface="Calibri"/>
              <a:sym typeface="Calibri"/>
            </a:endParaRPr>
          </a:p>
        </p:txBody>
      </p:sp>
      <p:sp>
        <p:nvSpPr>
          <p:cNvPr id="336" name="Google Shape;336;p17"/>
          <p:cNvSpPr/>
          <p:nvPr/>
        </p:nvSpPr>
        <p:spPr>
          <a:xfrm>
            <a:off x="1234440" y="1783080"/>
            <a:ext cx="3108960" cy="10972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B"/>
              </a:buClr>
              <a:buSzPts val="1250"/>
              <a:buFont typeface="Georgia"/>
              <a:buNone/>
            </a:pPr>
            <a:r>
              <a:rPr b="0" i="0" lang="en-US" sz="1250" u="none" cap="none" strike="noStrike">
                <a:solidFill>
                  <a:srgbClr val="2B2B2B"/>
                </a:solidFill>
                <a:latin typeface="Georgia"/>
                <a:ea typeface="Georgia"/>
                <a:cs typeface="Georgia"/>
                <a:sym typeface="Georgia"/>
              </a:rPr>
              <a:t>Improves linearly</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B2B"/>
              </a:buClr>
              <a:buSzPts val="1250"/>
              <a:buFont typeface="Georgia"/>
              <a:buNone/>
            </a:pPr>
            <a:r>
              <a:rPr b="0" i="0" lang="en-US" sz="1250" u="none" cap="none" strike="noStrike">
                <a:solidFill>
                  <a:srgbClr val="2B2B2B"/>
                </a:solidFill>
                <a:latin typeface="Georgia"/>
                <a:ea typeface="Georgia"/>
                <a:cs typeface="Georgia"/>
                <a:sym typeface="Georgia"/>
              </a:rPr>
              <a:t>— more info is always better</a:t>
            </a:r>
            <a:endParaRPr b="0" i="0" sz="1250" u="none" cap="none" strike="noStrike">
              <a:solidFill>
                <a:schemeClr val="dk1"/>
              </a:solidFill>
              <a:latin typeface="Calibri"/>
              <a:ea typeface="Calibri"/>
              <a:cs typeface="Calibri"/>
              <a:sym typeface="Calibri"/>
            </a:endParaRPr>
          </a:p>
        </p:txBody>
      </p:sp>
      <p:sp>
        <p:nvSpPr>
          <p:cNvPr id="337" name="Google Shape;337;p17"/>
          <p:cNvSpPr/>
          <p:nvPr/>
        </p:nvSpPr>
        <p:spPr>
          <a:xfrm>
            <a:off x="4663440" y="1691640"/>
            <a:ext cx="4023360" cy="1280160"/>
          </a:xfrm>
          <a:prstGeom prst="rect">
            <a:avLst/>
          </a:prstGeom>
          <a:solidFill>
            <a:srgbClr val="FFFFFF"/>
          </a:solidFill>
          <a:ln cap="flat" cmpd="sng" w="10150">
            <a:solidFill>
              <a:srgbClr val="2F5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7"/>
          <p:cNvSpPr/>
          <p:nvPr/>
        </p:nvSpPr>
        <p:spPr>
          <a:xfrm>
            <a:off x="4800600" y="1874520"/>
            <a:ext cx="502920" cy="502920"/>
          </a:xfrm>
          <a:prstGeom prst="ellipse">
            <a:avLst/>
          </a:prstGeom>
          <a:solidFill>
            <a:srgbClr val="2F5A7A"/>
          </a:solidFill>
          <a:ln cap="flat" cmpd="sng" w="12700">
            <a:solidFill>
              <a:srgbClr val="2F5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7"/>
          <p:cNvSpPr/>
          <p:nvPr/>
        </p:nvSpPr>
        <p:spPr>
          <a:xfrm>
            <a:off x="4800600" y="1874520"/>
            <a:ext cx="50292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B</a:t>
            </a:r>
            <a:endParaRPr b="0" i="0" sz="1800" u="none" cap="none" strike="noStrike">
              <a:solidFill>
                <a:schemeClr val="dk1"/>
              </a:solidFill>
              <a:latin typeface="Calibri"/>
              <a:ea typeface="Calibri"/>
              <a:cs typeface="Calibri"/>
              <a:sym typeface="Calibri"/>
            </a:endParaRPr>
          </a:p>
        </p:txBody>
      </p:sp>
      <p:sp>
        <p:nvSpPr>
          <p:cNvPr id="340" name="Google Shape;340;p17"/>
          <p:cNvSpPr/>
          <p:nvPr/>
        </p:nvSpPr>
        <p:spPr>
          <a:xfrm>
            <a:off x="5440680" y="1783080"/>
            <a:ext cx="3108960" cy="10972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B"/>
              </a:buClr>
              <a:buSzPts val="1250"/>
              <a:buFont typeface="Georgia"/>
              <a:buNone/>
            </a:pPr>
            <a:r>
              <a:rPr b="0" i="0" lang="en-US" sz="1250" u="none" cap="none" strike="noStrike">
                <a:solidFill>
                  <a:srgbClr val="2B2B2B"/>
                </a:solidFill>
                <a:latin typeface="Georgia"/>
                <a:ea typeface="Georgia"/>
                <a:cs typeface="Georgia"/>
                <a:sym typeface="Georgia"/>
              </a:rPr>
              <a:t>Stays the same</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B2B"/>
              </a:buClr>
              <a:buSzPts val="1250"/>
              <a:buFont typeface="Georgia"/>
              <a:buNone/>
            </a:pPr>
            <a:r>
              <a:rPr b="0" i="0" lang="en-US" sz="1250" u="none" cap="none" strike="noStrike">
                <a:solidFill>
                  <a:srgbClr val="2B2B2B"/>
                </a:solidFill>
                <a:latin typeface="Georgia"/>
                <a:ea typeface="Georgia"/>
                <a:cs typeface="Georgia"/>
                <a:sym typeface="Georgia"/>
              </a:rPr>
              <a:t>— modern algorithms handle any d</a:t>
            </a:r>
            <a:endParaRPr b="0" i="0" sz="1250" u="none" cap="none" strike="noStrike">
              <a:solidFill>
                <a:schemeClr val="dk1"/>
              </a:solidFill>
              <a:latin typeface="Calibri"/>
              <a:ea typeface="Calibri"/>
              <a:cs typeface="Calibri"/>
              <a:sym typeface="Calibri"/>
            </a:endParaRPr>
          </a:p>
        </p:txBody>
      </p:sp>
      <p:sp>
        <p:nvSpPr>
          <p:cNvPr id="341" name="Google Shape;341;p17"/>
          <p:cNvSpPr/>
          <p:nvPr/>
        </p:nvSpPr>
        <p:spPr>
          <a:xfrm>
            <a:off x="457200" y="3108960"/>
            <a:ext cx="4023360" cy="1280160"/>
          </a:xfrm>
          <a:prstGeom prst="rect">
            <a:avLst/>
          </a:prstGeom>
          <a:solidFill>
            <a:srgbClr val="FFFFFF"/>
          </a:solidFill>
          <a:ln cap="flat" cmpd="sng" w="10150">
            <a:solidFill>
              <a:srgbClr val="2F5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7"/>
          <p:cNvSpPr/>
          <p:nvPr/>
        </p:nvSpPr>
        <p:spPr>
          <a:xfrm>
            <a:off x="594360" y="3291840"/>
            <a:ext cx="502920" cy="502920"/>
          </a:xfrm>
          <a:prstGeom prst="ellipse">
            <a:avLst/>
          </a:prstGeom>
          <a:solidFill>
            <a:srgbClr val="2F5A7A"/>
          </a:solidFill>
          <a:ln cap="flat" cmpd="sng" w="12700">
            <a:solidFill>
              <a:srgbClr val="2F5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7"/>
          <p:cNvSpPr/>
          <p:nvPr/>
        </p:nvSpPr>
        <p:spPr>
          <a:xfrm>
            <a:off x="594360" y="3291840"/>
            <a:ext cx="50292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C</a:t>
            </a:r>
            <a:endParaRPr b="0" i="0" sz="1800" u="none" cap="none" strike="noStrike">
              <a:solidFill>
                <a:schemeClr val="dk1"/>
              </a:solidFill>
              <a:latin typeface="Calibri"/>
              <a:ea typeface="Calibri"/>
              <a:cs typeface="Calibri"/>
              <a:sym typeface="Calibri"/>
            </a:endParaRPr>
          </a:p>
        </p:txBody>
      </p:sp>
      <p:sp>
        <p:nvSpPr>
          <p:cNvPr id="344" name="Google Shape;344;p17"/>
          <p:cNvSpPr/>
          <p:nvPr/>
        </p:nvSpPr>
        <p:spPr>
          <a:xfrm>
            <a:off x="1234440" y="3200400"/>
            <a:ext cx="3108960" cy="10972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B"/>
              </a:buClr>
              <a:buSzPts val="1250"/>
              <a:buFont typeface="Georgia"/>
              <a:buNone/>
            </a:pPr>
            <a:r>
              <a:rPr b="0" i="0" lang="en-US" sz="1250" u="none" cap="none" strike="noStrike">
                <a:solidFill>
                  <a:srgbClr val="2B2B2B"/>
                </a:solidFill>
                <a:latin typeface="Georgia"/>
                <a:ea typeface="Georgia"/>
                <a:cs typeface="Georgia"/>
                <a:sym typeface="Georgia"/>
              </a:rPr>
              <a:t>Degrades roughly exponentially</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B2B"/>
              </a:buClr>
              <a:buSzPts val="1250"/>
              <a:buFont typeface="Georgia"/>
              <a:buNone/>
            </a:pPr>
            <a:r>
              <a:rPr b="0" i="0" lang="en-US" sz="1250" u="none" cap="none" strike="noStrike">
                <a:solidFill>
                  <a:srgbClr val="2B2B2B"/>
                </a:solidFill>
                <a:latin typeface="Georgia"/>
                <a:ea typeface="Georgia"/>
                <a:cs typeface="Georgia"/>
                <a:sym typeface="Georgia"/>
              </a:rPr>
              <a:t>in d (curse of dimensionality)</a:t>
            </a:r>
            <a:endParaRPr b="0" i="0" sz="1250" u="none" cap="none" strike="noStrike">
              <a:solidFill>
                <a:schemeClr val="dk1"/>
              </a:solidFill>
              <a:latin typeface="Calibri"/>
              <a:ea typeface="Calibri"/>
              <a:cs typeface="Calibri"/>
              <a:sym typeface="Calibri"/>
            </a:endParaRPr>
          </a:p>
        </p:txBody>
      </p:sp>
      <p:sp>
        <p:nvSpPr>
          <p:cNvPr id="345" name="Google Shape;345;p17"/>
          <p:cNvSpPr/>
          <p:nvPr/>
        </p:nvSpPr>
        <p:spPr>
          <a:xfrm>
            <a:off x="4663440" y="3108960"/>
            <a:ext cx="4023360" cy="1280160"/>
          </a:xfrm>
          <a:prstGeom prst="rect">
            <a:avLst/>
          </a:prstGeom>
          <a:solidFill>
            <a:srgbClr val="FFFFFF"/>
          </a:solidFill>
          <a:ln cap="flat" cmpd="sng" w="10150">
            <a:solidFill>
              <a:srgbClr val="2F5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7"/>
          <p:cNvSpPr/>
          <p:nvPr/>
        </p:nvSpPr>
        <p:spPr>
          <a:xfrm>
            <a:off x="4800600" y="3291840"/>
            <a:ext cx="502920" cy="502920"/>
          </a:xfrm>
          <a:prstGeom prst="ellipse">
            <a:avLst/>
          </a:prstGeom>
          <a:solidFill>
            <a:srgbClr val="2F5A7A"/>
          </a:solidFill>
          <a:ln cap="flat" cmpd="sng" w="12700">
            <a:solidFill>
              <a:srgbClr val="2F5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7"/>
          <p:cNvSpPr/>
          <p:nvPr/>
        </p:nvSpPr>
        <p:spPr>
          <a:xfrm>
            <a:off x="4800600" y="3291840"/>
            <a:ext cx="50292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D</a:t>
            </a:r>
            <a:endParaRPr b="0" i="0" sz="1800" u="none" cap="none" strike="noStrike">
              <a:solidFill>
                <a:schemeClr val="dk1"/>
              </a:solidFill>
              <a:latin typeface="Calibri"/>
              <a:ea typeface="Calibri"/>
              <a:cs typeface="Calibri"/>
              <a:sym typeface="Calibri"/>
            </a:endParaRPr>
          </a:p>
        </p:txBody>
      </p:sp>
      <p:sp>
        <p:nvSpPr>
          <p:cNvPr id="348" name="Google Shape;348;p17"/>
          <p:cNvSpPr/>
          <p:nvPr/>
        </p:nvSpPr>
        <p:spPr>
          <a:xfrm>
            <a:off x="5440680" y="3200400"/>
            <a:ext cx="3108960" cy="10972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B"/>
              </a:buClr>
              <a:buSzPts val="1250"/>
              <a:buFont typeface="Georgia"/>
              <a:buNone/>
            </a:pPr>
            <a:r>
              <a:rPr b="0" i="0" lang="en-US" sz="1250" u="none" cap="none" strike="noStrike">
                <a:solidFill>
                  <a:srgbClr val="2B2B2B"/>
                </a:solidFill>
                <a:latin typeface="Georgia"/>
                <a:ea typeface="Georgia"/>
                <a:cs typeface="Georgia"/>
                <a:sym typeface="Georgia"/>
              </a:rPr>
              <a:t>Only matters if features are</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B2B"/>
              </a:buClr>
              <a:buSzPts val="1250"/>
              <a:buFont typeface="Georgia"/>
              <a:buNone/>
            </a:pPr>
            <a:r>
              <a:rPr b="0" i="0" lang="en-US" sz="1250" u="none" cap="none" strike="noStrike">
                <a:solidFill>
                  <a:srgbClr val="2B2B2B"/>
                </a:solidFill>
                <a:latin typeface="Georgia"/>
                <a:ea typeface="Georgia"/>
                <a:cs typeface="Georgia"/>
                <a:sym typeface="Georgia"/>
              </a:rPr>
              <a:t>improperly scaled</a:t>
            </a:r>
            <a:endParaRPr b="0" i="0" sz="1250" u="none" cap="none" strike="noStrike">
              <a:solidFill>
                <a:schemeClr val="dk1"/>
              </a:solidFill>
              <a:latin typeface="Calibri"/>
              <a:ea typeface="Calibri"/>
              <a:cs typeface="Calibri"/>
              <a:sym typeface="Calibri"/>
            </a:endParaRPr>
          </a:p>
        </p:txBody>
      </p:sp>
      <p:sp>
        <p:nvSpPr>
          <p:cNvPr id="349" name="Google Shape;349;p17"/>
          <p:cNvSpPr/>
          <p:nvPr/>
        </p:nvSpPr>
        <p:spPr>
          <a:xfrm>
            <a:off x="457200" y="4343400"/>
            <a:ext cx="841248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06060"/>
              </a:buClr>
              <a:buSzPts val="1200"/>
              <a:buFont typeface="Georgia"/>
              <a:buNone/>
            </a:pPr>
            <a:r>
              <a:rPr b="0" i="1" lang="en-US" sz="1200" u="none" cap="none" strike="noStrike">
                <a:solidFill>
                  <a:srgbClr val="606060"/>
                </a:solidFill>
                <a:latin typeface="Georgia"/>
                <a:ea typeface="Georgia"/>
                <a:cs typeface="Georgia"/>
                <a:sym typeface="Georgia"/>
              </a:rPr>
              <a:t>Pick  A,  B,  C,  or  D  —  then advance.</a:t>
            </a:r>
            <a:endParaRPr b="0" i="0" sz="1200" u="none" cap="none" strike="noStrike">
              <a:solidFill>
                <a:schemeClr val="dk1"/>
              </a:solidFill>
              <a:latin typeface="Calibri"/>
              <a:ea typeface="Calibri"/>
              <a:cs typeface="Calibri"/>
              <a:sym typeface="Calibri"/>
            </a:endParaRPr>
          </a:p>
        </p:txBody>
      </p:sp>
      <p:pic>
        <p:nvPicPr>
          <p:cNvPr descr="/sessions/sleepy-friendly-euler/mnt/outputs/logos/cosmicai_logo.png" id="350" name="Google Shape;350;p17"/>
          <p:cNvPicPr preferRelativeResize="0"/>
          <p:nvPr/>
        </p:nvPicPr>
        <p:blipFill rotWithShape="1">
          <a:blip r:embed="rId3">
            <a:alphaModFix/>
          </a:blip>
          <a:srcRect b="0" l="0" r="0" t="0"/>
          <a:stretch/>
        </p:blipFill>
        <p:spPr>
          <a:xfrm>
            <a:off x="228600" y="4526280"/>
            <a:ext cx="1463040" cy="502920"/>
          </a:xfrm>
          <a:prstGeom prst="rect">
            <a:avLst/>
          </a:prstGeom>
          <a:noFill/>
          <a:ln>
            <a:noFill/>
          </a:ln>
        </p:spPr>
      </p:pic>
      <p:sp>
        <p:nvSpPr>
          <p:cNvPr id="351" name="Google Shape;351;p17"/>
          <p:cNvSpPr/>
          <p:nvPr/>
        </p:nvSpPr>
        <p:spPr>
          <a:xfrm>
            <a:off x="2743200" y="4663440"/>
            <a:ext cx="36576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1" i="0" lang="en-US" sz="1200" u="none" cap="none" strike="noStrike">
                <a:solidFill>
                  <a:srgbClr val="2B2B2B"/>
                </a:solidFill>
                <a:latin typeface="Georgia"/>
                <a:ea typeface="Georgia"/>
                <a:cs typeface="Georgia"/>
                <a:sym typeface="Georgia"/>
              </a:rPr>
              <a:t>CosmicAI Summer School</a:t>
            </a:r>
            <a:endParaRPr b="0" i="0" sz="1200" u="none" cap="none" strike="noStrike">
              <a:solidFill>
                <a:schemeClr val="dk1"/>
              </a:solidFill>
              <a:latin typeface="Calibri"/>
              <a:ea typeface="Calibri"/>
              <a:cs typeface="Calibri"/>
              <a:sym typeface="Calibri"/>
            </a:endParaRPr>
          </a:p>
        </p:txBody>
      </p:sp>
      <p:sp>
        <p:nvSpPr>
          <p:cNvPr id="352" name="Google Shape;352;p17"/>
          <p:cNvSpPr/>
          <p:nvPr/>
        </p:nvSpPr>
        <p:spPr>
          <a:xfrm>
            <a:off x="8275320" y="4754880"/>
            <a:ext cx="6858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06060"/>
              </a:buClr>
              <a:buSzPts val="1200"/>
              <a:buFont typeface="Georgia"/>
              <a:buNone/>
            </a:pPr>
            <a:r>
              <a:rPr b="0" i="0" lang="en-US" sz="1200" u="none" cap="none" strike="noStrike">
                <a:solidFill>
                  <a:srgbClr val="606060"/>
                </a:solidFill>
                <a:latin typeface="Georgia"/>
                <a:ea typeface="Georgia"/>
                <a:cs typeface="Georgia"/>
                <a:sym typeface="Georgia"/>
              </a:rPr>
              <a:t>17</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357" name="Shape 357"/>
        <p:cNvGrpSpPr/>
        <p:nvPr/>
      </p:nvGrpSpPr>
      <p:grpSpPr>
        <a:xfrm>
          <a:off x="0" y="0"/>
          <a:ext cx="0" cy="0"/>
          <a:chOff x="0" y="0"/>
          <a:chExt cx="0" cy="0"/>
        </a:xfrm>
      </p:grpSpPr>
      <p:sp>
        <p:nvSpPr>
          <p:cNvPr id="358" name="Google Shape;358;p18"/>
          <p:cNvSpPr/>
          <p:nvPr/>
        </p:nvSpPr>
        <p:spPr>
          <a:xfrm>
            <a:off x="274320" y="137160"/>
            <a:ext cx="704088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2800"/>
              <a:buFont typeface="Georgia"/>
              <a:buNone/>
            </a:pPr>
            <a:r>
              <a:rPr b="0" i="0" lang="en-US" sz="2800" u="none" cap="none" strike="noStrike">
                <a:solidFill>
                  <a:srgbClr val="7B2D26"/>
                </a:solidFill>
                <a:latin typeface="Georgia"/>
                <a:ea typeface="Georgia"/>
                <a:cs typeface="Georgia"/>
                <a:sym typeface="Georgia"/>
              </a:rPr>
              <a:t>Quick Check  2  —  Answer</a:t>
            </a:r>
            <a:endParaRPr b="0" i="0" sz="2800" u="none" cap="none" strike="noStrike">
              <a:solidFill>
                <a:schemeClr val="dk1"/>
              </a:solidFill>
              <a:latin typeface="Calibri"/>
              <a:ea typeface="Calibri"/>
              <a:cs typeface="Calibri"/>
              <a:sym typeface="Calibri"/>
            </a:endParaRPr>
          </a:p>
        </p:txBody>
      </p:sp>
      <p:cxnSp>
        <p:nvCxnSpPr>
          <p:cNvPr id="359" name="Google Shape;359;p18"/>
          <p:cNvCxnSpPr/>
          <p:nvPr/>
        </p:nvCxnSpPr>
        <p:spPr>
          <a:xfrm>
            <a:off x="365760" y="685800"/>
            <a:ext cx="8412480" cy="0"/>
          </a:xfrm>
          <a:prstGeom prst="straightConnector1">
            <a:avLst/>
          </a:prstGeom>
          <a:noFill/>
          <a:ln cap="flat" cmpd="sng" w="15875">
            <a:solidFill>
              <a:srgbClr val="B0B0B0"/>
            </a:solidFill>
            <a:prstDash val="solid"/>
            <a:round/>
            <a:headEnd len="sm" w="sm" type="none"/>
            <a:tailEnd len="sm" w="sm" type="none"/>
          </a:ln>
        </p:spPr>
      </p:cxnSp>
      <p:sp>
        <p:nvSpPr>
          <p:cNvPr id="360" name="Google Shape;360;p18"/>
          <p:cNvSpPr/>
          <p:nvPr/>
        </p:nvSpPr>
        <p:spPr>
          <a:xfrm>
            <a:off x="7360920" y="182880"/>
            <a:ext cx="1600200" cy="292608"/>
          </a:xfrm>
          <a:prstGeom prst="rect">
            <a:avLst/>
          </a:prstGeom>
          <a:solidFill>
            <a:srgbClr val="3A5A3B"/>
          </a:solidFill>
          <a:ln cap="flat" cmpd="sng" w="12700">
            <a:solidFill>
              <a:srgbClr val="3A5A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8"/>
          <p:cNvSpPr/>
          <p:nvPr/>
        </p:nvSpPr>
        <p:spPr>
          <a:xfrm>
            <a:off x="7360920" y="182880"/>
            <a:ext cx="1600200"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50"/>
              <a:buFont typeface="Georgia"/>
              <a:buNone/>
            </a:pPr>
            <a:r>
              <a:rPr b="1" i="0" lang="en-US" sz="1050" u="none" cap="none" strike="noStrike">
                <a:solidFill>
                  <a:srgbClr val="FFFFFF"/>
                </a:solidFill>
                <a:latin typeface="Georgia"/>
                <a:ea typeface="Georgia"/>
                <a:cs typeface="Georgia"/>
                <a:sym typeface="Georgia"/>
              </a:rPr>
              <a:t>ANSWER</a:t>
            </a:r>
            <a:endParaRPr b="0" i="0" sz="1050" u="none" cap="none" strike="noStrike">
              <a:solidFill>
                <a:schemeClr val="dk1"/>
              </a:solidFill>
              <a:latin typeface="Calibri"/>
              <a:ea typeface="Calibri"/>
              <a:cs typeface="Calibri"/>
              <a:sym typeface="Calibri"/>
            </a:endParaRPr>
          </a:p>
        </p:txBody>
      </p:sp>
      <p:sp>
        <p:nvSpPr>
          <p:cNvPr id="362" name="Google Shape;362;p18"/>
          <p:cNvSpPr/>
          <p:nvPr/>
        </p:nvSpPr>
        <p:spPr>
          <a:xfrm>
            <a:off x="457200" y="914400"/>
            <a:ext cx="4023360" cy="1280160"/>
          </a:xfrm>
          <a:prstGeom prst="rect">
            <a:avLst/>
          </a:prstGeom>
          <a:solidFill>
            <a:srgbClr val="FFFFFF"/>
          </a:solidFill>
          <a:ln cap="flat" cmpd="sng" w="9525">
            <a:solidFill>
              <a:srgbClr val="B0B0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8"/>
          <p:cNvSpPr/>
          <p:nvPr/>
        </p:nvSpPr>
        <p:spPr>
          <a:xfrm>
            <a:off x="594360" y="1078992"/>
            <a:ext cx="502920" cy="502920"/>
          </a:xfrm>
          <a:prstGeom prst="ellipse">
            <a:avLst/>
          </a:prstGeom>
          <a:solidFill>
            <a:srgbClr val="2F5A7A"/>
          </a:solidFill>
          <a:ln cap="flat" cmpd="sng" w="12700">
            <a:solidFill>
              <a:srgbClr val="2F5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8"/>
          <p:cNvSpPr/>
          <p:nvPr/>
        </p:nvSpPr>
        <p:spPr>
          <a:xfrm>
            <a:off x="594360" y="1078992"/>
            <a:ext cx="50292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A</a:t>
            </a:r>
            <a:endParaRPr b="0" i="0" sz="1800" u="none" cap="none" strike="noStrike">
              <a:solidFill>
                <a:schemeClr val="dk1"/>
              </a:solidFill>
              <a:latin typeface="Calibri"/>
              <a:ea typeface="Calibri"/>
              <a:cs typeface="Calibri"/>
              <a:sym typeface="Calibri"/>
            </a:endParaRPr>
          </a:p>
        </p:txBody>
      </p:sp>
      <p:sp>
        <p:nvSpPr>
          <p:cNvPr id="365" name="Google Shape;365;p18"/>
          <p:cNvSpPr/>
          <p:nvPr/>
        </p:nvSpPr>
        <p:spPr>
          <a:xfrm>
            <a:off x="1234440" y="987552"/>
            <a:ext cx="31089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B"/>
              </a:buClr>
              <a:buSzPts val="1300"/>
              <a:buFont typeface="Georgia"/>
              <a:buNone/>
            </a:pPr>
            <a:r>
              <a:rPr b="0" i="0" lang="en-US" sz="1300" u="none" cap="none" strike="noStrike">
                <a:solidFill>
                  <a:srgbClr val="2B2B2B"/>
                </a:solidFill>
                <a:latin typeface="Georgia"/>
                <a:ea typeface="Georgia"/>
                <a:cs typeface="Georgia"/>
                <a:sym typeface="Georgia"/>
              </a:rPr>
              <a:t>Improves linearly</a:t>
            </a:r>
            <a:endParaRPr b="0" i="0" sz="1300" u="none" cap="none" strike="noStrike">
              <a:solidFill>
                <a:schemeClr val="dk1"/>
              </a:solidFill>
              <a:latin typeface="Calibri"/>
              <a:ea typeface="Calibri"/>
              <a:cs typeface="Calibri"/>
              <a:sym typeface="Calibri"/>
            </a:endParaRPr>
          </a:p>
        </p:txBody>
      </p:sp>
      <p:sp>
        <p:nvSpPr>
          <p:cNvPr id="366" name="Google Shape;366;p18"/>
          <p:cNvSpPr/>
          <p:nvPr/>
        </p:nvSpPr>
        <p:spPr>
          <a:xfrm>
            <a:off x="1234440" y="1417320"/>
            <a:ext cx="3108960" cy="7315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06060"/>
              </a:buClr>
              <a:buSzPts val="1100"/>
              <a:buFont typeface="Georgia"/>
              <a:buNone/>
            </a:pPr>
            <a:r>
              <a:rPr b="0" i="1" lang="en-US" sz="1100" u="none" cap="none" strike="noStrike">
                <a:solidFill>
                  <a:srgbClr val="606060"/>
                </a:solidFill>
                <a:latin typeface="Georgia"/>
                <a:ea typeface="Georgia"/>
                <a:cs typeface="Georgia"/>
                <a:sym typeface="Georgia"/>
              </a:rPr>
              <a:t>Counter-intuitive but false — for fixed N, more features ⇒ sparser space.</a:t>
            </a:r>
            <a:endParaRPr b="0" i="0" sz="1100" u="none" cap="none" strike="noStrike">
              <a:solidFill>
                <a:schemeClr val="dk1"/>
              </a:solidFill>
              <a:latin typeface="Calibri"/>
              <a:ea typeface="Calibri"/>
              <a:cs typeface="Calibri"/>
              <a:sym typeface="Calibri"/>
            </a:endParaRPr>
          </a:p>
        </p:txBody>
      </p:sp>
      <p:sp>
        <p:nvSpPr>
          <p:cNvPr id="367" name="Google Shape;367;p18"/>
          <p:cNvSpPr/>
          <p:nvPr/>
        </p:nvSpPr>
        <p:spPr>
          <a:xfrm>
            <a:off x="4663440" y="914400"/>
            <a:ext cx="4023360" cy="1280160"/>
          </a:xfrm>
          <a:prstGeom prst="rect">
            <a:avLst/>
          </a:prstGeom>
          <a:solidFill>
            <a:srgbClr val="FFFFFF"/>
          </a:solidFill>
          <a:ln cap="flat" cmpd="sng" w="9525">
            <a:solidFill>
              <a:srgbClr val="B0B0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8"/>
          <p:cNvSpPr/>
          <p:nvPr/>
        </p:nvSpPr>
        <p:spPr>
          <a:xfrm>
            <a:off x="4800600" y="1078992"/>
            <a:ext cx="502920" cy="502920"/>
          </a:xfrm>
          <a:prstGeom prst="ellipse">
            <a:avLst/>
          </a:prstGeom>
          <a:solidFill>
            <a:srgbClr val="2F5A7A"/>
          </a:solidFill>
          <a:ln cap="flat" cmpd="sng" w="12700">
            <a:solidFill>
              <a:srgbClr val="2F5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8"/>
          <p:cNvSpPr/>
          <p:nvPr/>
        </p:nvSpPr>
        <p:spPr>
          <a:xfrm>
            <a:off x="4800600" y="1078992"/>
            <a:ext cx="50292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B</a:t>
            </a:r>
            <a:endParaRPr b="0" i="0" sz="1800" u="none" cap="none" strike="noStrike">
              <a:solidFill>
                <a:schemeClr val="dk1"/>
              </a:solidFill>
              <a:latin typeface="Calibri"/>
              <a:ea typeface="Calibri"/>
              <a:cs typeface="Calibri"/>
              <a:sym typeface="Calibri"/>
            </a:endParaRPr>
          </a:p>
        </p:txBody>
      </p:sp>
      <p:sp>
        <p:nvSpPr>
          <p:cNvPr id="370" name="Google Shape;370;p18"/>
          <p:cNvSpPr/>
          <p:nvPr/>
        </p:nvSpPr>
        <p:spPr>
          <a:xfrm>
            <a:off x="5440680" y="987552"/>
            <a:ext cx="31089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B"/>
              </a:buClr>
              <a:buSzPts val="1300"/>
              <a:buFont typeface="Georgia"/>
              <a:buNone/>
            </a:pPr>
            <a:r>
              <a:rPr b="0" i="0" lang="en-US" sz="1300" u="none" cap="none" strike="noStrike">
                <a:solidFill>
                  <a:srgbClr val="2B2B2B"/>
                </a:solidFill>
                <a:latin typeface="Georgia"/>
                <a:ea typeface="Georgia"/>
                <a:cs typeface="Georgia"/>
                <a:sym typeface="Georgia"/>
              </a:rPr>
              <a:t>Stays the same</a:t>
            </a:r>
            <a:endParaRPr b="0" i="0" sz="1300" u="none" cap="none" strike="noStrike">
              <a:solidFill>
                <a:schemeClr val="dk1"/>
              </a:solidFill>
              <a:latin typeface="Calibri"/>
              <a:ea typeface="Calibri"/>
              <a:cs typeface="Calibri"/>
              <a:sym typeface="Calibri"/>
            </a:endParaRPr>
          </a:p>
        </p:txBody>
      </p:sp>
      <p:sp>
        <p:nvSpPr>
          <p:cNvPr id="371" name="Google Shape;371;p18"/>
          <p:cNvSpPr/>
          <p:nvPr/>
        </p:nvSpPr>
        <p:spPr>
          <a:xfrm>
            <a:off x="5440680" y="1417320"/>
            <a:ext cx="3108960" cy="7315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06060"/>
              </a:buClr>
              <a:buSzPts val="1100"/>
              <a:buFont typeface="Georgia"/>
              <a:buNone/>
            </a:pPr>
            <a:r>
              <a:rPr b="0" i="1" lang="en-US" sz="1100" u="none" cap="none" strike="noStrike">
                <a:solidFill>
                  <a:srgbClr val="606060"/>
                </a:solidFill>
                <a:latin typeface="Georgia"/>
                <a:ea typeface="Georgia"/>
                <a:cs typeface="Georgia"/>
                <a:sym typeface="Georgia"/>
              </a:rPr>
              <a:t>Even modern models benefit from feature pruning / engineering.</a:t>
            </a:r>
            <a:endParaRPr b="0" i="0" sz="1100" u="none" cap="none" strike="noStrike">
              <a:solidFill>
                <a:schemeClr val="dk1"/>
              </a:solidFill>
              <a:latin typeface="Calibri"/>
              <a:ea typeface="Calibri"/>
              <a:cs typeface="Calibri"/>
              <a:sym typeface="Calibri"/>
            </a:endParaRPr>
          </a:p>
        </p:txBody>
      </p:sp>
      <p:sp>
        <p:nvSpPr>
          <p:cNvPr id="372" name="Google Shape;372;p18"/>
          <p:cNvSpPr/>
          <p:nvPr/>
        </p:nvSpPr>
        <p:spPr>
          <a:xfrm>
            <a:off x="457200" y="2423160"/>
            <a:ext cx="4023360" cy="1280160"/>
          </a:xfrm>
          <a:prstGeom prst="rect">
            <a:avLst/>
          </a:prstGeom>
          <a:solidFill>
            <a:srgbClr val="F4ECE9"/>
          </a:solidFill>
          <a:ln cap="flat" cmpd="sng" w="25400">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8"/>
          <p:cNvSpPr/>
          <p:nvPr/>
        </p:nvSpPr>
        <p:spPr>
          <a:xfrm>
            <a:off x="594360" y="2587752"/>
            <a:ext cx="502920" cy="502920"/>
          </a:xfrm>
          <a:prstGeom prst="ellipse">
            <a:avLst/>
          </a:prstGeom>
          <a:solidFill>
            <a:srgbClr val="7B2D26"/>
          </a:solidFill>
          <a:ln cap="flat" cmpd="sng" w="12700">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8"/>
          <p:cNvSpPr/>
          <p:nvPr/>
        </p:nvSpPr>
        <p:spPr>
          <a:xfrm>
            <a:off x="594360" y="2587752"/>
            <a:ext cx="50292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C</a:t>
            </a:r>
            <a:endParaRPr b="0" i="0" sz="1800" u="none" cap="none" strike="noStrike">
              <a:solidFill>
                <a:schemeClr val="dk1"/>
              </a:solidFill>
              <a:latin typeface="Calibri"/>
              <a:ea typeface="Calibri"/>
              <a:cs typeface="Calibri"/>
              <a:sym typeface="Calibri"/>
            </a:endParaRPr>
          </a:p>
        </p:txBody>
      </p:sp>
      <p:sp>
        <p:nvSpPr>
          <p:cNvPr id="375" name="Google Shape;375;p18"/>
          <p:cNvSpPr/>
          <p:nvPr/>
        </p:nvSpPr>
        <p:spPr>
          <a:xfrm>
            <a:off x="1234440" y="2496312"/>
            <a:ext cx="31089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1300"/>
              <a:buFont typeface="Georgia"/>
              <a:buNone/>
            </a:pPr>
            <a:r>
              <a:rPr b="1" i="0" lang="en-US" sz="1300" u="none" cap="none" strike="noStrike">
                <a:solidFill>
                  <a:srgbClr val="7B2D26"/>
                </a:solidFill>
                <a:latin typeface="Georgia"/>
                <a:ea typeface="Georgia"/>
                <a:cs typeface="Georgia"/>
                <a:sym typeface="Georgia"/>
              </a:rPr>
              <a:t>Degrades exponentially in d</a:t>
            </a:r>
            <a:endParaRPr b="0" i="0" sz="1300" u="none" cap="none" strike="noStrike">
              <a:solidFill>
                <a:schemeClr val="dk1"/>
              </a:solidFill>
              <a:latin typeface="Calibri"/>
              <a:ea typeface="Calibri"/>
              <a:cs typeface="Calibri"/>
              <a:sym typeface="Calibri"/>
            </a:endParaRPr>
          </a:p>
        </p:txBody>
      </p:sp>
      <p:sp>
        <p:nvSpPr>
          <p:cNvPr id="376" name="Google Shape;376;p18"/>
          <p:cNvSpPr/>
          <p:nvPr/>
        </p:nvSpPr>
        <p:spPr>
          <a:xfrm>
            <a:off x="1234440" y="2926080"/>
            <a:ext cx="3108960" cy="7315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06060"/>
              </a:buClr>
              <a:buSzPts val="1100"/>
              <a:buFont typeface="Georgia"/>
              <a:buNone/>
            </a:pPr>
            <a:r>
              <a:rPr b="0" i="1" lang="en-US" sz="1100" u="none" cap="none" strike="noStrike">
                <a:solidFill>
                  <a:srgbClr val="606060"/>
                </a:solidFill>
                <a:latin typeface="Georgia"/>
                <a:ea typeface="Georgia"/>
                <a:cs typeface="Georgia"/>
                <a:sym typeface="Georgia"/>
              </a:rPr>
              <a:t>Curse of dimensionality — see ℓ = p^(1/d).</a:t>
            </a:r>
            <a:endParaRPr b="0" i="0" sz="1100" u="none" cap="none" strike="noStrike">
              <a:solidFill>
                <a:schemeClr val="dk1"/>
              </a:solidFill>
              <a:latin typeface="Calibri"/>
              <a:ea typeface="Calibri"/>
              <a:cs typeface="Calibri"/>
              <a:sym typeface="Calibri"/>
            </a:endParaRPr>
          </a:p>
        </p:txBody>
      </p:sp>
      <p:sp>
        <p:nvSpPr>
          <p:cNvPr id="377" name="Google Shape;377;p18"/>
          <p:cNvSpPr/>
          <p:nvPr/>
        </p:nvSpPr>
        <p:spPr>
          <a:xfrm>
            <a:off x="4069080" y="2496312"/>
            <a:ext cx="365760" cy="36576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7B2D26"/>
              </a:buClr>
              <a:buSzPts val="2200"/>
              <a:buFont typeface="Georgia"/>
              <a:buNone/>
            </a:pPr>
            <a:r>
              <a:rPr b="1" i="0" lang="en-US" sz="2200" u="none" cap="none" strike="noStrike">
                <a:solidFill>
                  <a:srgbClr val="7B2D26"/>
                </a:solidFill>
                <a:latin typeface="Georgia"/>
                <a:ea typeface="Georgia"/>
                <a:cs typeface="Georgia"/>
                <a:sym typeface="Georgia"/>
              </a:rPr>
              <a:t>✓</a:t>
            </a:r>
            <a:endParaRPr b="0" i="0" sz="2200" u="none" cap="none" strike="noStrike">
              <a:solidFill>
                <a:schemeClr val="dk1"/>
              </a:solidFill>
              <a:latin typeface="Calibri"/>
              <a:ea typeface="Calibri"/>
              <a:cs typeface="Calibri"/>
              <a:sym typeface="Calibri"/>
            </a:endParaRPr>
          </a:p>
        </p:txBody>
      </p:sp>
      <p:sp>
        <p:nvSpPr>
          <p:cNvPr id="378" name="Google Shape;378;p18"/>
          <p:cNvSpPr/>
          <p:nvPr/>
        </p:nvSpPr>
        <p:spPr>
          <a:xfrm>
            <a:off x="4663440" y="2423160"/>
            <a:ext cx="4023360" cy="1280160"/>
          </a:xfrm>
          <a:prstGeom prst="rect">
            <a:avLst/>
          </a:prstGeom>
          <a:solidFill>
            <a:srgbClr val="FFFFFF"/>
          </a:solidFill>
          <a:ln cap="flat" cmpd="sng" w="9525">
            <a:solidFill>
              <a:srgbClr val="B0B0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8"/>
          <p:cNvSpPr/>
          <p:nvPr/>
        </p:nvSpPr>
        <p:spPr>
          <a:xfrm>
            <a:off x="4800600" y="2587752"/>
            <a:ext cx="502920" cy="502920"/>
          </a:xfrm>
          <a:prstGeom prst="ellipse">
            <a:avLst/>
          </a:prstGeom>
          <a:solidFill>
            <a:srgbClr val="2F5A7A"/>
          </a:solidFill>
          <a:ln cap="flat" cmpd="sng" w="12700">
            <a:solidFill>
              <a:srgbClr val="2F5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8"/>
          <p:cNvSpPr/>
          <p:nvPr/>
        </p:nvSpPr>
        <p:spPr>
          <a:xfrm>
            <a:off x="4800600" y="2587752"/>
            <a:ext cx="50292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D</a:t>
            </a:r>
            <a:endParaRPr b="0" i="0" sz="1800" u="none" cap="none" strike="noStrike">
              <a:solidFill>
                <a:schemeClr val="dk1"/>
              </a:solidFill>
              <a:latin typeface="Calibri"/>
              <a:ea typeface="Calibri"/>
              <a:cs typeface="Calibri"/>
              <a:sym typeface="Calibri"/>
            </a:endParaRPr>
          </a:p>
        </p:txBody>
      </p:sp>
      <p:sp>
        <p:nvSpPr>
          <p:cNvPr id="381" name="Google Shape;381;p18"/>
          <p:cNvSpPr/>
          <p:nvPr/>
        </p:nvSpPr>
        <p:spPr>
          <a:xfrm>
            <a:off x="5440680" y="2496312"/>
            <a:ext cx="31089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B"/>
              </a:buClr>
              <a:buSzPts val="1300"/>
              <a:buFont typeface="Georgia"/>
              <a:buNone/>
            </a:pPr>
            <a:r>
              <a:rPr b="0" i="0" lang="en-US" sz="1300" u="none" cap="none" strike="noStrike">
                <a:solidFill>
                  <a:srgbClr val="2B2B2B"/>
                </a:solidFill>
                <a:latin typeface="Georgia"/>
                <a:ea typeface="Georgia"/>
                <a:cs typeface="Georgia"/>
                <a:sym typeface="Georgia"/>
              </a:rPr>
              <a:t>Only matters if features unscaled</a:t>
            </a:r>
            <a:endParaRPr b="0" i="0" sz="1300" u="none" cap="none" strike="noStrike">
              <a:solidFill>
                <a:schemeClr val="dk1"/>
              </a:solidFill>
              <a:latin typeface="Calibri"/>
              <a:ea typeface="Calibri"/>
              <a:cs typeface="Calibri"/>
              <a:sym typeface="Calibri"/>
            </a:endParaRPr>
          </a:p>
        </p:txBody>
      </p:sp>
      <p:sp>
        <p:nvSpPr>
          <p:cNvPr id="382" name="Google Shape;382;p18"/>
          <p:cNvSpPr/>
          <p:nvPr/>
        </p:nvSpPr>
        <p:spPr>
          <a:xfrm>
            <a:off x="5440680" y="2926080"/>
            <a:ext cx="3108960" cy="7315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06060"/>
              </a:buClr>
              <a:buSzPts val="1100"/>
              <a:buFont typeface="Georgia"/>
              <a:buNone/>
            </a:pPr>
            <a:r>
              <a:rPr b="0" i="1" lang="en-US" sz="1100" u="none" cap="none" strike="noStrike">
                <a:solidFill>
                  <a:srgbClr val="606060"/>
                </a:solidFill>
                <a:latin typeface="Georgia"/>
                <a:ea typeface="Georgia"/>
                <a:cs typeface="Georgia"/>
                <a:sym typeface="Georgia"/>
              </a:rPr>
              <a:t>Scaling helps but doesn't fix the geometric curse.</a:t>
            </a:r>
            <a:endParaRPr b="0" i="0" sz="1100" u="none" cap="none" strike="noStrike">
              <a:solidFill>
                <a:schemeClr val="dk1"/>
              </a:solidFill>
              <a:latin typeface="Calibri"/>
              <a:ea typeface="Calibri"/>
              <a:cs typeface="Calibri"/>
              <a:sym typeface="Calibri"/>
            </a:endParaRPr>
          </a:p>
        </p:txBody>
      </p:sp>
      <p:sp>
        <p:nvSpPr>
          <p:cNvPr id="383" name="Google Shape;383;p18"/>
          <p:cNvSpPr/>
          <p:nvPr/>
        </p:nvSpPr>
        <p:spPr>
          <a:xfrm>
            <a:off x="365760" y="3840480"/>
            <a:ext cx="8412480" cy="731520"/>
          </a:xfrm>
          <a:prstGeom prst="rect">
            <a:avLst/>
          </a:prstGeom>
          <a:solidFill>
            <a:srgbClr val="F4ECE9"/>
          </a:solidFill>
          <a:ln cap="flat" cmpd="sng" w="9525">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8"/>
          <p:cNvSpPr/>
          <p:nvPr/>
        </p:nvSpPr>
        <p:spPr>
          <a:xfrm>
            <a:off x="502920" y="3886200"/>
            <a:ext cx="818388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1200"/>
              <a:buFont typeface="Georgia"/>
              <a:buNone/>
            </a:pPr>
            <a:r>
              <a:rPr b="1" i="0" lang="en-US" sz="1200" u="none" cap="none" strike="noStrike">
                <a:solidFill>
                  <a:srgbClr val="7B2D26"/>
                </a:solidFill>
                <a:latin typeface="Georgia"/>
                <a:ea typeface="Georgia"/>
                <a:cs typeface="Georgia"/>
                <a:sym typeface="Georgia"/>
              </a:rPr>
              <a:t>Why C:  </a:t>
            </a:r>
            <a:r>
              <a:rPr b="0" i="0" lang="en-US" sz="1200" u="none" cap="none" strike="noStrike">
                <a:solidFill>
                  <a:srgbClr val="2B2B2B"/>
                </a:solidFill>
                <a:latin typeface="Georgia"/>
                <a:ea typeface="Georgia"/>
                <a:cs typeface="Georgia"/>
                <a:sym typeface="Georgia"/>
              </a:rPr>
              <a:t>To cover a fraction p of the unit cube in d-D, the side length must be  </a:t>
            </a:r>
            <a:r>
              <a:rPr b="1" i="0" lang="en-US" sz="1200" u="none" cap="none" strike="noStrike">
                <a:solidFill>
                  <a:srgbClr val="7B2D26"/>
                </a:solidFill>
                <a:latin typeface="Courier New"/>
                <a:ea typeface="Courier New"/>
                <a:cs typeface="Courier New"/>
                <a:sym typeface="Courier New"/>
              </a:rPr>
              <a:t>ℓ = p^(1/d). </a:t>
            </a:r>
            <a:r>
              <a:rPr b="0" i="0" lang="en-US" sz="1200" u="none" cap="none" strike="noStrike">
                <a:solidFill>
                  <a:srgbClr val="2B2B2B"/>
                </a:solidFill>
                <a:latin typeface="Georgia"/>
                <a:ea typeface="Georgia"/>
                <a:cs typeface="Georgia"/>
                <a:sym typeface="Georgia"/>
              </a:rPr>
              <a:t>At  d = 10,  ℓ ≈ 0.79  just to capture 10%. With N fixed, more features → sparser space → poorer learning.</a:t>
            </a:r>
            <a:endParaRPr b="0" i="0" sz="1200" u="none" cap="none" strike="noStrike">
              <a:solidFill>
                <a:schemeClr val="dk1"/>
              </a:solidFill>
              <a:latin typeface="Calibri"/>
              <a:ea typeface="Calibri"/>
              <a:cs typeface="Calibri"/>
              <a:sym typeface="Calibri"/>
            </a:endParaRPr>
          </a:p>
        </p:txBody>
      </p:sp>
      <p:pic>
        <p:nvPicPr>
          <p:cNvPr descr="/sessions/sleepy-friendly-euler/mnt/outputs/logos/cosmicai_logo.png" id="385" name="Google Shape;385;p18"/>
          <p:cNvPicPr preferRelativeResize="0"/>
          <p:nvPr/>
        </p:nvPicPr>
        <p:blipFill rotWithShape="1">
          <a:blip r:embed="rId3">
            <a:alphaModFix/>
          </a:blip>
          <a:srcRect b="0" l="0" r="0" t="0"/>
          <a:stretch/>
        </p:blipFill>
        <p:spPr>
          <a:xfrm>
            <a:off x="228600" y="4526280"/>
            <a:ext cx="1463040" cy="502920"/>
          </a:xfrm>
          <a:prstGeom prst="rect">
            <a:avLst/>
          </a:prstGeom>
          <a:noFill/>
          <a:ln>
            <a:noFill/>
          </a:ln>
        </p:spPr>
      </p:pic>
      <p:sp>
        <p:nvSpPr>
          <p:cNvPr id="386" name="Google Shape;386;p18"/>
          <p:cNvSpPr/>
          <p:nvPr/>
        </p:nvSpPr>
        <p:spPr>
          <a:xfrm>
            <a:off x="2743200" y="4663440"/>
            <a:ext cx="36576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1" i="0" lang="en-US" sz="1200" u="none" cap="none" strike="noStrike">
                <a:solidFill>
                  <a:srgbClr val="2B2B2B"/>
                </a:solidFill>
                <a:latin typeface="Georgia"/>
                <a:ea typeface="Georgia"/>
                <a:cs typeface="Georgia"/>
                <a:sym typeface="Georgia"/>
              </a:rPr>
              <a:t>CosmicAI Summer School</a:t>
            </a:r>
            <a:endParaRPr b="0" i="0" sz="1200" u="none" cap="none" strike="noStrike">
              <a:solidFill>
                <a:schemeClr val="dk1"/>
              </a:solidFill>
              <a:latin typeface="Calibri"/>
              <a:ea typeface="Calibri"/>
              <a:cs typeface="Calibri"/>
              <a:sym typeface="Calibri"/>
            </a:endParaRPr>
          </a:p>
        </p:txBody>
      </p:sp>
      <p:sp>
        <p:nvSpPr>
          <p:cNvPr id="387" name="Google Shape;387;p18"/>
          <p:cNvSpPr/>
          <p:nvPr/>
        </p:nvSpPr>
        <p:spPr>
          <a:xfrm>
            <a:off x="8275320" y="4754880"/>
            <a:ext cx="6858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06060"/>
              </a:buClr>
              <a:buSzPts val="1200"/>
              <a:buFont typeface="Georgia"/>
              <a:buNone/>
            </a:pPr>
            <a:r>
              <a:rPr b="0" i="0" lang="en-US" sz="1200" u="none" cap="none" strike="noStrike">
                <a:solidFill>
                  <a:srgbClr val="606060"/>
                </a:solidFill>
                <a:latin typeface="Georgia"/>
                <a:ea typeface="Georgia"/>
                <a:cs typeface="Georgia"/>
                <a:sym typeface="Georgia"/>
              </a:rPr>
              <a:t>18</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2" name="Shape 392"/>
        <p:cNvGrpSpPr/>
        <p:nvPr/>
      </p:nvGrpSpPr>
      <p:grpSpPr>
        <a:xfrm>
          <a:off x="0" y="0"/>
          <a:ext cx="0" cy="0"/>
          <a:chOff x="0" y="0"/>
          <a:chExt cx="0" cy="0"/>
        </a:xfrm>
      </p:grpSpPr>
      <p:sp>
        <p:nvSpPr>
          <p:cNvPr id="393" name="Google Shape;393;p19"/>
          <p:cNvSpPr/>
          <p:nvPr/>
        </p:nvSpPr>
        <p:spPr>
          <a:xfrm>
            <a:off x="274320" y="137160"/>
            <a:ext cx="859536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3000"/>
              <a:buFont typeface="Georgia"/>
              <a:buNone/>
            </a:pPr>
            <a:r>
              <a:rPr b="0" i="0" lang="en-US" sz="3000" u="none" cap="none" strike="noStrike">
                <a:solidFill>
                  <a:srgbClr val="7B2D26"/>
                </a:solidFill>
                <a:latin typeface="Georgia"/>
                <a:ea typeface="Georgia"/>
                <a:cs typeface="Georgia"/>
                <a:sym typeface="Georgia"/>
              </a:rPr>
              <a:t>Code — First 5 Minutes With a Dataset</a:t>
            </a:r>
            <a:endParaRPr b="0" i="0" sz="3000" u="none" cap="none" strike="noStrike">
              <a:solidFill>
                <a:schemeClr val="dk1"/>
              </a:solidFill>
              <a:latin typeface="Calibri"/>
              <a:ea typeface="Calibri"/>
              <a:cs typeface="Calibri"/>
              <a:sym typeface="Calibri"/>
            </a:endParaRPr>
          </a:p>
        </p:txBody>
      </p:sp>
      <p:cxnSp>
        <p:nvCxnSpPr>
          <p:cNvPr id="394" name="Google Shape;394;p19"/>
          <p:cNvCxnSpPr/>
          <p:nvPr/>
        </p:nvCxnSpPr>
        <p:spPr>
          <a:xfrm>
            <a:off x="365760" y="777240"/>
            <a:ext cx="8412480" cy="0"/>
          </a:xfrm>
          <a:prstGeom prst="straightConnector1">
            <a:avLst/>
          </a:prstGeom>
          <a:noFill/>
          <a:ln cap="flat" cmpd="sng" w="15875">
            <a:solidFill>
              <a:srgbClr val="B0B0B0"/>
            </a:solidFill>
            <a:prstDash val="solid"/>
            <a:round/>
            <a:headEnd len="sm" w="sm" type="none"/>
            <a:tailEnd len="sm" w="sm" type="none"/>
          </a:ln>
        </p:spPr>
      </p:cxnSp>
      <p:sp>
        <p:nvSpPr>
          <p:cNvPr id="395" name="Google Shape;395;p19"/>
          <p:cNvSpPr/>
          <p:nvPr/>
        </p:nvSpPr>
        <p:spPr>
          <a:xfrm>
            <a:off x="457200" y="914400"/>
            <a:ext cx="84124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06060"/>
              </a:buClr>
              <a:buSzPts val="1350"/>
              <a:buFont typeface="Georgia"/>
              <a:buNone/>
            </a:pPr>
            <a:r>
              <a:rPr b="0" i="1" lang="en-US" sz="1350" u="none" cap="none" strike="noStrike">
                <a:solidFill>
                  <a:srgbClr val="606060"/>
                </a:solidFill>
                <a:latin typeface="Georgia"/>
                <a:ea typeface="Georgia"/>
                <a:cs typeface="Georgia"/>
                <a:sym typeface="Georgia"/>
              </a:rPr>
              <a:t>In any new project, run these commands before anything else.</a:t>
            </a:r>
            <a:endParaRPr b="0" i="0" sz="1350" u="none" cap="none" strike="noStrike">
              <a:solidFill>
                <a:schemeClr val="dk1"/>
              </a:solidFill>
              <a:latin typeface="Calibri"/>
              <a:ea typeface="Calibri"/>
              <a:cs typeface="Calibri"/>
              <a:sym typeface="Calibri"/>
            </a:endParaRPr>
          </a:p>
        </p:txBody>
      </p:sp>
      <p:sp>
        <p:nvSpPr>
          <p:cNvPr id="396" name="Google Shape;396;p19"/>
          <p:cNvSpPr/>
          <p:nvPr/>
        </p:nvSpPr>
        <p:spPr>
          <a:xfrm>
            <a:off x="365760" y="1371600"/>
            <a:ext cx="5760720" cy="3108960"/>
          </a:xfrm>
          <a:prstGeom prst="rect">
            <a:avLst/>
          </a:prstGeom>
          <a:solidFill>
            <a:srgbClr val="F6F2EF"/>
          </a:solidFill>
          <a:ln cap="flat" cmpd="sng" w="9525">
            <a:solidFill>
              <a:srgbClr val="B0B0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9"/>
          <p:cNvSpPr/>
          <p:nvPr/>
        </p:nvSpPr>
        <p:spPr>
          <a:xfrm>
            <a:off x="548640" y="1463040"/>
            <a:ext cx="5486400" cy="2971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7B2D26"/>
              </a:buClr>
              <a:buSzPts val="1250"/>
              <a:buFont typeface="Courier New"/>
              <a:buNone/>
            </a:pPr>
            <a:r>
              <a:rPr b="1" i="0" lang="en-US" sz="1250" u="none" cap="none" strike="noStrike">
                <a:solidFill>
                  <a:srgbClr val="7B2D26"/>
                </a:solidFill>
                <a:latin typeface="Courier New"/>
                <a:ea typeface="Courier New"/>
                <a:cs typeface="Courier New"/>
                <a:sym typeface="Courier New"/>
              </a:rPr>
              <a:t>import </a:t>
            </a:r>
            <a:r>
              <a:rPr b="0" i="0" lang="en-US" sz="1250" u="none" cap="none" strike="noStrike">
                <a:solidFill>
                  <a:srgbClr val="2B2B2B"/>
                </a:solidFill>
                <a:latin typeface="Courier New"/>
                <a:ea typeface="Courier New"/>
                <a:cs typeface="Courier New"/>
                <a:sym typeface="Courier New"/>
              </a:rPr>
              <a:t>pandas </a:t>
            </a:r>
            <a:r>
              <a:rPr b="1" i="0" lang="en-US" sz="1250" u="none" cap="none" strike="noStrike">
                <a:solidFill>
                  <a:srgbClr val="7B2D26"/>
                </a:solidFill>
                <a:latin typeface="Courier New"/>
                <a:ea typeface="Courier New"/>
                <a:cs typeface="Courier New"/>
                <a:sym typeface="Courier New"/>
              </a:rPr>
              <a:t>as </a:t>
            </a:r>
            <a:r>
              <a:rPr b="0" i="0" lang="en-US" sz="1250" u="none" cap="none" strike="noStrike">
                <a:solidFill>
                  <a:srgbClr val="2B2B2B"/>
                </a:solidFill>
                <a:latin typeface="Courier New"/>
                <a:ea typeface="Courier New"/>
                <a:cs typeface="Courier New"/>
                <a:sym typeface="Courier New"/>
              </a:rPr>
              <a:t>pd</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7B2D26"/>
              </a:buClr>
              <a:buSzPts val="1250"/>
              <a:buFont typeface="Courier New"/>
              <a:buNone/>
            </a:pPr>
            <a:r>
              <a:rPr b="1" i="0" lang="en-US" sz="1250" u="none" cap="none" strike="noStrike">
                <a:solidFill>
                  <a:srgbClr val="7B2D26"/>
                </a:solidFill>
                <a:latin typeface="Courier New"/>
                <a:ea typeface="Courier New"/>
                <a:cs typeface="Courier New"/>
                <a:sym typeface="Courier New"/>
              </a:rPr>
              <a:t>from </a:t>
            </a:r>
            <a:r>
              <a:rPr b="0" i="0" lang="en-US" sz="1250" u="none" cap="none" strike="noStrike">
                <a:solidFill>
                  <a:srgbClr val="2B2B2B"/>
                </a:solidFill>
                <a:latin typeface="Courier New"/>
                <a:ea typeface="Courier New"/>
                <a:cs typeface="Courier New"/>
                <a:sym typeface="Courier New"/>
              </a:rPr>
              <a:t>sklearn.datasets </a:t>
            </a:r>
            <a:r>
              <a:rPr b="1" i="0" lang="en-US" sz="1250" u="none" cap="none" strike="noStrike">
                <a:solidFill>
                  <a:srgbClr val="7B2D26"/>
                </a:solidFill>
                <a:latin typeface="Courier New"/>
                <a:ea typeface="Courier New"/>
                <a:cs typeface="Courier New"/>
                <a:sym typeface="Courier New"/>
              </a:rPr>
              <a:t>import </a:t>
            </a:r>
            <a:r>
              <a:rPr b="0" i="0" lang="en-US" sz="1250" u="none" cap="none" strike="noStrike">
                <a:solidFill>
                  <a:srgbClr val="2B2B2B"/>
                </a:solidFill>
                <a:latin typeface="Courier New"/>
                <a:ea typeface="Courier New"/>
                <a:cs typeface="Courier New"/>
                <a:sym typeface="Courier New"/>
              </a:rPr>
              <a:t>fetch_openml</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B2B"/>
              </a:buClr>
              <a:buSzPts val="600"/>
              <a:buFont typeface="Courier New"/>
              <a:buNone/>
            </a:pPr>
            <a:r>
              <a:rPr b="0" i="0" lang="en-US" sz="600" u="none" cap="none" strike="noStrike">
                <a:solidFill>
                  <a:srgbClr val="2B2B2B"/>
                </a:solidFill>
                <a:latin typeface="Courier New"/>
                <a:ea typeface="Courier New"/>
                <a:cs typeface="Courier New"/>
                <a:sym typeface="Courier New"/>
              </a:rPr>
              <a:t> </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B2B"/>
              </a:buClr>
              <a:buSzPts val="1250"/>
              <a:buFont typeface="Courier New"/>
              <a:buNone/>
            </a:pPr>
            <a:r>
              <a:rPr b="0" i="0" lang="en-US" sz="1250" u="none" cap="none" strike="noStrike">
                <a:solidFill>
                  <a:srgbClr val="2B2B2B"/>
                </a:solidFill>
                <a:latin typeface="Courier New"/>
                <a:ea typeface="Courier New"/>
                <a:cs typeface="Courier New"/>
                <a:sym typeface="Courier New"/>
              </a:rPr>
              <a:t>df = pd.read_csv(</a:t>
            </a:r>
            <a:r>
              <a:rPr b="0" i="0" lang="en-US" sz="1250" u="none" cap="none" strike="noStrike">
                <a:solidFill>
                  <a:srgbClr val="2F5A7A"/>
                </a:solidFill>
                <a:latin typeface="Courier New"/>
                <a:ea typeface="Courier New"/>
                <a:cs typeface="Courier New"/>
                <a:sym typeface="Courier New"/>
              </a:rPr>
              <a:t>"sdss_photometry.csv"</a:t>
            </a:r>
            <a:r>
              <a:rPr b="0" i="0" lang="en-US" sz="1250" u="none" cap="none" strike="noStrike">
                <a:solidFill>
                  <a:srgbClr val="2B2B2B"/>
                </a:solidFill>
                <a:latin typeface="Courier New"/>
                <a:ea typeface="Courier New"/>
                <a:cs typeface="Courier New"/>
                <a:sym typeface="Courier New"/>
              </a:rPr>
              <a:t>)</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B2B"/>
              </a:buClr>
              <a:buSzPts val="1250"/>
              <a:buFont typeface="Courier New"/>
              <a:buNone/>
            </a:pPr>
            <a:r>
              <a:rPr b="0" i="0" lang="en-US" sz="1250" u="none" cap="none" strike="noStrike">
                <a:solidFill>
                  <a:srgbClr val="2B2B2B"/>
                </a:solidFill>
                <a:latin typeface="Courier New"/>
                <a:ea typeface="Courier New"/>
                <a:cs typeface="Courier New"/>
                <a:sym typeface="Courier New"/>
              </a:rPr>
              <a:t>df.shape         </a:t>
            </a:r>
            <a:r>
              <a:rPr b="0" i="1" lang="en-US" sz="1250" u="none" cap="none" strike="noStrike">
                <a:solidFill>
                  <a:srgbClr val="606060"/>
                </a:solidFill>
                <a:latin typeface="Courier New"/>
                <a:ea typeface="Courier New"/>
                <a:cs typeface="Courier New"/>
                <a:sym typeface="Courier New"/>
              </a:rPr>
              <a:t># (n_examples, n_features)</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B2B"/>
              </a:buClr>
              <a:buSzPts val="1250"/>
              <a:buFont typeface="Courier New"/>
              <a:buNone/>
            </a:pPr>
            <a:r>
              <a:rPr b="0" i="0" lang="en-US" sz="1250" u="none" cap="none" strike="noStrike">
                <a:solidFill>
                  <a:srgbClr val="2B2B2B"/>
                </a:solidFill>
                <a:latin typeface="Courier New"/>
                <a:ea typeface="Courier New"/>
                <a:cs typeface="Courier New"/>
                <a:sym typeface="Courier New"/>
              </a:rPr>
              <a:t>df.dtypes        </a:t>
            </a:r>
            <a:r>
              <a:rPr b="0" i="1" lang="en-US" sz="1250" u="none" cap="none" strike="noStrike">
                <a:solidFill>
                  <a:srgbClr val="606060"/>
                </a:solidFill>
                <a:latin typeface="Courier New"/>
                <a:ea typeface="Courier New"/>
                <a:cs typeface="Courier New"/>
                <a:sym typeface="Courier New"/>
              </a:rPr>
              <a:t># numeric vs string vs categorical</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B2B"/>
              </a:buClr>
              <a:buSzPts val="1250"/>
              <a:buFont typeface="Courier New"/>
              <a:buNone/>
            </a:pPr>
            <a:r>
              <a:rPr b="0" i="0" lang="en-US" sz="1250" u="none" cap="none" strike="noStrike">
                <a:solidFill>
                  <a:srgbClr val="2B2B2B"/>
                </a:solidFill>
                <a:latin typeface="Courier New"/>
                <a:ea typeface="Courier New"/>
                <a:cs typeface="Courier New"/>
                <a:sym typeface="Courier New"/>
              </a:rPr>
              <a:t>df.head()        </a:t>
            </a:r>
            <a:r>
              <a:rPr b="0" i="1" lang="en-US" sz="1250" u="none" cap="none" strike="noStrike">
                <a:solidFill>
                  <a:srgbClr val="606060"/>
                </a:solidFill>
                <a:latin typeface="Courier New"/>
                <a:ea typeface="Courier New"/>
                <a:cs typeface="Courier New"/>
                <a:sym typeface="Courier New"/>
              </a:rPr>
              <a:t># first 5 rows — sanity check</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B2B"/>
              </a:buClr>
              <a:buSzPts val="1250"/>
              <a:buFont typeface="Courier New"/>
              <a:buNone/>
            </a:pPr>
            <a:r>
              <a:rPr b="0" i="0" lang="en-US" sz="1250" u="none" cap="none" strike="noStrike">
                <a:solidFill>
                  <a:srgbClr val="2B2B2B"/>
                </a:solidFill>
                <a:latin typeface="Courier New"/>
                <a:ea typeface="Courier New"/>
                <a:cs typeface="Courier New"/>
                <a:sym typeface="Courier New"/>
              </a:rPr>
              <a:t>df.describe()    </a:t>
            </a:r>
            <a:r>
              <a:rPr b="0" i="1" lang="en-US" sz="1250" u="none" cap="none" strike="noStrike">
                <a:solidFill>
                  <a:srgbClr val="606060"/>
                </a:solidFill>
                <a:latin typeface="Courier New"/>
                <a:ea typeface="Courier New"/>
                <a:cs typeface="Courier New"/>
                <a:sym typeface="Courier New"/>
              </a:rPr>
              <a:t># count, mean, std, min, quartiles, max</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B2B"/>
              </a:buClr>
              <a:buSzPts val="1250"/>
              <a:buFont typeface="Courier New"/>
              <a:buNone/>
            </a:pPr>
            <a:r>
              <a:rPr b="0" i="0" lang="en-US" sz="1250" u="none" cap="none" strike="noStrike">
                <a:solidFill>
                  <a:srgbClr val="2B2B2B"/>
                </a:solidFill>
                <a:latin typeface="Courier New"/>
                <a:ea typeface="Courier New"/>
                <a:cs typeface="Courier New"/>
                <a:sym typeface="Courier New"/>
              </a:rPr>
              <a:t>df.isna().sum()  </a:t>
            </a:r>
            <a:r>
              <a:rPr b="0" i="1" lang="en-US" sz="1250" u="none" cap="none" strike="noStrike">
                <a:solidFill>
                  <a:srgbClr val="606060"/>
                </a:solidFill>
                <a:latin typeface="Courier New"/>
                <a:ea typeface="Courier New"/>
                <a:cs typeface="Courier New"/>
                <a:sym typeface="Courier New"/>
              </a:rPr>
              <a:t># missing values per column</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B2B"/>
              </a:buClr>
              <a:buSzPts val="600"/>
              <a:buFont typeface="Courier New"/>
              <a:buNone/>
            </a:pPr>
            <a:r>
              <a:rPr b="0" i="0" lang="en-US" sz="600" u="none" cap="none" strike="noStrike">
                <a:solidFill>
                  <a:srgbClr val="2B2B2B"/>
                </a:solidFill>
                <a:latin typeface="Courier New"/>
                <a:ea typeface="Courier New"/>
                <a:cs typeface="Courier New"/>
                <a:sym typeface="Courier New"/>
              </a:rPr>
              <a:t> </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B2B"/>
              </a:buClr>
              <a:buSzPts val="1250"/>
              <a:buFont typeface="Courier New"/>
              <a:buNone/>
            </a:pPr>
            <a:r>
              <a:rPr b="0" i="0" lang="en-US" sz="1250" u="none" cap="none" strike="noStrike">
                <a:solidFill>
                  <a:srgbClr val="2B2B2B"/>
                </a:solidFill>
                <a:latin typeface="Courier New"/>
                <a:ea typeface="Courier New"/>
                <a:cs typeface="Courier New"/>
                <a:sym typeface="Courier New"/>
              </a:rPr>
              <a:t>df.hist(bins=50, figsize=(12, 8))  </a:t>
            </a:r>
            <a:r>
              <a:rPr b="0" i="1" lang="en-US" sz="1250" u="none" cap="none" strike="noStrike">
                <a:solidFill>
                  <a:srgbClr val="606060"/>
                </a:solidFill>
                <a:latin typeface="Courier New"/>
                <a:ea typeface="Courier New"/>
                <a:cs typeface="Courier New"/>
                <a:sym typeface="Courier New"/>
              </a:rPr>
              <a:t># distributions</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B2B"/>
              </a:buClr>
              <a:buSzPts val="1250"/>
              <a:buFont typeface="Courier New"/>
              <a:buNone/>
            </a:pPr>
            <a:r>
              <a:rPr b="0" i="0" lang="en-US" sz="1250" u="none" cap="none" strike="noStrike">
                <a:solidFill>
                  <a:srgbClr val="2B2B2B"/>
                </a:solidFill>
                <a:latin typeface="Courier New"/>
                <a:ea typeface="Courier New"/>
                <a:cs typeface="Courier New"/>
                <a:sym typeface="Courier New"/>
              </a:rPr>
              <a:t>df.corr()                            </a:t>
            </a:r>
            <a:r>
              <a:rPr b="0" i="1" lang="en-US" sz="1250" u="none" cap="none" strike="noStrike">
                <a:solidFill>
                  <a:srgbClr val="606060"/>
                </a:solidFill>
                <a:latin typeface="Courier New"/>
                <a:ea typeface="Courier New"/>
                <a:cs typeface="Courier New"/>
                <a:sym typeface="Courier New"/>
              </a:rPr>
              <a:t># correlations</a:t>
            </a:r>
            <a:endParaRPr b="0" i="0" sz="1250" u="none" cap="none" strike="noStrike">
              <a:solidFill>
                <a:schemeClr val="dk1"/>
              </a:solidFill>
              <a:latin typeface="Calibri"/>
              <a:ea typeface="Calibri"/>
              <a:cs typeface="Calibri"/>
              <a:sym typeface="Calibri"/>
            </a:endParaRPr>
          </a:p>
        </p:txBody>
      </p:sp>
      <p:sp>
        <p:nvSpPr>
          <p:cNvPr id="398" name="Google Shape;398;p19"/>
          <p:cNvSpPr/>
          <p:nvPr/>
        </p:nvSpPr>
        <p:spPr>
          <a:xfrm>
            <a:off x="6355080" y="1371600"/>
            <a:ext cx="26974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1300"/>
              <a:buFont typeface="Georgia"/>
              <a:buNone/>
            </a:pPr>
            <a:r>
              <a:rPr b="1" i="1" lang="en-US" sz="1300" u="none" cap="none" strike="noStrike">
                <a:solidFill>
                  <a:srgbClr val="7B2D26"/>
                </a:solidFill>
                <a:latin typeface="Georgia"/>
                <a:ea typeface="Georgia"/>
                <a:cs typeface="Georgia"/>
                <a:sym typeface="Georgia"/>
              </a:rPr>
              <a:t>After running, ask yourself:</a:t>
            </a:r>
            <a:endParaRPr b="0" i="0" sz="1300" u="none" cap="none" strike="noStrike">
              <a:solidFill>
                <a:schemeClr val="dk1"/>
              </a:solidFill>
              <a:latin typeface="Calibri"/>
              <a:ea typeface="Calibri"/>
              <a:cs typeface="Calibri"/>
              <a:sym typeface="Calibri"/>
            </a:endParaRPr>
          </a:p>
        </p:txBody>
      </p:sp>
      <p:sp>
        <p:nvSpPr>
          <p:cNvPr id="399" name="Google Shape;399;p19"/>
          <p:cNvSpPr/>
          <p:nvPr/>
        </p:nvSpPr>
        <p:spPr>
          <a:xfrm>
            <a:off x="6355080" y="1783080"/>
            <a:ext cx="2697480" cy="27432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B2B2B"/>
              </a:buClr>
              <a:buSzPts val="1200"/>
              <a:buFont typeface="Georgia"/>
              <a:buChar char="■"/>
            </a:pPr>
            <a:r>
              <a:rPr b="0" i="0" lang="en-US" sz="1200" u="none" cap="none" strike="noStrike">
                <a:solidFill>
                  <a:srgbClr val="2B2B2B"/>
                </a:solidFill>
                <a:latin typeface="Georgia"/>
                <a:ea typeface="Georgia"/>
                <a:cs typeface="Georgia"/>
                <a:sym typeface="Georgia"/>
              </a:rPr>
              <a:t>How big is the dataset?</a:t>
            </a:r>
            <a:endParaRPr b="0" i="0" sz="12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2B2B2B"/>
              </a:buClr>
              <a:buSzPts val="1200"/>
              <a:buFont typeface="Georgia"/>
              <a:buChar char="■"/>
            </a:pPr>
            <a:r>
              <a:rPr b="0" i="0" lang="en-US" sz="1200" u="none" cap="none" strike="noStrike">
                <a:solidFill>
                  <a:srgbClr val="2B2B2B"/>
                </a:solidFill>
                <a:latin typeface="Georgia"/>
                <a:ea typeface="Georgia"/>
                <a:cs typeface="Georgia"/>
                <a:sym typeface="Georgia"/>
              </a:rPr>
              <a:t>Any features mis-typed?</a:t>
            </a:r>
            <a:endParaRPr b="0" i="0" sz="12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2B2B2B"/>
              </a:buClr>
              <a:buSzPts val="1200"/>
              <a:buFont typeface="Georgia"/>
              <a:buChar char="■"/>
            </a:pPr>
            <a:r>
              <a:rPr b="0" i="0" lang="en-US" sz="1200" u="none" cap="none" strike="noStrike">
                <a:solidFill>
                  <a:srgbClr val="2B2B2B"/>
                </a:solidFill>
                <a:latin typeface="Georgia"/>
                <a:ea typeface="Georgia"/>
                <a:cs typeface="Georgia"/>
                <a:sym typeface="Georgia"/>
              </a:rPr>
              <a:t>Any column dominated by NaN?</a:t>
            </a:r>
            <a:endParaRPr b="0" i="0" sz="12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2B2B2B"/>
              </a:buClr>
              <a:buSzPts val="1200"/>
              <a:buFont typeface="Georgia"/>
              <a:buChar char="■"/>
            </a:pPr>
            <a:r>
              <a:rPr b="0" i="0" lang="en-US" sz="1200" u="none" cap="none" strike="noStrike">
                <a:solidFill>
                  <a:srgbClr val="2B2B2B"/>
                </a:solidFill>
                <a:latin typeface="Georgia"/>
                <a:ea typeface="Georgia"/>
                <a:cs typeface="Georgia"/>
                <a:sym typeface="Georgia"/>
              </a:rPr>
              <a:t>Wildly different feature scales?</a:t>
            </a:r>
            <a:endParaRPr b="0" i="0" sz="12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2B2B2B"/>
              </a:buClr>
              <a:buSzPts val="1200"/>
              <a:buFont typeface="Georgia"/>
              <a:buChar char="■"/>
            </a:pPr>
            <a:r>
              <a:rPr b="0" i="0" lang="en-US" sz="1200" u="none" cap="none" strike="noStrike">
                <a:solidFill>
                  <a:srgbClr val="2B2B2B"/>
                </a:solidFill>
                <a:latin typeface="Georgia"/>
                <a:ea typeface="Georgia"/>
                <a:cs typeface="Georgia"/>
                <a:sym typeface="Georgia"/>
              </a:rPr>
              <a:t>Skewed distributions to transform?</a:t>
            </a:r>
            <a:endParaRPr b="0" i="0" sz="12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2B2B2B"/>
              </a:buClr>
              <a:buSzPts val="1200"/>
              <a:buFont typeface="Georgia"/>
              <a:buChar char="■"/>
            </a:pPr>
            <a:r>
              <a:rPr b="0" i="0" lang="en-US" sz="1200" u="none" cap="none" strike="noStrike">
                <a:solidFill>
                  <a:srgbClr val="2B2B2B"/>
                </a:solidFill>
                <a:latin typeface="Georgia"/>
                <a:ea typeface="Georgia"/>
                <a:cs typeface="Georgia"/>
                <a:sym typeface="Georgia"/>
              </a:rPr>
              <a:t>Strong correlations?</a:t>
            </a:r>
            <a:endParaRPr b="0" i="0" sz="1200" u="none" cap="none" strike="noStrike">
              <a:solidFill>
                <a:schemeClr val="dk1"/>
              </a:solidFill>
              <a:latin typeface="Calibri"/>
              <a:ea typeface="Calibri"/>
              <a:cs typeface="Calibri"/>
              <a:sym typeface="Calibri"/>
            </a:endParaRPr>
          </a:p>
        </p:txBody>
      </p:sp>
      <p:pic>
        <p:nvPicPr>
          <p:cNvPr descr="/sessions/sleepy-friendly-euler/mnt/outputs/logos/cosmicai_logo.png" id="400" name="Google Shape;400;p19"/>
          <p:cNvPicPr preferRelativeResize="0"/>
          <p:nvPr/>
        </p:nvPicPr>
        <p:blipFill rotWithShape="1">
          <a:blip r:embed="rId3">
            <a:alphaModFix/>
          </a:blip>
          <a:srcRect b="0" l="0" r="0" t="0"/>
          <a:stretch/>
        </p:blipFill>
        <p:spPr>
          <a:xfrm>
            <a:off x="228600" y="4526280"/>
            <a:ext cx="1463040" cy="502920"/>
          </a:xfrm>
          <a:prstGeom prst="rect">
            <a:avLst/>
          </a:prstGeom>
          <a:noFill/>
          <a:ln>
            <a:noFill/>
          </a:ln>
        </p:spPr>
      </p:pic>
      <p:sp>
        <p:nvSpPr>
          <p:cNvPr id="401" name="Google Shape;401;p19"/>
          <p:cNvSpPr/>
          <p:nvPr/>
        </p:nvSpPr>
        <p:spPr>
          <a:xfrm>
            <a:off x="2743200" y="4663440"/>
            <a:ext cx="36576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1" i="0" lang="en-US" sz="1200" u="none" cap="none" strike="noStrike">
                <a:solidFill>
                  <a:srgbClr val="2B2B2B"/>
                </a:solidFill>
                <a:latin typeface="Georgia"/>
                <a:ea typeface="Georgia"/>
                <a:cs typeface="Georgia"/>
                <a:sym typeface="Georgia"/>
              </a:rPr>
              <a:t>CosmicAI Summer School</a:t>
            </a:r>
            <a:endParaRPr b="0" i="0" sz="1200" u="none" cap="none" strike="noStrike">
              <a:solidFill>
                <a:schemeClr val="dk1"/>
              </a:solidFill>
              <a:latin typeface="Calibri"/>
              <a:ea typeface="Calibri"/>
              <a:cs typeface="Calibri"/>
              <a:sym typeface="Calibri"/>
            </a:endParaRPr>
          </a:p>
        </p:txBody>
      </p:sp>
      <p:sp>
        <p:nvSpPr>
          <p:cNvPr id="402" name="Google Shape;402;p19"/>
          <p:cNvSpPr/>
          <p:nvPr/>
        </p:nvSpPr>
        <p:spPr>
          <a:xfrm>
            <a:off x="8275320" y="4754880"/>
            <a:ext cx="6858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06060"/>
              </a:buClr>
              <a:buSzPts val="1200"/>
              <a:buFont typeface="Georgia"/>
              <a:buNone/>
            </a:pPr>
            <a:r>
              <a:rPr b="0" i="0" lang="en-US" sz="1200" u="none" cap="none" strike="noStrike">
                <a:solidFill>
                  <a:srgbClr val="606060"/>
                </a:solidFill>
                <a:latin typeface="Georgia"/>
                <a:ea typeface="Georgia"/>
                <a:cs typeface="Georgia"/>
                <a:sym typeface="Georgia"/>
              </a:rPr>
              <a:t>19</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7" name="Shape 407"/>
        <p:cNvGrpSpPr/>
        <p:nvPr/>
      </p:nvGrpSpPr>
      <p:grpSpPr>
        <a:xfrm>
          <a:off x="0" y="0"/>
          <a:ext cx="0" cy="0"/>
          <a:chOff x="0" y="0"/>
          <a:chExt cx="0" cy="0"/>
        </a:xfrm>
      </p:grpSpPr>
      <p:sp>
        <p:nvSpPr>
          <p:cNvPr id="408" name="Google Shape;408;p20"/>
          <p:cNvSpPr/>
          <p:nvPr/>
        </p:nvSpPr>
        <p:spPr>
          <a:xfrm>
            <a:off x="274320" y="137160"/>
            <a:ext cx="859536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3000"/>
              <a:buFont typeface="Georgia"/>
              <a:buNone/>
            </a:pPr>
            <a:r>
              <a:rPr b="0" i="0" lang="en-US" sz="3000" u="none" cap="none" strike="noStrike">
                <a:solidFill>
                  <a:srgbClr val="7B2D26"/>
                </a:solidFill>
                <a:latin typeface="Georgia"/>
                <a:ea typeface="Georgia"/>
                <a:cs typeface="Georgia"/>
                <a:sym typeface="Georgia"/>
              </a:rPr>
              <a:t>Recap — The ML Pipeline Starts Here</a:t>
            </a:r>
            <a:endParaRPr b="0" i="0" sz="3000" u="none" cap="none" strike="noStrike">
              <a:solidFill>
                <a:schemeClr val="dk1"/>
              </a:solidFill>
              <a:latin typeface="Calibri"/>
              <a:ea typeface="Calibri"/>
              <a:cs typeface="Calibri"/>
              <a:sym typeface="Calibri"/>
            </a:endParaRPr>
          </a:p>
        </p:txBody>
      </p:sp>
      <p:cxnSp>
        <p:nvCxnSpPr>
          <p:cNvPr id="409" name="Google Shape;409;p20"/>
          <p:cNvCxnSpPr/>
          <p:nvPr/>
        </p:nvCxnSpPr>
        <p:spPr>
          <a:xfrm>
            <a:off x="365760" y="777240"/>
            <a:ext cx="8412480" cy="0"/>
          </a:xfrm>
          <a:prstGeom prst="straightConnector1">
            <a:avLst/>
          </a:prstGeom>
          <a:noFill/>
          <a:ln cap="flat" cmpd="sng" w="15875">
            <a:solidFill>
              <a:srgbClr val="B0B0B0"/>
            </a:solidFill>
            <a:prstDash val="solid"/>
            <a:round/>
            <a:headEnd len="sm" w="sm" type="none"/>
            <a:tailEnd len="sm" w="sm" type="none"/>
          </a:ln>
        </p:spPr>
      </p:cxnSp>
      <p:sp>
        <p:nvSpPr>
          <p:cNvPr id="410" name="Google Shape;410;p20"/>
          <p:cNvSpPr/>
          <p:nvPr/>
        </p:nvSpPr>
        <p:spPr>
          <a:xfrm>
            <a:off x="548640" y="914400"/>
            <a:ext cx="457200" cy="457200"/>
          </a:xfrm>
          <a:prstGeom prst="ellipse">
            <a:avLst/>
          </a:prstGeom>
          <a:solidFill>
            <a:srgbClr val="7B2D26"/>
          </a:solidFill>
          <a:ln cap="flat" cmpd="sng" w="12700">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20"/>
          <p:cNvSpPr/>
          <p:nvPr/>
        </p:nvSpPr>
        <p:spPr>
          <a:xfrm>
            <a:off x="548640" y="914400"/>
            <a:ext cx="457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1</a:t>
            </a:r>
            <a:endParaRPr b="0" i="0" sz="1800" u="none" cap="none" strike="noStrike">
              <a:solidFill>
                <a:schemeClr val="dk1"/>
              </a:solidFill>
              <a:latin typeface="Calibri"/>
              <a:ea typeface="Calibri"/>
              <a:cs typeface="Calibri"/>
              <a:sym typeface="Calibri"/>
            </a:endParaRPr>
          </a:p>
        </p:txBody>
      </p:sp>
      <p:sp>
        <p:nvSpPr>
          <p:cNvPr id="412" name="Google Shape;412;p20"/>
          <p:cNvSpPr/>
          <p:nvPr/>
        </p:nvSpPr>
        <p:spPr>
          <a:xfrm>
            <a:off x="1143000" y="914400"/>
            <a:ext cx="32004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1600"/>
              <a:buFont typeface="Georgia"/>
              <a:buNone/>
            </a:pPr>
            <a:r>
              <a:rPr b="1" i="0" lang="en-US" sz="1600" u="none" cap="none" strike="noStrike">
                <a:solidFill>
                  <a:srgbClr val="7B2D26"/>
                </a:solidFill>
                <a:latin typeface="Georgia"/>
                <a:ea typeface="Georgia"/>
                <a:cs typeface="Georgia"/>
                <a:sym typeface="Georgia"/>
              </a:rPr>
              <a:t>Frame the problem</a:t>
            </a:r>
            <a:endParaRPr b="0" i="0" sz="1600" u="none" cap="none" strike="noStrike">
              <a:solidFill>
                <a:schemeClr val="dk1"/>
              </a:solidFill>
              <a:latin typeface="Calibri"/>
              <a:ea typeface="Calibri"/>
              <a:cs typeface="Calibri"/>
              <a:sym typeface="Calibri"/>
            </a:endParaRPr>
          </a:p>
        </p:txBody>
      </p:sp>
      <p:sp>
        <p:nvSpPr>
          <p:cNvPr id="413" name="Google Shape;413;p20"/>
          <p:cNvSpPr/>
          <p:nvPr/>
        </p:nvSpPr>
        <p:spPr>
          <a:xfrm>
            <a:off x="4434840" y="914400"/>
            <a:ext cx="4572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B"/>
              </a:buClr>
              <a:buSzPts val="1250"/>
              <a:buFont typeface="Georgia"/>
              <a:buNone/>
            </a:pPr>
            <a:r>
              <a:rPr b="0" i="0" lang="en-US" sz="1250" u="none" cap="none" strike="noStrike">
                <a:solidFill>
                  <a:srgbClr val="2B2B2B"/>
                </a:solidFill>
                <a:latin typeface="Georgia"/>
                <a:ea typeface="Georgia"/>
                <a:cs typeface="Georgia"/>
                <a:sym typeface="Georgia"/>
              </a:rPr>
              <a:t>What am I predicting? Classification or regression? What does success mean?</a:t>
            </a:r>
            <a:endParaRPr b="0" i="0" sz="1250" u="none" cap="none" strike="noStrike">
              <a:solidFill>
                <a:schemeClr val="dk1"/>
              </a:solidFill>
              <a:latin typeface="Calibri"/>
              <a:ea typeface="Calibri"/>
              <a:cs typeface="Calibri"/>
              <a:sym typeface="Calibri"/>
            </a:endParaRPr>
          </a:p>
        </p:txBody>
      </p:sp>
      <p:sp>
        <p:nvSpPr>
          <p:cNvPr id="414" name="Google Shape;414;p20"/>
          <p:cNvSpPr/>
          <p:nvPr/>
        </p:nvSpPr>
        <p:spPr>
          <a:xfrm>
            <a:off x="548640" y="1572768"/>
            <a:ext cx="457200" cy="457200"/>
          </a:xfrm>
          <a:prstGeom prst="ellipse">
            <a:avLst/>
          </a:prstGeom>
          <a:solidFill>
            <a:srgbClr val="7B2D26"/>
          </a:solidFill>
          <a:ln cap="flat" cmpd="sng" w="12700">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20"/>
          <p:cNvSpPr/>
          <p:nvPr/>
        </p:nvSpPr>
        <p:spPr>
          <a:xfrm>
            <a:off x="548640" y="1572768"/>
            <a:ext cx="457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2</a:t>
            </a:r>
            <a:endParaRPr b="0" i="0" sz="1800" u="none" cap="none" strike="noStrike">
              <a:solidFill>
                <a:schemeClr val="dk1"/>
              </a:solidFill>
              <a:latin typeface="Calibri"/>
              <a:ea typeface="Calibri"/>
              <a:cs typeface="Calibri"/>
              <a:sym typeface="Calibri"/>
            </a:endParaRPr>
          </a:p>
        </p:txBody>
      </p:sp>
      <p:sp>
        <p:nvSpPr>
          <p:cNvPr id="416" name="Google Shape;416;p20"/>
          <p:cNvSpPr/>
          <p:nvPr/>
        </p:nvSpPr>
        <p:spPr>
          <a:xfrm>
            <a:off x="1143000" y="1572768"/>
            <a:ext cx="32004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1600"/>
              <a:buFont typeface="Georgia"/>
              <a:buNone/>
            </a:pPr>
            <a:r>
              <a:rPr b="1" i="0" lang="en-US" sz="1600" u="none" cap="none" strike="noStrike">
                <a:solidFill>
                  <a:srgbClr val="7B2D26"/>
                </a:solidFill>
                <a:latin typeface="Georgia"/>
                <a:ea typeface="Georgia"/>
                <a:cs typeface="Georgia"/>
                <a:sym typeface="Georgia"/>
              </a:rPr>
              <a:t>Identify X and y</a:t>
            </a:r>
            <a:endParaRPr b="0" i="0" sz="1600" u="none" cap="none" strike="noStrike">
              <a:solidFill>
                <a:schemeClr val="dk1"/>
              </a:solidFill>
              <a:latin typeface="Calibri"/>
              <a:ea typeface="Calibri"/>
              <a:cs typeface="Calibri"/>
              <a:sym typeface="Calibri"/>
            </a:endParaRPr>
          </a:p>
        </p:txBody>
      </p:sp>
      <p:sp>
        <p:nvSpPr>
          <p:cNvPr id="417" name="Google Shape;417;p20"/>
          <p:cNvSpPr/>
          <p:nvPr/>
        </p:nvSpPr>
        <p:spPr>
          <a:xfrm>
            <a:off x="4434840" y="1572768"/>
            <a:ext cx="4572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B"/>
              </a:buClr>
              <a:buSzPts val="1250"/>
              <a:buFont typeface="Georgia"/>
              <a:buNone/>
            </a:pPr>
            <a:r>
              <a:rPr b="0" i="0" lang="en-US" sz="1250" u="none" cap="none" strike="noStrike">
                <a:solidFill>
                  <a:srgbClr val="2B2B2B"/>
                </a:solidFill>
                <a:latin typeface="Georgia"/>
                <a:ea typeface="Georgia"/>
                <a:cs typeface="Georgia"/>
                <a:sym typeface="Georgia"/>
              </a:rPr>
              <a:t>Write down the n features (X) and the target (y) explicitly.</a:t>
            </a:r>
            <a:endParaRPr b="0" i="0" sz="1250" u="none" cap="none" strike="noStrike">
              <a:solidFill>
                <a:schemeClr val="dk1"/>
              </a:solidFill>
              <a:latin typeface="Calibri"/>
              <a:ea typeface="Calibri"/>
              <a:cs typeface="Calibri"/>
              <a:sym typeface="Calibri"/>
            </a:endParaRPr>
          </a:p>
        </p:txBody>
      </p:sp>
      <p:sp>
        <p:nvSpPr>
          <p:cNvPr id="418" name="Google Shape;418;p20"/>
          <p:cNvSpPr/>
          <p:nvPr/>
        </p:nvSpPr>
        <p:spPr>
          <a:xfrm>
            <a:off x="548640" y="2231136"/>
            <a:ext cx="457200" cy="457200"/>
          </a:xfrm>
          <a:prstGeom prst="ellipse">
            <a:avLst/>
          </a:prstGeom>
          <a:solidFill>
            <a:srgbClr val="7B2D26"/>
          </a:solidFill>
          <a:ln cap="flat" cmpd="sng" w="12700">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20"/>
          <p:cNvSpPr/>
          <p:nvPr/>
        </p:nvSpPr>
        <p:spPr>
          <a:xfrm>
            <a:off x="548640" y="2231136"/>
            <a:ext cx="457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3</a:t>
            </a:r>
            <a:endParaRPr b="0" i="0" sz="1800" u="none" cap="none" strike="noStrike">
              <a:solidFill>
                <a:schemeClr val="dk1"/>
              </a:solidFill>
              <a:latin typeface="Calibri"/>
              <a:ea typeface="Calibri"/>
              <a:cs typeface="Calibri"/>
              <a:sym typeface="Calibri"/>
            </a:endParaRPr>
          </a:p>
        </p:txBody>
      </p:sp>
      <p:sp>
        <p:nvSpPr>
          <p:cNvPr id="420" name="Google Shape;420;p20"/>
          <p:cNvSpPr/>
          <p:nvPr/>
        </p:nvSpPr>
        <p:spPr>
          <a:xfrm>
            <a:off x="1143000" y="2231136"/>
            <a:ext cx="32004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1600"/>
              <a:buFont typeface="Georgia"/>
              <a:buNone/>
            </a:pPr>
            <a:r>
              <a:rPr b="1" i="0" lang="en-US" sz="1600" u="none" cap="none" strike="noStrike">
                <a:solidFill>
                  <a:srgbClr val="7B2D26"/>
                </a:solidFill>
                <a:latin typeface="Georgia"/>
                <a:ea typeface="Georgia"/>
                <a:cs typeface="Georgia"/>
                <a:sym typeface="Georgia"/>
              </a:rPr>
              <a:t>Classify your data scales</a:t>
            </a:r>
            <a:endParaRPr b="0" i="0" sz="1600" u="none" cap="none" strike="noStrike">
              <a:solidFill>
                <a:schemeClr val="dk1"/>
              </a:solidFill>
              <a:latin typeface="Calibri"/>
              <a:ea typeface="Calibri"/>
              <a:cs typeface="Calibri"/>
              <a:sym typeface="Calibri"/>
            </a:endParaRPr>
          </a:p>
        </p:txBody>
      </p:sp>
      <p:sp>
        <p:nvSpPr>
          <p:cNvPr id="421" name="Google Shape;421;p20"/>
          <p:cNvSpPr/>
          <p:nvPr/>
        </p:nvSpPr>
        <p:spPr>
          <a:xfrm>
            <a:off x="4434840" y="2231136"/>
            <a:ext cx="4572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B"/>
              </a:buClr>
              <a:buSzPts val="1250"/>
              <a:buFont typeface="Georgia"/>
              <a:buNone/>
            </a:pPr>
            <a:r>
              <a:rPr b="0" i="0" lang="en-US" sz="1250" u="none" cap="none" strike="noStrike">
                <a:solidFill>
                  <a:srgbClr val="2B2B2B"/>
                </a:solidFill>
                <a:latin typeface="Georgia"/>
                <a:ea typeface="Georgia"/>
                <a:cs typeface="Georgia"/>
                <a:sym typeface="Georgia"/>
              </a:rPr>
              <a:t>Nominal, ordinal, interval, ratio — drives encoding &amp; scaling later.</a:t>
            </a:r>
            <a:endParaRPr b="0" i="0" sz="1250" u="none" cap="none" strike="noStrike">
              <a:solidFill>
                <a:schemeClr val="dk1"/>
              </a:solidFill>
              <a:latin typeface="Calibri"/>
              <a:ea typeface="Calibri"/>
              <a:cs typeface="Calibri"/>
              <a:sym typeface="Calibri"/>
            </a:endParaRPr>
          </a:p>
        </p:txBody>
      </p:sp>
      <p:sp>
        <p:nvSpPr>
          <p:cNvPr id="422" name="Google Shape;422;p20"/>
          <p:cNvSpPr/>
          <p:nvPr/>
        </p:nvSpPr>
        <p:spPr>
          <a:xfrm>
            <a:off x="548640" y="2889504"/>
            <a:ext cx="457200" cy="457200"/>
          </a:xfrm>
          <a:prstGeom prst="ellipse">
            <a:avLst/>
          </a:prstGeom>
          <a:solidFill>
            <a:srgbClr val="7B2D26"/>
          </a:solidFill>
          <a:ln cap="flat" cmpd="sng" w="12700">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20"/>
          <p:cNvSpPr/>
          <p:nvPr/>
        </p:nvSpPr>
        <p:spPr>
          <a:xfrm>
            <a:off x="548640" y="2889504"/>
            <a:ext cx="457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4</a:t>
            </a:r>
            <a:endParaRPr b="0" i="0" sz="1800" u="none" cap="none" strike="noStrike">
              <a:solidFill>
                <a:schemeClr val="dk1"/>
              </a:solidFill>
              <a:latin typeface="Calibri"/>
              <a:ea typeface="Calibri"/>
              <a:cs typeface="Calibri"/>
              <a:sym typeface="Calibri"/>
            </a:endParaRPr>
          </a:p>
        </p:txBody>
      </p:sp>
      <p:sp>
        <p:nvSpPr>
          <p:cNvPr id="424" name="Google Shape;424;p20"/>
          <p:cNvSpPr/>
          <p:nvPr/>
        </p:nvSpPr>
        <p:spPr>
          <a:xfrm>
            <a:off x="1143000" y="2889504"/>
            <a:ext cx="32004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1600"/>
              <a:buFont typeface="Georgia"/>
              <a:buNone/>
            </a:pPr>
            <a:r>
              <a:rPr b="1" i="0" lang="en-US" sz="1600" u="none" cap="none" strike="noStrike">
                <a:solidFill>
                  <a:srgbClr val="7B2D26"/>
                </a:solidFill>
                <a:latin typeface="Georgia"/>
                <a:ea typeface="Georgia"/>
                <a:cs typeface="Georgia"/>
                <a:sym typeface="Georgia"/>
              </a:rPr>
              <a:t>Do EDA</a:t>
            </a:r>
            <a:endParaRPr b="0" i="0" sz="1600" u="none" cap="none" strike="noStrike">
              <a:solidFill>
                <a:schemeClr val="dk1"/>
              </a:solidFill>
              <a:latin typeface="Calibri"/>
              <a:ea typeface="Calibri"/>
              <a:cs typeface="Calibri"/>
              <a:sym typeface="Calibri"/>
            </a:endParaRPr>
          </a:p>
        </p:txBody>
      </p:sp>
      <p:sp>
        <p:nvSpPr>
          <p:cNvPr id="425" name="Google Shape;425;p20"/>
          <p:cNvSpPr/>
          <p:nvPr/>
        </p:nvSpPr>
        <p:spPr>
          <a:xfrm>
            <a:off x="4434840" y="2889504"/>
            <a:ext cx="4572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B"/>
              </a:buClr>
              <a:buSzPts val="1250"/>
              <a:buFont typeface="Georgia"/>
              <a:buNone/>
            </a:pPr>
            <a:r>
              <a:rPr b="0" i="0" lang="en-US" sz="1250" u="none" cap="none" strike="noStrike">
                <a:solidFill>
                  <a:srgbClr val="2B2B2B"/>
                </a:solidFill>
                <a:latin typeface="Georgia"/>
                <a:ea typeface="Georgia"/>
                <a:cs typeface="Georgia"/>
                <a:sym typeface="Georgia"/>
              </a:rPr>
              <a:t>Distributions, correlations, class balance, distribution shifts.</a:t>
            </a:r>
            <a:endParaRPr b="0" i="0" sz="1250" u="none" cap="none" strike="noStrike">
              <a:solidFill>
                <a:schemeClr val="dk1"/>
              </a:solidFill>
              <a:latin typeface="Calibri"/>
              <a:ea typeface="Calibri"/>
              <a:cs typeface="Calibri"/>
              <a:sym typeface="Calibri"/>
            </a:endParaRPr>
          </a:p>
        </p:txBody>
      </p:sp>
      <p:sp>
        <p:nvSpPr>
          <p:cNvPr id="426" name="Google Shape;426;p20"/>
          <p:cNvSpPr/>
          <p:nvPr/>
        </p:nvSpPr>
        <p:spPr>
          <a:xfrm>
            <a:off x="548640" y="3547872"/>
            <a:ext cx="457200" cy="457200"/>
          </a:xfrm>
          <a:prstGeom prst="ellipse">
            <a:avLst/>
          </a:prstGeom>
          <a:solidFill>
            <a:srgbClr val="7B2D26"/>
          </a:solidFill>
          <a:ln cap="flat" cmpd="sng" w="12700">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20"/>
          <p:cNvSpPr/>
          <p:nvPr/>
        </p:nvSpPr>
        <p:spPr>
          <a:xfrm>
            <a:off x="548640" y="3547872"/>
            <a:ext cx="457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5</a:t>
            </a:r>
            <a:endParaRPr b="0" i="0" sz="1800" u="none" cap="none" strike="noStrike">
              <a:solidFill>
                <a:schemeClr val="dk1"/>
              </a:solidFill>
              <a:latin typeface="Calibri"/>
              <a:ea typeface="Calibri"/>
              <a:cs typeface="Calibri"/>
              <a:sym typeface="Calibri"/>
            </a:endParaRPr>
          </a:p>
        </p:txBody>
      </p:sp>
      <p:sp>
        <p:nvSpPr>
          <p:cNvPr id="428" name="Google Shape;428;p20"/>
          <p:cNvSpPr/>
          <p:nvPr/>
        </p:nvSpPr>
        <p:spPr>
          <a:xfrm>
            <a:off x="1143000" y="3547872"/>
            <a:ext cx="32004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1600"/>
              <a:buFont typeface="Georgia"/>
              <a:buNone/>
            </a:pPr>
            <a:r>
              <a:rPr b="1" i="0" lang="en-US" sz="1600" u="none" cap="none" strike="noStrike">
                <a:solidFill>
                  <a:srgbClr val="7B2D26"/>
                </a:solidFill>
                <a:latin typeface="Georgia"/>
                <a:ea typeface="Georgia"/>
                <a:cs typeface="Georgia"/>
                <a:sym typeface="Georgia"/>
              </a:rPr>
              <a:t>Sanity-check dimensionality</a:t>
            </a:r>
            <a:endParaRPr b="0" i="0" sz="1600" u="none" cap="none" strike="noStrike">
              <a:solidFill>
                <a:schemeClr val="dk1"/>
              </a:solidFill>
              <a:latin typeface="Calibri"/>
              <a:ea typeface="Calibri"/>
              <a:cs typeface="Calibri"/>
              <a:sym typeface="Calibri"/>
            </a:endParaRPr>
          </a:p>
        </p:txBody>
      </p:sp>
      <p:sp>
        <p:nvSpPr>
          <p:cNvPr id="429" name="Google Shape;429;p20"/>
          <p:cNvSpPr/>
          <p:nvPr/>
        </p:nvSpPr>
        <p:spPr>
          <a:xfrm>
            <a:off x="4434840" y="3547872"/>
            <a:ext cx="4572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B"/>
              </a:buClr>
              <a:buSzPts val="1250"/>
              <a:buFont typeface="Georgia"/>
              <a:buNone/>
            </a:pPr>
            <a:r>
              <a:rPr b="0" i="0" lang="en-US" sz="1250" u="none" cap="none" strike="noStrike">
                <a:solidFill>
                  <a:srgbClr val="2B2B2B"/>
                </a:solidFill>
                <a:latin typeface="Georgia"/>
                <a:ea typeface="Georgia"/>
                <a:cs typeface="Georgia"/>
                <a:sym typeface="Georgia"/>
              </a:rPr>
              <a:t>More features → need more data. Beware the curse of dimensionality.</a:t>
            </a:r>
            <a:endParaRPr b="0" i="0" sz="1250" u="none" cap="none" strike="noStrike">
              <a:solidFill>
                <a:schemeClr val="dk1"/>
              </a:solidFill>
              <a:latin typeface="Calibri"/>
              <a:ea typeface="Calibri"/>
              <a:cs typeface="Calibri"/>
              <a:sym typeface="Calibri"/>
            </a:endParaRPr>
          </a:p>
        </p:txBody>
      </p:sp>
      <p:sp>
        <p:nvSpPr>
          <p:cNvPr id="430" name="Google Shape;430;p20"/>
          <p:cNvSpPr/>
          <p:nvPr/>
        </p:nvSpPr>
        <p:spPr>
          <a:xfrm>
            <a:off x="457200" y="4160520"/>
            <a:ext cx="8412480" cy="365760"/>
          </a:xfrm>
          <a:prstGeom prst="rect">
            <a:avLst/>
          </a:prstGeom>
          <a:solidFill>
            <a:srgbClr val="EAF1F4"/>
          </a:solidFill>
          <a:ln cap="flat" cmpd="sng" w="9525">
            <a:solidFill>
              <a:srgbClr val="2F5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20"/>
          <p:cNvSpPr/>
          <p:nvPr/>
        </p:nvSpPr>
        <p:spPr>
          <a:xfrm>
            <a:off x="548640" y="4160520"/>
            <a:ext cx="8229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F5A7A"/>
              </a:buClr>
              <a:buSzPts val="1250"/>
              <a:buFont typeface="Georgia"/>
              <a:buNone/>
            </a:pPr>
            <a:r>
              <a:rPr b="1" i="0" lang="en-US" sz="1250" u="none" cap="none" strike="noStrike">
                <a:solidFill>
                  <a:srgbClr val="2F5A7A"/>
                </a:solidFill>
                <a:latin typeface="Georgia"/>
                <a:ea typeface="Georgia"/>
                <a:cs typeface="Georgia"/>
                <a:sym typeface="Georgia"/>
              </a:rPr>
              <a:t>Next  →  Lecture 2:  </a:t>
            </a:r>
            <a:r>
              <a:rPr b="0" i="0" lang="en-US" sz="1250" u="none" cap="none" strike="noStrike">
                <a:solidFill>
                  <a:srgbClr val="2B2B2B"/>
                </a:solidFill>
                <a:latin typeface="Georgia"/>
                <a:ea typeface="Georgia"/>
                <a:cs typeface="Georgia"/>
                <a:sym typeface="Georgia"/>
              </a:rPr>
              <a:t>Data Preparation — imputation, scaling, encoding, dimensionality reduction.</a:t>
            </a:r>
            <a:endParaRPr b="0" i="0" sz="1250" u="none" cap="none" strike="noStrike">
              <a:solidFill>
                <a:schemeClr val="dk1"/>
              </a:solidFill>
              <a:latin typeface="Calibri"/>
              <a:ea typeface="Calibri"/>
              <a:cs typeface="Calibri"/>
              <a:sym typeface="Calibri"/>
            </a:endParaRPr>
          </a:p>
        </p:txBody>
      </p:sp>
      <p:pic>
        <p:nvPicPr>
          <p:cNvPr descr="/sessions/sleepy-friendly-euler/mnt/outputs/logos/cosmicai_logo.png" id="432" name="Google Shape;432;p20"/>
          <p:cNvPicPr preferRelativeResize="0"/>
          <p:nvPr/>
        </p:nvPicPr>
        <p:blipFill rotWithShape="1">
          <a:blip r:embed="rId3">
            <a:alphaModFix/>
          </a:blip>
          <a:srcRect b="0" l="0" r="0" t="0"/>
          <a:stretch/>
        </p:blipFill>
        <p:spPr>
          <a:xfrm>
            <a:off x="228600" y="4526280"/>
            <a:ext cx="1463040" cy="502920"/>
          </a:xfrm>
          <a:prstGeom prst="rect">
            <a:avLst/>
          </a:prstGeom>
          <a:noFill/>
          <a:ln>
            <a:noFill/>
          </a:ln>
        </p:spPr>
      </p:pic>
      <p:sp>
        <p:nvSpPr>
          <p:cNvPr id="433" name="Google Shape;433;p20"/>
          <p:cNvSpPr/>
          <p:nvPr/>
        </p:nvSpPr>
        <p:spPr>
          <a:xfrm>
            <a:off x="2743200" y="4663440"/>
            <a:ext cx="36576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1" i="0" lang="en-US" sz="1200" u="none" cap="none" strike="noStrike">
                <a:solidFill>
                  <a:srgbClr val="2B2B2B"/>
                </a:solidFill>
                <a:latin typeface="Georgia"/>
                <a:ea typeface="Georgia"/>
                <a:cs typeface="Georgia"/>
                <a:sym typeface="Georgia"/>
              </a:rPr>
              <a:t>CosmicAI Summer School</a:t>
            </a:r>
            <a:endParaRPr b="0" i="0" sz="1200" u="none" cap="none" strike="noStrike">
              <a:solidFill>
                <a:schemeClr val="dk1"/>
              </a:solidFill>
              <a:latin typeface="Calibri"/>
              <a:ea typeface="Calibri"/>
              <a:cs typeface="Calibri"/>
              <a:sym typeface="Calibri"/>
            </a:endParaRPr>
          </a:p>
        </p:txBody>
      </p:sp>
      <p:sp>
        <p:nvSpPr>
          <p:cNvPr id="434" name="Google Shape;434;p20"/>
          <p:cNvSpPr/>
          <p:nvPr/>
        </p:nvSpPr>
        <p:spPr>
          <a:xfrm>
            <a:off x="8275320" y="4754880"/>
            <a:ext cx="6858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06060"/>
              </a:buClr>
              <a:buSzPts val="1200"/>
              <a:buFont typeface="Georgia"/>
              <a:buNone/>
            </a:pPr>
            <a:r>
              <a:rPr b="0" i="0" lang="en-US" sz="1200" u="none" cap="none" strike="noStrike">
                <a:solidFill>
                  <a:srgbClr val="606060"/>
                </a:solidFill>
                <a:latin typeface="Georgia"/>
                <a:ea typeface="Georgia"/>
                <a:cs typeface="Georgia"/>
                <a:sym typeface="Georgia"/>
              </a:rPr>
              <a:t>20</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2026-06-08T20:12:01Z</dcterms:created>
  <dc:creator>Omkar Bait</dc:creator>
</cp:coreProperties>
</file>