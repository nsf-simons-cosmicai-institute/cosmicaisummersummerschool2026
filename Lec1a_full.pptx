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jk5Yr+8kxbAr4zN0o/FkAoD1V0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g3ebf767b1a6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g3ebf767b1a6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this slide as the opening view of the course. The 2×3 grid mirrors the natural progression: Row 1 sets up the conceptual landscape and prepares the data; Row 2 introduces evaluation, picks the model (Random Forest), and finally applies everything to a real photometric-redshift problem. Each card lists the key topics — students can refer back to this slide between lectures to see how the pieces fit together.</a:t>
            </a:r>
            <a:endParaRPr/>
          </a:p>
        </p:txBody>
      </p:sp>
      <p:sp>
        <p:nvSpPr>
          <p:cNvPr id="14" name="Google Shape;14;g3ebf767b1a6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to the CosmicAI Summer School. The plan for this lecture is to map out the landscape of AI/ML — vocabulary, paradigms, problem types — so the rest of the course makes sense in context. By the end you should be able to look at any astronomy paper that says 'we used machine learning' and place it on the map.</a:t>
            </a:r>
            <a:endParaRPr/>
          </a:p>
        </p:txBody>
      </p:sp>
      <p:sp>
        <p:nvSpPr>
          <p:cNvPr id="62" name="Google Shape;6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Important framing: AI is the goal, ML is the toolbox, DL is one set of (very powerful) tools inside that toolbox. Most of what we'll do in this course is classical ML — the algorithms you can run on a laptop on 10⁴-10⁶ examples. Deep learning enters later when datasets are huge and structure is complex (images, spectra, light curves).</a:t>
            </a:r>
            <a:endParaRPr/>
          </a:p>
        </p:txBody>
      </p:sp>
      <p:sp>
        <p:nvSpPr>
          <p:cNvPr id="75" name="Google Shape;7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bf767b1a6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9" name="Google Shape;99;g3ebf767b1a6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g3ebf767b1a6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Easy way to remember: traditional programming is rules → answers. ML is examples → rules. This is why ML shines whenever the rules are too complex, too numerous, or unknown — exactly the situation in modern astronomy with multi-band imaging surveys.</a:t>
            </a:r>
            <a:endParaRPr/>
          </a:p>
        </p:txBody>
      </p:sp>
      <p:sp>
        <p:nvSpPr>
          <p:cNvPr id="106" name="Google Shape;10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Anchor: the key distinction is what the model SEES during training. Labels = supervised. No labels = unsupervised. Mix = semi/self. Reward signal = reinforcement. Reinforcement learning is conceptually different and we leave it for a future course.</a:t>
            </a:r>
            <a:endParaRPr/>
          </a:p>
        </p:txBody>
      </p:sp>
      <p:sp>
        <p:nvSpPr>
          <p:cNvPr id="118" name="Google Shape;11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meat of the course: lectures 1b through 4 all use the supervised paradigm. The case study in Lec 4 is a regression problem (photo-z from colors). The figure shows the canonical picture: labeled training data → model learns the decision boundary.</a:t>
            </a:r>
            <a:endParaRPr/>
          </a:p>
        </p:txBody>
      </p:sp>
      <p:sp>
        <p:nvSpPr>
          <p:cNvPr id="145" name="Google Shape;14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Tell students: unsupervised methods are often the FIRST thing you do with a new survey. Cluster the spectra, see which groups emerge. Project to 2-D with t-SNE, see if there are anomalous regions. This is exploratory analysis raised to industrial scale.</a:t>
            </a:r>
            <a:endParaRPr/>
          </a:p>
        </p:txBody>
      </p:sp>
      <p:sp>
        <p:nvSpPr>
          <p:cNvPr id="159" name="Google Shape;15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Briefly tease modern developments: AstroCLIP, AstroFoundation models. We won't cover these in detail in this course, but it's important for students to know the language. Make the point that the photo-z problem is exactly a semi-supervised problem in spirit — small spec-z set, huge photometric set.</a:t>
            </a:r>
            <a:endParaRPr/>
          </a:p>
        </p:txBody>
      </p:sp>
      <p:sp>
        <p:nvSpPr>
          <p:cNvPr id="182" name="Google Shape;18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RL is fundamentally different: there is no fixed dataset. The agent generates its own data by acting in an environment. It's a fascinating area but deserves its own course. Mention briefly: AlphaGo's policy network is supervised on human games + RL via self-play.</a:t>
            </a:r>
            <a:endParaRPr/>
          </a:p>
        </p:txBody>
      </p:sp>
      <p:sp>
        <p:nvSpPr>
          <p:cNvPr id="200" name="Google Shape;20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Hand-wave the tiles. Each is a one-line elevator pitch. We'll spend more time on the top row (classification and regression) because they are the bread and butter of the course. Image analysis (CNNs) and generative models would each deserve their own multi-lecture treatment.</a:t>
            </a:r>
            <a:endParaRPr/>
          </a:p>
        </p:txBody>
      </p:sp>
      <p:sp>
        <p:nvSpPr>
          <p:cNvPr id="224" name="Google Shape;22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Concrete examples. Photo-z is regression. Spiral-vs-elliptical is binary classification. Hubble-stage prediction (E, S0, Sa, Sb, Sc, Irr) is multi-class. SAME random-forest algorithm covers both — RandomForestClassifier and RandomForestRegressor in sklearn.</a:t>
            </a:r>
            <a:endParaRPr/>
          </a:p>
        </p:txBody>
      </p:sp>
      <p:sp>
        <p:nvSpPr>
          <p:cNvPr id="253" name="Google Shape;25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Mention but don't go deep: CNNs are the standard for image tasks. Diffusion models are the current state of the art for generation. These all live in 'deep learning' — they would each be a multi-lecture topic on their own.</a:t>
            </a:r>
            <a:endParaRPr/>
          </a:p>
        </p:txBody>
      </p:sp>
      <p:sp>
        <p:nvSpPr>
          <p:cNvPr id="269" name="Google Shape;26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Story to tell: anomaly detection in astronomy has discovered Boyajian's Star, FRBs, and lots of weird quasar candidates. As surveys get bigger, anomaly-pipelines become essential — you can't manually inspect 10⁹ light curves.</a:t>
            </a:r>
            <a:endParaRPr/>
          </a:p>
        </p:txBody>
      </p:sp>
      <p:sp>
        <p:nvSpPr>
          <p:cNvPr id="292" name="Google Shape;29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All three trends are still accelerating. LSST will deliver 20 TB / night for 10 years. Foundation models in 2024 are training on the entire scientific literature. GPU memory doubles roughly every 2 years. The opportunities for astronomy + ML are wide open.</a:t>
            </a:r>
            <a:endParaRPr/>
          </a:p>
        </p:txBody>
      </p:sp>
      <p:sp>
        <p:nvSpPr>
          <p:cNvPr id="308" name="Google Shape;30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the loop: today gave you the vocabulary; the next lecture zooms in on the inputs (features X) and the outputs (targets y). From Lec 1b onward, the course is largely supervised — with photo-z as a running thread.</a:t>
            </a:r>
            <a:endParaRPr/>
          </a:p>
        </p:txBody>
      </p:sp>
      <p:sp>
        <p:nvSpPr>
          <p:cNvPr id="328" name="Google Shape;32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pic>
        <p:nvPicPr>
          <p:cNvPr descr="/sessions/sleepy-friendly-euler/mnt/outputs/logos/nrao_logo.png" id="16" name="Google Shape;16;g3ebf767b1a6_0_15"/>
          <p:cNvPicPr preferRelativeResize="0"/>
          <p:nvPr/>
        </p:nvPicPr>
        <p:blipFill rotWithShape="1">
          <a:blip r:embed="rId3">
            <a:alphaModFix/>
          </a:blip>
          <a:srcRect b="0" l="0" r="0" t="0"/>
          <a:stretch/>
        </p:blipFill>
        <p:spPr>
          <a:xfrm>
            <a:off x="91425" y="9230"/>
            <a:ext cx="502920" cy="640080"/>
          </a:xfrm>
          <a:prstGeom prst="rect">
            <a:avLst/>
          </a:prstGeom>
          <a:noFill/>
          <a:ln>
            <a:noFill/>
          </a:ln>
        </p:spPr>
      </p:pic>
      <p:sp>
        <p:nvSpPr>
          <p:cNvPr id="17" name="Google Shape;17;g3ebf767b1a6_0_15"/>
          <p:cNvSpPr/>
          <p:nvPr/>
        </p:nvSpPr>
        <p:spPr>
          <a:xfrm>
            <a:off x="274320" y="182880"/>
            <a:ext cx="85953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Course Roadmap</a:t>
            </a:r>
            <a:endParaRPr b="0" i="0" sz="3000" u="none" cap="none" strike="noStrike">
              <a:solidFill>
                <a:schemeClr val="dk1"/>
              </a:solidFill>
              <a:latin typeface="Calibri"/>
              <a:ea typeface="Calibri"/>
              <a:cs typeface="Calibri"/>
              <a:sym typeface="Calibri"/>
            </a:endParaRPr>
          </a:p>
        </p:txBody>
      </p:sp>
      <p:cxnSp>
        <p:nvCxnSpPr>
          <p:cNvPr id="18" name="Google Shape;18;g3ebf767b1a6_0_15"/>
          <p:cNvCxnSpPr/>
          <p:nvPr/>
        </p:nvCxnSpPr>
        <p:spPr>
          <a:xfrm>
            <a:off x="365760" y="758952"/>
            <a:ext cx="8412600" cy="0"/>
          </a:xfrm>
          <a:prstGeom prst="straightConnector1">
            <a:avLst/>
          </a:prstGeom>
          <a:noFill/>
          <a:ln cap="flat" cmpd="sng" w="15875">
            <a:solidFill>
              <a:srgbClr val="B0B0B0"/>
            </a:solidFill>
            <a:prstDash val="solid"/>
            <a:round/>
            <a:headEnd len="sm" w="sm" type="none"/>
            <a:tailEnd len="sm" w="sm" type="none"/>
          </a:ln>
        </p:spPr>
      </p:cxnSp>
      <p:sp>
        <p:nvSpPr>
          <p:cNvPr id="19" name="Google Shape;19;g3ebf767b1a6_0_15"/>
          <p:cNvSpPr/>
          <p:nvPr/>
        </p:nvSpPr>
        <p:spPr>
          <a:xfrm>
            <a:off x="365760" y="850392"/>
            <a:ext cx="8412600" cy="320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06060"/>
              </a:buClr>
              <a:buSzPts val="1350"/>
              <a:buFont typeface="Georgia"/>
              <a:buNone/>
            </a:pPr>
            <a:r>
              <a:rPr b="0" i="1" lang="en-US" sz="1350" u="none" cap="none" strike="noStrike">
                <a:solidFill>
                  <a:srgbClr val="606060"/>
                </a:solidFill>
                <a:latin typeface="Georgia"/>
                <a:ea typeface="Georgia"/>
                <a:cs typeface="Georgia"/>
                <a:sym typeface="Georgia"/>
              </a:rPr>
              <a:t>Six lectures, from ML vocabulary, data stru</a:t>
            </a:r>
            <a:r>
              <a:rPr i="1" lang="en-US" sz="1350">
                <a:solidFill>
                  <a:srgbClr val="606060"/>
                </a:solidFill>
                <a:latin typeface="Georgia"/>
                <a:ea typeface="Georgia"/>
                <a:cs typeface="Georgia"/>
                <a:sym typeface="Georgia"/>
              </a:rPr>
              <a:t>ctures/preparation</a:t>
            </a:r>
            <a:r>
              <a:rPr b="0" i="1" lang="en-US" sz="1350" u="none" cap="none" strike="noStrike">
                <a:solidFill>
                  <a:srgbClr val="606060"/>
                </a:solidFill>
                <a:latin typeface="Georgia"/>
                <a:ea typeface="Georgia"/>
                <a:cs typeface="Georgia"/>
                <a:sym typeface="Georgia"/>
              </a:rPr>
              <a:t> to a worked photometric-redshift pipeline.</a:t>
            </a:r>
            <a:endParaRPr b="0" i="0" sz="1350" u="none" cap="none" strike="noStrike">
              <a:solidFill>
                <a:schemeClr val="dk1"/>
              </a:solidFill>
              <a:latin typeface="Calibri"/>
              <a:ea typeface="Calibri"/>
              <a:cs typeface="Calibri"/>
              <a:sym typeface="Calibri"/>
            </a:endParaRPr>
          </a:p>
        </p:txBody>
      </p:sp>
      <p:sp>
        <p:nvSpPr>
          <p:cNvPr id="20" name="Google Shape;20;g3ebf767b1a6_0_15"/>
          <p:cNvSpPr/>
          <p:nvPr/>
        </p:nvSpPr>
        <p:spPr>
          <a:xfrm>
            <a:off x="457200" y="1234440"/>
            <a:ext cx="2743200" cy="1554600"/>
          </a:xfrm>
          <a:prstGeom prst="rect">
            <a:avLst/>
          </a:prstGeom>
          <a:solidFill>
            <a:srgbClr val="F4ECE9"/>
          </a:solidFill>
          <a:ln cap="flat" cmpd="sng" w="114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g3ebf767b1a6_0_15"/>
          <p:cNvSpPr/>
          <p:nvPr/>
        </p:nvSpPr>
        <p:spPr>
          <a:xfrm>
            <a:off x="594360" y="1371600"/>
            <a:ext cx="640200" cy="502800"/>
          </a:xfrm>
          <a:prstGeom prst="ellipse">
            <a:avLst/>
          </a:prstGeom>
          <a:solidFill>
            <a:srgbClr val="7B2D26"/>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g3ebf767b1a6_0_15"/>
          <p:cNvSpPr/>
          <p:nvPr/>
        </p:nvSpPr>
        <p:spPr>
          <a:xfrm>
            <a:off x="594360" y="1371600"/>
            <a:ext cx="6402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Georgia"/>
              <a:buNone/>
            </a:pPr>
            <a:r>
              <a:rPr b="1" i="0" lang="en-US" sz="1500" u="none" cap="none" strike="noStrike">
                <a:solidFill>
                  <a:srgbClr val="FFFFFF"/>
                </a:solidFill>
                <a:latin typeface="Georgia"/>
                <a:ea typeface="Georgia"/>
                <a:cs typeface="Georgia"/>
                <a:sym typeface="Georgia"/>
              </a:rPr>
              <a:t>1a</a:t>
            </a:r>
            <a:endParaRPr b="0" i="0" sz="1500" u="none" cap="none" strike="noStrike">
              <a:solidFill>
                <a:schemeClr val="dk1"/>
              </a:solidFill>
              <a:latin typeface="Calibri"/>
              <a:ea typeface="Calibri"/>
              <a:cs typeface="Calibri"/>
              <a:sym typeface="Calibri"/>
            </a:endParaRPr>
          </a:p>
        </p:txBody>
      </p:sp>
      <p:sp>
        <p:nvSpPr>
          <p:cNvPr id="23" name="Google Shape;23;g3ebf767b1a6_0_15"/>
          <p:cNvSpPr/>
          <p:nvPr/>
        </p:nvSpPr>
        <p:spPr>
          <a:xfrm>
            <a:off x="1325880" y="1399032"/>
            <a:ext cx="17373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900"/>
              <a:buFont typeface="Georgia"/>
              <a:buNone/>
            </a:pPr>
            <a:r>
              <a:rPr b="1" i="0" lang="en-US" sz="900" u="none" cap="none" strike="noStrike">
                <a:solidFill>
                  <a:srgbClr val="606060"/>
                </a:solidFill>
                <a:latin typeface="Georgia"/>
                <a:ea typeface="Georgia"/>
                <a:cs typeface="Georgia"/>
                <a:sym typeface="Georgia"/>
              </a:rPr>
              <a:t>LECTURE</a:t>
            </a:r>
            <a:endParaRPr b="0" i="0" sz="900" u="none" cap="none" strike="noStrike">
              <a:solidFill>
                <a:schemeClr val="dk1"/>
              </a:solidFill>
              <a:latin typeface="Calibri"/>
              <a:ea typeface="Calibri"/>
              <a:cs typeface="Calibri"/>
              <a:sym typeface="Calibri"/>
            </a:endParaRPr>
          </a:p>
        </p:txBody>
      </p:sp>
      <p:sp>
        <p:nvSpPr>
          <p:cNvPr id="24" name="Google Shape;24;g3ebf767b1a6_0_15"/>
          <p:cNvSpPr/>
          <p:nvPr/>
        </p:nvSpPr>
        <p:spPr>
          <a:xfrm>
            <a:off x="594360" y="1801368"/>
            <a:ext cx="24690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1350"/>
              <a:buFont typeface="Georgia"/>
              <a:buNone/>
            </a:pPr>
            <a:r>
              <a:rPr b="1" i="0" lang="en-US" sz="1350" u="none" cap="none" strike="noStrike">
                <a:solidFill>
                  <a:srgbClr val="7B2D26"/>
                </a:solidFill>
                <a:latin typeface="Georgia"/>
                <a:ea typeface="Georgia"/>
                <a:cs typeface="Georgia"/>
                <a:sym typeface="Georgia"/>
              </a:rPr>
              <a:t>The Taxonomy of</a:t>
            </a:r>
            <a:endParaRPr b="0" i="0" sz="13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B2D26"/>
              </a:buClr>
              <a:buSzPts val="1350"/>
              <a:buFont typeface="Georgia"/>
              <a:buNone/>
            </a:pPr>
            <a:r>
              <a:rPr b="1" i="0" lang="en-US" sz="1350" u="none" cap="none" strike="noStrike">
                <a:solidFill>
                  <a:srgbClr val="7B2D26"/>
                </a:solidFill>
                <a:latin typeface="Georgia"/>
                <a:ea typeface="Georgia"/>
                <a:cs typeface="Georgia"/>
                <a:sym typeface="Georgia"/>
              </a:rPr>
              <a:t>Machine Learning</a:t>
            </a:r>
            <a:endParaRPr b="0" i="0" sz="1350" u="none" cap="none" strike="noStrike">
              <a:solidFill>
                <a:schemeClr val="dk1"/>
              </a:solidFill>
              <a:latin typeface="Calibri"/>
              <a:ea typeface="Calibri"/>
              <a:cs typeface="Calibri"/>
              <a:sym typeface="Calibri"/>
            </a:endParaRPr>
          </a:p>
        </p:txBody>
      </p:sp>
      <p:sp>
        <p:nvSpPr>
          <p:cNvPr id="25" name="Google Shape;25;g3ebf767b1a6_0_15"/>
          <p:cNvSpPr/>
          <p:nvPr/>
        </p:nvSpPr>
        <p:spPr>
          <a:xfrm>
            <a:off x="594360" y="2350008"/>
            <a:ext cx="2469000" cy="411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900"/>
              <a:buFont typeface="Georgia"/>
              <a:buNone/>
            </a:pPr>
            <a:r>
              <a:rPr b="0" i="1" lang="en-US" sz="900" u="none" cap="none" strike="noStrike">
                <a:solidFill>
                  <a:srgbClr val="2B2B2B"/>
                </a:solidFill>
                <a:latin typeface="Georgia"/>
                <a:ea typeface="Georgia"/>
                <a:cs typeface="Georgia"/>
                <a:sym typeface="Georgia"/>
              </a:rPr>
              <a:t>AI vs ML  ·  paradigms  ·  problem archetypes  ·  why now</a:t>
            </a:r>
            <a:endParaRPr b="0" i="0" sz="900" u="none" cap="none" strike="noStrike">
              <a:solidFill>
                <a:schemeClr val="dk1"/>
              </a:solidFill>
              <a:latin typeface="Calibri"/>
              <a:ea typeface="Calibri"/>
              <a:cs typeface="Calibri"/>
              <a:sym typeface="Calibri"/>
            </a:endParaRPr>
          </a:p>
        </p:txBody>
      </p:sp>
      <p:sp>
        <p:nvSpPr>
          <p:cNvPr id="26" name="Google Shape;26;g3ebf767b1a6_0_15"/>
          <p:cNvSpPr/>
          <p:nvPr/>
        </p:nvSpPr>
        <p:spPr>
          <a:xfrm>
            <a:off x="3291840" y="1234440"/>
            <a:ext cx="2743200" cy="1554600"/>
          </a:xfrm>
          <a:prstGeom prst="rect">
            <a:avLst/>
          </a:prstGeom>
          <a:solidFill>
            <a:srgbClr val="F4ECE9"/>
          </a:solidFill>
          <a:ln cap="flat" cmpd="sng" w="114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g3ebf767b1a6_0_15"/>
          <p:cNvSpPr/>
          <p:nvPr/>
        </p:nvSpPr>
        <p:spPr>
          <a:xfrm>
            <a:off x="3429000" y="1371600"/>
            <a:ext cx="640200" cy="502800"/>
          </a:xfrm>
          <a:prstGeom prst="ellipse">
            <a:avLst/>
          </a:prstGeom>
          <a:solidFill>
            <a:srgbClr val="7B2D26"/>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g3ebf767b1a6_0_15"/>
          <p:cNvSpPr/>
          <p:nvPr/>
        </p:nvSpPr>
        <p:spPr>
          <a:xfrm>
            <a:off x="3429000" y="1371600"/>
            <a:ext cx="6402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Georgia"/>
              <a:buNone/>
            </a:pPr>
            <a:r>
              <a:rPr b="1" i="0" lang="en-US" sz="1500" u="none" cap="none" strike="noStrike">
                <a:solidFill>
                  <a:srgbClr val="FFFFFF"/>
                </a:solidFill>
                <a:latin typeface="Georgia"/>
                <a:ea typeface="Georgia"/>
                <a:cs typeface="Georgia"/>
                <a:sym typeface="Georgia"/>
              </a:rPr>
              <a:t>1b</a:t>
            </a:r>
            <a:endParaRPr b="0" i="0" sz="1500" u="none" cap="none" strike="noStrike">
              <a:solidFill>
                <a:schemeClr val="dk1"/>
              </a:solidFill>
              <a:latin typeface="Calibri"/>
              <a:ea typeface="Calibri"/>
              <a:cs typeface="Calibri"/>
              <a:sym typeface="Calibri"/>
            </a:endParaRPr>
          </a:p>
        </p:txBody>
      </p:sp>
      <p:sp>
        <p:nvSpPr>
          <p:cNvPr id="29" name="Google Shape;29;g3ebf767b1a6_0_15"/>
          <p:cNvSpPr/>
          <p:nvPr/>
        </p:nvSpPr>
        <p:spPr>
          <a:xfrm>
            <a:off x="4160520" y="1399032"/>
            <a:ext cx="17373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900"/>
              <a:buFont typeface="Georgia"/>
              <a:buNone/>
            </a:pPr>
            <a:r>
              <a:rPr b="1" i="0" lang="en-US" sz="900" u="none" cap="none" strike="noStrike">
                <a:solidFill>
                  <a:srgbClr val="606060"/>
                </a:solidFill>
                <a:latin typeface="Georgia"/>
                <a:ea typeface="Georgia"/>
                <a:cs typeface="Georgia"/>
                <a:sym typeface="Georgia"/>
              </a:rPr>
              <a:t>LECTURE</a:t>
            </a:r>
            <a:endParaRPr b="0" i="0" sz="900" u="none" cap="none" strike="noStrike">
              <a:solidFill>
                <a:schemeClr val="dk1"/>
              </a:solidFill>
              <a:latin typeface="Calibri"/>
              <a:ea typeface="Calibri"/>
              <a:cs typeface="Calibri"/>
              <a:sym typeface="Calibri"/>
            </a:endParaRPr>
          </a:p>
        </p:txBody>
      </p:sp>
      <p:sp>
        <p:nvSpPr>
          <p:cNvPr id="30" name="Google Shape;30;g3ebf767b1a6_0_15"/>
          <p:cNvSpPr/>
          <p:nvPr/>
        </p:nvSpPr>
        <p:spPr>
          <a:xfrm>
            <a:off x="3429000" y="1801368"/>
            <a:ext cx="24690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1350"/>
              <a:buFont typeface="Georgia"/>
              <a:buNone/>
            </a:pPr>
            <a:r>
              <a:rPr b="1" i="0" lang="en-US" sz="1350" u="none" cap="none" strike="noStrike">
                <a:solidFill>
                  <a:srgbClr val="7B2D26"/>
                </a:solidFill>
                <a:latin typeface="Georgia"/>
                <a:ea typeface="Georgia"/>
                <a:cs typeface="Georgia"/>
                <a:sym typeface="Georgia"/>
              </a:rPr>
              <a:t>Feature Vectors &amp;</a:t>
            </a:r>
            <a:endParaRPr b="0" i="0" sz="13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B2D26"/>
              </a:buClr>
              <a:buSzPts val="1350"/>
              <a:buFont typeface="Georgia"/>
              <a:buNone/>
            </a:pPr>
            <a:r>
              <a:rPr b="1" i="0" lang="en-US" sz="1350" u="none" cap="none" strike="noStrike">
                <a:solidFill>
                  <a:srgbClr val="7B2D26"/>
                </a:solidFill>
                <a:latin typeface="Georgia"/>
                <a:ea typeface="Georgia"/>
                <a:cs typeface="Georgia"/>
                <a:sym typeface="Georgia"/>
              </a:rPr>
              <a:t>Data Modalities</a:t>
            </a:r>
            <a:endParaRPr b="0" i="0" sz="1350" u="none" cap="none" strike="noStrike">
              <a:solidFill>
                <a:schemeClr val="dk1"/>
              </a:solidFill>
              <a:latin typeface="Calibri"/>
              <a:ea typeface="Calibri"/>
              <a:cs typeface="Calibri"/>
              <a:sym typeface="Calibri"/>
            </a:endParaRPr>
          </a:p>
        </p:txBody>
      </p:sp>
      <p:sp>
        <p:nvSpPr>
          <p:cNvPr id="31" name="Google Shape;31;g3ebf767b1a6_0_15"/>
          <p:cNvSpPr/>
          <p:nvPr/>
        </p:nvSpPr>
        <p:spPr>
          <a:xfrm>
            <a:off x="3429000" y="2350008"/>
            <a:ext cx="2469000" cy="411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900"/>
              <a:buFont typeface="Georgia"/>
              <a:buNone/>
            </a:pPr>
            <a:r>
              <a:rPr b="0" i="1" lang="en-US" sz="900" u="none" cap="none" strike="noStrike">
                <a:solidFill>
                  <a:srgbClr val="2B2B2B"/>
                </a:solidFill>
                <a:latin typeface="Georgia"/>
                <a:ea typeface="Georgia"/>
                <a:cs typeface="Georgia"/>
                <a:sym typeface="Georgia"/>
              </a:rPr>
              <a:t>frame the problem  ·  X / y  ·  data scales  ·  EDA  ·  curse of dim</a:t>
            </a:r>
            <a:endParaRPr b="0" i="0" sz="900" u="none" cap="none" strike="noStrike">
              <a:solidFill>
                <a:schemeClr val="dk1"/>
              </a:solidFill>
              <a:latin typeface="Calibri"/>
              <a:ea typeface="Calibri"/>
              <a:cs typeface="Calibri"/>
              <a:sym typeface="Calibri"/>
            </a:endParaRPr>
          </a:p>
        </p:txBody>
      </p:sp>
      <p:sp>
        <p:nvSpPr>
          <p:cNvPr id="32" name="Google Shape;32;g3ebf767b1a6_0_15"/>
          <p:cNvSpPr/>
          <p:nvPr/>
        </p:nvSpPr>
        <p:spPr>
          <a:xfrm>
            <a:off x="6126480" y="1234440"/>
            <a:ext cx="2743200" cy="1554600"/>
          </a:xfrm>
          <a:prstGeom prst="rect">
            <a:avLst/>
          </a:prstGeom>
          <a:solidFill>
            <a:srgbClr val="EAF1F4"/>
          </a:solidFill>
          <a:ln cap="flat" cmpd="sng" w="11425">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g3ebf767b1a6_0_15"/>
          <p:cNvSpPr/>
          <p:nvPr/>
        </p:nvSpPr>
        <p:spPr>
          <a:xfrm>
            <a:off x="6263640" y="1371600"/>
            <a:ext cx="640200" cy="502800"/>
          </a:xfrm>
          <a:prstGeom prst="ellipse">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g3ebf767b1a6_0_15"/>
          <p:cNvSpPr/>
          <p:nvPr/>
        </p:nvSpPr>
        <p:spPr>
          <a:xfrm>
            <a:off x="6263640" y="1371600"/>
            <a:ext cx="6402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Georgia"/>
              <a:buNone/>
            </a:pPr>
            <a:r>
              <a:rPr b="1" i="0" lang="en-US" sz="1500" u="none" cap="none" strike="noStrike">
                <a:solidFill>
                  <a:srgbClr val="FFFFFF"/>
                </a:solidFill>
                <a:latin typeface="Georgia"/>
                <a:ea typeface="Georgia"/>
                <a:cs typeface="Georgia"/>
                <a:sym typeface="Georgia"/>
              </a:rPr>
              <a:t>2</a:t>
            </a:r>
            <a:endParaRPr b="0" i="0" sz="1500" u="none" cap="none" strike="noStrike">
              <a:solidFill>
                <a:schemeClr val="dk1"/>
              </a:solidFill>
              <a:latin typeface="Calibri"/>
              <a:ea typeface="Calibri"/>
              <a:cs typeface="Calibri"/>
              <a:sym typeface="Calibri"/>
            </a:endParaRPr>
          </a:p>
        </p:txBody>
      </p:sp>
      <p:sp>
        <p:nvSpPr>
          <p:cNvPr id="35" name="Google Shape;35;g3ebf767b1a6_0_15"/>
          <p:cNvSpPr/>
          <p:nvPr/>
        </p:nvSpPr>
        <p:spPr>
          <a:xfrm>
            <a:off x="6995160" y="1399032"/>
            <a:ext cx="17373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900"/>
              <a:buFont typeface="Georgia"/>
              <a:buNone/>
            </a:pPr>
            <a:r>
              <a:rPr b="1" i="0" lang="en-US" sz="900" u="none" cap="none" strike="noStrike">
                <a:solidFill>
                  <a:srgbClr val="606060"/>
                </a:solidFill>
                <a:latin typeface="Georgia"/>
                <a:ea typeface="Georgia"/>
                <a:cs typeface="Georgia"/>
                <a:sym typeface="Georgia"/>
              </a:rPr>
              <a:t>LECTURE</a:t>
            </a:r>
            <a:endParaRPr b="0" i="0" sz="900" u="none" cap="none" strike="noStrike">
              <a:solidFill>
                <a:schemeClr val="dk1"/>
              </a:solidFill>
              <a:latin typeface="Calibri"/>
              <a:ea typeface="Calibri"/>
              <a:cs typeface="Calibri"/>
              <a:sym typeface="Calibri"/>
            </a:endParaRPr>
          </a:p>
        </p:txBody>
      </p:sp>
      <p:sp>
        <p:nvSpPr>
          <p:cNvPr id="36" name="Google Shape;36;g3ebf767b1a6_0_15"/>
          <p:cNvSpPr/>
          <p:nvPr/>
        </p:nvSpPr>
        <p:spPr>
          <a:xfrm>
            <a:off x="6263640" y="1801368"/>
            <a:ext cx="24690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F5A7A"/>
              </a:buClr>
              <a:buSzPts val="1350"/>
              <a:buFont typeface="Georgia"/>
              <a:buNone/>
            </a:pPr>
            <a:r>
              <a:rPr b="1" i="0" lang="en-US" sz="1350" u="none" cap="none" strike="noStrike">
                <a:solidFill>
                  <a:srgbClr val="2F5A7A"/>
                </a:solidFill>
                <a:latin typeface="Georgia"/>
                <a:ea typeface="Georgia"/>
                <a:cs typeface="Georgia"/>
                <a:sym typeface="Georgia"/>
              </a:rPr>
              <a:t>Data</a:t>
            </a:r>
            <a:endParaRPr b="0" i="0" sz="13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F5A7A"/>
              </a:buClr>
              <a:buSzPts val="1350"/>
              <a:buFont typeface="Georgia"/>
              <a:buNone/>
            </a:pPr>
            <a:r>
              <a:rPr b="1" i="0" lang="en-US" sz="1350" u="none" cap="none" strike="noStrike">
                <a:solidFill>
                  <a:srgbClr val="2F5A7A"/>
                </a:solidFill>
                <a:latin typeface="Georgia"/>
                <a:ea typeface="Georgia"/>
                <a:cs typeface="Georgia"/>
                <a:sym typeface="Georgia"/>
              </a:rPr>
              <a:t>Preparation</a:t>
            </a:r>
            <a:endParaRPr b="0" i="0" sz="1350" u="none" cap="none" strike="noStrike">
              <a:solidFill>
                <a:schemeClr val="dk1"/>
              </a:solidFill>
              <a:latin typeface="Calibri"/>
              <a:ea typeface="Calibri"/>
              <a:cs typeface="Calibri"/>
              <a:sym typeface="Calibri"/>
            </a:endParaRPr>
          </a:p>
        </p:txBody>
      </p:sp>
      <p:sp>
        <p:nvSpPr>
          <p:cNvPr id="37" name="Google Shape;37;g3ebf767b1a6_0_15"/>
          <p:cNvSpPr/>
          <p:nvPr/>
        </p:nvSpPr>
        <p:spPr>
          <a:xfrm>
            <a:off x="6263640" y="2350008"/>
            <a:ext cx="2469000" cy="411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900"/>
              <a:buFont typeface="Georgia"/>
              <a:buNone/>
            </a:pPr>
            <a:r>
              <a:rPr b="0" i="1" lang="en-US" sz="900" u="none" cap="none" strike="noStrike">
                <a:solidFill>
                  <a:srgbClr val="2B2B2B"/>
                </a:solidFill>
                <a:latin typeface="Georgia"/>
                <a:ea typeface="Georgia"/>
                <a:cs typeface="Georgia"/>
                <a:sym typeface="Georgia"/>
              </a:rPr>
              <a:t>missing values  ·  outliers  ·  scaling  ·  encoding  ·  PCA</a:t>
            </a:r>
            <a:endParaRPr b="0" i="0" sz="900" u="none" cap="none" strike="noStrike">
              <a:solidFill>
                <a:schemeClr val="dk1"/>
              </a:solidFill>
              <a:latin typeface="Calibri"/>
              <a:ea typeface="Calibri"/>
              <a:cs typeface="Calibri"/>
              <a:sym typeface="Calibri"/>
            </a:endParaRPr>
          </a:p>
        </p:txBody>
      </p:sp>
      <p:sp>
        <p:nvSpPr>
          <p:cNvPr id="38" name="Google Shape;38;g3ebf767b1a6_0_15"/>
          <p:cNvSpPr/>
          <p:nvPr/>
        </p:nvSpPr>
        <p:spPr>
          <a:xfrm>
            <a:off x="457200" y="2926080"/>
            <a:ext cx="2743200" cy="1554600"/>
          </a:xfrm>
          <a:prstGeom prst="rect">
            <a:avLst/>
          </a:prstGeom>
          <a:solidFill>
            <a:srgbClr val="E7EAE3"/>
          </a:solidFill>
          <a:ln cap="flat" cmpd="sng" w="11425">
            <a:solidFill>
              <a:srgbClr val="3A5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g3ebf767b1a6_0_15"/>
          <p:cNvSpPr/>
          <p:nvPr/>
        </p:nvSpPr>
        <p:spPr>
          <a:xfrm>
            <a:off x="594360" y="3063240"/>
            <a:ext cx="640200" cy="502800"/>
          </a:xfrm>
          <a:prstGeom prst="ellipse">
            <a:avLst/>
          </a:prstGeom>
          <a:solidFill>
            <a:srgbClr val="3A5A3B"/>
          </a:solidFill>
          <a:ln cap="flat" cmpd="sng" w="12700">
            <a:solidFill>
              <a:srgbClr val="3A5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g3ebf767b1a6_0_15"/>
          <p:cNvSpPr/>
          <p:nvPr/>
        </p:nvSpPr>
        <p:spPr>
          <a:xfrm>
            <a:off x="594360" y="3063240"/>
            <a:ext cx="6402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Georgia"/>
              <a:buNone/>
            </a:pPr>
            <a:r>
              <a:rPr b="1" i="0" lang="en-US" sz="1500" u="none" cap="none" strike="noStrike">
                <a:solidFill>
                  <a:srgbClr val="FFFFFF"/>
                </a:solidFill>
                <a:latin typeface="Georgia"/>
                <a:ea typeface="Georgia"/>
                <a:cs typeface="Georgia"/>
                <a:sym typeface="Georgia"/>
              </a:rPr>
              <a:t>3a</a:t>
            </a:r>
            <a:endParaRPr b="0" i="0" sz="1500" u="none" cap="none" strike="noStrike">
              <a:solidFill>
                <a:schemeClr val="dk1"/>
              </a:solidFill>
              <a:latin typeface="Calibri"/>
              <a:ea typeface="Calibri"/>
              <a:cs typeface="Calibri"/>
              <a:sym typeface="Calibri"/>
            </a:endParaRPr>
          </a:p>
        </p:txBody>
      </p:sp>
      <p:sp>
        <p:nvSpPr>
          <p:cNvPr id="41" name="Google Shape;41;g3ebf767b1a6_0_15"/>
          <p:cNvSpPr/>
          <p:nvPr/>
        </p:nvSpPr>
        <p:spPr>
          <a:xfrm>
            <a:off x="1325880" y="3090672"/>
            <a:ext cx="17373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900"/>
              <a:buFont typeface="Georgia"/>
              <a:buNone/>
            </a:pPr>
            <a:r>
              <a:rPr b="1" i="0" lang="en-US" sz="900" u="none" cap="none" strike="noStrike">
                <a:solidFill>
                  <a:srgbClr val="606060"/>
                </a:solidFill>
                <a:latin typeface="Georgia"/>
                <a:ea typeface="Georgia"/>
                <a:cs typeface="Georgia"/>
                <a:sym typeface="Georgia"/>
              </a:rPr>
              <a:t>LECTURE</a:t>
            </a:r>
            <a:endParaRPr b="0" i="0" sz="900" u="none" cap="none" strike="noStrike">
              <a:solidFill>
                <a:schemeClr val="dk1"/>
              </a:solidFill>
              <a:latin typeface="Calibri"/>
              <a:ea typeface="Calibri"/>
              <a:cs typeface="Calibri"/>
              <a:sym typeface="Calibri"/>
            </a:endParaRPr>
          </a:p>
        </p:txBody>
      </p:sp>
      <p:sp>
        <p:nvSpPr>
          <p:cNvPr id="42" name="Google Shape;42;g3ebf767b1a6_0_15"/>
          <p:cNvSpPr/>
          <p:nvPr/>
        </p:nvSpPr>
        <p:spPr>
          <a:xfrm>
            <a:off x="594360" y="3493008"/>
            <a:ext cx="24690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A5A3B"/>
              </a:buClr>
              <a:buSzPts val="1350"/>
              <a:buFont typeface="Georgia"/>
              <a:buNone/>
            </a:pPr>
            <a:r>
              <a:rPr b="1" i="0" lang="en-US" sz="1350" u="none" cap="none" strike="noStrike">
                <a:solidFill>
                  <a:srgbClr val="3A5A3B"/>
                </a:solidFill>
                <a:latin typeface="Georgia"/>
                <a:ea typeface="Georgia"/>
                <a:cs typeface="Georgia"/>
                <a:sym typeface="Georgia"/>
              </a:rPr>
              <a:t>Splits &amp;</a:t>
            </a:r>
            <a:endParaRPr b="0" i="0" sz="13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3A5A3B"/>
              </a:buClr>
              <a:buSzPts val="1350"/>
              <a:buFont typeface="Georgia"/>
              <a:buNone/>
            </a:pPr>
            <a:r>
              <a:rPr b="1" i="0" lang="en-US" sz="1350" u="none" cap="none" strike="noStrike">
                <a:solidFill>
                  <a:srgbClr val="3A5A3B"/>
                </a:solidFill>
                <a:latin typeface="Georgia"/>
                <a:ea typeface="Georgia"/>
                <a:cs typeface="Georgia"/>
                <a:sym typeface="Georgia"/>
              </a:rPr>
              <a:t>Model Reliability</a:t>
            </a:r>
            <a:endParaRPr b="0" i="0" sz="1350" u="none" cap="none" strike="noStrike">
              <a:solidFill>
                <a:schemeClr val="dk1"/>
              </a:solidFill>
              <a:latin typeface="Calibri"/>
              <a:ea typeface="Calibri"/>
              <a:cs typeface="Calibri"/>
              <a:sym typeface="Calibri"/>
            </a:endParaRPr>
          </a:p>
        </p:txBody>
      </p:sp>
      <p:sp>
        <p:nvSpPr>
          <p:cNvPr id="43" name="Google Shape;43;g3ebf767b1a6_0_15"/>
          <p:cNvSpPr/>
          <p:nvPr/>
        </p:nvSpPr>
        <p:spPr>
          <a:xfrm>
            <a:off x="594360" y="4041648"/>
            <a:ext cx="2469000" cy="411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900"/>
              <a:buFont typeface="Georgia"/>
              <a:buNone/>
            </a:pPr>
            <a:r>
              <a:rPr b="0" i="1" lang="en-US" sz="900" u="none" cap="none" strike="noStrike">
                <a:solidFill>
                  <a:srgbClr val="2B2B2B"/>
                </a:solidFill>
                <a:latin typeface="Georgia"/>
                <a:ea typeface="Georgia"/>
                <a:cs typeface="Georgia"/>
                <a:sym typeface="Georgia"/>
              </a:rPr>
              <a:t>train / val / test  ·  K-fold CV  ·  data leakage</a:t>
            </a:r>
            <a:endParaRPr b="0" i="0" sz="900" u="none" cap="none" strike="noStrike">
              <a:solidFill>
                <a:schemeClr val="dk1"/>
              </a:solidFill>
              <a:latin typeface="Calibri"/>
              <a:ea typeface="Calibri"/>
              <a:cs typeface="Calibri"/>
              <a:sym typeface="Calibri"/>
            </a:endParaRPr>
          </a:p>
        </p:txBody>
      </p:sp>
      <p:sp>
        <p:nvSpPr>
          <p:cNvPr id="44" name="Google Shape;44;g3ebf767b1a6_0_15"/>
          <p:cNvSpPr/>
          <p:nvPr/>
        </p:nvSpPr>
        <p:spPr>
          <a:xfrm>
            <a:off x="3291840" y="2926080"/>
            <a:ext cx="2743200" cy="1554600"/>
          </a:xfrm>
          <a:prstGeom prst="rect">
            <a:avLst/>
          </a:prstGeom>
          <a:solidFill>
            <a:srgbClr val="E7EAE3"/>
          </a:solidFill>
          <a:ln cap="flat" cmpd="sng" w="11425">
            <a:solidFill>
              <a:srgbClr val="3A5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g3ebf767b1a6_0_15"/>
          <p:cNvSpPr/>
          <p:nvPr/>
        </p:nvSpPr>
        <p:spPr>
          <a:xfrm>
            <a:off x="3429000" y="3063240"/>
            <a:ext cx="640200" cy="502800"/>
          </a:xfrm>
          <a:prstGeom prst="ellipse">
            <a:avLst/>
          </a:prstGeom>
          <a:solidFill>
            <a:srgbClr val="3A5A3B"/>
          </a:solidFill>
          <a:ln cap="flat" cmpd="sng" w="12700">
            <a:solidFill>
              <a:srgbClr val="3A5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g3ebf767b1a6_0_15"/>
          <p:cNvSpPr/>
          <p:nvPr/>
        </p:nvSpPr>
        <p:spPr>
          <a:xfrm>
            <a:off x="3429000" y="3063240"/>
            <a:ext cx="6402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Georgia"/>
              <a:buNone/>
            </a:pPr>
            <a:r>
              <a:rPr b="1" i="0" lang="en-US" sz="1500" u="none" cap="none" strike="noStrike">
                <a:solidFill>
                  <a:srgbClr val="FFFFFF"/>
                </a:solidFill>
                <a:latin typeface="Georgia"/>
                <a:ea typeface="Georgia"/>
                <a:cs typeface="Georgia"/>
                <a:sym typeface="Georgia"/>
              </a:rPr>
              <a:t>3b</a:t>
            </a:r>
            <a:endParaRPr b="0" i="0" sz="1500" u="none" cap="none" strike="noStrike">
              <a:solidFill>
                <a:schemeClr val="dk1"/>
              </a:solidFill>
              <a:latin typeface="Calibri"/>
              <a:ea typeface="Calibri"/>
              <a:cs typeface="Calibri"/>
              <a:sym typeface="Calibri"/>
            </a:endParaRPr>
          </a:p>
        </p:txBody>
      </p:sp>
      <p:sp>
        <p:nvSpPr>
          <p:cNvPr id="47" name="Google Shape;47;g3ebf767b1a6_0_15"/>
          <p:cNvSpPr/>
          <p:nvPr/>
        </p:nvSpPr>
        <p:spPr>
          <a:xfrm>
            <a:off x="4160520" y="3090672"/>
            <a:ext cx="17373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900"/>
              <a:buFont typeface="Georgia"/>
              <a:buNone/>
            </a:pPr>
            <a:r>
              <a:rPr b="1" i="0" lang="en-US" sz="900" u="none" cap="none" strike="noStrike">
                <a:solidFill>
                  <a:srgbClr val="606060"/>
                </a:solidFill>
                <a:latin typeface="Georgia"/>
                <a:ea typeface="Georgia"/>
                <a:cs typeface="Georgia"/>
                <a:sym typeface="Georgia"/>
              </a:rPr>
              <a:t>LECTURE</a:t>
            </a:r>
            <a:endParaRPr b="0" i="0" sz="900" u="none" cap="none" strike="noStrike">
              <a:solidFill>
                <a:schemeClr val="dk1"/>
              </a:solidFill>
              <a:latin typeface="Calibri"/>
              <a:ea typeface="Calibri"/>
              <a:cs typeface="Calibri"/>
              <a:sym typeface="Calibri"/>
            </a:endParaRPr>
          </a:p>
        </p:txBody>
      </p:sp>
      <p:sp>
        <p:nvSpPr>
          <p:cNvPr id="48" name="Google Shape;48;g3ebf767b1a6_0_15"/>
          <p:cNvSpPr/>
          <p:nvPr/>
        </p:nvSpPr>
        <p:spPr>
          <a:xfrm>
            <a:off x="3429000" y="3493008"/>
            <a:ext cx="24690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A5A3B"/>
              </a:buClr>
              <a:buSzPts val="1350"/>
              <a:buFont typeface="Georgia"/>
              <a:buNone/>
            </a:pPr>
            <a:r>
              <a:rPr b="1" i="0" lang="en-US" sz="1350" u="none" cap="none" strike="noStrike">
                <a:solidFill>
                  <a:srgbClr val="3A5A3B"/>
                </a:solidFill>
                <a:latin typeface="Georgia"/>
                <a:ea typeface="Georgia"/>
                <a:cs typeface="Georgia"/>
                <a:sym typeface="Georgia"/>
              </a:rPr>
              <a:t>Decision Trees →</a:t>
            </a:r>
            <a:endParaRPr b="0" i="0" sz="13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3A5A3B"/>
              </a:buClr>
              <a:buSzPts val="1350"/>
              <a:buFont typeface="Georgia"/>
              <a:buNone/>
            </a:pPr>
            <a:r>
              <a:rPr b="1" i="0" lang="en-US" sz="1350" u="none" cap="none" strike="noStrike">
                <a:solidFill>
                  <a:srgbClr val="3A5A3B"/>
                </a:solidFill>
                <a:latin typeface="Georgia"/>
                <a:ea typeface="Georgia"/>
                <a:cs typeface="Georgia"/>
                <a:sym typeface="Georgia"/>
              </a:rPr>
              <a:t>Random Forests</a:t>
            </a:r>
            <a:endParaRPr b="0" i="0" sz="1350" u="none" cap="none" strike="noStrike">
              <a:solidFill>
                <a:schemeClr val="dk1"/>
              </a:solidFill>
              <a:latin typeface="Calibri"/>
              <a:ea typeface="Calibri"/>
              <a:cs typeface="Calibri"/>
              <a:sym typeface="Calibri"/>
            </a:endParaRPr>
          </a:p>
        </p:txBody>
      </p:sp>
      <p:sp>
        <p:nvSpPr>
          <p:cNvPr id="49" name="Google Shape;49;g3ebf767b1a6_0_15"/>
          <p:cNvSpPr/>
          <p:nvPr/>
        </p:nvSpPr>
        <p:spPr>
          <a:xfrm>
            <a:off x="3429000" y="4041648"/>
            <a:ext cx="2469000" cy="411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900"/>
              <a:buFont typeface="Georgia"/>
              <a:buNone/>
            </a:pPr>
            <a:r>
              <a:rPr b="0" i="1" lang="en-US" sz="900" u="none" cap="none" strike="noStrike">
                <a:solidFill>
                  <a:srgbClr val="2B2B2B"/>
                </a:solidFill>
                <a:latin typeface="Georgia"/>
                <a:ea typeface="Georgia"/>
                <a:cs typeface="Georgia"/>
                <a:sym typeface="Georgia"/>
              </a:rPr>
              <a:t>Gini  ·  pruning  ·  bagging  ·  feature importance  ·  OOB</a:t>
            </a:r>
            <a:endParaRPr b="0" i="0" sz="900" u="none" cap="none" strike="noStrike">
              <a:solidFill>
                <a:schemeClr val="dk1"/>
              </a:solidFill>
              <a:latin typeface="Calibri"/>
              <a:ea typeface="Calibri"/>
              <a:cs typeface="Calibri"/>
              <a:sym typeface="Calibri"/>
            </a:endParaRPr>
          </a:p>
        </p:txBody>
      </p:sp>
      <p:sp>
        <p:nvSpPr>
          <p:cNvPr id="50" name="Google Shape;50;g3ebf767b1a6_0_15"/>
          <p:cNvSpPr/>
          <p:nvPr/>
        </p:nvSpPr>
        <p:spPr>
          <a:xfrm>
            <a:off x="6126480" y="2926080"/>
            <a:ext cx="2743200" cy="1554600"/>
          </a:xfrm>
          <a:prstGeom prst="rect">
            <a:avLst/>
          </a:prstGeom>
          <a:solidFill>
            <a:srgbClr val="F8EFE0"/>
          </a:solidFill>
          <a:ln cap="flat" cmpd="sng" w="11425">
            <a:solidFill>
              <a:srgbClr val="A36B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g3ebf767b1a6_0_15"/>
          <p:cNvSpPr/>
          <p:nvPr/>
        </p:nvSpPr>
        <p:spPr>
          <a:xfrm>
            <a:off x="6263640" y="3063240"/>
            <a:ext cx="640200" cy="502800"/>
          </a:xfrm>
          <a:prstGeom prst="ellipse">
            <a:avLst/>
          </a:prstGeom>
          <a:solidFill>
            <a:srgbClr val="A36B1F"/>
          </a:solidFill>
          <a:ln cap="flat" cmpd="sng" w="12700">
            <a:solidFill>
              <a:srgbClr val="A36B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g3ebf767b1a6_0_15"/>
          <p:cNvSpPr/>
          <p:nvPr/>
        </p:nvSpPr>
        <p:spPr>
          <a:xfrm>
            <a:off x="6263540" y="3035915"/>
            <a:ext cx="6402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Georgia"/>
              <a:buNone/>
            </a:pPr>
            <a:r>
              <a:rPr b="1" i="0" lang="en-US" sz="1500" u="none" cap="none" strike="noStrike">
                <a:solidFill>
                  <a:srgbClr val="FFFFFF"/>
                </a:solidFill>
                <a:latin typeface="Georgia"/>
                <a:ea typeface="Georgia"/>
                <a:cs typeface="Georgia"/>
                <a:sym typeface="Georgia"/>
              </a:rPr>
              <a:t>4</a:t>
            </a:r>
            <a:endParaRPr b="0" i="0" sz="1500" u="none" cap="none" strike="noStrike">
              <a:solidFill>
                <a:schemeClr val="dk1"/>
              </a:solidFill>
              <a:latin typeface="Calibri"/>
              <a:ea typeface="Calibri"/>
              <a:cs typeface="Calibri"/>
              <a:sym typeface="Calibri"/>
            </a:endParaRPr>
          </a:p>
        </p:txBody>
      </p:sp>
      <p:sp>
        <p:nvSpPr>
          <p:cNvPr id="53" name="Google Shape;53;g3ebf767b1a6_0_15"/>
          <p:cNvSpPr/>
          <p:nvPr/>
        </p:nvSpPr>
        <p:spPr>
          <a:xfrm>
            <a:off x="6995160" y="3090672"/>
            <a:ext cx="17373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900"/>
              <a:buFont typeface="Georgia"/>
              <a:buNone/>
            </a:pPr>
            <a:r>
              <a:rPr b="1" i="0" lang="en-US" sz="900" u="none" cap="none" strike="noStrike">
                <a:solidFill>
                  <a:srgbClr val="606060"/>
                </a:solidFill>
                <a:latin typeface="Georgia"/>
                <a:ea typeface="Georgia"/>
                <a:cs typeface="Georgia"/>
                <a:sym typeface="Georgia"/>
              </a:rPr>
              <a:t>LECTURE</a:t>
            </a:r>
            <a:endParaRPr b="0" i="0" sz="900" u="none" cap="none" strike="noStrike">
              <a:solidFill>
                <a:schemeClr val="dk1"/>
              </a:solidFill>
              <a:latin typeface="Calibri"/>
              <a:ea typeface="Calibri"/>
              <a:cs typeface="Calibri"/>
              <a:sym typeface="Calibri"/>
            </a:endParaRPr>
          </a:p>
        </p:txBody>
      </p:sp>
      <p:sp>
        <p:nvSpPr>
          <p:cNvPr id="54" name="Google Shape;54;g3ebf767b1a6_0_15"/>
          <p:cNvSpPr/>
          <p:nvPr/>
        </p:nvSpPr>
        <p:spPr>
          <a:xfrm>
            <a:off x="6263640" y="3493008"/>
            <a:ext cx="24690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36B1F"/>
              </a:buClr>
              <a:buSzPts val="1350"/>
              <a:buFont typeface="Georgia"/>
              <a:buNone/>
            </a:pPr>
            <a:r>
              <a:rPr b="1" i="0" lang="en-US" sz="1350" u="none" cap="none" strike="noStrike">
                <a:solidFill>
                  <a:srgbClr val="A36B1F"/>
                </a:solidFill>
                <a:latin typeface="Georgia"/>
                <a:ea typeface="Georgia"/>
                <a:cs typeface="Georgia"/>
                <a:sym typeface="Georgia"/>
              </a:rPr>
              <a:t>Practical RF +</a:t>
            </a:r>
            <a:endParaRPr b="0" i="0" sz="13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A36B1F"/>
              </a:buClr>
              <a:buSzPts val="1350"/>
              <a:buFont typeface="Georgia"/>
              <a:buNone/>
            </a:pPr>
            <a:r>
              <a:rPr b="1" i="0" lang="en-US" sz="1350" u="none" cap="none" strike="noStrike">
                <a:solidFill>
                  <a:srgbClr val="A36B1F"/>
                </a:solidFill>
                <a:latin typeface="Georgia"/>
                <a:ea typeface="Georgia"/>
                <a:cs typeface="Georgia"/>
                <a:sym typeface="Georgia"/>
              </a:rPr>
              <a:t>Photo-z Case Study</a:t>
            </a:r>
            <a:endParaRPr b="0" i="0" sz="1350" u="none" cap="none" strike="noStrike">
              <a:solidFill>
                <a:schemeClr val="dk1"/>
              </a:solidFill>
              <a:latin typeface="Calibri"/>
              <a:ea typeface="Calibri"/>
              <a:cs typeface="Calibri"/>
              <a:sym typeface="Calibri"/>
            </a:endParaRPr>
          </a:p>
        </p:txBody>
      </p:sp>
      <p:sp>
        <p:nvSpPr>
          <p:cNvPr id="55" name="Google Shape;55;g3ebf767b1a6_0_15"/>
          <p:cNvSpPr/>
          <p:nvPr/>
        </p:nvSpPr>
        <p:spPr>
          <a:xfrm>
            <a:off x="6263640" y="4041648"/>
            <a:ext cx="2469000" cy="411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900"/>
              <a:buFont typeface="Georgia"/>
              <a:buNone/>
            </a:pPr>
            <a:r>
              <a:rPr b="0" i="1" lang="en-US" sz="900" u="none" cap="none" strike="noStrike">
                <a:solidFill>
                  <a:srgbClr val="2B2B2B"/>
                </a:solidFill>
                <a:latin typeface="Georgia"/>
                <a:ea typeface="Georgia"/>
                <a:cs typeface="Georgia"/>
                <a:sym typeface="Georgia"/>
              </a:rPr>
              <a:t>sklearn pipeline  ·  pitfalls  ·  10 000 SDSS galaxies</a:t>
            </a:r>
            <a:endParaRPr b="0" i="0" sz="900" u="none" cap="none" strike="noStrike">
              <a:solidFill>
                <a:schemeClr val="dk1"/>
              </a:solidFill>
              <a:latin typeface="Calibri"/>
              <a:ea typeface="Calibri"/>
              <a:cs typeface="Calibri"/>
              <a:sym typeface="Calibri"/>
            </a:endParaRPr>
          </a:p>
        </p:txBody>
      </p:sp>
      <p:sp>
        <p:nvSpPr>
          <p:cNvPr id="56" name="Google Shape;56;g3ebf767b1a6_0_15"/>
          <p:cNvSpPr/>
          <p:nvPr/>
        </p:nvSpPr>
        <p:spPr>
          <a:xfrm>
            <a:off x="457200" y="4617720"/>
            <a:ext cx="8229600" cy="365700"/>
          </a:xfrm>
          <a:prstGeom prst="rect">
            <a:avLst/>
          </a:prstGeom>
          <a:solidFill>
            <a:srgbClr val="F9F4F1"/>
          </a:solidFill>
          <a:ln cap="flat" cmpd="sng" w="9525">
            <a:solidFill>
              <a:srgbClr val="B0B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g3ebf767b1a6_0_15"/>
          <p:cNvSpPr/>
          <p:nvPr/>
        </p:nvSpPr>
        <p:spPr>
          <a:xfrm>
            <a:off x="548640" y="4636008"/>
            <a:ext cx="8046600" cy="329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1200"/>
              <a:buFont typeface="Georgia"/>
              <a:buNone/>
            </a:pPr>
            <a:r>
              <a:rPr b="1" i="0" lang="en-US" sz="1200" u="none" cap="none" strike="noStrike">
                <a:solidFill>
                  <a:srgbClr val="7B2D26"/>
                </a:solidFill>
                <a:latin typeface="Georgia"/>
                <a:ea typeface="Georgia"/>
                <a:cs typeface="Georgia"/>
                <a:sym typeface="Georgia"/>
              </a:rPr>
              <a:t>Theme:  Foundations </a:t>
            </a:r>
            <a:r>
              <a:rPr b="0" i="0" lang="en-US" sz="1200" u="none" cap="none" strike="noStrike">
                <a:solidFill>
                  <a:srgbClr val="606060"/>
                </a:solidFill>
                <a:latin typeface="Georgia"/>
                <a:ea typeface="Georgia"/>
                <a:cs typeface="Georgia"/>
                <a:sym typeface="Georgia"/>
              </a:rPr>
              <a:t>→  </a:t>
            </a:r>
            <a:r>
              <a:rPr b="1" i="0" lang="en-US" sz="1200" u="none" cap="none" strike="noStrike">
                <a:solidFill>
                  <a:srgbClr val="2F5A7A"/>
                </a:solidFill>
                <a:latin typeface="Georgia"/>
                <a:ea typeface="Georgia"/>
                <a:cs typeface="Georgia"/>
                <a:sym typeface="Georgia"/>
              </a:rPr>
              <a:t>Data preparation </a:t>
            </a:r>
            <a:r>
              <a:rPr b="0" i="0" lang="en-US" sz="1200" u="none" cap="none" strike="noStrike">
                <a:solidFill>
                  <a:srgbClr val="606060"/>
                </a:solidFill>
                <a:latin typeface="Georgia"/>
                <a:ea typeface="Georgia"/>
                <a:cs typeface="Georgia"/>
                <a:sym typeface="Georgia"/>
              </a:rPr>
              <a:t>→  </a:t>
            </a:r>
            <a:r>
              <a:rPr b="1" i="0" lang="en-US" sz="1200" u="none" cap="none" strike="noStrike">
                <a:solidFill>
                  <a:srgbClr val="3A5A3B"/>
                </a:solidFill>
                <a:latin typeface="Georgia"/>
                <a:ea typeface="Georgia"/>
                <a:cs typeface="Georgia"/>
                <a:sym typeface="Georgia"/>
              </a:rPr>
              <a:t>Reliability &amp; models </a:t>
            </a:r>
            <a:r>
              <a:rPr b="0" i="0" lang="en-US" sz="1200" u="none" cap="none" strike="noStrike">
                <a:solidFill>
                  <a:srgbClr val="606060"/>
                </a:solidFill>
                <a:latin typeface="Georgia"/>
                <a:ea typeface="Georgia"/>
                <a:cs typeface="Georgia"/>
                <a:sym typeface="Georgia"/>
              </a:rPr>
              <a:t>→  </a:t>
            </a:r>
            <a:r>
              <a:rPr b="1" i="0" lang="en-US" sz="1200" u="none" cap="none" strike="noStrike">
                <a:solidFill>
                  <a:srgbClr val="A36B1F"/>
                </a:solidFill>
                <a:latin typeface="Georgia"/>
                <a:ea typeface="Georgia"/>
                <a:cs typeface="Georgia"/>
                <a:sym typeface="Georgia"/>
              </a:rPr>
              <a:t>Practical case study</a:t>
            </a:r>
            <a:endParaRPr b="0" i="0" sz="1200" u="none" cap="none" strike="noStrike">
              <a:solidFill>
                <a:schemeClr val="dk1"/>
              </a:solidFill>
              <a:latin typeface="Calibri"/>
              <a:ea typeface="Calibri"/>
              <a:cs typeface="Calibri"/>
              <a:sym typeface="Calibri"/>
            </a:endParaRPr>
          </a:p>
        </p:txBody>
      </p:sp>
      <p:pic>
        <p:nvPicPr>
          <p:cNvPr descr="/sessions/sleepy-friendly-euler/mnt/outputs/logos/cosmicai_logo.png" id="58" name="Google Shape;58;g3ebf767b1a6_0_15"/>
          <p:cNvPicPr preferRelativeResize="0"/>
          <p:nvPr/>
        </p:nvPicPr>
        <p:blipFill rotWithShape="1">
          <a:blip r:embed="rId4">
            <a:alphaModFix/>
          </a:blip>
          <a:srcRect b="0" l="0" r="0" t="0"/>
          <a:stretch/>
        </p:blipFill>
        <p:spPr>
          <a:xfrm>
            <a:off x="7249225" y="77800"/>
            <a:ext cx="1478565" cy="571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 name="Shape 63"/>
        <p:cNvGrpSpPr/>
        <p:nvPr/>
      </p:nvGrpSpPr>
      <p:grpSpPr>
        <a:xfrm>
          <a:off x="0" y="0"/>
          <a:ext cx="0" cy="0"/>
          <a:chOff x="0" y="0"/>
          <a:chExt cx="0" cy="0"/>
        </a:xfrm>
      </p:grpSpPr>
      <p:pic>
        <p:nvPicPr>
          <p:cNvPr descr="/sessions/sleepy-friendly-euler/mnt/outputs/logos/nrao_logo.png" id="64" name="Google Shape;64;p1"/>
          <p:cNvPicPr preferRelativeResize="0"/>
          <p:nvPr/>
        </p:nvPicPr>
        <p:blipFill rotWithShape="1">
          <a:blip r:embed="rId3">
            <a:alphaModFix/>
          </a:blip>
          <a:srcRect b="0" l="0" r="0" t="0"/>
          <a:stretch/>
        </p:blipFill>
        <p:spPr>
          <a:xfrm>
            <a:off x="228600" y="182880"/>
            <a:ext cx="594360" cy="758952"/>
          </a:xfrm>
          <a:prstGeom prst="rect">
            <a:avLst/>
          </a:prstGeom>
          <a:noFill/>
          <a:ln>
            <a:noFill/>
          </a:ln>
        </p:spPr>
      </p:pic>
      <p:sp>
        <p:nvSpPr>
          <p:cNvPr id="65" name="Google Shape;65;p1"/>
          <p:cNvSpPr/>
          <p:nvPr/>
        </p:nvSpPr>
        <p:spPr>
          <a:xfrm>
            <a:off x="457200" y="1417320"/>
            <a:ext cx="82296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800"/>
              <a:buFont typeface="Georgia"/>
              <a:buNone/>
            </a:pPr>
            <a:r>
              <a:rPr b="0" i="0" lang="en-US" sz="3800" u="none" cap="none" strike="noStrike">
                <a:solidFill>
                  <a:srgbClr val="7B2D26"/>
                </a:solidFill>
                <a:latin typeface="Georgia"/>
                <a:ea typeface="Georgia"/>
                <a:cs typeface="Georgia"/>
                <a:sym typeface="Georgia"/>
              </a:rPr>
              <a:t>Lecture 1a:</a:t>
            </a:r>
            <a:endParaRPr b="0" i="0" sz="3800" u="none" cap="none" strike="noStrike">
              <a:solidFill>
                <a:schemeClr val="dk1"/>
              </a:solidFill>
              <a:latin typeface="Calibri"/>
              <a:ea typeface="Calibri"/>
              <a:cs typeface="Calibri"/>
              <a:sym typeface="Calibri"/>
            </a:endParaRPr>
          </a:p>
        </p:txBody>
      </p:sp>
      <p:sp>
        <p:nvSpPr>
          <p:cNvPr id="66" name="Google Shape;66;p1"/>
          <p:cNvSpPr/>
          <p:nvPr/>
        </p:nvSpPr>
        <p:spPr>
          <a:xfrm>
            <a:off x="457200" y="2057400"/>
            <a:ext cx="8229600"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200"/>
              <a:buFont typeface="Georgia"/>
              <a:buNone/>
            </a:pPr>
            <a:r>
              <a:rPr b="0" i="0" lang="en-US" sz="3200" u="none" cap="none" strike="noStrike">
                <a:solidFill>
                  <a:srgbClr val="7B2D26"/>
                </a:solidFill>
                <a:latin typeface="Georgia"/>
                <a:ea typeface="Georgia"/>
                <a:cs typeface="Georgia"/>
                <a:sym typeface="Georgia"/>
              </a:rPr>
              <a:t>The Taxonomy of Machine Learning</a:t>
            </a:r>
            <a:endParaRPr b="0" i="0" sz="3200" u="none" cap="none" strike="noStrike">
              <a:solidFill>
                <a:schemeClr val="dk1"/>
              </a:solidFill>
              <a:latin typeface="Calibri"/>
              <a:ea typeface="Calibri"/>
              <a:cs typeface="Calibri"/>
              <a:sym typeface="Calibri"/>
            </a:endParaRPr>
          </a:p>
        </p:txBody>
      </p:sp>
      <p:sp>
        <p:nvSpPr>
          <p:cNvPr id="67" name="Google Shape;67;p1"/>
          <p:cNvSpPr/>
          <p:nvPr/>
        </p:nvSpPr>
        <p:spPr>
          <a:xfrm>
            <a:off x="457200" y="2880360"/>
            <a:ext cx="8229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06060"/>
              </a:buClr>
              <a:buSzPts val="1800"/>
              <a:buFont typeface="Georgia"/>
              <a:buNone/>
            </a:pPr>
            <a:r>
              <a:rPr b="0" i="1" lang="en-US" sz="1800" u="none" cap="none" strike="noStrike">
                <a:solidFill>
                  <a:srgbClr val="606060"/>
                </a:solidFill>
                <a:latin typeface="Georgia"/>
                <a:ea typeface="Georgia"/>
                <a:cs typeface="Georgia"/>
                <a:sym typeface="Georgia"/>
              </a:rPr>
              <a:t>A guided tour of the landscape</a:t>
            </a:r>
            <a:endParaRPr b="0" i="0" sz="1800" u="none" cap="none" strike="noStrike">
              <a:solidFill>
                <a:schemeClr val="dk1"/>
              </a:solidFill>
              <a:latin typeface="Calibri"/>
              <a:ea typeface="Calibri"/>
              <a:cs typeface="Calibri"/>
              <a:sym typeface="Calibri"/>
            </a:endParaRPr>
          </a:p>
        </p:txBody>
      </p:sp>
      <p:sp>
        <p:nvSpPr>
          <p:cNvPr id="68" name="Google Shape;68;p1"/>
          <p:cNvSpPr/>
          <p:nvPr/>
        </p:nvSpPr>
        <p:spPr>
          <a:xfrm>
            <a:off x="457200" y="3520440"/>
            <a:ext cx="822960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800"/>
              <a:buFont typeface="Georgia"/>
              <a:buNone/>
            </a:pPr>
            <a:r>
              <a:rPr b="0" i="0" lang="en-US" sz="1800" u="none" cap="none" strike="noStrike">
                <a:solidFill>
                  <a:srgbClr val="2B2B2B"/>
                </a:solidFill>
                <a:latin typeface="Georgia"/>
                <a:ea typeface="Georgia"/>
                <a:cs typeface="Georgia"/>
                <a:sym typeface="Georgia"/>
              </a:rPr>
              <a:t>Omkar Bait (CosmicAI Fellow)</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B2B2B"/>
              </a:buClr>
              <a:buSzPts val="1800"/>
              <a:buFont typeface="Georgia"/>
              <a:buNone/>
            </a:pPr>
            <a:r>
              <a:rPr b="0" i="0" lang="en-US" sz="1800" u="none" cap="none" strike="noStrike">
                <a:solidFill>
                  <a:srgbClr val="2B2B2B"/>
                </a:solidFill>
                <a:latin typeface="Georgia"/>
                <a:ea typeface="Georgia"/>
                <a:cs typeface="Georgia"/>
                <a:sym typeface="Georgia"/>
              </a:rPr>
              <a:t>NRAO, Charlottesville</a:t>
            </a:r>
            <a:endParaRPr b="0" i="0" sz="1800" u="none" cap="none" strike="noStrike">
              <a:solidFill>
                <a:schemeClr val="dk1"/>
              </a:solidFill>
              <a:latin typeface="Calibri"/>
              <a:ea typeface="Calibri"/>
              <a:cs typeface="Calibri"/>
              <a:sym typeface="Calibri"/>
            </a:endParaRPr>
          </a:p>
        </p:txBody>
      </p:sp>
      <p:sp>
        <p:nvSpPr>
          <p:cNvPr id="69" name="Google Shape;69;p1"/>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70" name="Google Shape;70;p1"/>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a:t>
            </a:r>
            <a:endParaRPr b="0" i="0" sz="1200" u="none" cap="none" strike="noStrike">
              <a:solidFill>
                <a:schemeClr val="dk1"/>
              </a:solidFill>
              <a:latin typeface="Calibri"/>
              <a:ea typeface="Calibri"/>
              <a:cs typeface="Calibri"/>
              <a:sym typeface="Calibri"/>
            </a:endParaRPr>
          </a:p>
        </p:txBody>
      </p:sp>
      <p:pic>
        <p:nvPicPr>
          <p:cNvPr descr="/sessions/sleepy-friendly-euler/mnt/outputs/logos/cosmicai_logo.png" id="71" name="Google Shape;71;p1"/>
          <p:cNvPicPr preferRelativeResize="0"/>
          <p:nvPr/>
        </p:nvPicPr>
        <p:blipFill rotWithShape="1">
          <a:blip r:embed="rId4">
            <a:alphaModFix/>
          </a:blip>
          <a:srcRect b="0" l="0" r="0" t="0"/>
          <a:stretch/>
        </p:blipFill>
        <p:spPr>
          <a:xfrm>
            <a:off x="228600" y="4414900"/>
            <a:ext cx="1441675" cy="614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 name="Shape 76"/>
        <p:cNvGrpSpPr/>
        <p:nvPr/>
      </p:nvGrpSpPr>
      <p:grpSpPr>
        <a:xfrm>
          <a:off x="0" y="0"/>
          <a:ext cx="0" cy="0"/>
          <a:chOff x="0" y="0"/>
          <a:chExt cx="0" cy="0"/>
        </a:xfrm>
      </p:grpSpPr>
      <p:sp>
        <p:nvSpPr>
          <p:cNvPr id="77" name="Google Shape;77;p2"/>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AI  –  ML  –  Deep Learning</a:t>
            </a:r>
            <a:endParaRPr b="0" i="0" sz="3000" u="none" cap="none" strike="noStrike">
              <a:solidFill>
                <a:schemeClr val="dk1"/>
              </a:solidFill>
              <a:latin typeface="Calibri"/>
              <a:ea typeface="Calibri"/>
              <a:cs typeface="Calibri"/>
              <a:sym typeface="Calibri"/>
            </a:endParaRPr>
          </a:p>
        </p:txBody>
      </p:sp>
      <p:cxnSp>
        <p:nvCxnSpPr>
          <p:cNvPr id="78" name="Google Shape;78;p2"/>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79" name="Google Shape;79;p2"/>
          <p:cNvSpPr/>
          <p:nvPr/>
        </p:nvSpPr>
        <p:spPr>
          <a:xfrm>
            <a:off x="5074920" y="914400"/>
            <a:ext cx="3794760" cy="96012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5212080" y="960120"/>
            <a:ext cx="35204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400"/>
              <a:buFont typeface="Georgia"/>
              <a:buNone/>
            </a:pPr>
            <a:r>
              <a:rPr b="1" i="0" lang="en-US" sz="1400" u="none" cap="none" strike="noStrike">
                <a:solidFill>
                  <a:srgbClr val="7B2D26"/>
                </a:solidFill>
                <a:latin typeface="Georgia"/>
                <a:ea typeface="Georgia"/>
                <a:cs typeface="Georgia"/>
                <a:sym typeface="Georgia"/>
              </a:rPr>
              <a:t>Artificial Intelligence</a:t>
            </a:r>
            <a:endParaRPr b="0" i="0" sz="1400" u="none" cap="none" strike="noStrike">
              <a:solidFill>
                <a:schemeClr val="dk1"/>
              </a:solidFill>
              <a:latin typeface="Calibri"/>
              <a:ea typeface="Calibri"/>
              <a:cs typeface="Calibri"/>
              <a:sym typeface="Calibri"/>
            </a:endParaRPr>
          </a:p>
        </p:txBody>
      </p:sp>
      <p:sp>
        <p:nvSpPr>
          <p:cNvPr id="81" name="Google Shape;81;p2"/>
          <p:cNvSpPr/>
          <p:nvPr/>
        </p:nvSpPr>
        <p:spPr>
          <a:xfrm>
            <a:off x="5212080" y="1261872"/>
            <a:ext cx="352044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150"/>
              <a:buFont typeface="Georgia"/>
              <a:buNone/>
            </a:pPr>
            <a:r>
              <a:rPr b="0" i="0" lang="en-US" sz="1150" u="none" cap="none" strike="noStrike">
                <a:solidFill>
                  <a:srgbClr val="2B2B2B"/>
                </a:solidFill>
                <a:latin typeface="Georgia"/>
                <a:ea typeface="Georgia"/>
                <a:cs typeface="Georgia"/>
                <a:sym typeface="Georgia"/>
              </a:rPr>
              <a:t>The broad pursuit of building systems that perform tasks requiring human-level intelligence.</a:t>
            </a:r>
            <a:endParaRPr b="0" i="0" sz="1150" u="none" cap="none" strike="noStrike">
              <a:solidFill>
                <a:schemeClr val="dk1"/>
              </a:solidFill>
              <a:latin typeface="Calibri"/>
              <a:ea typeface="Calibri"/>
              <a:cs typeface="Calibri"/>
              <a:sym typeface="Calibri"/>
            </a:endParaRPr>
          </a:p>
        </p:txBody>
      </p:sp>
      <p:sp>
        <p:nvSpPr>
          <p:cNvPr id="82" name="Google Shape;82;p2"/>
          <p:cNvSpPr/>
          <p:nvPr/>
        </p:nvSpPr>
        <p:spPr>
          <a:xfrm>
            <a:off x="5074920" y="1965960"/>
            <a:ext cx="3794760" cy="960120"/>
          </a:xfrm>
          <a:prstGeom prst="rect">
            <a:avLst/>
          </a:prstGeom>
          <a:solidFill>
            <a:srgbClr val="EAF1F4"/>
          </a:solidFill>
          <a:ln cap="flat" cmpd="sng" w="9525">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5212080" y="2011680"/>
            <a:ext cx="35204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5A7A"/>
              </a:buClr>
              <a:buSzPts val="1400"/>
              <a:buFont typeface="Georgia"/>
              <a:buNone/>
            </a:pPr>
            <a:r>
              <a:rPr b="1" i="0" lang="en-US" sz="1400" u="none" cap="none" strike="noStrike">
                <a:solidFill>
                  <a:srgbClr val="2F5A7A"/>
                </a:solidFill>
                <a:latin typeface="Georgia"/>
                <a:ea typeface="Georgia"/>
                <a:cs typeface="Georgia"/>
                <a:sym typeface="Georgia"/>
              </a:rPr>
              <a:t>Machine Learning</a:t>
            </a:r>
            <a:endParaRPr b="0" i="0" sz="1400" u="none" cap="none" strike="noStrike">
              <a:solidFill>
                <a:schemeClr val="dk1"/>
              </a:solidFill>
              <a:latin typeface="Calibri"/>
              <a:ea typeface="Calibri"/>
              <a:cs typeface="Calibri"/>
              <a:sym typeface="Calibri"/>
            </a:endParaRPr>
          </a:p>
        </p:txBody>
      </p:sp>
      <p:sp>
        <p:nvSpPr>
          <p:cNvPr id="84" name="Google Shape;84;p2"/>
          <p:cNvSpPr/>
          <p:nvPr/>
        </p:nvSpPr>
        <p:spPr>
          <a:xfrm>
            <a:off x="5212080" y="2313432"/>
            <a:ext cx="352044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150"/>
              <a:buFont typeface="Georgia"/>
              <a:buNone/>
            </a:pPr>
            <a:r>
              <a:rPr b="0" i="0" lang="en-US" sz="1150" u="none" cap="none" strike="noStrike">
                <a:solidFill>
                  <a:srgbClr val="2B2B2B"/>
                </a:solidFill>
                <a:latin typeface="Georgia"/>
                <a:ea typeface="Georgia"/>
                <a:cs typeface="Georgia"/>
                <a:sym typeface="Georgia"/>
              </a:rPr>
              <a:t>A subset of AI focused on statistical algorithms that learn from data — improving with experience.</a:t>
            </a:r>
            <a:endParaRPr b="0" i="0" sz="1150" u="none" cap="none" strike="noStrike">
              <a:solidFill>
                <a:schemeClr val="dk1"/>
              </a:solidFill>
              <a:latin typeface="Calibri"/>
              <a:ea typeface="Calibri"/>
              <a:cs typeface="Calibri"/>
              <a:sym typeface="Calibri"/>
            </a:endParaRPr>
          </a:p>
        </p:txBody>
      </p:sp>
      <p:sp>
        <p:nvSpPr>
          <p:cNvPr id="85" name="Google Shape;85;p2"/>
          <p:cNvSpPr/>
          <p:nvPr/>
        </p:nvSpPr>
        <p:spPr>
          <a:xfrm>
            <a:off x="5074920" y="3017520"/>
            <a:ext cx="3794760" cy="960120"/>
          </a:xfrm>
          <a:prstGeom prst="rect">
            <a:avLst/>
          </a:prstGeom>
          <a:solidFill>
            <a:srgbClr val="E7EAE3"/>
          </a:solidFill>
          <a:ln cap="flat" cmpd="sng" w="9525">
            <a:solidFill>
              <a:srgbClr val="3A5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5212080" y="3063240"/>
            <a:ext cx="35204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5A3B"/>
              </a:buClr>
              <a:buSzPts val="1400"/>
              <a:buFont typeface="Georgia"/>
              <a:buNone/>
            </a:pPr>
            <a:r>
              <a:rPr b="1" i="0" lang="en-US" sz="1400" u="none" cap="none" strike="noStrike">
                <a:solidFill>
                  <a:srgbClr val="3A5A3B"/>
                </a:solidFill>
                <a:latin typeface="Georgia"/>
                <a:ea typeface="Georgia"/>
                <a:cs typeface="Georgia"/>
                <a:sym typeface="Georgia"/>
              </a:rPr>
              <a:t>Deep Learning</a:t>
            </a:r>
            <a:endParaRPr b="0" i="0" sz="1400" u="none" cap="none" strike="noStrike">
              <a:solidFill>
                <a:schemeClr val="dk1"/>
              </a:solidFill>
              <a:latin typeface="Calibri"/>
              <a:ea typeface="Calibri"/>
              <a:cs typeface="Calibri"/>
              <a:sym typeface="Calibri"/>
            </a:endParaRPr>
          </a:p>
        </p:txBody>
      </p:sp>
      <p:sp>
        <p:nvSpPr>
          <p:cNvPr id="87" name="Google Shape;87;p2"/>
          <p:cNvSpPr/>
          <p:nvPr/>
        </p:nvSpPr>
        <p:spPr>
          <a:xfrm>
            <a:off x="5212080" y="3364992"/>
            <a:ext cx="352044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150"/>
              <a:buFont typeface="Georgia"/>
              <a:buNone/>
            </a:pPr>
            <a:r>
              <a:rPr b="0" i="0" lang="en-US" sz="1150" u="none" cap="none" strike="noStrike">
                <a:solidFill>
                  <a:srgbClr val="2B2B2B"/>
                </a:solidFill>
                <a:latin typeface="Georgia"/>
                <a:ea typeface="Georgia"/>
                <a:cs typeface="Georgia"/>
                <a:sym typeface="Georgia"/>
              </a:rPr>
              <a:t>ML using deep neural networks — many layers learn hierarchical features automatically.</a:t>
            </a:r>
            <a:endParaRPr b="0" i="0" sz="1150" u="none" cap="none" strike="noStrike">
              <a:solidFill>
                <a:schemeClr val="dk1"/>
              </a:solidFill>
              <a:latin typeface="Calibri"/>
              <a:ea typeface="Calibri"/>
              <a:cs typeface="Calibri"/>
              <a:sym typeface="Calibri"/>
            </a:endParaRPr>
          </a:p>
        </p:txBody>
      </p:sp>
      <p:sp>
        <p:nvSpPr>
          <p:cNvPr id="88" name="Google Shape;88;p2"/>
          <p:cNvSpPr/>
          <p:nvPr/>
        </p:nvSpPr>
        <p:spPr>
          <a:xfrm>
            <a:off x="457200" y="4206240"/>
            <a:ext cx="8412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Today's lecture and the rest of this course are about the middle ring:  </a:t>
            </a:r>
            <a:r>
              <a:rPr b="1" i="1" lang="en-US" sz="1250" u="none" cap="none" strike="noStrike">
                <a:solidFill>
                  <a:srgbClr val="2F5A7A"/>
                </a:solidFill>
                <a:latin typeface="Georgia"/>
                <a:ea typeface="Georgia"/>
                <a:cs typeface="Georgia"/>
                <a:sym typeface="Georgia"/>
              </a:rPr>
              <a:t>classical ML.</a:t>
            </a:r>
            <a:endParaRPr b="0" i="0" sz="1250" u="none" cap="none" strike="noStrike">
              <a:solidFill>
                <a:schemeClr val="dk1"/>
              </a:solidFill>
              <a:latin typeface="Calibri"/>
              <a:ea typeface="Calibri"/>
              <a:cs typeface="Calibri"/>
              <a:sym typeface="Calibri"/>
            </a:endParaRPr>
          </a:p>
        </p:txBody>
      </p:sp>
      <p:sp>
        <p:nvSpPr>
          <p:cNvPr id="89" name="Google Shape;89;p2"/>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90" name="Google Shape;90;p2"/>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2</a:t>
            </a:r>
            <a:endParaRPr b="0" i="0" sz="1200" u="none" cap="none" strike="noStrike">
              <a:solidFill>
                <a:schemeClr val="dk1"/>
              </a:solidFill>
              <a:latin typeface="Calibri"/>
              <a:ea typeface="Calibri"/>
              <a:cs typeface="Calibri"/>
              <a:sym typeface="Calibri"/>
            </a:endParaRPr>
          </a:p>
        </p:txBody>
      </p:sp>
      <p:sp>
        <p:nvSpPr>
          <p:cNvPr id="91" name="Google Shape;91;p2"/>
          <p:cNvSpPr/>
          <p:nvPr/>
        </p:nvSpPr>
        <p:spPr>
          <a:xfrm>
            <a:off x="274325" y="1033675"/>
            <a:ext cx="4671000" cy="2711400"/>
          </a:xfrm>
          <a:prstGeom prst="ellipse">
            <a:avLst/>
          </a:prstGeom>
          <a:solidFill>
            <a:srgbClr val="F4ECE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2"/>
          <p:cNvSpPr txBox="1"/>
          <p:nvPr/>
        </p:nvSpPr>
        <p:spPr>
          <a:xfrm>
            <a:off x="1578825" y="1213950"/>
            <a:ext cx="2224500" cy="4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7B2D26"/>
              </a:buClr>
              <a:buSzPts val="1400"/>
              <a:buFont typeface="Georgia"/>
              <a:buNone/>
            </a:pPr>
            <a:r>
              <a:rPr b="1" lang="en-US">
                <a:solidFill>
                  <a:srgbClr val="7B2D26"/>
                </a:solidFill>
                <a:latin typeface="Georgia"/>
                <a:ea typeface="Georgia"/>
                <a:cs typeface="Georgia"/>
                <a:sym typeface="Georgia"/>
              </a:rPr>
              <a:t>Artificial Intelligence</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93" name="Google Shape;93;p2"/>
          <p:cNvSpPr/>
          <p:nvPr/>
        </p:nvSpPr>
        <p:spPr>
          <a:xfrm>
            <a:off x="1220075" y="1856221"/>
            <a:ext cx="2779500" cy="1905300"/>
          </a:xfrm>
          <a:prstGeom prst="ellipse">
            <a:avLst/>
          </a:prstGeom>
          <a:solidFill>
            <a:srgbClr val="EAF1F4"/>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2"/>
          <p:cNvSpPr/>
          <p:nvPr/>
        </p:nvSpPr>
        <p:spPr>
          <a:xfrm>
            <a:off x="930830" y="2065855"/>
            <a:ext cx="3520500" cy="292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F5A7A"/>
              </a:buClr>
              <a:buSzPts val="1400"/>
              <a:buFont typeface="Georgia"/>
              <a:buNone/>
            </a:pPr>
            <a:r>
              <a:rPr b="1" i="0" lang="en-US" sz="1400" u="none" cap="none" strike="noStrike">
                <a:solidFill>
                  <a:srgbClr val="2F5A7A"/>
                </a:solidFill>
                <a:latin typeface="Georgia"/>
                <a:ea typeface="Georgia"/>
                <a:cs typeface="Georgia"/>
                <a:sym typeface="Georgia"/>
              </a:rPr>
              <a:t>Machine Learning</a:t>
            </a:r>
            <a:endParaRPr b="0" i="0" sz="1400" u="none" cap="none" strike="noStrike">
              <a:solidFill>
                <a:schemeClr val="dk1"/>
              </a:solidFill>
              <a:latin typeface="Calibri"/>
              <a:ea typeface="Calibri"/>
              <a:cs typeface="Calibri"/>
              <a:sym typeface="Calibri"/>
            </a:endParaRPr>
          </a:p>
        </p:txBody>
      </p:sp>
      <p:sp>
        <p:nvSpPr>
          <p:cNvPr id="95" name="Google Shape;95;p2"/>
          <p:cNvSpPr/>
          <p:nvPr/>
        </p:nvSpPr>
        <p:spPr>
          <a:xfrm>
            <a:off x="1667075" y="2677048"/>
            <a:ext cx="1885500" cy="1065000"/>
          </a:xfrm>
          <a:prstGeom prst="ellipse">
            <a:avLst/>
          </a:prstGeom>
          <a:solidFill>
            <a:srgbClr val="E7EAE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p2"/>
          <p:cNvSpPr/>
          <p:nvPr/>
        </p:nvSpPr>
        <p:spPr>
          <a:xfrm>
            <a:off x="849580" y="2843740"/>
            <a:ext cx="3520500" cy="292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A5A3B"/>
              </a:buClr>
              <a:buSzPts val="1400"/>
              <a:buFont typeface="Georgia"/>
              <a:buNone/>
            </a:pPr>
            <a:r>
              <a:rPr b="1" i="0" lang="en-US" sz="1400" u="none" cap="none" strike="noStrike">
                <a:solidFill>
                  <a:srgbClr val="3A5A3B"/>
                </a:solidFill>
                <a:latin typeface="Georgia"/>
                <a:ea typeface="Georgia"/>
                <a:cs typeface="Georgia"/>
                <a:sym typeface="Georgia"/>
              </a:rPr>
              <a:t>Deep Learning</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g3ebf767b1a6_0_6"/>
          <p:cNvPicPr preferRelativeResize="0"/>
          <p:nvPr/>
        </p:nvPicPr>
        <p:blipFill>
          <a:blip r:embed="rId3">
            <a:alphaModFix/>
          </a:blip>
          <a:stretch>
            <a:fillRect/>
          </a:stretch>
        </p:blipFill>
        <p:spPr>
          <a:xfrm>
            <a:off x="1143000" y="1178425"/>
            <a:ext cx="6858000" cy="2857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 name="Shape 107"/>
        <p:cNvGrpSpPr/>
        <p:nvPr/>
      </p:nvGrpSpPr>
      <p:grpSpPr>
        <a:xfrm>
          <a:off x="0" y="0"/>
          <a:ext cx="0" cy="0"/>
          <a:chOff x="0" y="0"/>
          <a:chExt cx="0" cy="0"/>
        </a:xfrm>
      </p:grpSpPr>
      <p:sp>
        <p:nvSpPr>
          <p:cNvPr id="108" name="Google Shape;108;p3"/>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ML  vs  Traditional Programming</a:t>
            </a:r>
            <a:endParaRPr b="0" i="0" sz="3000" u="none" cap="none" strike="noStrike">
              <a:solidFill>
                <a:schemeClr val="dk1"/>
              </a:solidFill>
              <a:latin typeface="Calibri"/>
              <a:ea typeface="Calibri"/>
              <a:cs typeface="Calibri"/>
              <a:sym typeface="Calibri"/>
            </a:endParaRPr>
          </a:p>
        </p:txBody>
      </p:sp>
      <p:cxnSp>
        <p:nvCxnSpPr>
          <p:cNvPr id="109" name="Google Shape;109;p3"/>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pic>
        <p:nvPicPr>
          <p:cNvPr descr="/sessions/sleepy-friendly-euler/mnt/outputs/figs/fig_ml_vs_traditional.png" id="110" name="Google Shape;110;p3"/>
          <p:cNvPicPr preferRelativeResize="0"/>
          <p:nvPr/>
        </p:nvPicPr>
        <p:blipFill rotWithShape="1">
          <a:blip r:embed="rId3">
            <a:alphaModFix/>
          </a:blip>
          <a:srcRect b="0" l="0" r="0" t="0"/>
          <a:stretch/>
        </p:blipFill>
        <p:spPr>
          <a:xfrm>
            <a:off x="1841750" y="948950"/>
            <a:ext cx="5460500" cy="2761149"/>
          </a:xfrm>
          <a:prstGeom prst="rect">
            <a:avLst/>
          </a:prstGeom>
          <a:noFill/>
          <a:ln>
            <a:noFill/>
          </a:ln>
        </p:spPr>
      </p:pic>
      <p:sp>
        <p:nvSpPr>
          <p:cNvPr id="111" name="Google Shape;111;p3"/>
          <p:cNvSpPr/>
          <p:nvPr/>
        </p:nvSpPr>
        <p:spPr>
          <a:xfrm>
            <a:off x="457200" y="3749040"/>
            <a:ext cx="8412480" cy="77724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a:off x="594360" y="3794760"/>
            <a:ext cx="818388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250"/>
              <a:buFont typeface="Georgia"/>
              <a:buNone/>
            </a:pPr>
            <a:r>
              <a:rPr b="1" i="0" lang="en-US" sz="1250" u="none" cap="none" strike="noStrike">
                <a:solidFill>
                  <a:srgbClr val="7B2D26"/>
                </a:solidFill>
                <a:latin typeface="Georgia"/>
                <a:ea typeface="Georgia"/>
                <a:cs typeface="Georgia"/>
                <a:sym typeface="Georgia"/>
              </a:rPr>
              <a:t>The fundamental flip:  </a:t>
            </a:r>
            <a:r>
              <a:rPr b="0" i="0" lang="en-US" sz="1250" u="none" cap="none" strike="noStrike">
                <a:solidFill>
                  <a:srgbClr val="2B2B2B"/>
                </a:solidFill>
                <a:latin typeface="Georgia"/>
                <a:ea typeface="Georgia"/>
                <a:cs typeface="Georgia"/>
                <a:sym typeface="Georgia"/>
              </a:rPr>
              <a:t>in traditional programming we </a:t>
            </a:r>
            <a:r>
              <a:rPr b="0" i="1" lang="en-US" sz="1250" u="none" cap="none" strike="noStrike">
                <a:solidFill>
                  <a:srgbClr val="000000"/>
                </a:solidFill>
                <a:latin typeface="Georgia"/>
                <a:ea typeface="Georgia"/>
                <a:cs typeface="Georgia"/>
                <a:sym typeface="Georgia"/>
              </a:rPr>
              <a:t>supply the rules </a:t>
            </a:r>
            <a:r>
              <a:rPr b="0" i="0" lang="en-US" sz="1250" u="none" cap="none" strike="noStrike">
                <a:solidFill>
                  <a:srgbClr val="2B2B2B"/>
                </a:solidFill>
                <a:latin typeface="Georgia"/>
                <a:ea typeface="Georgia"/>
                <a:cs typeface="Georgia"/>
                <a:sym typeface="Georgia"/>
              </a:rPr>
              <a:t>and let the computer apply them to data. In ML, we </a:t>
            </a:r>
            <a:r>
              <a:rPr b="1" i="1" lang="en-US" sz="1250" u="none" cap="none" strike="noStrike">
                <a:solidFill>
                  <a:srgbClr val="000000"/>
                </a:solidFill>
                <a:latin typeface="Georgia"/>
                <a:ea typeface="Georgia"/>
                <a:cs typeface="Georgia"/>
                <a:sym typeface="Georgia"/>
              </a:rPr>
              <a:t>supply data and the answers </a:t>
            </a:r>
            <a:r>
              <a:rPr b="0" i="0" lang="en-US" sz="1250" u="none" cap="none" strike="noStrike">
                <a:solidFill>
                  <a:srgbClr val="2B2B2B"/>
                </a:solidFill>
                <a:latin typeface="Georgia"/>
                <a:ea typeface="Georgia"/>
                <a:cs typeface="Georgia"/>
                <a:sym typeface="Georgia"/>
              </a:rPr>
              <a:t>and ask the computer to </a:t>
            </a:r>
            <a:r>
              <a:rPr b="0" i="1" lang="en-US" sz="1250" u="none" cap="none" strike="noStrike">
                <a:solidFill>
                  <a:srgbClr val="000000"/>
                </a:solidFill>
                <a:latin typeface="Georgia"/>
                <a:ea typeface="Georgia"/>
                <a:cs typeface="Georgia"/>
                <a:sym typeface="Georgia"/>
              </a:rPr>
              <a:t>discover </a:t>
            </a:r>
            <a:r>
              <a:rPr b="0" i="0" lang="en-US" sz="1250" u="none" cap="none" strike="noStrike">
                <a:solidFill>
                  <a:srgbClr val="2B2B2B"/>
                </a:solidFill>
                <a:latin typeface="Georgia"/>
                <a:ea typeface="Georgia"/>
                <a:cs typeface="Georgia"/>
                <a:sym typeface="Georgia"/>
              </a:rPr>
              <a:t>the rules.</a:t>
            </a:r>
            <a:endParaRPr b="0" i="0" sz="1250" u="none" cap="none" strike="noStrike">
              <a:solidFill>
                <a:schemeClr val="dk1"/>
              </a:solidFill>
              <a:latin typeface="Calibri"/>
              <a:ea typeface="Calibri"/>
              <a:cs typeface="Calibri"/>
              <a:sym typeface="Calibri"/>
            </a:endParaRPr>
          </a:p>
        </p:txBody>
      </p:sp>
      <p:sp>
        <p:nvSpPr>
          <p:cNvPr id="113" name="Google Shape;113;p3"/>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114" name="Google Shape;114;p3"/>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 name="Shape 119"/>
        <p:cNvGrpSpPr/>
        <p:nvPr/>
      </p:nvGrpSpPr>
      <p:grpSpPr>
        <a:xfrm>
          <a:off x="0" y="0"/>
          <a:ext cx="0" cy="0"/>
          <a:chOff x="0" y="0"/>
          <a:chExt cx="0" cy="0"/>
        </a:xfrm>
      </p:grpSpPr>
      <p:sp>
        <p:nvSpPr>
          <p:cNvPr id="120" name="Google Shape;120;p4"/>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The Four Main Pillars</a:t>
            </a:r>
            <a:endParaRPr b="0" i="0" sz="3000" u="none" cap="none" strike="noStrike">
              <a:solidFill>
                <a:schemeClr val="dk1"/>
              </a:solidFill>
              <a:latin typeface="Calibri"/>
              <a:ea typeface="Calibri"/>
              <a:cs typeface="Calibri"/>
              <a:sym typeface="Calibri"/>
            </a:endParaRPr>
          </a:p>
        </p:txBody>
      </p:sp>
      <p:cxnSp>
        <p:nvCxnSpPr>
          <p:cNvPr id="121" name="Google Shape;121;p4"/>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122" name="Google Shape;122;p4"/>
          <p:cNvSpPr/>
          <p:nvPr/>
        </p:nvSpPr>
        <p:spPr>
          <a:xfrm>
            <a:off x="457200" y="914400"/>
            <a:ext cx="8412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350"/>
              <a:buFont typeface="Georgia"/>
              <a:buNone/>
            </a:pPr>
            <a:r>
              <a:rPr b="0" i="1" lang="en-US" sz="1350" u="none" cap="none" strike="noStrike">
                <a:solidFill>
                  <a:srgbClr val="606060"/>
                </a:solidFill>
                <a:latin typeface="Georgia"/>
                <a:ea typeface="Georgia"/>
                <a:cs typeface="Georgia"/>
                <a:sym typeface="Georgia"/>
              </a:rPr>
              <a:t>Machine learning is usually classified by what kind of data the model gets to see.</a:t>
            </a:r>
            <a:endParaRPr b="0" i="0" sz="1350" u="none" cap="none" strike="noStrike">
              <a:solidFill>
                <a:schemeClr val="dk1"/>
              </a:solidFill>
              <a:latin typeface="Calibri"/>
              <a:ea typeface="Calibri"/>
              <a:cs typeface="Calibri"/>
              <a:sym typeface="Calibri"/>
            </a:endParaRPr>
          </a:p>
        </p:txBody>
      </p:sp>
      <p:sp>
        <p:nvSpPr>
          <p:cNvPr id="123" name="Google Shape;123;p4"/>
          <p:cNvSpPr/>
          <p:nvPr/>
        </p:nvSpPr>
        <p:spPr>
          <a:xfrm>
            <a:off x="365760" y="1417320"/>
            <a:ext cx="4114800" cy="141732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502920" y="1463040"/>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500"/>
              <a:buFont typeface="Georgia"/>
              <a:buNone/>
            </a:pPr>
            <a:r>
              <a:rPr b="1" i="0" lang="en-US" sz="1500" u="none" cap="none" strike="noStrike">
                <a:solidFill>
                  <a:srgbClr val="7B2D26"/>
                </a:solidFill>
                <a:latin typeface="Georgia"/>
                <a:ea typeface="Georgia"/>
                <a:cs typeface="Georgia"/>
                <a:sym typeface="Georgia"/>
              </a:rPr>
              <a:t>Supervised</a:t>
            </a:r>
            <a:endParaRPr b="0" i="0" sz="1500" u="none" cap="none" strike="noStrike">
              <a:solidFill>
                <a:schemeClr val="dk1"/>
              </a:solidFill>
              <a:latin typeface="Calibri"/>
              <a:ea typeface="Calibri"/>
              <a:cs typeface="Calibri"/>
              <a:sym typeface="Calibri"/>
            </a:endParaRPr>
          </a:p>
        </p:txBody>
      </p:sp>
      <p:sp>
        <p:nvSpPr>
          <p:cNvPr id="125" name="Google Shape;125;p4"/>
          <p:cNvSpPr/>
          <p:nvPr/>
        </p:nvSpPr>
        <p:spPr>
          <a:xfrm>
            <a:off x="502920" y="1783080"/>
            <a:ext cx="3840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150"/>
              <a:buFont typeface="Georgia"/>
              <a:buNone/>
            </a:pPr>
            <a:r>
              <a:rPr b="0" i="1" lang="en-US" sz="1150" u="none" cap="none" strike="noStrike">
                <a:solidFill>
                  <a:srgbClr val="606060"/>
                </a:solidFill>
                <a:latin typeface="Georgia"/>
                <a:ea typeface="Georgia"/>
                <a:cs typeface="Georgia"/>
                <a:sym typeface="Georgia"/>
              </a:rPr>
              <a:t>labeled data  (X, y)</a:t>
            </a:r>
            <a:endParaRPr b="0" i="0" sz="1150" u="none" cap="none" strike="noStrike">
              <a:solidFill>
                <a:schemeClr val="dk1"/>
              </a:solidFill>
              <a:latin typeface="Calibri"/>
              <a:ea typeface="Calibri"/>
              <a:cs typeface="Calibri"/>
              <a:sym typeface="Calibri"/>
            </a:endParaRPr>
          </a:p>
        </p:txBody>
      </p:sp>
      <p:sp>
        <p:nvSpPr>
          <p:cNvPr id="126" name="Google Shape;126;p4"/>
          <p:cNvSpPr/>
          <p:nvPr/>
        </p:nvSpPr>
        <p:spPr>
          <a:xfrm>
            <a:off x="502920" y="2103120"/>
            <a:ext cx="384048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Learn a mapping  X → y.  Classification, regression.</a:t>
            </a:r>
            <a:endParaRPr b="0" i="0" sz="1200" u="none" cap="none" strike="noStrike">
              <a:solidFill>
                <a:schemeClr val="dk1"/>
              </a:solidFill>
              <a:latin typeface="Calibri"/>
              <a:ea typeface="Calibri"/>
              <a:cs typeface="Calibri"/>
              <a:sym typeface="Calibri"/>
            </a:endParaRPr>
          </a:p>
        </p:txBody>
      </p:sp>
      <p:sp>
        <p:nvSpPr>
          <p:cNvPr id="127" name="Google Shape;127;p4"/>
          <p:cNvSpPr/>
          <p:nvPr/>
        </p:nvSpPr>
        <p:spPr>
          <a:xfrm>
            <a:off x="4663440" y="1417320"/>
            <a:ext cx="4114800" cy="1417320"/>
          </a:xfrm>
          <a:prstGeom prst="rect">
            <a:avLst/>
          </a:prstGeom>
          <a:solidFill>
            <a:srgbClr val="EAF1F4"/>
          </a:solidFill>
          <a:ln cap="flat" cmpd="sng" w="9525">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4800600" y="1463040"/>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5A7A"/>
              </a:buClr>
              <a:buSzPts val="1500"/>
              <a:buFont typeface="Georgia"/>
              <a:buNone/>
            </a:pPr>
            <a:r>
              <a:rPr b="1" i="0" lang="en-US" sz="1500" u="none" cap="none" strike="noStrike">
                <a:solidFill>
                  <a:srgbClr val="2F5A7A"/>
                </a:solidFill>
                <a:latin typeface="Georgia"/>
                <a:ea typeface="Georgia"/>
                <a:cs typeface="Georgia"/>
                <a:sym typeface="Georgia"/>
              </a:rPr>
              <a:t>Unsupervised</a:t>
            </a:r>
            <a:endParaRPr b="0" i="0" sz="1500" u="none" cap="none" strike="noStrike">
              <a:solidFill>
                <a:schemeClr val="dk1"/>
              </a:solidFill>
              <a:latin typeface="Calibri"/>
              <a:ea typeface="Calibri"/>
              <a:cs typeface="Calibri"/>
              <a:sym typeface="Calibri"/>
            </a:endParaRPr>
          </a:p>
        </p:txBody>
      </p:sp>
      <p:sp>
        <p:nvSpPr>
          <p:cNvPr id="129" name="Google Shape;129;p4"/>
          <p:cNvSpPr/>
          <p:nvPr/>
        </p:nvSpPr>
        <p:spPr>
          <a:xfrm>
            <a:off x="4800600" y="1783080"/>
            <a:ext cx="3840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150"/>
              <a:buFont typeface="Georgia"/>
              <a:buNone/>
            </a:pPr>
            <a:r>
              <a:rPr b="0" i="1" lang="en-US" sz="1150" u="none" cap="none" strike="noStrike">
                <a:solidFill>
                  <a:srgbClr val="606060"/>
                </a:solidFill>
                <a:latin typeface="Georgia"/>
                <a:ea typeface="Georgia"/>
                <a:cs typeface="Georgia"/>
                <a:sym typeface="Georgia"/>
              </a:rPr>
              <a:t>unlabeled data  (X only)</a:t>
            </a:r>
            <a:endParaRPr b="0" i="0" sz="1150" u="none" cap="none" strike="noStrike">
              <a:solidFill>
                <a:schemeClr val="dk1"/>
              </a:solidFill>
              <a:latin typeface="Calibri"/>
              <a:ea typeface="Calibri"/>
              <a:cs typeface="Calibri"/>
              <a:sym typeface="Calibri"/>
            </a:endParaRPr>
          </a:p>
        </p:txBody>
      </p:sp>
      <p:sp>
        <p:nvSpPr>
          <p:cNvPr id="130" name="Google Shape;130;p4"/>
          <p:cNvSpPr/>
          <p:nvPr/>
        </p:nvSpPr>
        <p:spPr>
          <a:xfrm>
            <a:off x="4800600" y="2103120"/>
            <a:ext cx="384048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Discover latent structure: clusters, principal components, anomalies.</a:t>
            </a:r>
            <a:endParaRPr b="0" i="0" sz="1200" u="none" cap="none" strike="noStrike">
              <a:solidFill>
                <a:schemeClr val="dk1"/>
              </a:solidFill>
              <a:latin typeface="Calibri"/>
              <a:ea typeface="Calibri"/>
              <a:cs typeface="Calibri"/>
              <a:sym typeface="Calibri"/>
            </a:endParaRPr>
          </a:p>
        </p:txBody>
      </p:sp>
      <p:sp>
        <p:nvSpPr>
          <p:cNvPr id="131" name="Google Shape;131;p4"/>
          <p:cNvSpPr/>
          <p:nvPr/>
        </p:nvSpPr>
        <p:spPr>
          <a:xfrm>
            <a:off x="365760" y="2926080"/>
            <a:ext cx="4114800" cy="1417320"/>
          </a:xfrm>
          <a:prstGeom prst="rect">
            <a:avLst/>
          </a:prstGeom>
          <a:solidFill>
            <a:srgbClr val="E7EAE3"/>
          </a:solidFill>
          <a:ln cap="flat" cmpd="sng" w="9525">
            <a:solidFill>
              <a:srgbClr val="3A5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502920" y="2971800"/>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5A3B"/>
              </a:buClr>
              <a:buSzPts val="1500"/>
              <a:buFont typeface="Georgia"/>
              <a:buNone/>
            </a:pPr>
            <a:r>
              <a:rPr b="1" i="0" lang="en-US" sz="1500" u="none" cap="none" strike="noStrike">
                <a:solidFill>
                  <a:srgbClr val="3A5A3B"/>
                </a:solidFill>
                <a:latin typeface="Georgia"/>
                <a:ea typeface="Georgia"/>
                <a:cs typeface="Georgia"/>
                <a:sym typeface="Georgia"/>
              </a:rPr>
              <a:t>Semi- / Self-Supervised</a:t>
            </a:r>
            <a:endParaRPr b="0" i="0" sz="1500" u="none" cap="none" strike="noStrike">
              <a:solidFill>
                <a:schemeClr val="dk1"/>
              </a:solidFill>
              <a:latin typeface="Calibri"/>
              <a:ea typeface="Calibri"/>
              <a:cs typeface="Calibri"/>
              <a:sym typeface="Calibri"/>
            </a:endParaRPr>
          </a:p>
        </p:txBody>
      </p:sp>
      <p:sp>
        <p:nvSpPr>
          <p:cNvPr id="133" name="Google Shape;133;p4"/>
          <p:cNvSpPr/>
          <p:nvPr/>
        </p:nvSpPr>
        <p:spPr>
          <a:xfrm>
            <a:off x="502920" y="3291840"/>
            <a:ext cx="3840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150"/>
              <a:buFont typeface="Georgia"/>
              <a:buNone/>
            </a:pPr>
            <a:r>
              <a:rPr b="0" i="1" lang="en-US" sz="1150" u="none" cap="none" strike="noStrike">
                <a:solidFill>
                  <a:srgbClr val="606060"/>
                </a:solidFill>
                <a:latin typeface="Georgia"/>
                <a:ea typeface="Georgia"/>
                <a:cs typeface="Georgia"/>
                <a:sym typeface="Georgia"/>
              </a:rPr>
              <a:t>a little labeled + lots of unlabeled</a:t>
            </a:r>
            <a:endParaRPr b="0" i="0" sz="1150" u="none" cap="none" strike="noStrike">
              <a:solidFill>
                <a:schemeClr val="dk1"/>
              </a:solidFill>
              <a:latin typeface="Calibri"/>
              <a:ea typeface="Calibri"/>
              <a:cs typeface="Calibri"/>
              <a:sym typeface="Calibri"/>
            </a:endParaRPr>
          </a:p>
        </p:txBody>
      </p:sp>
      <p:sp>
        <p:nvSpPr>
          <p:cNvPr id="134" name="Google Shape;134;p4"/>
          <p:cNvSpPr/>
          <p:nvPr/>
        </p:nvSpPr>
        <p:spPr>
          <a:xfrm>
            <a:off x="502920" y="3611880"/>
            <a:ext cx="384048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Use the structure in unlabeled data to amplify a small labeled set.</a:t>
            </a:r>
            <a:endParaRPr b="0" i="0" sz="1200" u="none" cap="none" strike="noStrike">
              <a:solidFill>
                <a:schemeClr val="dk1"/>
              </a:solidFill>
              <a:latin typeface="Calibri"/>
              <a:ea typeface="Calibri"/>
              <a:cs typeface="Calibri"/>
              <a:sym typeface="Calibri"/>
            </a:endParaRPr>
          </a:p>
        </p:txBody>
      </p:sp>
      <p:sp>
        <p:nvSpPr>
          <p:cNvPr id="135" name="Google Shape;135;p4"/>
          <p:cNvSpPr/>
          <p:nvPr/>
        </p:nvSpPr>
        <p:spPr>
          <a:xfrm>
            <a:off x="4663440" y="2926080"/>
            <a:ext cx="4114800" cy="1417320"/>
          </a:xfrm>
          <a:prstGeom prst="rect">
            <a:avLst/>
          </a:prstGeom>
          <a:solidFill>
            <a:srgbClr val="F8EFE0"/>
          </a:solidFill>
          <a:ln cap="flat" cmpd="sng" w="9525">
            <a:solidFill>
              <a:srgbClr val="A36B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4800600" y="2971800"/>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36B1F"/>
              </a:buClr>
              <a:buSzPts val="1500"/>
              <a:buFont typeface="Georgia"/>
              <a:buNone/>
            </a:pPr>
            <a:r>
              <a:rPr b="1" i="0" lang="en-US" sz="1500" u="none" cap="none" strike="noStrike">
                <a:solidFill>
                  <a:srgbClr val="A36B1F"/>
                </a:solidFill>
                <a:latin typeface="Georgia"/>
                <a:ea typeface="Georgia"/>
                <a:cs typeface="Georgia"/>
                <a:sym typeface="Georgia"/>
              </a:rPr>
              <a:t>Reinforcement</a:t>
            </a:r>
            <a:endParaRPr b="0" i="0" sz="1500" u="none" cap="none" strike="noStrike">
              <a:solidFill>
                <a:schemeClr val="dk1"/>
              </a:solidFill>
              <a:latin typeface="Calibri"/>
              <a:ea typeface="Calibri"/>
              <a:cs typeface="Calibri"/>
              <a:sym typeface="Calibri"/>
            </a:endParaRPr>
          </a:p>
        </p:txBody>
      </p:sp>
      <p:sp>
        <p:nvSpPr>
          <p:cNvPr id="137" name="Google Shape;137;p4"/>
          <p:cNvSpPr/>
          <p:nvPr/>
        </p:nvSpPr>
        <p:spPr>
          <a:xfrm>
            <a:off x="4800600" y="3291840"/>
            <a:ext cx="3840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150"/>
              <a:buFont typeface="Georgia"/>
              <a:buNone/>
            </a:pPr>
            <a:r>
              <a:rPr b="0" i="1" lang="en-US" sz="1150" u="none" cap="none" strike="noStrike">
                <a:solidFill>
                  <a:srgbClr val="606060"/>
                </a:solidFill>
                <a:latin typeface="Georgia"/>
                <a:ea typeface="Georgia"/>
                <a:cs typeface="Georgia"/>
                <a:sym typeface="Georgia"/>
              </a:rPr>
              <a:t>agent  +  reward signal</a:t>
            </a:r>
            <a:endParaRPr b="0" i="0" sz="1150" u="none" cap="none" strike="noStrike">
              <a:solidFill>
                <a:schemeClr val="dk1"/>
              </a:solidFill>
              <a:latin typeface="Calibri"/>
              <a:ea typeface="Calibri"/>
              <a:cs typeface="Calibri"/>
              <a:sym typeface="Calibri"/>
            </a:endParaRPr>
          </a:p>
        </p:txBody>
      </p:sp>
      <p:sp>
        <p:nvSpPr>
          <p:cNvPr id="138" name="Google Shape;138;p4"/>
          <p:cNvSpPr/>
          <p:nvPr/>
        </p:nvSpPr>
        <p:spPr>
          <a:xfrm>
            <a:off x="4800600" y="3611880"/>
            <a:ext cx="384048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Learn optimal policies via trial and error. (Out of scope for this course.)</a:t>
            </a:r>
            <a:endParaRPr b="0" i="0" sz="1200" u="none" cap="none" strike="noStrike">
              <a:solidFill>
                <a:schemeClr val="dk1"/>
              </a:solidFill>
              <a:latin typeface="Calibri"/>
              <a:ea typeface="Calibri"/>
              <a:cs typeface="Calibri"/>
              <a:sym typeface="Calibri"/>
            </a:endParaRPr>
          </a:p>
        </p:txBody>
      </p:sp>
      <p:sp>
        <p:nvSpPr>
          <p:cNvPr id="139" name="Google Shape;139;p4"/>
          <p:cNvSpPr/>
          <p:nvPr/>
        </p:nvSpPr>
        <p:spPr>
          <a:xfrm>
            <a:off x="457200" y="443484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Most of this course focuses on  </a:t>
            </a:r>
            <a:r>
              <a:rPr b="1" i="0" lang="en-US" sz="1200" u="none" cap="none" strike="noStrike">
                <a:solidFill>
                  <a:srgbClr val="7B2D26"/>
                </a:solidFill>
                <a:latin typeface="Georgia"/>
                <a:ea typeface="Georgia"/>
                <a:cs typeface="Georgia"/>
                <a:sym typeface="Georgia"/>
              </a:rPr>
              <a:t>supervised learning. </a:t>
            </a:r>
            <a:r>
              <a:rPr b="0" i="0" lang="en-US" sz="1200" u="none" cap="none" strike="noStrike">
                <a:solidFill>
                  <a:srgbClr val="2B2B2B"/>
                </a:solidFill>
                <a:latin typeface="Georgia"/>
                <a:ea typeface="Georgia"/>
                <a:cs typeface="Georgia"/>
                <a:sym typeface="Georgia"/>
              </a:rPr>
              <a:t>The next few slides give each pillar a one-slide tour.</a:t>
            </a:r>
            <a:endParaRPr b="0" i="0" sz="1200" u="none" cap="none" strike="noStrike">
              <a:solidFill>
                <a:schemeClr val="dk1"/>
              </a:solidFill>
              <a:latin typeface="Calibri"/>
              <a:ea typeface="Calibri"/>
              <a:cs typeface="Calibri"/>
              <a:sym typeface="Calibri"/>
            </a:endParaRPr>
          </a:p>
        </p:txBody>
      </p:sp>
      <p:sp>
        <p:nvSpPr>
          <p:cNvPr id="140" name="Google Shape;140;p4"/>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141" name="Google Shape;141;p4"/>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 name="Shape 146"/>
        <p:cNvGrpSpPr/>
        <p:nvPr/>
      </p:nvGrpSpPr>
      <p:grpSpPr>
        <a:xfrm>
          <a:off x="0" y="0"/>
          <a:ext cx="0" cy="0"/>
          <a:chOff x="0" y="0"/>
          <a:chExt cx="0" cy="0"/>
        </a:xfrm>
      </p:grpSpPr>
      <p:sp>
        <p:nvSpPr>
          <p:cNvPr id="147" name="Google Shape;147;p5"/>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Supervised Learning</a:t>
            </a:r>
            <a:endParaRPr b="0" i="0" sz="3000" u="none" cap="none" strike="noStrike">
              <a:solidFill>
                <a:schemeClr val="dk1"/>
              </a:solidFill>
              <a:latin typeface="Calibri"/>
              <a:ea typeface="Calibri"/>
              <a:cs typeface="Calibri"/>
              <a:sym typeface="Calibri"/>
            </a:endParaRPr>
          </a:p>
        </p:txBody>
      </p:sp>
      <p:cxnSp>
        <p:nvCxnSpPr>
          <p:cNvPr id="148" name="Google Shape;148;p5"/>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pic>
        <p:nvPicPr>
          <p:cNvPr descr="/sessions/sleepy-friendly-euler/mnt/outputs/figs/fig_supervised_only.png" id="149" name="Google Shape;149;p5"/>
          <p:cNvPicPr preferRelativeResize="0"/>
          <p:nvPr/>
        </p:nvPicPr>
        <p:blipFill rotWithShape="1">
          <a:blip r:embed="rId3">
            <a:alphaModFix/>
          </a:blip>
          <a:srcRect b="0" l="0" r="0" t="0"/>
          <a:stretch/>
        </p:blipFill>
        <p:spPr>
          <a:xfrm>
            <a:off x="457200" y="914400"/>
            <a:ext cx="4572000" cy="2468880"/>
          </a:xfrm>
          <a:prstGeom prst="rect">
            <a:avLst/>
          </a:prstGeom>
          <a:noFill/>
          <a:ln>
            <a:noFill/>
          </a:ln>
        </p:spPr>
      </p:pic>
      <p:sp>
        <p:nvSpPr>
          <p:cNvPr id="150" name="Google Shape;150;p5"/>
          <p:cNvSpPr/>
          <p:nvPr/>
        </p:nvSpPr>
        <p:spPr>
          <a:xfrm>
            <a:off x="5257800" y="914400"/>
            <a:ext cx="3657600" cy="23774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B2D26"/>
              </a:buClr>
              <a:buSzPts val="1300"/>
              <a:buFont typeface="Georgia"/>
              <a:buNone/>
            </a:pPr>
            <a:r>
              <a:rPr b="1" i="0" lang="en-US" sz="1300" u="none" cap="none" strike="noStrike">
                <a:solidFill>
                  <a:srgbClr val="7B2D26"/>
                </a:solidFill>
                <a:latin typeface="Georgia"/>
                <a:ea typeface="Georgia"/>
                <a:cs typeface="Georgia"/>
                <a:sym typeface="Georgia"/>
              </a:rPr>
              <a:t>Given:  </a:t>
            </a:r>
            <a:r>
              <a:rPr b="0" i="0" lang="en-US" sz="1300" u="none" cap="none" strike="noStrike">
                <a:solidFill>
                  <a:srgbClr val="2B2B2B"/>
                </a:solidFill>
                <a:latin typeface="Georgia"/>
                <a:ea typeface="Georgia"/>
                <a:cs typeface="Georgia"/>
                <a:sym typeface="Georgia"/>
              </a:rPr>
              <a:t>training pairs  (X, y).</a:t>
            </a:r>
            <a:endParaRPr b="0" i="0" sz="13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7B2D26"/>
              </a:buClr>
              <a:buSzPts val="1300"/>
              <a:buFont typeface="Georgia"/>
              <a:buNone/>
            </a:pPr>
            <a:r>
              <a:rPr b="1" i="0" lang="en-US" sz="1300" u="none" cap="none" strike="noStrike">
                <a:solidFill>
                  <a:srgbClr val="7B2D26"/>
                </a:solidFill>
                <a:latin typeface="Georgia"/>
                <a:ea typeface="Georgia"/>
                <a:cs typeface="Georgia"/>
                <a:sym typeface="Georgia"/>
              </a:rPr>
              <a:t>Goal:  </a:t>
            </a:r>
            <a:r>
              <a:rPr b="0" i="0" lang="en-US" sz="1300" u="none" cap="none" strike="noStrike">
                <a:solidFill>
                  <a:srgbClr val="2B2B2B"/>
                </a:solidFill>
                <a:latin typeface="Georgia"/>
                <a:ea typeface="Georgia"/>
                <a:cs typeface="Georgia"/>
                <a:sym typeface="Georgia"/>
              </a:rPr>
              <a:t>learn  f : X → y  that generalizes to new examples.</a:t>
            </a:r>
            <a:endParaRPr b="0" i="0" sz="13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B2B2B"/>
              </a:buClr>
              <a:buSzPts val="600"/>
              <a:buFont typeface="Georgia"/>
              <a:buNone/>
            </a:pPr>
            <a:r>
              <a:rPr b="0" i="0" lang="en-US" sz="600" u="none" cap="none" strike="noStrike">
                <a:solidFill>
                  <a:srgbClr val="2B2B2B"/>
                </a:solidFill>
                <a:latin typeface="Georgia"/>
                <a:ea typeface="Georgia"/>
                <a:cs typeface="Georgia"/>
                <a:sym typeface="Georgia"/>
              </a:rPr>
              <a:t> </a:t>
            </a:r>
            <a:endParaRPr b="0" i="0" sz="13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7B2D26"/>
              </a:buClr>
              <a:buSzPts val="1300"/>
              <a:buFont typeface="Georgia"/>
              <a:buNone/>
            </a:pPr>
            <a:r>
              <a:rPr b="1" i="0" lang="en-US" sz="1300" u="none" cap="none" strike="noStrike">
                <a:solidFill>
                  <a:srgbClr val="7B2D26"/>
                </a:solidFill>
                <a:latin typeface="Georgia"/>
                <a:ea typeface="Georgia"/>
                <a:cs typeface="Georgia"/>
                <a:sym typeface="Georgia"/>
              </a:rPr>
              <a:t>Two flavors:</a:t>
            </a:r>
            <a:endParaRPr b="0" i="0" sz="13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y is a category → </a:t>
            </a:r>
            <a:r>
              <a:rPr b="1" i="1" lang="en-US" sz="1300" u="none" cap="none" strike="noStrike">
                <a:solidFill>
                  <a:srgbClr val="2B2B2B"/>
                </a:solidFill>
                <a:latin typeface="Georgia"/>
                <a:ea typeface="Georgia"/>
                <a:cs typeface="Georgia"/>
                <a:sym typeface="Georgia"/>
              </a:rPr>
              <a:t>classification</a:t>
            </a:r>
            <a:r>
              <a:rPr b="0" i="0" lang="en-US" sz="1300" u="none" cap="none" strike="noStrike">
                <a:solidFill>
                  <a:srgbClr val="2B2B2B"/>
                </a:solidFill>
                <a:latin typeface="Georgia"/>
                <a:ea typeface="Georgia"/>
                <a:cs typeface="Georgia"/>
                <a:sym typeface="Georgia"/>
              </a:rPr>
              <a:t> (spiral / elliptical).</a:t>
            </a:r>
            <a:endParaRPr b="0" i="0" sz="13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y is a number → </a:t>
            </a:r>
            <a:r>
              <a:rPr b="1" i="1" lang="en-US" sz="1300" u="none" cap="none" strike="noStrike">
                <a:solidFill>
                  <a:srgbClr val="2B2B2B"/>
                </a:solidFill>
                <a:latin typeface="Georgia"/>
                <a:ea typeface="Georgia"/>
                <a:cs typeface="Georgia"/>
                <a:sym typeface="Georgia"/>
              </a:rPr>
              <a:t>regression</a:t>
            </a:r>
            <a:r>
              <a:rPr b="0" i="0" lang="en-US" sz="1300" u="none" cap="none" strike="noStrike">
                <a:solidFill>
                  <a:srgbClr val="2B2B2B"/>
                </a:solidFill>
                <a:latin typeface="Georgia"/>
                <a:ea typeface="Georgia"/>
                <a:cs typeface="Georgia"/>
                <a:sym typeface="Georgia"/>
              </a:rPr>
              <a:t> (photo-z).</a:t>
            </a:r>
            <a:endParaRPr b="0" i="0" sz="1300" u="none" cap="none" strike="noStrike">
              <a:solidFill>
                <a:schemeClr val="dk1"/>
              </a:solidFill>
              <a:latin typeface="Calibri"/>
              <a:ea typeface="Calibri"/>
              <a:cs typeface="Calibri"/>
              <a:sym typeface="Calibri"/>
            </a:endParaRPr>
          </a:p>
        </p:txBody>
      </p:sp>
      <p:sp>
        <p:nvSpPr>
          <p:cNvPr id="151" name="Google Shape;151;p5"/>
          <p:cNvSpPr/>
          <p:nvPr/>
        </p:nvSpPr>
        <p:spPr>
          <a:xfrm>
            <a:off x="457200" y="3520440"/>
            <a:ext cx="8412480" cy="91440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594360" y="3566160"/>
            <a:ext cx="81838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200"/>
              <a:buFont typeface="Georgia"/>
              <a:buNone/>
            </a:pPr>
            <a:r>
              <a:rPr b="1" i="1" lang="en-US" sz="1200" u="none" cap="none" strike="noStrike">
                <a:solidFill>
                  <a:srgbClr val="7B2D26"/>
                </a:solidFill>
                <a:latin typeface="Georgia"/>
                <a:ea typeface="Georgia"/>
                <a:cs typeface="Georgia"/>
                <a:sym typeface="Georgia"/>
              </a:rPr>
              <a:t>Astronomy examples</a:t>
            </a:r>
            <a:endParaRPr b="0" i="0" sz="1200" u="none" cap="none" strike="noStrike">
              <a:solidFill>
                <a:schemeClr val="dk1"/>
              </a:solidFill>
              <a:latin typeface="Calibri"/>
              <a:ea typeface="Calibri"/>
              <a:cs typeface="Calibri"/>
              <a:sym typeface="Calibri"/>
            </a:endParaRPr>
          </a:p>
        </p:txBody>
      </p:sp>
      <p:sp>
        <p:nvSpPr>
          <p:cNvPr id="153" name="Google Shape;153;p5"/>
          <p:cNvSpPr/>
          <p:nvPr/>
        </p:nvSpPr>
        <p:spPr>
          <a:xfrm>
            <a:off x="594360" y="3840480"/>
            <a:ext cx="818388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200"/>
              <a:buFont typeface="Georgia"/>
              <a:buNone/>
            </a:pPr>
            <a:r>
              <a:rPr b="1" i="0" lang="en-US" sz="1200" u="none" cap="none" strike="noStrike">
                <a:solidFill>
                  <a:srgbClr val="000000"/>
                </a:solidFill>
                <a:latin typeface="Georgia"/>
                <a:ea typeface="Georgia"/>
                <a:cs typeface="Georgia"/>
                <a:sym typeface="Georgia"/>
              </a:rPr>
              <a:t>  Photo-z </a:t>
            </a:r>
            <a:r>
              <a:rPr b="0" i="0" lang="en-US" sz="1200" u="none" cap="none" strike="noStrike">
                <a:solidFill>
                  <a:srgbClr val="2B2B2B"/>
                </a:solidFill>
                <a:latin typeface="Georgia"/>
                <a:ea typeface="Georgia"/>
                <a:cs typeface="Georgia"/>
                <a:sym typeface="Georgia"/>
              </a:rPr>
              <a:t>(regression)  ·  </a:t>
            </a:r>
            <a:r>
              <a:rPr b="1" i="0" lang="en-US" sz="1200" u="none" cap="none" strike="noStrike">
                <a:solidFill>
                  <a:srgbClr val="000000"/>
                </a:solidFill>
                <a:latin typeface="Georgia"/>
                <a:ea typeface="Georgia"/>
                <a:cs typeface="Georgia"/>
                <a:sym typeface="Georgia"/>
              </a:rPr>
              <a:t> Galaxy morphology </a:t>
            </a:r>
            <a:r>
              <a:rPr b="0" i="0" lang="en-US" sz="1200" u="none" cap="none" strike="noStrike">
                <a:solidFill>
                  <a:srgbClr val="2B2B2B"/>
                </a:solidFill>
                <a:latin typeface="Georgia"/>
                <a:ea typeface="Georgia"/>
                <a:cs typeface="Georgia"/>
                <a:sym typeface="Georgia"/>
              </a:rPr>
              <a:t>(classification)  ·  </a:t>
            </a:r>
            <a:r>
              <a:rPr b="1" i="0" lang="en-US" sz="1200" u="none" cap="none" strike="noStrike">
                <a:solidFill>
                  <a:srgbClr val="000000"/>
                </a:solidFill>
                <a:latin typeface="Georgia"/>
                <a:ea typeface="Georgia"/>
                <a:cs typeface="Georgia"/>
                <a:sym typeface="Georgia"/>
              </a:rPr>
              <a:t> Star–galaxy separation </a:t>
            </a:r>
            <a:r>
              <a:rPr b="0" i="0" lang="en-US" sz="1200" u="none" cap="none" strike="noStrike">
                <a:solidFill>
                  <a:srgbClr val="2B2B2B"/>
                </a:solidFill>
                <a:latin typeface="Georgia"/>
                <a:ea typeface="Georgia"/>
                <a:cs typeface="Georgia"/>
                <a:sym typeface="Georgia"/>
              </a:rPr>
              <a:t>(classification)  ·  </a:t>
            </a:r>
            <a:r>
              <a:rPr b="1" i="0" lang="en-US" sz="1200" u="none" cap="none" strike="noStrike">
                <a:solidFill>
                  <a:srgbClr val="000000"/>
                </a:solidFill>
                <a:latin typeface="Georgia"/>
                <a:ea typeface="Georgia"/>
                <a:cs typeface="Georgia"/>
                <a:sym typeface="Georgia"/>
              </a:rPr>
              <a:t> Stellar parameters </a:t>
            </a:r>
            <a:r>
              <a:rPr b="0" i="0" lang="en-US" sz="1200" u="none" cap="none" strike="noStrike">
                <a:solidFill>
                  <a:srgbClr val="2B2B2B"/>
                </a:solidFill>
                <a:latin typeface="Georgia"/>
                <a:ea typeface="Georgia"/>
                <a:cs typeface="Georgia"/>
                <a:sym typeface="Georgia"/>
              </a:rPr>
              <a:t>from spectra (regression)</a:t>
            </a:r>
            <a:endParaRPr b="0" i="0" sz="1200" u="none" cap="none" strike="noStrike">
              <a:solidFill>
                <a:schemeClr val="dk1"/>
              </a:solidFill>
              <a:latin typeface="Calibri"/>
              <a:ea typeface="Calibri"/>
              <a:cs typeface="Calibri"/>
              <a:sym typeface="Calibri"/>
            </a:endParaRPr>
          </a:p>
        </p:txBody>
      </p:sp>
      <p:sp>
        <p:nvSpPr>
          <p:cNvPr id="154" name="Google Shape;154;p5"/>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155" name="Google Shape;155;p5"/>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 name="Shape 160"/>
        <p:cNvGrpSpPr/>
        <p:nvPr/>
      </p:nvGrpSpPr>
      <p:grpSpPr>
        <a:xfrm>
          <a:off x="0" y="0"/>
          <a:ext cx="0" cy="0"/>
          <a:chOff x="0" y="0"/>
          <a:chExt cx="0" cy="0"/>
        </a:xfrm>
      </p:grpSpPr>
      <p:sp>
        <p:nvSpPr>
          <p:cNvPr id="161" name="Google Shape;161;p6"/>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Unsupervised Learning</a:t>
            </a:r>
            <a:endParaRPr b="0" i="0" sz="3000" u="none" cap="none" strike="noStrike">
              <a:solidFill>
                <a:schemeClr val="dk1"/>
              </a:solidFill>
              <a:latin typeface="Calibri"/>
              <a:ea typeface="Calibri"/>
              <a:cs typeface="Calibri"/>
              <a:sym typeface="Calibri"/>
            </a:endParaRPr>
          </a:p>
        </p:txBody>
      </p:sp>
      <p:cxnSp>
        <p:nvCxnSpPr>
          <p:cNvPr id="162" name="Google Shape;162;p6"/>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163" name="Google Shape;163;p6"/>
          <p:cNvSpPr/>
          <p:nvPr/>
        </p:nvSpPr>
        <p:spPr>
          <a:xfrm>
            <a:off x="457200" y="914400"/>
            <a:ext cx="8412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350"/>
              <a:buFont typeface="Georgia"/>
              <a:buNone/>
            </a:pPr>
            <a:r>
              <a:rPr b="0" i="1" lang="en-US" sz="1350" u="none" cap="none" strike="noStrike">
                <a:solidFill>
                  <a:srgbClr val="606060"/>
                </a:solidFill>
                <a:latin typeface="Georgia"/>
                <a:ea typeface="Georgia"/>
                <a:cs typeface="Georgia"/>
                <a:sym typeface="Georgia"/>
              </a:rPr>
              <a:t>Same data, but no labels — the model has to find structure on its own.</a:t>
            </a:r>
            <a:endParaRPr b="0" i="0" sz="1350" u="none" cap="none" strike="noStrike">
              <a:solidFill>
                <a:schemeClr val="dk1"/>
              </a:solidFill>
              <a:latin typeface="Calibri"/>
              <a:ea typeface="Calibri"/>
              <a:cs typeface="Calibri"/>
              <a:sym typeface="Calibri"/>
            </a:endParaRPr>
          </a:p>
        </p:txBody>
      </p:sp>
      <p:sp>
        <p:nvSpPr>
          <p:cNvPr id="164" name="Google Shape;164;p6"/>
          <p:cNvSpPr/>
          <p:nvPr/>
        </p:nvSpPr>
        <p:spPr>
          <a:xfrm>
            <a:off x="365760" y="1371600"/>
            <a:ext cx="2743200" cy="2606040"/>
          </a:xfrm>
          <a:prstGeom prst="rect">
            <a:avLst/>
          </a:prstGeom>
          <a:solidFill>
            <a:srgbClr val="EAF1F4"/>
          </a:solidFill>
          <a:ln cap="flat" cmpd="sng" w="9525">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p:nvPr/>
        </p:nvSpPr>
        <p:spPr>
          <a:xfrm>
            <a:off x="502920" y="1417320"/>
            <a:ext cx="24688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F5A7A"/>
              </a:buClr>
              <a:buSzPts val="1400"/>
              <a:buFont typeface="Georgia"/>
              <a:buNone/>
            </a:pPr>
            <a:r>
              <a:rPr b="1" i="0" lang="en-US" sz="1400" u="none" cap="none" strike="noStrike">
                <a:solidFill>
                  <a:srgbClr val="2F5A7A"/>
                </a:solidFill>
                <a:latin typeface="Georgia"/>
                <a:ea typeface="Georgia"/>
                <a:cs typeface="Georgia"/>
                <a:sym typeface="Georgia"/>
              </a:rPr>
              <a:t>Clustering</a:t>
            </a:r>
            <a:endParaRPr b="0" i="0" sz="1400" u="none" cap="none" strike="noStrike">
              <a:solidFill>
                <a:schemeClr val="dk1"/>
              </a:solidFill>
              <a:latin typeface="Calibri"/>
              <a:ea typeface="Calibri"/>
              <a:cs typeface="Calibri"/>
              <a:sym typeface="Calibri"/>
            </a:endParaRPr>
          </a:p>
        </p:txBody>
      </p:sp>
      <p:sp>
        <p:nvSpPr>
          <p:cNvPr id="166" name="Google Shape;166;p6"/>
          <p:cNvSpPr/>
          <p:nvPr/>
        </p:nvSpPr>
        <p:spPr>
          <a:xfrm>
            <a:off x="502920" y="1828800"/>
            <a:ext cx="2468880" cy="6400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Group similar examples together.</a:t>
            </a:r>
            <a:endParaRPr b="0" i="0" sz="1200" u="none" cap="none" strike="noStrike">
              <a:solidFill>
                <a:schemeClr val="dk1"/>
              </a:solidFill>
              <a:latin typeface="Calibri"/>
              <a:ea typeface="Calibri"/>
              <a:cs typeface="Calibri"/>
              <a:sym typeface="Calibri"/>
            </a:endParaRPr>
          </a:p>
        </p:txBody>
      </p:sp>
      <p:sp>
        <p:nvSpPr>
          <p:cNvPr id="167" name="Google Shape;167;p6"/>
          <p:cNvSpPr/>
          <p:nvPr/>
        </p:nvSpPr>
        <p:spPr>
          <a:xfrm>
            <a:off x="502920" y="2514600"/>
            <a:ext cx="2468880" cy="1417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06060"/>
              </a:buClr>
              <a:buSzPts val="1150"/>
              <a:buFont typeface="Georgia"/>
              <a:buNone/>
            </a:pPr>
            <a:r>
              <a:rPr b="0" i="1" lang="en-US" sz="1150" u="none" cap="none" strike="noStrike">
                <a:solidFill>
                  <a:srgbClr val="606060"/>
                </a:solidFill>
                <a:latin typeface="Georgia"/>
                <a:ea typeface="Georgia"/>
                <a:cs typeface="Georgia"/>
                <a:sym typeface="Georgia"/>
              </a:rPr>
              <a:t>Algorithms: K-Means, DBSCAN, Gaussian Mixture.  Astro: spectral types, source populations.</a:t>
            </a:r>
            <a:endParaRPr b="0" i="0" sz="1150" u="none" cap="none" strike="noStrike">
              <a:solidFill>
                <a:schemeClr val="dk1"/>
              </a:solidFill>
              <a:latin typeface="Calibri"/>
              <a:ea typeface="Calibri"/>
              <a:cs typeface="Calibri"/>
              <a:sym typeface="Calibri"/>
            </a:endParaRPr>
          </a:p>
        </p:txBody>
      </p:sp>
      <p:sp>
        <p:nvSpPr>
          <p:cNvPr id="168" name="Google Shape;168;p6"/>
          <p:cNvSpPr/>
          <p:nvPr/>
        </p:nvSpPr>
        <p:spPr>
          <a:xfrm>
            <a:off x="3246120" y="1371600"/>
            <a:ext cx="2743200" cy="260604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p:nvPr/>
        </p:nvSpPr>
        <p:spPr>
          <a:xfrm>
            <a:off x="3383280" y="1417320"/>
            <a:ext cx="24688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1400"/>
              <a:buFont typeface="Georgia"/>
              <a:buNone/>
            </a:pPr>
            <a:r>
              <a:rPr b="1" i="0" lang="en-US" sz="1400" u="none" cap="none" strike="noStrike">
                <a:solidFill>
                  <a:srgbClr val="7B2D26"/>
                </a:solidFill>
                <a:latin typeface="Georgia"/>
                <a:ea typeface="Georgia"/>
                <a:cs typeface="Georgia"/>
                <a:sym typeface="Georgia"/>
              </a:rPr>
              <a:t>Dimensionality reduction</a:t>
            </a:r>
            <a:endParaRPr b="0" i="0" sz="1400" u="none" cap="none" strike="noStrike">
              <a:solidFill>
                <a:schemeClr val="dk1"/>
              </a:solidFill>
              <a:latin typeface="Calibri"/>
              <a:ea typeface="Calibri"/>
              <a:cs typeface="Calibri"/>
              <a:sym typeface="Calibri"/>
            </a:endParaRPr>
          </a:p>
        </p:txBody>
      </p:sp>
      <p:sp>
        <p:nvSpPr>
          <p:cNvPr id="170" name="Google Shape;170;p6"/>
          <p:cNvSpPr/>
          <p:nvPr/>
        </p:nvSpPr>
        <p:spPr>
          <a:xfrm>
            <a:off x="3383280" y="1828800"/>
            <a:ext cx="2468880" cy="6400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Compress high-D data into a few key axes.</a:t>
            </a:r>
            <a:endParaRPr b="0" i="0" sz="1200" u="none" cap="none" strike="noStrike">
              <a:solidFill>
                <a:schemeClr val="dk1"/>
              </a:solidFill>
              <a:latin typeface="Calibri"/>
              <a:ea typeface="Calibri"/>
              <a:cs typeface="Calibri"/>
              <a:sym typeface="Calibri"/>
            </a:endParaRPr>
          </a:p>
        </p:txBody>
      </p:sp>
      <p:sp>
        <p:nvSpPr>
          <p:cNvPr id="171" name="Google Shape;171;p6"/>
          <p:cNvSpPr/>
          <p:nvPr/>
        </p:nvSpPr>
        <p:spPr>
          <a:xfrm>
            <a:off x="3383280" y="2514600"/>
            <a:ext cx="2468880" cy="1417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06060"/>
              </a:buClr>
              <a:buSzPts val="1150"/>
              <a:buFont typeface="Georgia"/>
              <a:buNone/>
            </a:pPr>
            <a:r>
              <a:rPr b="0" i="1" lang="en-US" sz="1150" u="none" cap="none" strike="noStrike">
                <a:solidFill>
                  <a:srgbClr val="606060"/>
                </a:solidFill>
                <a:latin typeface="Georgia"/>
                <a:ea typeface="Georgia"/>
                <a:cs typeface="Georgia"/>
                <a:sym typeface="Georgia"/>
              </a:rPr>
              <a:t>Algorithms: PCA, t-SNE, UMAP, autoencoders.  Astro: galaxy spectra → eigenspectra.</a:t>
            </a:r>
            <a:endParaRPr b="0" i="0" sz="1150" u="none" cap="none" strike="noStrike">
              <a:solidFill>
                <a:schemeClr val="dk1"/>
              </a:solidFill>
              <a:latin typeface="Calibri"/>
              <a:ea typeface="Calibri"/>
              <a:cs typeface="Calibri"/>
              <a:sym typeface="Calibri"/>
            </a:endParaRPr>
          </a:p>
        </p:txBody>
      </p:sp>
      <p:sp>
        <p:nvSpPr>
          <p:cNvPr id="172" name="Google Shape;172;p6"/>
          <p:cNvSpPr/>
          <p:nvPr/>
        </p:nvSpPr>
        <p:spPr>
          <a:xfrm>
            <a:off x="6126480" y="1371600"/>
            <a:ext cx="2743200" cy="2606040"/>
          </a:xfrm>
          <a:prstGeom prst="rect">
            <a:avLst/>
          </a:prstGeom>
          <a:solidFill>
            <a:srgbClr val="E7EAE3"/>
          </a:solidFill>
          <a:ln cap="flat" cmpd="sng" w="9525">
            <a:solidFill>
              <a:srgbClr val="3A5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6263640" y="1417320"/>
            <a:ext cx="24688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A5A3B"/>
              </a:buClr>
              <a:buSzPts val="1400"/>
              <a:buFont typeface="Georgia"/>
              <a:buNone/>
            </a:pPr>
            <a:r>
              <a:rPr b="1" i="0" lang="en-US" sz="1400" u="none" cap="none" strike="noStrike">
                <a:solidFill>
                  <a:srgbClr val="3A5A3B"/>
                </a:solidFill>
                <a:latin typeface="Georgia"/>
                <a:ea typeface="Georgia"/>
                <a:cs typeface="Georgia"/>
                <a:sym typeface="Georgia"/>
              </a:rPr>
              <a:t>Density estimation</a:t>
            </a:r>
            <a:endParaRPr b="0" i="0" sz="1400" u="none" cap="none" strike="noStrike">
              <a:solidFill>
                <a:schemeClr val="dk1"/>
              </a:solidFill>
              <a:latin typeface="Calibri"/>
              <a:ea typeface="Calibri"/>
              <a:cs typeface="Calibri"/>
              <a:sym typeface="Calibri"/>
            </a:endParaRPr>
          </a:p>
        </p:txBody>
      </p:sp>
      <p:sp>
        <p:nvSpPr>
          <p:cNvPr id="174" name="Google Shape;174;p6"/>
          <p:cNvSpPr/>
          <p:nvPr/>
        </p:nvSpPr>
        <p:spPr>
          <a:xfrm>
            <a:off x="6263640" y="1828800"/>
            <a:ext cx="2468880" cy="6400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Learn the probability distribution of the data.</a:t>
            </a:r>
            <a:endParaRPr b="0" i="0" sz="1200" u="none" cap="none" strike="noStrike">
              <a:solidFill>
                <a:schemeClr val="dk1"/>
              </a:solidFill>
              <a:latin typeface="Calibri"/>
              <a:ea typeface="Calibri"/>
              <a:cs typeface="Calibri"/>
              <a:sym typeface="Calibri"/>
            </a:endParaRPr>
          </a:p>
        </p:txBody>
      </p:sp>
      <p:sp>
        <p:nvSpPr>
          <p:cNvPr id="175" name="Google Shape;175;p6"/>
          <p:cNvSpPr/>
          <p:nvPr/>
        </p:nvSpPr>
        <p:spPr>
          <a:xfrm>
            <a:off x="6263640" y="2514600"/>
            <a:ext cx="2468880" cy="1417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06060"/>
              </a:buClr>
              <a:buSzPts val="1150"/>
              <a:buFont typeface="Georgia"/>
              <a:buNone/>
            </a:pPr>
            <a:r>
              <a:rPr b="0" i="1" lang="en-US" sz="1150" u="none" cap="none" strike="noStrike">
                <a:solidFill>
                  <a:srgbClr val="606060"/>
                </a:solidFill>
                <a:latin typeface="Georgia"/>
                <a:ea typeface="Georgia"/>
                <a:cs typeface="Georgia"/>
                <a:sym typeface="Georgia"/>
              </a:rPr>
              <a:t>Algorithms: KDE, GMM, normalizing flows.  Astro: cosmological parameter inference.</a:t>
            </a:r>
            <a:endParaRPr b="0" i="0" sz="1150" u="none" cap="none" strike="noStrike">
              <a:solidFill>
                <a:schemeClr val="dk1"/>
              </a:solidFill>
              <a:latin typeface="Calibri"/>
              <a:ea typeface="Calibri"/>
              <a:cs typeface="Calibri"/>
              <a:sym typeface="Calibri"/>
            </a:endParaRPr>
          </a:p>
        </p:txBody>
      </p:sp>
      <p:sp>
        <p:nvSpPr>
          <p:cNvPr id="176" name="Google Shape;176;p6"/>
          <p:cNvSpPr/>
          <p:nvPr/>
        </p:nvSpPr>
        <p:spPr>
          <a:xfrm>
            <a:off x="457200" y="4069080"/>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200"/>
              <a:buFont typeface="Georgia"/>
              <a:buNone/>
            </a:pPr>
            <a:r>
              <a:rPr b="1" i="0" lang="en-US" sz="1200" u="none" cap="none" strike="noStrike">
                <a:solidFill>
                  <a:srgbClr val="7B2D26"/>
                </a:solidFill>
                <a:latin typeface="Georgia"/>
                <a:ea typeface="Georgia"/>
                <a:cs typeface="Georgia"/>
                <a:sym typeface="Georgia"/>
              </a:rPr>
              <a:t>When to reach for unsupervised:  </a:t>
            </a:r>
            <a:r>
              <a:rPr b="0" i="0" lang="en-US" sz="1200" u="none" cap="none" strike="noStrike">
                <a:solidFill>
                  <a:srgbClr val="2B2B2B"/>
                </a:solidFill>
                <a:latin typeface="Georgia"/>
                <a:ea typeface="Georgia"/>
                <a:cs typeface="Georgia"/>
                <a:sym typeface="Georgia"/>
              </a:rPr>
              <a:t>no labels yet, exploring a new dataset, or just curious what's in there.</a:t>
            </a:r>
            <a:endParaRPr b="0" i="0" sz="1200" u="none" cap="none" strike="noStrike">
              <a:solidFill>
                <a:schemeClr val="dk1"/>
              </a:solidFill>
              <a:latin typeface="Calibri"/>
              <a:ea typeface="Calibri"/>
              <a:cs typeface="Calibri"/>
              <a:sym typeface="Calibri"/>
            </a:endParaRPr>
          </a:p>
        </p:txBody>
      </p:sp>
      <p:sp>
        <p:nvSpPr>
          <p:cNvPr id="177" name="Google Shape;177;p6"/>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178" name="Google Shape;178;p6"/>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 name="Shape 183"/>
        <p:cNvGrpSpPr/>
        <p:nvPr/>
      </p:nvGrpSpPr>
      <p:grpSpPr>
        <a:xfrm>
          <a:off x="0" y="0"/>
          <a:ext cx="0" cy="0"/>
          <a:chOff x="0" y="0"/>
          <a:chExt cx="0" cy="0"/>
        </a:xfrm>
      </p:grpSpPr>
      <p:sp>
        <p:nvSpPr>
          <p:cNvPr id="184" name="Google Shape;184;p7"/>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Semi-  &amp;  Self-Supervised Learning</a:t>
            </a:r>
            <a:endParaRPr b="0" i="0" sz="3000" u="none" cap="none" strike="noStrike">
              <a:solidFill>
                <a:schemeClr val="dk1"/>
              </a:solidFill>
              <a:latin typeface="Calibri"/>
              <a:ea typeface="Calibri"/>
              <a:cs typeface="Calibri"/>
              <a:sym typeface="Calibri"/>
            </a:endParaRPr>
          </a:p>
        </p:txBody>
      </p:sp>
      <p:cxnSp>
        <p:nvCxnSpPr>
          <p:cNvPr id="185" name="Google Shape;185;p7"/>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186" name="Google Shape;186;p7"/>
          <p:cNvSpPr/>
          <p:nvPr/>
        </p:nvSpPr>
        <p:spPr>
          <a:xfrm>
            <a:off x="457200" y="914400"/>
            <a:ext cx="8412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350"/>
              <a:buFont typeface="Georgia"/>
              <a:buNone/>
            </a:pPr>
            <a:r>
              <a:rPr b="0" i="1" lang="en-US" sz="1350" u="none" cap="none" strike="noStrike">
                <a:solidFill>
                  <a:srgbClr val="606060"/>
                </a:solidFill>
                <a:latin typeface="Georgia"/>
                <a:ea typeface="Georgia"/>
                <a:cs typeface="Georgia"/>
                <a:sym typeface="Georgia"/>
              </a:rPr>
              <a:t>The hybrid case: a little labeled data, plus mountains of unlabeled data.</a:t>
            </a:r>
            <a:endParaRPr b="0" i="0" sz="1350" u="none" cap="none" strike="noStrike">
              <a:solidFill>
                <a:schemeClr val="dk1"/>
              </a:solidFill>
              <a:latin typeface="Calibri"/>
              <a:ea typeface="Calibri"/>
              <a:cs typeface="Calibri"/>
              <a:sym typeface="Calibri"/>
            </a:endParaRPr>
          </a:p>
        </p:txBody>
      </p:sp>
      <p:sp>
        <p:nvSpPr>
          <p:cNvPr id="187" name="Google Shape;187;p7"/>
          <p:cNvSpPr/>
          <p:nvPr/>
        </p:nvSpPr>
        <p:spPr>
          <a:xfrm>
            <a:off x="365760" y="1371600"/>
            <a:ext cx="4160520" cy="242316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p:nvPr/>
        </p:nvSpPr>
        <p:spPr>
          <a:xfrm>
            <a:off x="502920" y="1417320"/>
            <a:ext cx="3931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500"/>
              <a:buFont typeface="Georgia"/>
              <a:buNone/>
            </a:pPr>
            <a:r>
              <a:rPr b="1" i="0" lang="en-US" sz="1500" u="none" cap="none" strike="noStrike">
                <a:solidFill>
                  <a:srgbClr val="7B2D26"/>
                </a:solidFill>
                <a:latin typeface="Georgia"/>
                <a:ea typeface="Georgia"/>
                <a:cs typeface="Georgia"/>
                <a:sym typeface="Georgia"/>
              </a:rPr>
              <a:t>Semi-supervised</a:t>
            </a:r>
            <a:endParaRPr b="0" i="0" sz="1500" u="none" cap="none" strike="noStrike">
              <a:solidFill>
                <a:schemeClr val="dk1"/>
              </a:solidFill>
              <a:latin typeface="Calibri"/>
              <a:ea typeface="Calibri"/>
              <a:cs typeface="Calibri"/>
              <a:sym typeface="Calibri"/>
            </a:endParaRPr>
          </a:p>
        </p:txBody>
      </p:sp>
      <p:sp>
        <p:nvSpPr>
          <p:cNvPr id="189" name="Google Shape;189;p7"/>
          <p:cNvSpPr/>
          <p:nvPr/>
        </p:nvSpPr>
        <p:spPr>
          <a:xfrm>
            <a:off x="502920" y="1783080"/>
            <a:ext cx="3931920" cy="1920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Use unlabeled X to discover useful structure, then exploit it to fit a model on the small labeled (X, y) set.</a:t>
            </a:r>
            <a:endParaRPr b="0" i="0" sz="12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500"/>
              <a:buFont typeface="Georgia"/>
              <a:buNone/>
            </a:pPr>
            <a:r>
              <a:rPr b="0" i="0" lang="en-US" sz="500" u="none" cap="none" strike="noStrike">
                <a:solidFill>
                  <a:srgbClr val="2B2B2B"/>
                </a:solidFill>
                <a:latin typeface="Georgia"/>
                <a:ea typeface="Georgia"/>
                <a:cs typeface="Georgia"/>
                <a:sym typeface="Georgia"/>
              </a:rPr>
              <a:t> </a:t>
            </a:r>
            <a:endParaRPr b="0" i="0" sz="12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7B2D26"/>
              </a:buClr>
              <a:buSzPts val="1200"/>
              <a:buFont typeface="Georgia"/>
              <a:buNone/>
            </a:pPr>
            <a:r>
              <a:rPr b="1" i="0" lang="en-US" sz="1200" u="none" cap="none" strike="noStrike">
                <a:solidFill>
                  <a:srgbClr val="7B2D26"/>
                </a:solidFill>
                <a:latin typeface="Georgia"/>
                <a:ea typeface="Georgia"/>
                <a:cs typeface="Georgia"/>
                <a:sym typeface="Georgia"/>
              </a:rPr>
              <a:t>Astro example: </a:t>
            </a:r>
            <a:endParaRPr b="0" i="0" sz="12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606060"/>
              </a:buClr>
              <a:buSzPts val="1200"/>
              <a:buFont typeface="Georgia"/>
              <a:buNone/>
            </a:pPr>
            <a:r>
              <a:rPr b="0" i="1" lang="en-US" sz="1200" u="none" cap="none" strike="noStrike">
                <a:solidFill>
                  <a:srgbClr val="606060"/>
                </a:solidFill>
                <a:latin typeface="Georgia"/>
                <a:ea typeface="Georgia"/>
                <a:cs typeface="Georgia"/>
                <a:sym typeface="Georgia"/>
              </a:rPr>
              <a:t>spectroscopic redshifts exist for ~10⁶ galaxies; photometry for ~10¹⁰.</a:t>
            </a:r>
            <a:endParaRPr b="0" i="0" sz="1200" u="none" cap="none" strike="noStrike">
              <a:solidFill>
                <a:schemeClr val="dk1"/>
              </a:solidFill>
              <a:latin typeface="Calibri"/>
              <a:ea typeface="Calibri"/>
              <a:cs typeface="Calibri"/>
              <a:sym typeface="Calibri"/>
            </a:endParaRPr>
          </a:p>
        </p:txBody>
      </p:sp>
      <p:sp>
        <p:nvSpPr>
          <p:cNvPr id="190" name="Google Shape;190;p7"/>
          <p:cNvSpPr/>
          <p:nvPr/>
        </p:nvSpPr>
        <p:spPr>
          <a:xfrm>
            <a:off x="4663440" y="1371600"/>
            <a:ext cx="4160520" cy="2423160"/>
          </a:xfrm>
          <a:prstGeom prst="rect">
            <a:avLst/>
          </a:prstGeom>
          <a:solidFill>
            <a:srgbClr val="EAF1F4"/>
          </a:solidFill>
          <a:ln cap="flat" cmpd="sng" w="9525">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a:off x="4800600" y="1417320"/>
            <a:ext cx="3931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5A7A"/>
              </a:buClr>
              <a:buSzPts val="1500"/>
              <a:buFont typeface="Georgia"/>
              <a:buNone/>
            </a:pPr>
            <a:r>
              <a:rPr b="1" i="0" lang="en-US" sz="1500" u="none" cap="none" strike="noStrike">
                <a:solidFill>
                  <a:srgbClr val="2F5A7A"/>
                </a:solidFill>
                <a:latin typeface="Georgia"/>
                <a:ea typeface="Georgia"/>
                <a:cs typeface="Georgia"/>
                <a:sym typeface="Georgia"/>
              </a:rPr>
              <a:t>Self-supervised</a:t>
            </a:r>
            <a:endParaRPr b="0" i="0" sz="1500" u="none" cap="none" strike="noStrike">
              <a:solidFill>
                <a:schemeClr val="dk1"/>
              </a:solidFill>
              <a:latin typeface="Calibri"/>
              <a:ea typeface="Calibri"/>
              <a:cs typeface="Calibri"/>
              <a:sym typeface="Calibri"/>
            </a:endParaRPr>
          </a:p>
        </p:txBody>
      </p:sp>
      <p:sp>
        <p:nvSpPr>
          <p:cNvPr id="192" name="Google Shape;192;p7"/>
          <p:cNvSpPr/>
          <p:nvPr/>
        </p:nvSpPr>
        <p:spPr>
          <a:xfrm>
            <a:off x="4800600" y="1783080"/>
            <a:ext cx="3931920" cy="1920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Manufacture labels from the data itself: </a:t>
            </a:r>
            <a:r>
              <a:rPr b="0" i="1" lang="en-US" sz="1200" u="none" cap="none" strike="noStrike">
                <a:solidFill>
                  <a:srgbClr val="2B2B2B"/>
                </a:solidFill>
                <a:latin typeface="Georgia"/>
                <a:ea typeface="Georgia"/>
                <a:cs typeface="Georgia"/>
                <a:sym typeface="Georgia"/>
              </a:rPr>
              <a:t>predict the next word, fill in the missing pixel, match the augmented view.</a:t>
            </a:r>
            <a:endParaRPr b="0" i="0" sz="12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500"/>
              <a:buFont typeface="Georgia"/>
              <a:buNone/>
            </a:pPr>
            <a:r>
              <a:rPr b="0" i="0" lang="en-US" sz="500" u="none" cap="none" strike="noStrike">
                <a:solidFill>
                  <a:srgbClr val="2B2B2B"/>
                </a:solidFill>
                <a:latin typeface="Georgia"/>
                <a:ea typeface="Georgia"/>
                <a:cs typeface="Georgia"/>
                <a:sym typeface="Georgia"/>
              </a:rPr>
              <a:t> </a:t>
            </a:r>
            <a:endParaRPr b="0" i="0" sz="12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Powers </a:t>
            </a:r>
            <a:r>
              <a:rPr b="1" i="0" lang="en-US" sz="1200" u="none" cap="none" strike="noStrike">
                <a:solidFill>
                  <a:srgbClr val="2B2B2B"/>
                </a:solidFill>
                <a:latin typeface="Georgia"/>
                <a:ea typeface="Georgia"/>
                <a:cs typeface="Georgia"/>
                <a:sym typeface="Georgia"/>
              </a:rPr>
              <a:t>modern foundation models </a:t>
            </a:r>
            <a:r>
              <a:rPr b="0" i="0" lang="en-US" sz="1200" u="none" cap="none" strike="noStrike">
                <a:solidFill>
                  <a:srgbClr val="2B2B2B"/>
                </a:solidFill>
                <a:latin typeface="Georgia"/>
                <a:ea typeface="Georgia"/>
                <a:cs typeface="Georgia"/>
                <a:sym typeface="Georgia"/>
              </a:rPr>
              <a:t>(GPT, CLIP, BERT, AstroCLIP).</a:t>
            </a:r>
            <a:endParaRPr b="0" i="0" sz="1200" u="none" cap="none" strike="noStrike">
              <a:solidFill>
                <a:schemeClr val="dk1"/>
              </a:solidFill>
              <a:latin typeface="Calibri"/>
              <a:ea typeface="Calibri"/>
              <a:cs typeface="Calibri"/>
              <a:sym typeface="Calibri"/>
            </a:endParaRPr>
          </a:p>
        </p:txBody>
      </p:sp>
      <p:sp>
        <p:nvSpPr>
          <p:cNvPr id="193" name="Google Shape;193;p7"/>
          <p:cNvSpPr/>
          <p:nvPr/>
        </p:nvSpPr>
        <p:spPr>
          <a:xfrm>
            <a:off x="457200" y="3931920"/>
            <a:ext cx="8412480" cy="548640"/>
          </a:xfrm>
          <a:prstGeom prst="rect">
            <a:avLst/>
          </a:prstGeom>
          <a:solidFill>
            <a:srgbClr val="E7EAE3"/>
          </a:solidFill>
          <a:ln cap="flat" cmpd="sng" w="9525">
            <a:solidFill>
              <a:srgbClr val="3A5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
          <p:cNvSpPr/>
          <p:nvPr/>
        </p:nvSpPr>
        <p:spPr>
          <a:xfrm>
            <a:off x="594360" y="3950208"/>
            <a:ext cx="81838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5A3B"/>
              </a:buClr>
              <a:buSzPts val="1200"/>
              <a:buFont typeface="Georgia"/>
              <a:buNone/>
            </a:pPr>
            <a:r>
              <a:rPr b="1" i="0" lang="en-US" sz="1200" u="none" cap="none" strike="noStrike">
                <a:solidFill>
                  <a:srgbClr val="3A5A3B"/>
                </a:solidFill>
                <a:latin typeface="Georgia"/>
                <a:ea typeface="Georgia"/>
                <a:cs typeface="Georgia"/>
                <a:sym typeface="Georgia"/>
              </a:rPr>
              <a:t>Why it matters in astro:  </a:t>
            </a:r>
            <a:r>
              <a:rPr b="0" i="0" lang="en-US" sz="1200" u="none" cap="none" strike="noStrike">
                <a:solidFill>
                  <a:srgbClr val="2B2B2B"/>
                </a:solidFill>
                <a:latin typeface="Georgia"/>
                <a:ea typeface="Georgia"/>
                <a:cs typeface="Georgia"/>
                <a:sym typeface="Georgia"/>
              </a:rPr>
              <a:t>labels are scarce, raw observations are abundant. Self-supervised pre-training is becoming the standard recipe for survey data.</a:t>
            </a:r>
            <a:endParaRPr b="0" i="0" sz="1200" u="none" cap="none" strike="noStrike">
              <a:solidFill>
                <a:schemeClr val="dk1"/>
              </a:solidFill>
              <a:latin typeface="Calibri"/>
              <a:ea typeface="Calibri"/>
              <a:cs typeface="Calibri"/>
              <a:sym typeface="Calibri"/>
            </a:endParaRPr>
          </a:p>
        </p:txBody>
      </p:sp>
      <p:sp>
        <p:nvSpPr>
          <p:cNvPr id="195" name="Google Shape;195;p7"/>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196" name="Google Shape;196;p7"/>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7</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sp>
        <p:nvSpPr>
          <p:cNvPr id="202" name="Google Shape;202;p8"/>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Reinforcement Learning  (Out of Scope)</a:t>
            </a:r>
            <a:endParaRPr b="0" i="0" sz="3000" u="none" cap="none" strike="noStrike">
              <a:solidFill>
                <a:schemeClr val="dk1"/>
              </a:solidFill>
              <a:latin typeface="Calibri"/>
              <a:ea typeface="Calibri"/>
              <a:cs typeface="Calibri"/>
              <a:sym typeface="Calibri"/>
            </a:endParaRPr>
          </a:p>
        </p:txBody>
      </p:sp>
      <p:cxnSp>
        <p:nvCxnSpPr>
          <p:cNvPr id="203" name="Google Shape;203;p8"/>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204" name="Google Shape;204;p8"/>
          <p:cNvSpPr/>
          <p:nvPr/>
        </p:nvSpPr>
        <p:spPr>
          <a:xfrm>
            <a:off x="457200" y="914400"/>
            <a:ext cx="8412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350"/>
              <a:buFont typeface="Georgia"/>
              <a:buNone/>
            </a:pPr>
            <a:r>
              <a:rPr b="0" i="1" lang="en-US" sz="1350" u="none" cap="none" strike="noStrike">
                <a:solidFill>
                  <a:srgbClr val="606060"/>
                </a:solidFill>
                <a:latin typeface="Georgia"/>
                <a:ea typeface="Georgia"/>
                <a:cs typeface="Georgia"/>
                <a:sym typeface="Georgia"/>
              </a:rPr>
              <a:t>An agent interacts with an environment and learns a policy that maximizes long-term reward.</a:t>
            </a:r>
            <a:endParaRPr b="0" i="0" sz="1350" u="none" cap="none" strike="noStrike">
              <a:solidFill>
                <a:schemeClr val="dk1"/>
              </a:solidFill>
              <a:latin typeface="Calibri"/>
              <a:ea typeface="Calibri"/>
              <a:cs typeface="Calibri"/>
              <a:sym typeface="Calibri"/>
            </a:endParaRPr>
          </a:p>
        </p:txBody>
      </p:sp>
      <p:sp>
        <p:nvSpPr>
          <p:cNvPr id="205" name="Google Shape;205;p8"/>
          <p:cNvSpPr/>
          <p:nvPr/>
        </p:nvSpPr>
        <p:spPr>
          <a:xfrm>
            <a:off x="914400" y="1554480"/>
            <a:ext cx="1828800" cy="914400"/>
          </a:xfrm>
          <a:prstGeom prst="rect">
            <a:avLst/>
          </a:prstGeom>
          <a:solidFill>
            <a:srgbClr val="F4ECE9"/>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8"/>
          <p:cNvSpPr/>
          <p:nvPr/>
        </p:nvSpPr>
        <p:spPr>
          <a:xfrm>
            <a:off x="914400" y="1554480"/>
            <a:ext cx="182880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1600"/>
              <a:buFont typeface="Georgia"/>
              <a:buNone/>
            </a:pPr>
            <a:r>
              <a:rPr b="1" i="0" lang="en-US" sz="1600" u="none" cap="none" strike="noStrike">
                <a:solidFill>
                  <a:srgbClr val="7B2D26"/>
                </a:solidFill>
                <a:latin typeface="Georgia"/>
                <a:ea typeface="Georgia"/>
                <a:cs typeface="Georgia"/>
                <a:sym typeface="Georgia"/>
              </a:rPr>
              <a:t>Agent</a:t>
            </a:r>
            <a:endParaRPr b="0" i="0" sz="1600" u="none" cap="none" strike="noStrike">
              <a:solidFill>
                <a:schemeClr val="dk1"/>
              </a:solidFill>
              <a:latin typeface="Calibri"/>
              <a:ea typeface="Calibri"/>
              <a:cs typeface="Calibri"/>
              <a:sym typeface="Calibri"/>
            </a:endParaRPr>
          </a:p>
        </p:txBody>
      </p:sp>
      <p:sp>
        <p:nvSpPr>
          <p:cNvPr id="207" name="Google Shape;207;p8"/>
          <p:cNvSpPr/>
          <p:nvPr/>
        </p:nvSpPr>
        <p:spPr>
          <a:xfrm>
            <a:off x="3657600" y="1554480"/>
            <a:ext cx="1828800" cy="914400"/>
          </a:xfrm>
          <a:prstGeom prst="rect">
            <a:avLst/>
          </a:prstGeom>
          <a:solidFill>
            <a:srgbClr val="EAF1F4"/>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
          <p:cNvSpPr/>
          <p:nvPr/>
        </p:nvSpPr>
        <p:spPr>
          <a:xfrm>
            <a:off x="3657600" y="1554480"/>
            <a:ext cx="182880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F5A7A"/>
              </a:buClr>
              <a:buSzPts val="1600"/>
              <a:buFont typeface="Georgia"/>
              <a:buNone/>
            </a:pPr>
            <a:r>
              <a:rPr b="1" i="0" lang="en-US" sz="1600" u="none" cap="none" strike="noStrike">
                <a:solidFill>
                  <a:srgbClr val="2F5A7A"/>
                </a:solidFill>
                <a:latin typeface="Georgia"/>
                <a:ea typeface="Georgia"/>
                <a:cs typeface="Georgia"/>
                <a:sym typeface="Georgia"/>
              </a:rPr>
              <a:t>Action</a:t>
            </a:r>
            <a:endParaRPr b="0" i="0" sz="1600" u="none" cap="none" strike="noStrike">
              <a:solidFill>
                <a:schemeClr val="dk1"/>
              </a:solidFill>
              <a:latin typeface="Calibri"/>
              <a:ea typeface="Calibri"/>
              <a:cs typeface="Calibri"/>
              <a:sym typeface="Calibri"/>
            </a:endParaRPr>
          </a:p>
        </p:txBody>
      </p:sp>
      <p:sp>
        <p:nvSpPr>
          <p:cNvPr id="209" name="Google Shape;209;p8"/>
          <p:cNvSpPr/>
          <p:nvPr/>
        </p:nvSpPr>
        <p:spPr>
          <a:xfrm>
            <a:off x="6400800" y="1554480"/>
            <a:ext cx="1828800" cy="914400"/>
          </a:xfrm>
          <a:prstGeom prst="rect">
            <a:avLst/>
          </a:prstGeom>
          <a:solidFill>
            <a:srgbClr val="E7EAE3"/>
          </a:solidFill>
          <a:ln cap="flat" cmpd="sng" w="12700">
            <a:solidFill>
              <a:srgbClr val="3A5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8"/>
          <p:cNvSpPr/>
          <p:nvPr/>
        </p:nvSpPr>
        <p:spPr>
          <a:xfrm>
            <a:off x="6400800" y="1554480"/>
            <a:ext cx="182880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A5A3B"/>
              </a:buClr>
              <a:buSzPts val="1600"/>
              <a:buFont typeface="Georgia"/>
              <a:buNone/>
            </a:pPr>
            <a:r>
              <a:rPr b="1" i="0" lang="en-US" sz="1600" u="none" cap="none" strike="noStrike">
                <a:solidFill>
                  <a:srgbClr val="3A5A3B"/>
                </a:solidFill>
                <a:latin typeface="Georgia"/>
                <a:ea typeface="Georgia"/>
                <a:cs typeface="Georgia"/>
                <a:sym typeface="Georgia"/>
              </a:rPr>
              <a:t>Environment</a:t>
            </a:r>
            <a:endParaRPr b="0" i="0" sz="1600" u="none" cap="none" strike="noStrike">
              <a:solidFill>
                <a:schemeClr val="dk1"/>
              </a:solidFill>
              <a:latin typeface="Calibri"/>
              <a:ea typeface="Calibri"/>
              <a:cs typeface="Calibri"/>
              <a:sym typeface="Calibri"/>
            </a:endParaRPr>
          </a:p>
        </p:txBody>
      </p:sp>
      <p:cxnSp>
        <p:nvCxnSpPr>
          <p:cNvPr id="211" name="Google Shape;211;p8"/>
          <p:cNvCxnSpPr/>
          <p:nvPr/>
        </p:nvCxnSpPr>
        <p:spPr>
          <a:xfrm>
            <a:off x="2743200" y="2011680"/>
            <a:ext cx="914400" cy="0"/>
          </a:xfrm>
          <a:prstGeom prst="straightConnector1">
            <a:avLst/>
          </a:prstGeom>
          <a:noFill/>
          <a:ln cap="flat" cmpd="sng" w="19050">
            <a:solidFill>
              <a:srgbClr val="606060"/>
            </a:solidFill>
            <a:prstDash val="solid"/>
            <a:round/>
            <a:headEnd len="sm" w="sm" type="none"/>
            <a:tailEnd len="med" w="med" type="triangle"/>
          </a:ln>
        </p:spPr>
      </p:cxnSp>
      <p:cxnSp>
        <p:nvCxnSpPr>
          <p:cNvPr id="212" name="Google Shape;212;p8"/>
          <p:cNvCxnSpPr/>
          <p:nvPr/>
        </p:nvCxnSpPr>
        <p:spPr>
          <a:xfrm>
            <a:off x="5486400" y="2011680"/>
            <a:ext cx="914400" cy="0"/>
          </a:xfrm>
          <a:prstGeom prst="straightConnector1">
            <a:avLst/>
          </a:prstGeom>
          <a:noFill/>
          <a:ln cap="flat" cmpd="sng" w="19050">
            <a:solidFill>
              <a:srgbClr val="606060"/>
            </a:solidFill>
            <a:prstDash val="solid"/>
            <a:round/>
            <a:headEnd len="sm" w="sm" type="none"/>
            <a:tailEnd len="med" w="med" type="triangle"/>
          </a:ln>
        </p:spPr>
      </p:cxnSp>
      <p:sp>
        <p:nvSpPr>
          <p:cNvPr id="213" name="Google Shape;213;p8"/>
          <p:cNvSpPr/>
          <p:nvPr/>
        </p:nvSpPr>
        <p:spPr>
          <a:xfrm>
            <a:off x="914400" y="2743200"/>
            <a:ext cx="73152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06060"/>
              </a:buClr>
              <a:buSzPts val="1200"/>
              <a:buFont typeface="Georgia"/>
              <a:buNone/>
            </a:pPr>
            <a:r>
              <a:rPr b="0" i="1" lang="en-US" sz="1200" u="none" cap="none" strike="noStrike">
                <a:solidFill>
                  <a:srgbClr val="606060"/>
                </a:solidFill>
                <a:latin typeface="Georgia"/>
                <a:ea typeface="Georgia"/>
                <a:cs typeface="Georgia"/>
                <a:sym typeface="Georgia"/>
              </a:rPr>
              <a:t>state + reward</a:t>
            </a:r>
            <a:endParaRPr b="0" i="0" sz="1200" u="none" cap="none" strike="noStrike">
              <a:solidFill>
                <a:schemeClr val="dk1"/>
              </a:solidFill>
              <a:latin typeface="Calibri"/>
              <a:ea typeface="Calibri"/>
              <a:cs typeface="Calibri"/>
              <a:sym typeface="Calibri"/>
            </a:endParaRPr>
          </a:p>
        </p:txBody>
      </p:sp>
      <p:cxnSp>
        <p:nvCxnSpPr>
          <p:cNvPr id="214" name="Google Shape;214;p8"/>
          <p:cNvCxnSpPr/>
          <p:nvPr/>
        </p:nvCxnSpPr>
        <p:spPr>
          <a:xfrm>
            <a:off x="1828800" y="2468880"/>
            <a:ext cx="0" cy="548640"/>
          </a:xfrm>
          <a:prstGeom prst="straightConnector1">
            <a:avLst/>
          </a:prstGeom>
          <a:noFill/>
          <a:ln cap="flat" cmpd="sng" w="19050">
            <a:solidFill>
              <a:srgbClr val="606060"/>
            </a:solidFill>
            <a:prstDash val="solid"/>
            <a:round/>
            <a:headEnd len="sm" w="sm" type="none"/>
            <a:tailEnd len="sm" w="sm" type="none"/>
          </a:ln>
        </p:spPr>
      </p:cxnSp>
      <p:cxnSp>
        <p:nvCxnSpPr>
          <p:cNvPr id="215" name="Google Shape;215;p8"/>
          <p:cNvCxnSpPr/>
          <p:nvPr/>
        </p:nvCxnSpPr>
        <p:spPr>
          <a:xfrm>
            <a:off x="7315200" y="2468880"/>
            <a:ext cx="0" cy="548640"/>
          </a:xfrm>
          <a:prstGeom prst="straightConnector1">
            <a:avLst/>
          </a:prstGeom>
          <a:noFill/>
          <a:ln cap="flat" cmpd="sng" w="19050">
            <a:solidFill>
              <a:srgbClr val="606060"/>
            </a:solidFill>
            <a:prstDash val="solid"/>
            <a:round/>
            <a:headEnd len="sm" w="sm" type="none"/>
            <a:tailEnd len="sm" w="sm" type="none"/>
          </a:ln>
        </p:spPr>
      </p:cxnSp>
      <p:cxnSp>
        <p:nvCxnSpPr>
          <p:cNvPr id="216" name="Google Shape;216;p8"/>
          <p:cNvCxnSpPr/>
          <p:nvPr/>
        </p:nvCxnSpPr>
        <p:spPr>
          <a:xfrm>
            <a:off x="1828800" y="3017520"/>
            <a:ext cx="5486400" cy="0"/>
          </a:xfrm>
          <a:prstGeom prst="straightConnector1">
            <a:avLst/>
          </a:prstGeom>
          <a:noFill/>
          <a:ln cap="flat" cmpd="sng" w="19050">
            <a:solidFill>
              <a:srgbClr val="606060"/>
            </a:solidFill>
            <a:prstDash val="solid"/>
            <a:round/>
            <a:headEnd len="med" w="med" type="triangle"/>
            <a:tailEnd len="sm" w="sm" type="none"/>
          </a:ln>
        </p:spPr>
      </p:cxnSp>
      <p:sp>
        <p:nvSpPr>
          <p:cNvPr id="217" name="Google Shape;217;p8"/>
          <p:cNvSpPr/>
          <p:nvPr/>
        </p:nvSpPr>
        <p:spPr>
          <a:xfrm>
            <a:off x="457200" y="3520445"/>
            <a:ext cx="8412600" cy="38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B2D26"/>
              </a:buClr>
              <a:buSzPts val="1250"/>
              <a:buFont typeface="Georgia"/>
              <a:buNone/>
            </a:pPr>
            <a:r>
              <a:rPr b="1" i="0" lang="en-US" sz="1250" u="none" cap="none" strike="noStrike">
                <a:solidFill>
                  <a:srgbClr val="7B2D26"/>
                </a:solidFill>
                <a:latin typeface="Georgia"/>
                <a:ea typeface="Georgia"/>
                <a:cs typeface="Georgia"/>
                <a:sym typeface="Georgia"/>
              </a:rPr>
              <a:t>Famous successes:  </a:t>
            </a:r>
            <a:r>
              <a:rPr b="0" i="0" lang="en-US" sz="1250" u="none" cap="none" strike="noStrike">
                <a:solidFill>
                  <a:srgbClr val="2B2B2B"/>
                </a:solidFill>
                <a:latin typeface="Georgia"/>
                <a:ea typeface="Georgia"/>
                <a:cs typeface="Georgia"/>
                <a:sym typeface="Georgia"/>
              </a:rPr>
              <a:t>AlphaGo, AlphaFold's training stage, robotic control, video games.</a:t>
            </a:r>
            <a:endParaRPr b="0" i="0" sz="1250" u="none" cap="none" strike="noStrike">
              <a:solidFill>
                <a:schemeClr val="dk1"/>
              </a:solidFill>
              <a:latin typeface="Calibri"/>
              <a:ea typeface="Calibri"/>
              <a:cs typeface="Calibri"/>
              <a:sym typeface="Calibri"/>
            </a:endParaRPr>
          </a:p>
        </p:txBody>
      </p:sp>
      <p:sp>
        <p:nvSpPr>
          <p:cNvPr id="218" name="Google Shape;218;p8"/>
          <p:cNvSpPr/>
          <p:nvPr/>
        </p:nvSpPr>
        <p:spPr>
          <a:xfrm>
            <a:off x="457200" y="4389120"/>
            <a:ext cx="84124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06060"/>
              </a:buClr>
              <a:buSzPts val="1200"/>
              <a:buFont typeface="Georgia"/>
              <a:buNone/>
            </a:pPr>
            <a:r>
              <a:rPr b="0" i="1" lang="en-US" sz="1200" u="none" cap="none" strike="noStrike">
                <a:solidFill>
                  <a:srgbClr val="606060"/>
                </a:solidFill>
                <a:latin typeface="Georgia"/>
                <a:ea typeface="Georgia"/>
                <a:cs typeface="Georgia"/>
                <a:sym typeface="Georgia"/>
              </a:rPr>
              <a:t>We will not cover RL further in this course.</a:t>
            </a:r>
            <a:endParaRPr b="0" i="0" sz="1200" u="none" cap="none" strike="noStrike">
              <a:solidFill>
                <a:schemeClr val="dk1"/>
              </a:solidFill>
              <a:latin typeface="Calibri"/>
              <a:ea typeface="Calibri"/>
              <a:cs typeface="Calibri"/>
              <a:sym typeface="Calibri"/>
            </a:endParaRPr>
          </a:p>
        </p:txBody>
      </p:sp>
      <p:sp>
        <p:nvSpPr>
          <p:cNvPr id="219" name="Google Shape;219;p8"/>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220" name="Google Shape;220;p8"/>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 name="Shape 225"/>
        <p:cNvGrpSpPr/>
        <p:nvPr/>
      </p:nvGrpSpPr>
      <p:grpSpPr>
        <a:xfrm>
          <a:off x="0" y="0"/>
          <a:ext cx="0" cy="0"/>
          <a:chOff x="0" y="0"/>
          <a:chExt cx="0" cy="0"/>
        </a:xfrm>
      </p:grpSpPr>
      <p:sp>
        <p:nvSpPr>
          <p:cNvPr id="226" name="Google Shape;226;p9"/>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Problem Archetypes  —  A Map</a:t>
            </a:r>
            <a:endParaRPr b="0" i="0" sz="3000" u="none" cap="none" strike="noStrike">
              <a:solidFill>
                <a:schemeClr val="dk1"/>
              </a:solidFill>
              <a:latin typeface="Calibri"/>
              <a:ea typeface="Calibri"/>
              <a:cs typeface="Calibri"/>
              <a:sym typeface="Calibri"/>
            </a:endParaRPr>
          </a:p>
        </p:txBody>
      </p:sp>
      <p:cxnSp>
        <p:nvCxnSpPr>
          <p:cNvPr id="227" name="Google Shape;227;p9"/>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228" name="Google Shape;228;p9"/>
          <p:cNvSpPr/>
          <p:nvPr/>
        </p:nvSpPr>
        <p:spPr>
          <a:xfrm>
            <a:off x="457200" y="914400"/>
            <a:ext cx="8412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350"/>
              <a:buFont typeface="Georgia"/>
              <a:buNone/>
            </a:pPr>
            <a:r>
              <a:rPr b="0" i="1" lang="en-US" sz="1350" u="none" cap="none" strike="noStrike">
                <a:solidFill>
                  <a:srgbClr val="606060"/>
                </a:solidFill>
                <a:latin typeface="Georgia"/>
                <a:ea typeface="Georgia"/>
                <a:cs typeface="Georgia"/>
                <a:sym typeface="Georgia"/>
              </a:rPr>
              <a:t>The same paradigm (e.g. supervised) gives rise to several common problem types.</a:t>
            </a:r>
            <a:endParaRPr b="0" i="0" sz="1350" u="none" cap="none" strike="noStrike">
              <a:solidFill>
                <a:schemeClr val="dk1"/>
              </a:solidFill>
              <a:latin typeface="Calibri"/>
              <a:ea typeface="Calibri"/>
              <a:cs typeface="Calibri"/>
              <a:sym typeface="Calibri"/>
            </a:endParaRPr>
          </a:p>
        </p:txBody>
      </p:sp>
      <p:sp>
        <p:nvSpPr>
          <p:cNvPr id="229" name="Google Shape;229;p9"/>
          <p:cNvSpPr/>
          <p:nvPr/>
        </p:nvSpPr>
        <p:spPr>
          <a:xfrm>
            <a:off x="365760" y="1417320"/>
            <a:ext cx="2743200" cy="128016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9"/>
          <p:cNvSpPr/>
          <p:nvPr/>
        </p:nvSpPr>
        <p:spPr>
          <a:xfrm>
            <a:off x="502920" y="1508760"/>
            <a:ext cx="24688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1500"/>
              <a:buFont typeface="Georgia"/>
              <a:buNone/>
            </a:pPr>
            <a:r>
              <a:rPr b="1" i="0" lang="en-US" sz="1500" u="none" cap="none" strike="noStrike">
                <a:solidFill>
                  <a:srgbClr val="7B2D26"/>
                </a:solidFill>
                <a:latin typeface="Georgia"/>
                <a:ea typeface="Georgia"/>
                <a:cs typeface="Georgia"/>
                <a:sym typeface="Georgia"/>
              </a:rPr>
              <a:t>Classification</a:t>
            </a:r>
            <a:endParaRPr b="0" i="0" sz="1500" u="none" cap="none" strike="noStrike">
              <a:solidFill>
                <a:schemeClr val="dk1"/>
              </a:solidFill>
              <a:latin typeface="Calibri"/>
              <a:ea typeface="Calibri"/>
              <a:cs typeface="Calibri"/>
              <a:sym typeface="Calibri"/>
            </a:endParaRPr>
          </a:p>
        </p:txBody>
      </p:sp>
      <p:sp>
        <p:nvSpPr>
          <p:cNvPr id="231" name="Google Shape;231;p9"/>
          <p:cNvSpPr/>
          <p:nvPr/>
        </p:nvSpPr>
        <p:spPr>
          <a:xfrm>
            <a:off x="502920" y="1920240"/>
            <a:ext cx="2468880" cy="7315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0" i="1" lang="en-US" sz="1200" u="none" cap="none" strike="noStrike">
                <a:solidFill>
                  <a:srgbClr val="2B2B2B"/>
                </a:solidFill>
                <a:latin typeface="Georgia"/>
                <a:ea typeface="Georgia"/>
                <a:cs typeface="Georgia"/>
                <a:sym typeface="Georgia"/>
              </a:rPr>
              <a:t>spiral / elliptical, star / galaxy</a:t>
            </a:r>
            <a:endParaRPr b="0" i="0" sz="1200" u="none" cap="none" strike="noStrike">
              <a:solidFill>
                <a:schemeClr val="dk1"/>
              </a:solidFill>
              <a:latin typeface="Calibri"/>
              <a:ea typeface="Calibri"/>
              <a:cs typeface="Calibri"/>
              <a:sym typeface="Calibri"/>
            </a:endParaRPr>
          </a:p>
        </p:txBody>
      </p:sp>
      <p:sp>
        <p:nvSpPr>
          <p:cNvPr id="232" name="Google Shape;232;p9"/>
          <p:cNvSpPr/>
          <p:nvPr/>
        </p:nvSpPr>
        <p:spPr>
          <a:xfrm>
            <a:off x="3246120" y="1417320"/>
            <a:ext cx="2743200" cy="1280160"/>
          </a:xfrm>
          <a:prstGeom prst="rect">
            <a:avLst/>
          </a:prstGeom>
          <a:solidFill>
            <a:srgbClr val="EAF1F4"/>
          </a:solidFill>
          <a:ln cap="flat" cmpd="sng" w="9525">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9"/>
          <p:cNvSpPr/>
          <p:nvPr/>
        </p:nvSpPr>
        <p:spPr>
          <a:xfrm>
            <a:off x="3383280" y="1508760"/>
            <a:ext cx="24688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F5A7A"/>
              </a:buClr>
              <a:buSzPts val="1500"/>
              <a:buFont typeface="Georgia"/>
              <a:buNone/>
            </a:pPr>
            <a:r>
              <a:rPr b="1" i="0" lang="en-US" sz="1500" u="none" cap="none" strike="noStrike">
                <a:solidFill>
                  <a:srgbClr val="2F5A7A"/>
                </a:solidFill>
                <a:latin typeface="Georgia"/>
                <a:ea typeface="Georgia"/>
                <a:cs typeface="Georgia"/>
                <a:sym typeface="Georgia"/>
              </a:rPr>
              <a:t>Regression</a:t>
            </a:r>
            <a:endParaRPr b="0" i="0" sz="1500" u="none" cap="none" strike="noStrike">
              <a:solidFill>
                <a:schemeClr val="dk1"/>
              </a:solidFill>
              <a:latin typeface="Calibri"/>
              <a:ea typeface="Calibri"/>
              <a:cs typeface="Calibri"/>
              <a:sym typeface="Calibri"/>
            </a:endParaRPr>
          </a:p>
        </p:txBody>
      </p:sp>
      <p:sp>
        <p:nvSpPr>
          <p:cNvPr id="234" name="Google Shape;234;p9"/>
          <p:cNvSpPr/>
          <p:nvPr/>
        </p:nvSpPr>
        <p:spPr>
          <a:xfrm>
            <a:off x="3383280" y="1920240"/>
            <a:ext cx="2468880" cy="7315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0" i="1" lang="en-US" sz="1200" u="none" cap="none" strike="noStrike">
                <a:solidFill>
                  <a:srgbClr val="2B2B2B"/>
                </a:solidFill>
                <a:latin typeface="Georgia"/>
                <a:ea typeface="Georgia"/>
                <a:cs typeface="Georgia"/>
                <a:sym typeface="Georgia"/>
              </a:rPr>
              <a:t>photo-z, stellar mass, luminosity</a:t>
            </a:r>
            <a:endParaRPr b="0" i="0" sz="1200" u="none" cap="none" strike="noStrike">
              <a:solidFill>
                <a:schemeClr val="dk1"/>
              </a:solidFill>
              <a:latin typeface="Calibri"/>
              <a:ea typeface="Calibri"/>
              <a:cs typeface="Calibri"/>
              <a:sym typeface="Calibri"/>
            </a:endParaRPr>
          </a:p>
        </p:txBody>
      </p:sp>
      <p:sp>
        <p:nvSpPr>
          <p:cNvPr id="235" name="Google Shape;235;p9"/>
          <p:cNvSpPr/>
          <p:nvPr/>
        </p:nvSpPr>
        <p:spPr>
          <a:xfrm>
            <a:off x="6126480" y="1417320"/>
            <a:ext cx="2743200" cy="1280160"/>
          </a:xfrm>
          <a:prstGeom prst="rect">
            <a:avLst/>
          </a:prstGeom>
          <a:solidFill>
            <a:srgbClr val="E7EAE3"/>
          </a:solidFill>
          <a:ln cap="flat" cmpd="sng" w="9525">
            <a:solidFill>
              <a:srgbClr val="3A5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9"/>
          <p:cNvSpPr/>
          <p:nvPr/>
        </p:nvSpPr>
        <p:spPr>
          <a:xfrm>
            <a:off x="6263640" y="1508760"/>
            <a:ext cx="24688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A5A3B"/>
              </a:buClr>
              <a:buSzPts val="1500"/>
              <a:buFont typeface="Georgia"/>
              <a:buNone/>
            </a:pPr>
            <a:r>
              <a:rPr b="1" i="0" lang="en-US" sz="1500" u="none" cap="none" strike="noStrike">
                <a:solidFill>
                  <a:srgbClr val="3A5A3B"/>
                </a:solidFill>
                <a:latin typeface="Georgia"/>
                <a:ea typeface="Georgia"/>
                <a:cs typeface="Georgia"/>
                <a:sym typeface="Georgia"/>
              </a:rPr>
              <a:t>Clustering</a:t>
            </a:r>
            <a:endParaRPr b="0" i="0" sz="1500" u="none" cap="none" strike="noStrike">
              <a:solidFill>
                <a:schemeClr val="dk1"/>
              </a:solidFill>
              <a:latin typeface="Calibri"/>
              <a:ea typeface="Calibri"/>
              <a:cs typeface="Calibri"/>
              <a:sym typeface="Calibri"/>
            </a:endParaRPr>
          </a:p>
        </p:txBody>
      </p:sp>
      <p:sp>
        <p:nvSpPr>
          <p:cNvPr id="237" name="Google Shape;237;p9"/>
          <p:cNvSpPr/>
          <p:nvPr/>
        </p:nvSpPr>
        <p:spPr>
          <a:xfrm>
            <a:off x="6263640" y="1920240"/>
            <a:ext cx="2468880" cy="7315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0" i="1" lang="en-US" sz="1200" u="none" cap="none" strike="noStrike">
                <a:solidFill>
                  <a:srgbClr val="2B2B2B"/>
                </a:solidFill>
                <a:latin typeface="Georgia"/>
                <a:ea typeface="Georgia"/>
                <a:cs typeface="Georgia"/>
                <a:sym typeface="Georgia"/>
              </a:rPr>
              <a:t>find groups in unlabeled data</a:t>
            </a:r>
            <a:endParaRPr b="0" i="0" sz="1200" u="none" cap="none" strike="noStrike">
              <a:solidFill>
                <a:schemeClr val="dk1"/>
              </a:solidFill>
              <a:latin typeface="Calibri"/>
              <a:ea typeface="Calibri"/>
              <a:cs typeface="Calibri"/>
              <a:sym typeface="Calibri"/>
            </a:endParaRPr>
          </a:p>
        </p:txBody>
      </p:sp>
      <p:sp>
        <p:nvSpPr>
          <p:cNvPr id="238" name="Google Shape;238;p9"/>
          <p:cNvSpPr/>
          <p:nvPr/>
        </p:nvSpPr>
        <p:spPr>
          <a:xfrm>
            <a:off x="365760" y="2788920"/>
            <a:ext cx="2743200" cy="1280160"/>
          </a:xfrm>
          <a:prstGeom prst="rect">
            <a:avLst/>
          </a:prstGeom>
          <a:solidFill>
            <a:srgbClr val="F8EFE0"/>
          </a:solidFill>
          <a:ln cap="flat" cmpd="sng" w="9525">
            <a:solidFill>
              <a:srgbClr val="A36B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9"/>
          <p:cNvSpPr/>
          <p:nvPr/>
        </p:nvSpPr>
        <p:spPr>
          <a:xfrm>
            <a:off x="502920" y="2880360"/>
            <a:ext cx="24688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36B1F"/>
              </a:buClr>
              <a:buSzPts val="1500"/>
              <a:buFont typeface="Georgia"/>
              <a:buNone/>
            </a:pPr>
            <a:r>
              <a:rPr b="1" i="0" lang="en-US" sz="1500" u="none" cap="none" strike="noStrike">
                <a:solidFill>
                  <a:srgbClr val="A36B1F"/>
                </a:solidFill>
                <a:latin typeface="Georgia"/>
                <a:ea typeface="Georgia"/>
                <a:cs typeface="Georgia"/>
                <a:sym typeface="Georgia"/>
              </a:rPr>
              <a:t>Image analysis</a:t>
            </a:r>
            <a:endParaRPr b="0" i="0" sz="1500" u="none" cap="none" strike="noStrike">
              <a:solidFill>
                <a:schemeClr val="dk1"/>
              </a:solidFill>
              <a:latin typeface="Calibri"/>
              <a:ea typeface="Calibri"/>
              <a:cs typeface="Calibri"/>
              <a:sym typeface="Calibri"/>
            </a:endParaRPr>
          </a:p>
        </p:txBody>
      </p:sp>
      <p:sp>
        <p:nvSpPr>
          <p:cNvPr id="240" name="Google Shape;240;p9"/>
          <p:cNvSpPr/>
          <p:nvPr/>
        </p:nvSpPr>
        <p:spPr>
          <a:xfrm>
            <a:off x="502920" y="3291840"/>
            <a:ext cx="2468880" cy="7315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0" i="1" lang="en-US" sz="1200" u="none" cap="none" strike="noStrike">
                <a:solidFill>
                  <a:srgbClr val="2B2B2B"/>
                </a:solidFill>
                <a:latin typeface="Georgia"/>
                <a:ea typeface="Georgia"/>
                <a:cs typeface="Georgia"/>
                <a:sym typeface="Georgia"/>
              </a:rPr>
              <a:t>object detection, segmentation</a:t>
            </a:r>
            <a:endParaRPr b="0" i="0" sz="1200" u="none" cap="none" strike="noStrike">
              <a:solidFill>
                <a:schemeClr val="dk1"/>
              </a:solidFill>
              <a:latin typeface="Calibri"/>
              <a:ea typeface="Calibri"/>
              <a:cs typeface="Calibri"/>
              <a:sym typeface="Calibri"/>
            </a:endParaRPr>
          </a:p>
        </p:txBody>
      </p:sp>
      <p:sp>
        <p:nvSpPr>
          <p:cNvPr id="241" name="Google Shape;241;p9"/>
          <p:cNvSpPr/>
          <p:nvPr/>
        </p:nvSpPr>
        <p:spPr>
          <a:xfrm>
            <a:off x="3246120" y="2788920"/>
            <a:ext cx="2743200" cy="128016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9"/>
          <p:cNvSpPr/>
          <p:nvPr/>
        </p:nvSpPr>
        <p:spPr>
          <a:xfrm>
            <a:off x="3383280" y="2880360"/>
            <a:ext cx="24688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1500"/>
              <a:buFont typeface="Georgia"/>
              <a:buNone/>
            </a:pPr>
            <a:r>
              <a:rPr b="1" i="0" lang="en-US" sz="1500" u="none" cap="none" strike="noStrike">
                <a:solidFill>
                  <a:srgbClr val="7B2D26"/>
                </a:solidFill>
                <a:latin typeface="Georgia"/>
                <a:ea typeface="Georgia"/>
                <a:cs typeface="Georgia"/>
                <a:sym typeface="Georgia"/>
              </a:rPr>
              <a:t>Anomaly detection</a:t>
            </a:r>
            <a:endParaRPr b="0" i="0" sz="1500" u="none" cap="none" strike="noStrike">
              <a:solidFill>
                <a:schemeClr val="dk1"/>
              </a:solidFill>
              <a:latin typeface="Calibri"/>
              <a:ea typeface="Calibri"/>
              <a:cs typeface="Calibri"/>
              <a:sym typeface="Calibri"/>
            </a:endParaRPr>
          </a:p>
        </p:txBody>
      </p:sp>
      <p:sp>
        <p:nvSpPr>
          <p:cNvPr id="243" name="Google Shape;243;p9"/>
          <p:cNvSpPr/>
          <p:nvPr/>
        </p:nvSpPr>
        <p:spPr>
          <a:xfrm>
            <a:off x="3383280" y="3291840"/>
            <a:ext cx="2468880" cy="7315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0" i="1" lang="en-US" sz="1200" u="none" cap="none" strike="noStrike">
                <a:solidFill>
                  <a:srgbClr val="2B2B2B"/>
                </a:solidFill>
                <a:latin typeface="Georgia"/>
                <a:ea typeface="Georgia"/>
                <a:cs typeface="Georgia"/>
                <a:sym typeface="Georgia"/>
              </a:rPr>
              <a:t>outliers from the norm</a:t>
            </a:r>
            <a:endParaRPr b="0" i="0" sz="1200" u="none" cap="none" strike="noStrike">
              <a:solidFill>
                <a:schemeClr val="dk1"/>
              </a:solidFill>
              <a:latin typeface="Calibri"/>
              <a:ea typeface="Calibri"/>
              <a:cs typeface="Calibri"/>
              <a:sym typeface="Calibri"/>
            </a:endParaRPr>
          </a:p>
        </p:txBody>
      </p:sp>
      <p:sp>
        <p:nvSpPr>
          <p:cNvPr id="244" name="Google Shape;244;p9"/>
          <p:cNvSpPr/>
          <p:nvPr/>
        </p:nvSpPr>
        <p:spPr>
          <a:xfrm>
            <a:off x="6126480" y="2788920"/>
            <a:ext cx="2743200" cy="1280160"/>
          </a:xfrm>
          <a:prstGeom prst="rect">
            <a:avLst/>
          </a:prstGeom>
          <a:solidFill>
            <a:srgbClr val="EAF1F4"/>
          </a:solidFill>
          <a:ln cap="flat" cmpd="sng" w="9525">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9"/>
          <p:cNvSpPr/>
          <p:nvPr/>
        </p:nvSpPr>
        <p:spPr>
          <a:xfrm>
            <a:off x="6263640" y="2880360"/>
            <a:ext cx="24688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F5A7A"/>
              </a:buClr>
              <a:buSzPts val="1500"/>
              <a:buFont typeface="Georgia"/>
              <a:buNone/>
            </a:pPr>
            <a:r>
              <a:rPr b="1" i="0" lang="en-US" sz="1500" u="none" cap="none" strike="noStrike">
                <a:solidFill>
                  <a:srgbClr val="2F5A7A"/>
                </a:solidFill>
                <a:latin typeface="Georgia"/>
                <a:ea typeface="Georgia"/>
                <a:cs typeface="Georgia"/>
                <a:sym typeface="Georgia"/>
              </a:rPr>
              <a:t>Generative</a:t>
            </a:r>
            <a:endParaRPr b="0" i="0" sz="1500" u="none" cap="none" strike="noStrike">
              <a:solidFill>
                <a:schemeClr val="dk1"/>
              </a:solidFill>
              <a:latin typeface="Calibri"/>
              <a:ea typeface="Calibri"/>
              <a:cs typeface="Calibri"/>
              <a:sym typeface="Calibri"/>
            </a:endParaRPr>
          </a:p>
        </p:txBody>
      </p:sp>
      <p:sp>
        <p:nvSpPr>
          <p:cNvPr id="246" name="Google Shape;246;p9"/>
          <p:cNvSpPr/>
          <p:nvPr/>
        </p:nvSpPr>
        <p:spPr>
          <a:xfrm>
            <a:off x="6263640" y="3291840"/>
            <a:ext cx="2468880" cy="7315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0" i="1" lang="en-US" sz="1200" u="none" cap="none" strike="noStrike">
                <a:solidFill>
                  <a:srgbClr val="2B2B2B"/>
                </a:solidFill>
                <a:latin typeface="Georgia"/>
                <a:ea typeface="Georgia"/>
                <a:cs typeface="Georgia"/>
                <a:sym typeface="Georgia"/>
              </a:rPr>
              <a:t>synthesize images / spectra / text</a:t>
            </a:r>
            <a:endParaRPr b="0" i="0" sz="1200" u="none" cap="none" strike="noStrike">
              <a:solidFill>
                <a:schemeClr val="dk1"/>
              </a:solidFill>
              <a:latin typeface="Calibri"/>
              <a:ea typeface="Calibri"/>
              <a:cs typeface="Calibri"/>
              <a:sym typeface="Calibri"/>
            </a:endParaRPr>
          </a:p>
        </p:txBody>
      </p:sp>
      <p:sp>
        <p:nvSpPr>
          <p:cNvPr id="247" name="Google Shape;247;p9"/>
          <p:cNvSpPr/>
          <p:nvPr/>
        </p:nvSpPr>
        <p:spPr>
          <a:xfrm>
            <a:off x="457200" y="4251960"/>
            <a:ext cx="84124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06060"/>
              </a:buClr>
              <a:buSzPts val="1200"/>
              <a:buFont typeface="Georgia"/>
              <a:buNone/>
            </a:pPr>
            <a:r>
              <a:rPr b="0" i="1" lang="en-US" sz="1200" u="none" cap="none" strike="noStrike">
                <a:solidFill>
                  <a:srgbClr val="606060"/>
                </a:solidFill>
                <a:latin typeface="Georgia"/>
                <a:ea typeface="Georgia"/>
                <a:cs typeface="Georgia"/>
                <a:sym typeface="Georgia"/>
              </a:rPr>
              <a:t>The next three slides expand the most important ones.</a:t>
            </a:r>
            <a:endParaRPr b="0" i="0" sz="1200" u="none" cap="none" strike="noStrike">
              <a:solidFill>
                <a:schemeClr val="dk1"/>
              </a:solidFill>
              <a:latin typeface="Calibri"/>
              <a:ea typeface="Calibri"/>
              <a:cs typeface="Calibri"/>
              <a:sym typeface="Calibri"/>
            </a:endParaRPr>
          </a:p>
        </p:txBody>
      </p:sp>
      <p:sp>
        <p:nvSpPr>
          <p:cNvPr id="248" name="Google Shape;248;p9"/>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249" name="Google Shape;249;p9"/>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9</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 name="Shape 254"/>
        <p:cNvGrpSpPr/>
        <p:nvPr/>
      </p:nvGrpSpPr>
      <p:grpSpPr>
        <a:xfrm>
          <a:off x="0" y="0"/>
          <a:ext cx="0" cy="0"/>
          <a:chOff x="0" y="0"/>
          <a:chExt cx="0" cy="0"/>
        </a:xfrm>
      </p:grpSpPr>
      <p:sp>
        <p:nvSpPr>
          <p:cNvPr id="255" name="Google Shape;255;p10"/>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Classification  vs  Regression</a:t>
            </a:r>
            <a:endParaRPr b="0" i="0" sz="3000" u="none" cap="none" strike="noStrike">
              <a:solidFill>
                <a:schemeClr val="dk1"/>
              </a:solidFill>
              <a:latin typeface="Calibri"/>
              <a:ea typeface="Calibri"/>
              <a:cs typeface="Calibri"/>
              <a:sym typeface="Calibri"/>
            </a:endParaRPr>
          </a:p>
        </p:txBody>
      </p:sp>
      <p:cxnSp>
        <p:nvCxnSpPr>
          <p:cNvPr id="256" name="Google Shape;256;p10"/>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pic>
        <p:nvPicPr>
          <p:cNvPr descr="/sessions/sleepy-friendly-euler/mnt/outputs/figs/fig_classification_regression.png" id="257" name="Google Shape;257;p10"/>
          <p:cNvPicPr preferRelativeResize="0"/>
          <p:nvPr/>
        </p:nvPicPr>
        <p:blipFill rotWithShape="1">
          <a:blip r:embed="rId3">
            <a:alphaModFix/>
          </a:blip>
          <a:srcRect b="0" l="0" r="0" t="0"/>
          <a:stretch/>
        </p:blipFill>
        <p:spPr>
          <a:xfrm>
            <a:off x="365760" y="914400"/>
            <a:ext cx="8412480" cy="2286000"/>
          </a:xfrm>
          <a:prstGeom prst="rect">
            <a:avLst/>
          </a:prstGeom>
          <a:noFill/>
          <a:ln>
            <a:noFill/>
          </a:ln>
        </p:spPr>
      </p:pic>
      <p:sp>
        <p:nvSpPr>
          <p:cNvPr id="258" name="Google Shape;258;p10"/>
          <p:cNvSpPr/>
          <p:nvPr/>
        </p:nvSpPr>
        <p:spPr>
          <a:xfrm>
            <a:off x="365760" y="3291840"/>
            <a:ext cx="4160520" cy="118872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0"/>
          <p:cNvSpPr/>
          <p:nvPr/>
        </p:nvSpPr>
        <p:spPr>
          <a:xfrm>
            <a:off x="502920" y="3337560"/>
            <a:ext cx="393192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400"/>
              <a:buFont typeface="Georgia"/>
              <a:buNone/>
            </a:pPr>
            <a:r>
              <a:rPr b="1" i="0" lang="en-US" sz="1400" u="none" cap="none" strike="noStrike">
                <a:solidFill>
                  <a:srgbClr val="7B2D26"/>
                </a:solidFill>
                <a:latin typeface="Georgia"/>
                <a:ea typeface="Georgia"/>
                <a:cs typeface="Georgia"/>
                <a:sym typeface="Georgia"/>
              </a:rPr>
              <a:t>Classification</a:t>
            </a:r>
            <a:endParaRPr b="0" i="0" sz="1400" u="none" cap="none" strike="noStrike">
              <a:solidFill>
                <a:schemeClr val="dk1"/>
              </a:solidFill>
              <a:latin typeface="Calibri"/>
              <a:ea typeface="Calibri"/>
              <a:cs typeface="Calibri"/>
              <a:sym typeface="Calibri"/>
            </a:endParaRPr>
          </a:p>
        </p:txBody>
      </p:sp>
      <p:sp>
        <p:nvSpPr>
          <p:cNvPr id="260" name="Google Shape;260;p10"/>
          <p:cNvSpPr/>
          <p:nvPr/>
        </p:nvSpPr>
        <p:spPr>
          <a:xfrm>
            <a:off x="502920" y="3611880"/>
            <a:ext cx="393192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Target y is a </a:t>
            </a:r>
            <a:r>
              <a:rPr b="1" i="0" lang="en-US" sz="1200" u="none" cap="none" strike="noStrike">
                <a:solidFill>
                  <a:srgbClr val="2B2B2B"/>
                </a:solidFill>
                <a:latin typeface="Georgia"/>
                <a:ea typeface="Georgia"/>
                <a:cs typeface="Georgia"/>
                <a:sym typeface="Georgia"/>
              </a:rPr>
              <a:t>discrete label.</a:t>
            </a:r>
            <a:endParaRPr b="0" i="0" sz="12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Binary: 2 classes (lens / no-lens).</a:t>
            </a:r>
            <a:endParaRPr b="0" i="0" sz="12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Multi-class: many (galaxy morphology).</a:t>
            </a:r>
            <a:endParaRPr b="0" i="0" sz="1200" u="none" cap="none" strike="noStrike">
              <a:solidFill>
                <a:schemeClr val="dk1"/>
              </a:solidFill>
              <a:latin typeface="Calibri"/>
              <a:ea typeface="Calibri"/>
              <a:cs typeface="Calibri"/>
              <a:sym typeface="Calibri"/>
            </a:endParaRPr>
          </a:p>
        </p:txBody>
      </p:sp>
      <p:sp>
        <p:nvSpPr>
          <p:cNvPr id="261" name="Google Shape;261;p10"/>
          <p:cNvSpPr/>
          <p:nvPr/>
        </p:nvSpPr>
        <p:spPr>
          <a:xfrm>
            <a:off x="4663440" y="3291840"/>
            <a:ext cx="4160520" cy="1188720"/>
          </a:xfrm>
          <a:prstGeom prst="rect">
            <a:avLst/>
          </a:prstGeom>
          <a:solidFill>
            <a:srgbClr val="EAF1F4"/>
          </a:solidFill>
          <a:ln cap="flat" cmpd="sng" w="9525">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0"/>
          <p:cNvSpPr/>
          <p:nvPr/>
        </p:nvSpPr>
        <p:spPr>
          <a:xfrm>
            <a:off x="4800600" y="3337560"/>
            <a:ext cx="393192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5A7A"/>
              </a:buClr>
              <a:buSzPts val="1400"/>
              <a:buFont typeface="Georgia"/>
              <a:buNone/>
            </a:pPr>
            <a:r>
              <a:rPr b="1" i="0" lang="en-US" sz="1400" u="none" cap="none" strike="noStrike">
                <a:solidFill>
                  <a:srgbClr val="2F5A7A"/>
                </a:solidFill>
                <a:latin typeface="Georgia"/>
                <a:ea typeface="Georgia"/>
                <a:cs typeface="Georgia"/>
                <a:sym typeface="Georgia"/>
              </a:rPr>
              <a:t>Regression</a:t>
            </a:r>
            <a:endParaRPr b="0" i="0" sz="1400" u="none" cap="none" strike="noStrike">
              <a:solidFill>
                <a:schemeClr val="dk1"/>
              </a:solidFill>
              <a:latin typeface="Calibri"/>
              <a:ea typeface="Calibri"/>
              <a:cs typeface="Calibri"/>
              <a:sym typeface="Calibri"/>
            </a:endParaRPr>
          </a:p>
        </p:txBody>
      </p:sp>
      <p:sp>
        <p:nvSpPr>
          <p:cNvPr id="263" name="Google Shape;263;p10"/>
          <p:cNvSpPr/>
          <p:nvPr/>
        </p:nvSpPr>
        <p:spPr>
          <a:xfrm>
            <a:off x="4800600" y="3611880"/>
            <a:ext cx="393192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Target y is a </a:t>
            </a:r>
            <a:r>
              <a:rPr b="1" i="0" lang="en-US" sz="1200" u="none" cap="none" strike="noStrike">
                <a:solidFill>
                  <a:srgbClr val="2B2B2B"/>
                </a:solidFill>
                <a:latin typeface="Georgia"/>
                <a:ea typeface="Georgia"/>
                <a:cs typeface="Georgia"/>
                <a:sym typeface="Georgia"/>
              </a:rPr>
              <a:t>continuous number.</a:t>
            </a:r>
            <a:endParaRPr b="0" i="0" sz="12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Examples: redshift z, stellar mass, luminosity.</a:t>
            </a:r>
            <a:endParaRPr b="0" i="0" sz="12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Metric: RMSE, bias.</a:t>
            </a:r>
            <a:endParaRPr b="0" i="0" sz="1200" u="none" cap="none" strike="noStrike">
              <a:solidFill>
                <a:schemeClr val="dk1"/>
              </a:solidFill>
              <a:latin typeface="Calibri"/>
              <a:ea typeface="Calibri"/>
              <a:cs typeface="Calibri"/>
              <a:sym typeface="Calibri"/>
            </a:endParaRPr>
          </a:p>
        </p:txBody>
      </p:sp>
      <p:sp>
        <p:nvSpPr>
          <p:cNvPr id="264" name="Google Shape;264;p10"/>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265" name="Google Shape;265;p10"/>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10</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 name="Shape 270"/>
        <p:cNvGrpSpPr/>
        <p:nvPr/>
      </p:nvGrpSpPr>
      <p:grpSpPr>
        <a:xfrm>
          <a:off x="0" y="0"/>
          <a:ext cx="0" cy="0"/>
          <a:chOff x="0" y="0"/>
          <a:chExt cx="0" cy="0"/>
        </a:xfrm>
      </p:grpSpPr>
      <p:sp>
        <p:nvSpPr>
          <p:cNvPr id="271" name="Google Shape;271;p11"/>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Image Analysis  &amp;  Generative Tasks</a:t>
            </a:r>
            <a:endParaRPr b="0" i="0" sz="3000" u="none" cap="none" strike="noStrike">
              <a:solidFill>
                <a:schemeClr val="dk1"/>
              </a:solidFill>
              <a:latin typeface="Calibri"/>
              <a:ea typeface="Calibri"/>
              <a:cs typeface="Calibri"/>
              <a:sym typeface="Calibri"/>
            </a:endParaRPr>
          </a:p>
        </p:txBody>
      </p:sp>
      <p:cxnSp>
        <p:nvCxnSpPr>
          <p:cNvPr id="272" name="Google Shape;272;p11"/>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273" name="Google Shape;273;p11"/>
          <p:cNvSpPr/>
          <p:nvPr/>
        </p:nvSpPr>
        <p:spPr>
          <a:xfrm>
            <a:off x="457200" y="914400"/>
            <a:ext cx="8412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350"/>
              <a:buFont typeface="Georgia"/>
              <a:buNone/>
            </a:pPr>
            <a:r>
              <a:rPr b="0" i="1" lang="en-US" sz="1350" u="none" cap="none" strike="noStrike">
                <a:solidFill>
                  <a:srgbClr val="606060"/>
                </a:solidFill>
                <a:latin typeface="Georgia"/>
                <a:ea typeface="Georgia"/>
                <a:cs typeface="Georgia"/>
                <a:sym typeface="Georgia"/>
              </a:rPr>
              <a:t>Beyond tabular data — the modern frontier uses pixel-level models.</a:t>
            </a:r>
            <a:endParaRPr b="0" i="0" sz="1350" u="none" cap="none" strike="noStrike">
              <a:solidFill>
                <a:schemeClr val="dk1"/>
              </a:solidFill>
              <a:latin typeface="Calibri"/>
              <a:ea typeface="Calibri"/>
              <a:cs typeface="Calibri"/>
              <a:sym typeface="Calibri"/>
            </a:endParaRPr>
          </a:p>
        </p:txBody>
      </p:sp>
      <p:sp>
        <p:nvSpPr>
          <p:cNvPr id="274" name="Google Shape;274;p11"/>
          <p:cNvSpPr/>
          <p:nvPr/>
        </p:nvSpPr>
        <p:spPr>
          <a:xfrm>
            <a:off x="365760" y="1417320"/>
            <a:ext cx="2743200" cy="274320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502920" y="1463040"/>
            <a:ext cx="24688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1400"/>
              <a:buFont typeface="Georgia"/>
              <a:buNone/>
            </a:pPr>
            <a:r>
              <a:rPr b="1" i="0" lang="en-US" sz="1400" u="none" cap="none" strike="noStrike">
                <a:solidFill>
                  <a:srgbClr val="7B2D26"/>
                </a:solidFill>
                <a:latin typeface="Georgia"/>
                <a:ea typeface="Georgia"/>
                <a:cs typeface="Georgia"/>
                <a:sym typeface="Georgia"/>
              </a:rPr>
              <a:t>Object detection</a:t>
            </a:r>
            <a:endParaRPr b="0" i="0" sz="1400" u="none" cap="none" strike="noStrike">
              <a:solidFill>
                <a:schemeClr val="dk1"/>
              </a:solidFill>
              <a:latin typeface="Calibri"/>
              <a:ea typeface="Calibri"/>
              <a:cs typeface="Calibri"/>
              <a:sym typeface="Calibri"/>
            </a:endParaRPr>
          </a:p>
        </p:txBody>
      </p:sp>
      <p:sp>
        <p:nvSpPr>
          <p:cNvPr id="276" name="Google Shape;276;p11"/>
          <p:cNvSpPr/>
          <p:nvPr/>
        </p:nvSpPr>
        <p:spPr>
          <a:xfrm>
            <a:off x="502920" y="1874520"/>
            <a:ext cx="2468880" cy="7772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Find and box objects in an image.</a:t>
            </a:r>
            <a:endParaRPr b="0" i="0" sz="1200" u="none" cap="none" strike="noStrike">
              <a:solidFill>
                <a:schemeClr val="dk1"/>
              </a:solidFill>
              <a:latin typeface="Calibri"/>
              <a:ea typeface="Calibri"/>
              <a:cs typeface="Calibri"/>
              <a:sym typeface="Calibri"/>
            </a:endParaRPr>
          </a:p>
        </p:txBody>
      </p:sp>
      <p:sp>
        <p:nvSpPr>
          <p:cNvPr id="277" name="Google Shape;277;p11"/>
          <p:cNvSpPr/>
          <p:nvPr/>
        </p:nvSpPr>
        <p:spPr>
          <a:xfrm>
            <a:off x="502920" y="2697480"/>
            <a:ext cx="2468880" cy="14173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606060"/>
              </a:buClr>
              <a:buSzPts val="1150"/>
              <a:buFont typeface="Georgia"/>
              <a:buNone/>
            </a:pPr>
            <a:r>
              <a:rPr b="0" i="1" lang="en-US" sz="1150" u="none" cap="none" strike="noStrike">
                <a:solidFill>
                  <a:srgbClr val="606060"/>
                </a:solidFill>
                <a:latin typeface="Georgia"/>
                <a:ea typeface="Georgia"/>
                <a:cs typeface="Georgia"/>
                <a:sym typeface="Georgia"/>
              </a:rPr>
              <a:t>Astro: detect galaxies, transients, lensed arcs in survey images.</a:t>
            </a:r>
            <a:endParaRPr b="0" i="0" sz="1150" u="none" cap="none" strike="noStrike">
              <a:solidFill>
                <a:schemeClr val="dk1"/>
              </a:solidFill>
              <a:latin typeface="Calibri"/>
              <a:ea typeface="Calibri"/>
              <a:cs typeface="Calibri"/>
              <a:sym typeface="Calibri"/>
            </a:endParaRPr>
          </a:p>
        </p:txBody>
      </p:sp>
      <p:sp>
        <p:nvSpPr>
          <p:cNvPr id="278" name="Google Shape;278;p11"/>
          <p:cNvSpPr/>
          <p:nvPr/>
        </p:nvSpPr>
        <p:spPr>
          <a:xfrm>
            <a:off x="3246120" y="1417320"/>
            <a:ext cx="2743200" cy="2743200"/>
          </a:xfrm>
          <a:prstGeom prst="rect">
            <a:avLst/>
          </a:prstGeom>
          <a:solidFill>
            <a:srgbClr val="EAF1F4"/>
          </a:solidFill>
          <a:ln cap="flat" cmpd="sng" w="9525">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1"/>
          <p:cNvSpPr/>
          <p:nvPr/>
        </p:nvSpPr>
        <p:spPr>
          <a:xfrm>
            <a:off x="3383280" y="1463040"/>
            <a:ext cx="24688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F5A7A"/>
              </a:buClr>
              <a:buSzPts val="1400"/>
              <a:buFont typeface="Georgia"/>
              <a:buNone/>
            </a:pPr>
            <a:r>
              <a:rPr b="1" i="0" lang="en-US" sz="1400" u="none" cap="none" strike="noStrike">
                <a:solidFill>
                  <a:srgbClr val="2F5A7A"/>
                </a:solidFill>
                <a:latin typeface="Georgia"/>
                <a:ea typeface="Georgia"/>
                <a:cs typeface="Georgia"/>
                <a:sym typeface="Georgia"/>
              </a:rPr>
              <a:t>Segmentation</a:t>
            </a:r>
            <a:endParaRPr b="0" i="0" sz="1400" u="none" cap="none" strike="noStrike">
              <a:solidFill>
                <a:schemeClr val="dk1"/>
              </a:solidFill>
              <a:latin typeface="Calibri"/>
              <a:ea typeface="Calibri"/>
              <a:cs typeface="Calibri"/>
              <a:sym typeface="Calibri"/>
            </a:endParaRPr>
          </a:p>
        </p:txBody>
      </p:sp>
      <p:sp>
        <p:nvSpPr>
          <p:cNvPr id="280" name="Google Shape;280;p11"/>
          <p:cNvSpPr/>
          <p:nvPr/>
        </p:nvSpPr>
        <p:spPr>
          <a:xfrm>
            <a:off x="3383280" y="1874520"/>
            <a:ext cx="2468880" cy="7772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Label every pixel by its class.</a:t>
            </a:r>
            <a:endParaRPr b="0" i="0" sz="1200" u="none" cap="none" strike="noStrike">
              <a:solidFill>
                <a:schemeClr val="dk1"/>
              </a:solidFill>
              <a:latin typeface="Calibri"/>
              <a:ea typeface="Calibri"/>
              <a:cs typeface="Calibri"/>
              <a:sym typeface="Calibri"/>
            </a:endParaRPr>
          </a:p>
        </p:txBody>
      </p:sp>
      <p:sp>
        <p:nvSpPr>
          <p:cNvPr id="281" name="Google Shape;281;p11"/>
          <p:cNvSpPr/>
          <p:nvPr/>
        </p:nvSpPr>
        <p:spPr>
          <a:xfrm>
            <a:off x="3383280" y="2697480"/>
            <a:ext cx="2468880" cy="14173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606060"/>
              </a:buClr>
              <a:buSzPts val="1150"/>
              <a:buFont typeface="Georgia"/>
              <a:buNone/>
            </a:pPr>
            <a:r>
              <a:rPr b="0" i="1" lang="en-US" sz="1150" u="none" cap="none" strike="noStrike">
                <a:solidFill>
                  <a:srgbClr val="606060"/>
                </a:solidFill>
                <a:latin typeface="Georgia"/>
                <a:ea typeface="Georgia"/>
                <a:cs typeface="Georgia"/>
                <a:sym typeface="Georgia"/>
              </a:rPr>
              <a:t>Astro: separate galaxy light from cosmic-ray hits, deblending.</a:t>
            </a:r>
            <a:endParaRPr b="0" i="0" sz="1150" u="none" cap="none" strike="noStrike">
              <a:solidFill>
                <a:schemeClr val="dk1"/>
              </a:solidFill>
              <a:latin typeface="Calibri"/>
              <a:ea typeface="Calibri"/>
              <a:cs typeface="Calibri"/>
              <a:sym typeface="Calibri"/>
            </a:endParaRPr>
          </a:p>
        </p:txBody>
      </p:sp>
      <p:sp>
        <p:nvSpPr>
          <p:cNvPr id="282" name="Google Shape;282;p11"/>
          <p:cNvSpPr/>
          <p:nvPr/>
        </p:nvSpPr>
        <p:spPr>
          <a:xfrm>
            <a:off x="6126480" y="1417320"/>
            <a:ext cx="2743200" cy="2743200"/>
          </a:xfrm>
          <a:prstGeom prst="rect">
            <a:avLst/>
          </a:prstGeom>
          <a:solidFill>
            <a:srgbClr val="E7EAE3"/>
          </a:solidFill>
          <a:ln cap="flat" cmpd="sng" w="9525">
            <a:solidFill>
              <a:srgbClr val="3A5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1"/>
          <p:cNvSpPr/>
          <p:nvPr/>
        </p:nvSpPr>
        <p:spPr>
          <a:xfrm>
            <a:off x="6263640" y="1463040"/>
            <a:ext cx="24688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A5A3B"/>
              </a:buClr>
              <a:buSzPts val="1400"/>
              <a:buFont typeface="Georgia"/>
              <a:buNone/>
            </a:pPr>
            <a:r>
              <a:rPr b="1" i="0" lang="en-US" sz="1400" u="none" cap="none" strike="noStrike">
                <a:solidFill>
                  <a:srgbClr val="3A5A3B"/>
                </a:solidFill>
                <a:latin typeface="Georgia"/>
                <a:ea typeface="Georgia"/>
                <a:cs typeface="Georgia"/>
                <a:sym typeface="Georgia"/>
              </a:rPr>
              <a:t>Generation</a:t>
            </a:r>
            <a:endParaRPr b="0" i="0" sz="1400" u="none" cap="none" strike="noStrike">
              <a:solidFill>
                <a:schemeClr val="dk1"/>
              </a:solidFill>
              <a:latin typeface="Calibri"/>
              <a:ea typeface="Calibri"/>
              <a:cs typeface="Calibri"/>
              <a:sym typeface="Calibri"/>
            </a:endParaRPr>
          </a:p>
        </p:txBody>
      </p:sp>
      <p:sp>
        <p:nvSpPr>
          <p:cNvPr id="284" name="Google Shape;284;p11"/>
          <p:cNvSpPr/>
          <p:nvPr/>
        </p:nvSpPr>
        <p:spPr>
          <a:xfrm>
            <a:off x="6263640" y="1874520"/>
            <a:ext cx="2468880" cy="7772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Synthesize new examples from learned distribution.</a:t>
            </a:r>
            <a:endParaRPr b="0" i="0" sz="1200" u="none" cap="none" strike="noStrike">
              <a:solidFill>
                <a:schemeClr val="dk1"/>
              </a:solidFill>
              <a:latin typeface="Calibri"/>
              <a:ea typeface="Calibri"/>
              <a:cs typeface="Calibri"/>
              <a:sym typeface="Calibri"/>
            </a:endParaRPr>
          </a:p>
        </p:txBody>
      </p:sp>
      <p:sp>
        <p:nvSpPr>
          <p:cNvPr id="285" name="Google Shape;285;p11"/>
          <p:cNvSpPr/>
          <p:nvPr/>
        </p:nvSpPr>
        <p:spPr>
          <a:xfrm>
            <a:off x="6263640" y="2697480"/>
            <a:ext cx="2468880" cy="14173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606060"/>
              </a:buClr>
              <a:buSzPts val="1150"/>
              <a:buFont typeface="Georgia"/>
              <a:buNone/>
            </a:pPr>
            <a:r>
              <a:rPr b="0" i="1" lang="en-US" sz="1150" u="none" cap="none" strike="noStrike">
                <a:solidFill>
                  <a:srgbClr val="606060"/>
                </a:solidFill>
                <a:latin typeface="Georgia"/>
                <a:ea typeface="Georgia"/>
                <a:cs typeface="Georgia"/>
                <a:sym typeface="Georgia"/>
              </a:rPr>
              <a:t>Astro: simulate realistic galaxy images, augment training sets, generate spectra.</a:t>
            </a:r>
            <a:endParaRPr b="0" i="0" sz="1150" u="none" cap="none" strike="noStrike">
              <a:solidFill>
                <a:schemeClr val="dk1"/>
              </a:solidFill>
              <a:latin typeface="Calibri"/>
              <a:ea typeface="Calibri"/>
              <a:cs typeface="Calibri"/>
              <a:sym typeface="Calibri"/>
            </a:endParaRPr>
          </a:p>
        </p:txBody>
      </p:sp>
      <p:sp>
        <p:nvSpPr>
          <p:cNvPr id="286" name="Google Shape;286;p11"/>
          <p:cNvSpPr/>
          <p:nvPr/>
        </p:nvSpPr>
        <p:spPr>
          <a:xfrm>
            <a:off x="457200" y="425196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200"/>
              <a:buFont typeface="Georgia"/>
              <a:buNone/>
            </a:pPr>
            <a:r>
              <a:rPr b="1" i="0" lang="en-US" sz="1200" u="none" cap="none" strike="noStrike">
                <a:solidFill>
                  <a:srgbClr val="7B2D26"/>
                </a:solidFill>
                <a:latin typeface="Georgia"/>
                <a:ea typeface="Georgia"/>
                <a:cs typeface="Georgia"/>
                <a:sym typeface="Georgia"/>
              </a:rPr>
              <a:t>Typical models:  </a:t>
            </a:r>
            <a:r>
              <a:rPr b="0" i="0" lang="en-US" sz="1200" u="none" cap="none" strike="noStrike">
                <a:solidFill>
                  <a:srgbClr val="2B2B2B"/>
                </a:solidFill>
                <a:latin typeface="Georgia"/>
                <a:ea typeface="Georgia"/>
                <a:cs typeface="Georgia"/>
                <a:sym typeface="Georgia"/>
              </a:rPr>
              <a:t>convolutional networks (CNNs) for detection / segmentation; </a:t>
            </a:r>
            <a:r>
              <a:rPr b="0" i="1" lang="en-US" sz="1200" u="none" cap="none" strike="noStrike">
                <a:solidFill>
                  <a:srgbClr val="000000"/>
                </a:solidFill>
                <a:latin typeface="Georgia"/>
                <a:ea typeface="Georgia"/>
                <a:cs typeface="Georgia"/>
                <a:sym typeface="Georgia"/>
              </a:rPr>
              <a:t>diffusion models &amp; GANs </a:t>
            </a:r>
            <a:r>
              <a:rPr b="0" i="0" lang="en-US" sz="1200" u="none" cap="none" strike="noStrike">
                <a:solidFill>
                  <a:srgbClr val="2B2B2B"/>
                </a:solidFill>
                <a:latin typeface="Georgia"/>
                <a:ea typeface="Georgia"/>
                <a:cs typeface="Georgia"/>
                <a:sym typeface="Georgia"/>
              </a:rPr>
              <a:t>for generation.</a:t>
            </a:r>
            <a:endParaRPr b="0" i="0" sz="1200" u="none" cap="none" strike="noStrike">
              <a:solidFill>
                <a:schemeClr val="dk1"/>
              </a:solidFill>
              <a:latin typeface="Calibri"/>
              <a:ea typeface="Calibri"/>
              <a:cs typeface="Calibri"/>
              <a:sym typeface="Calibri"/>
            </a:endParaRPr>
          </a:p>
        </p:txBody>
      </p:sp>
      <p:sp>
        <p:nvSpPr>
          <p:cNvPr id="287" name="Google Shape;287;p11"/>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288" name="Google Shape;288;p11"/>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3" name="Shape 293"/>
        <p:cNvGrpSpPr/>
        <p:nvPr/>
      </p:nvGrpSpPr>
      <p:grpSpPr>
        <a:xfrm>
          <a:off x="0" y="0"/>
          <a:ext cx="0" cy="0"/>
          <a:chOff x="0" y="0"/>
          <a:chExt cx="0" cy="0"/>
        </a:xfrm>
      </p:grpSpPr>
      <p:sp>
        <p:nvSpPr>
          <p:cNvPr id="294" name="Google Shape;294;p12"/>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Anomaly Detection  &amp;  Clustering</a:t>
            </a:r>
            <a:endParaRPr b="0" i="0" sz="3000" u="none" cap="none" strike="noStrike">
              <a:solidFill>
                <a:schemeClr val="dk1"/>
              </a:solidFill>
              <a:latin typeface="Calibri"/>
              <a:ea typeface="Calibri"/>
              <a:cs typeface="Calibri"/>
              <a:sym typeface="Calibri"/>
            </a:endParaRPr>
          </a:p>
        </p:txBody>
      </p:sp>
      <p:cxnSp>
        <p:nvCxnSpPr>
          <p:cNvPr id="295" name="Google Shape;295;p12"/>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296" name="Google Shape;296;p12"/>
          <p:cNvSpPr/>
          <p:nvPr/>
        </p:nvSpPr>
        <p:spPr>
          <a:xfrm>
            <a:off x="365760" y="914400"/>
            <a:ext cx="4160520" cy="338328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2"/>
          <p:cNvSpPr/>
          <p:nvPr/>
        </p:nvSpPr>
        <p:spPr>
          <a:xfrm>
            <a:off x="502920" y="960120"/>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600"/>
              <a:buFont typeface="Georgia"/>
              <a:buNone/>
            </a:pPr>
            <a:r>
              <a:rPr b="1" i="0" lang="en-US" sz="1600" u="none" cap="none" strike="noStrike">
                <a:solidFill>
                  <a:srgbClr val="7B2D26"/>
                </a:solidFill>
                <a:latin typeface="Georgia"/>
                <a:ea typeface="Georgia"/>
                <a:cs typeface="Georgia"/>
                <a:sym typeface="Georgia"/>
              </a:rPr>
              <a:t>Anomaly detection</a:t>
            </a:r>
            <a:endParaRPr b="0" i="0" sz="1600" u="none" cap="none" strike="noStrike">
              <a:solidFill>
                <a:schemeClr val="dk1"/>
              </a:solidFill>
              <a:latin typeface="Calibri"/>
              <a:ea typeface="Calibri"/>
              <a:cs typeface="Calibri"/>
              <a:sym typeface="Calibri"/>
            </a:endParaRPr>
          </a:p>
        </p:txBody>
      </p:sp>
      <p:sp>
        <p:nvSpPr>
          <p:cNvPr id="298" name="Google Shape;298;p12"/>
          <p:cNvSpPr/>
          <p:nvPr/>
        </p:nvSpPr>
        <p:spPr>
          <a:xfrm>
            <a:off x="502920" y="1325880"/>
            <a:ext cx="393192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1" i="0" lang="en-US" sz="1250" u="none" cap="none" strike="noStrike">
                <a:solidFill>
                  <a:srgbClr val="2B2B2B"/>
                </a:solidFill>
                <a:latin typeface="Georgia"/>
                <a:ea typeface="Georgia"/>
                <a:cs typeface="Georgia"/>
                <a:sym typeface="Georgia"/>
              </a:rPr>
              <a:t>Goal: </a:t>
            </a:r>
            <a:r>
              <a:rPr b="0" i="0" lang="en-US" sz="1250" u="none" cap="none" strike="noStrike">
                <a:solidFill>
                  <a:srgbClr val="2B2B2B"/>
                </a:solidFill>
                <a:latin typeface="Georgia"/>
                <a:ea typeface="Georgia"/>
                <a:cs typeface="Georgia"/>
                <a:sym typeface="Georgia"/>
              </a:rPr>
              <a:t>find examples that don't match the bulk distribution.</a:t>
            </a:r>
            <a:endParaRPr b="0" i="0" sz="12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B2B2B"/>
              </a:buClr>
              <a:buSzPts val="500"/>
              <a:buFont typeface="Georgia"/>
              <a:buNone/>
            </a:pPr>
            <a:r>
              <a:rPr b="0" i="0" lang="en-US" sz="500" u="none" cap="none" strike="noStrike">
                <a:solidFill>
                  <a:srgbClr val="2B2B2B"/>
                </a:solidFill>
                <a:latin typeface="Georgia"/>
                <a:ea typeface="Georgia"/>
                <a:cs typeface="Georgia"/>
                <a:sym typeface="Georgia"/>
              </a:rPr>
              <a:t> </a:t>
            </a:r>
            <a:endParaRPr b="0" i="0" sz="12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B2B2B"/>
              </a:buClr>
              <a:buSzPts val="1250"/>
              <a:buFont typeface="Georgia"/>
              <a:buNone/>
            </a:pPr>
            <a:r>
              <a:rPr b="1" i="0" lang="en-US" sz="1250" u="none" cap="none" strike="noStrike">
                <a:solidFill>
                  <a:srgbClr val="2B2B2B"/>
                </a:solidFill>
                <a:latin typeface="Georgia"/>
                <a:ea typeface="Georgia"/>
                <a:cs typeface="Georgia"/>
                <a:sym typeface="Georgia"/>
              </a:rPr>
              <a:t>Methods: </a:t>
            </a:r>
            <a:r>
              <a:rPr b="0" i="0" lang="en-US" sz="1250" u="none" cap="none" strike="noStrike">
                <a:solidFill>
                  <a:srgbClr val="2B2B2B"/>
                </a:solidFill>
                <a:latin typeface="Georgia"/>
                <a:ea typeface="Georgia"/>
                <a:cs typeface="Georgia"/>
                <a:sym typeface="Georgia"/>
              </a:rPr>
              <a:t>Isolation Forest, One-Class SVM, autoencoder reconstruction error, </a:t>
            </a:r>
            <a:r>
              <a:rPr b="0" i="1" lang="en-US" sz="1250" u="none" cap="none" strike="noStrike">
                <a:solidFill>
                  <a:srgbClr val="2B2B2B"/>
                </a:solidFill>
                <a:latin typeface="Georgia"/>
                <a:ea typeface="Georgia"/>
                <a:cs typeface="Georgia"/>
                <a:sym typeface="Georgia"/>
              </a:rPr>
              <a:t>Z-score / IQR </a:t>
            </a:r>
            <a:r>
              <a:rPr b="0" i="0" lang="en-US" sz="1250" u="none" cap="none" strike="noStrike">
                <a:solidFill>
                  <a:srgbClr val="2B2B2B"/>
                </a:solidFill>
                <a:latin typeface="Georgia"/>
                <a:ea typeface="Georgia"/>
                <a:cs typeface="Georgia"/>
                <a:sym typeface="Georgia"/>
              </a:rPr>
              <a:t>(Lec 2).</a:t>
            </a:r>
            <a:endParaRPr b="0" i="0" sz="12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B2B2B"/>
              </a:buClr>
              <a:buSzPts val="500"/>
              <a:buFont typeface="Georgia"/>
              <a:buNone/>
            </a:pPr>
            <a:r>
              <a:rPr b="0" i="0" lang="en-US" sz="500" u="none" cap="none" strike="noStrike">
                <a:solidFill>
                  <a:srgbClr val="2B2B2B"/>
                </a:solidFill>
                <a:latin typeface="Georgia"/>
                <a:ea typeface="Georgia"/>
                <a:cs typeface="Georgia"/>
                <a:sym typeface="Georgia"/>
              </a:rPr>
              <a:t> </a:t>
            </a:r>
            <a:endParaRPr b="0" i="0" sz="12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7B2D26"/>
              </a:buClr>
              <a:buSzPts val="1250"/>
              <a:buFont typeface="Georgia"/>
              <a:buNone/>
            </a:pPr>
            <a:r>
              <a:rPr b="1" i="0" lang="en-US" sz="1250" u="none" cap="none" strike="noStrike">
                <a:solidFill>
                  <a:srgbClr val="7B2D26"/>
                </a:solidFill>
                <a:latin typeface="Georgia"/>
                <a:ea typeface="Georgia"/>
                <a:cs typeface="Georgia"/>
                <a:sym typeface="Georgia"/>
              </a:rPr>
              <a:t>Astronomy:  </a:t>
            </a:r>
            <a:r>
              <a:rPr b="0" i="1" lang="en-US" sz="1250" u="none" cap="none" strike="noStrike">
                <a:solidFill>
                  <a:srgbClr val="2B2B2B"/>
                </a:solidFill>
                <a:latin typeface="Georgia"/>
                <a:ea typeface="Georgia"/>
                <a:cs typeface="Georgia"/>
                <a:sym typeface="Georgia"/>
              </a:rPr>
              <a:t>rare transients, gravitational lenses, weird quasars, instrument glitches.</a:t>
            </a:r>
            <a:endParaRPr b="0" i="0" sz="1250" u="none" cap="none" strike="noStrike">
              <a:solidFill>
                <a:schemeClr val="dk1"/>
              </a:solidFill>
              <a:latin typeface="Calibri"/>
              <a:ea typeface="Calibri"/>
              <a:cs typeface="Calibri"/>
              <a:sym typeface="Calibri"/>
            </a:endParaRPr>
          </a:p>
        </p:txBody>
      </p:sp>
      <p:sp>
        <p:nvSpPr>
          <p:cNvPr id="299" name="Google Shape;299;p12"/>
          <p:cNvSpPr/>
          <p:nvPr/>
        </p:nvSpPr>
        <p:spPr>
          <a:xfrm>
            <a:off x="4663440" y="914400"/>
            <a:ext cx="4160520" cy="3383280"/>
          </a:xfrm>
          <a:prstGeom prst="rect">
            <a:avLst/>
          </a:prstGeom>
          <a:solidFill>
            <a:srgbClr val="EAF1F4"/>
          </a:solidFill>
          <a:ln cap="flat" cmpd="sng" w="9525">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2"/>
          <p:cNvSpPr/>
          <p:nvPr/>
        </p:nvSpPr>
        <p:spPr>
          <a:xfrm>
            <a:off x="4800600" y="960120"/>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5A7A"/>
              </a:buClr>
              <a:buSzPts val="1600"/>
              <a:buFont typeface="Georgia"/>
              <a:buNone/>
            </a:pPr>
            <a:r>
              <a:rPr b="1" i="0" lang="en-US" sz="1600" u="none" cap="none" strike="noStrike">
                <a:solidFill>
                  <a:srgbClr val="2F5A7A"/>
                </a:solidFill>
                <a:latin typeface="Georgia"/>
                <a:ea typeface="Georgia"/>
                <a:cs typeface="Georgia"/>
                <a:sym typeface="Georgia"/>
              </a:rPr>
              <a:t>Clustering</a:t>
            </a:r>
            <a:endParaRPr b="0" i="0" sz="1600" u="none" cap="none" strike="noStrike">
              <a:solidFill>
                <a:schemeClr val="dk1"/>
              </a:solidFill>
              <a:latin typeface="Calibri"/>
              <a:ea typeface="Calibri"/>
              <a:cs typeface="Calibri"/>
              <a:sym typeface="Calibri"/>
            </a:endParaRPr>
          </a:p>
        </p:txBody>
      </p:sp>
      <p:sp>
        <p:nvSpPr>
          <p:cNvPr id="301" name="Google Shape;301;p12"/>
          <p:cNvSpPr/>
          <p:nvPr/>
        </p:nvSpPr>
        <p:spPr>
          <a:xfrm>
            <a:off x="4800600" y="1325880"/>
            <a:ext cx="393192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1" i="0" lang="en-US" sz="1250" u="none" cap="none" strike="noStrike">
                <a:solidFill>
                  <a:srgbClr val="2B2B2B"/>
                </a:solidFill>
                <a:latin typeface="Georgia"/>
                <a:ea typeface="Georgia"/>
                <a:cs typeface="Georgia"/>
                <a:sym typeface="Georgia"/>
              </a:rPr>
              <a:t>Goal: </a:t>
            </a:r>
            <a:r>
              <a:rPr b="0" i="0" lang="en-US" sz="1250" u="none" cap="none" strike="noStrike">
                <a:solidFill>
                  <a:srgbClr val="2B2B2B"/>
                </a:solidFill>
                <a:latin typeface="Georgia"/>
                <a:ea typeface="Georgia"/>
                <a:cs typeface="Georgia"/>
                <a:sym typeface="Georgia"/>
              </a:rPr>
              <a:t>group similar examples without using any labels.</a:t>
            </a:r>
            <a:endParaRPr b="0" i="0" sz="12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B2B2B"/>
              </a:buClr>
              <a:buSzPts val="500"/>
              <a:buFont typeface="Georgia"/>
              <a:buNone/>
            </a:pPr>
            <a:r>
              <a:rPr b="0" i="0" lang="en-US" sz="500" u="none" cap="none" strike="noStrike">
                <a:solidFill>
                  <a:srgbClr val="2B2B2B"/>
                </a:solidFill>
                <a:latin typeface="Georgia"/>
                <a:ea typeface="Georgia"/>
                <a:cs typeface="Georgia"/>
                <a:sym typeface="Georgia"/>
              </a:rPr>
              <a:t> </a:t>
            </a:r>
            <a:endParaRPr b="0" i="0" sz="12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B2B2B"/>
              </a:buClr>
              <a:buSzPts val="1250"/>
              <a:buFont typeface="Georgia"/>
              <a:buNone/>
            </a:pPr>
            <a:r>
              <a:rPr b="1" i="0" lang="en-US" sz="1250" u="none" cap="none" strike="noStrike">
                <a:solidFill>
                  <a:srgbClr val="2B2B2B"/>
                </a:solidFill>
                <a:latin typeface="Georgia"/>
                <a:ea typeface="Georgia"/>
                <a:cs typeface="Georgia"/>
                <a:sym typeface="Georgia"/>
              </a:rPr>
              <a:t>Methods: </a:t>
            </a:r>
            <a:r>
              <a:rPr b="0" i="0" lang="en-US" sz="1250" u="none" cap="none" strike="noStrike">
                <a:solidFill>
                  <a:srgbClr val="2B2B2B"/>
                </a:solidFill>
                <a:latin typeface="Georgia"/>
                <a:ea typeface="Georgia"/>
                <a:cs typeface="Georgia"/>
                <a:sym typeface="Georgia"/>
              </a:rPr>
              <a:t>K-means, DBSCAN, hierarchical, Gaussian Mixture Models.</a:t>
            </a:r>
            <a:endParaRPr b="0" i="0" sz="12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B2B2B"/>
              </a:buClr>
              <a:buSzPts val="500"/>
              <a:buFont typeface="Georgia"/>
              <a:buNone/>
            </a:pPr>
            <a:r>
              <a:rPr b="0" i="0" lang="en-US" sz="500" u="none" cap="none" strike="noStrike">
                <a:solidFill>
                  <a:srgbClr val="2B2B2B"/>
                </a:solidFill>
                <a:latin typeface="Georgia"/>
                <a:ea typeface="Georgia"/>
                <a:cs typeface="Georgia"/>
                <a:sym typeface="Georgia"/>
              </a:rPr>
              <a:t> </a:t>
            </a:r>
            <a:endParaRPr b="0" i="0" sz="12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F5A7A"/>
              </a:buClr>
              <a:buSzPts val="1250"/>
              <a:buFont typeface="Georgia"/>
              <a:buNone/>
            </a:pPr>
            <a:r>
              <a:rPr b="1" i="0" lang="en-US" sz="1250" u="none" cap="none" strike="noStrike">
                <a:solidFill>
                  <a:srgbClr val="2F5A7A"/>
                </a:solidFill>
                <a:latin typeface="Georgia"/>
                <a:ea typeface="Georgia"/>
                <a:cs typeface="Georgia"/>
                <a:sym typeface="Georgia"/>
              </a:rPr>
              <a:t>Astronomy:  </a:t>
            </a:r>
            <a:r>
              <a:rPr b="0" i="1" lang="en-US" sz="1250" u="none" cap="none" strike="noStrike">
                <a:solidFill>
                  <a:srgbClr val="2B2B2B"/>
                </a:solidFill>
                <a:latin typeface="Georgia"/>
                <a:ea typeface="Georgia"/>
                <a:cs typeface="Georgia"/>
                <a:sym typeface="Georgia"/>
              </a:rPr>
              <a:t>spectral type discovery, exoplanet population studies, source clustering for cosmology.</a:t>
            </a:r>
            <a:endParaRPr b="0" i="0" sz="1250" u="none" cap="none" strike="noStrike">
              <a:solidFill>
                <a:schemeClr val="dk1"/>
              </a:solidFill>
              <a:latin typeface="Calibri"/>
              <a:ea typeface="Calibri"/>
              <a:cs typeface="Calibri"/>
              <a:sym typeface="Calibri"/>
            </a:endParaRPr>
          </a:p>
        </p:txBody>
      </p:sp>
      <p:sp>
        <p:nvSpPr>
          <p:cNvPr id="302" name="Google Shape;302;p12"/>
          <p:cNvSpPr/>
          <p:nvPr/>
        </p:nvSpPr>
        <p:spPr>
          <a:xfrm>
            <a:off x="457200" y="438912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250"/>
              <a:buFont typeface="Georgia"/>
              <a:buNone/>
            </a:pPr>
            <a:r>
              <a:rPr b="1" i="0" lang="en-US" sz="1250" u="none" cap="none" strike="noStrike">
                <a:solidFill>
                  <a:srgbClr val="7B2D26"/>
                </a:solidFill>
                <a:latin typeface="Georgia"/>
                <a:ea typeface="Georgia"/>
                <a:cs typeface="Georgia"/>
                <a:sym typeface="Georgia"/>
              </a:rPr>
              <a:t>Common thread:  </a:t>
            </a:r>
            <a:r>
              <a:rPr b="0" i="0" lang="en-US" sz="1250" u="none" cap="none" strike="noStrike">
                <a:solidFill>
                  <a:srgbClr val="2B2B2B"/>
                </a:solidFill>
                <a:latin typeface="Georgia"/>
                <a:ea typeface="Georgia"/>
                <a:cs typeface="Georgia"/>
                <a:sym typeface="Georgia"/>
              </a:rPr>
              <a:t>both work without labels — they let the data speak for itself.</a:t>
            </a:r>
            <a:endParaRPr b="0" i="0" sz="1250" u="none" cap="none" strike="noStrike">
              <a:solidFill>
                <a:schemeClr val="dk1"/>
              </a:solidFill>
              <a:latin typeface="Calibri"/>
              <a:ea typeface="Calibri"/>
              <a:cs typeface="Calibri"/>
              <a:sym typeface="Calibri"/>
            </a:endParaRPr>
          </a:p>
        </p:txBody>
      </p:sp>
      <p:sp>
        <p:nvSpPr>
          <p:cNvPr id="303" name="Google Shape;303;p12"/>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304" name="Google Shape;304;p12"/>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9" name="Shape 309"/>
        <p:cNvGrpSpPr/>
        <p:nvPr/>
      </p:nvGrpSpPr>
      <p:grpSpPr>
        <a:xfrm>
          <a:off x="0" y="0"/>
          <a:ext cx="0" cy="0"/>
          <a:chOff x="0" y="0"/>
          <a:chExt cx="0" cy="0"/>
        </a:xfrm>
      </p:grpSpPr>
      <p:sp>
        <p:nvSpPr>
          <p:cNvPr id="310" name="Google Shape;310;p13"/>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Why AI/ML  —  Why Now?</a:t>
            </a:r>
            <a:endParaRPr b="0" i="0" sz="3000" u="none" cap="none" strike="noStrike">
              <a:solidFill>
                <a:schemeClr val="dk1"/>
              </a:solidFill>
              <a:latin typeface="Calibri"/>
              <a:ea typeface="Calibri"/>
              <a:cs typeface="Calibri"/>
              <a:sym typeface="Calibri"/>
            </a:endParaRPr>
          </a:p>
        </p:txBody>
      </p:sp>
      <p:cxnSp>
        <p:nvCxnSpPr>
          <p:cNvPr id="311" name="Google Shape;311;p13"/>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312" name="Google Shape;312;p13"/>
          <p:cNvSpPr/>
          <p:nvPr/>
        </p:nvSpPr>
        <p:spPr>
          <a:xfrm>
            <a:off x="457200" y="914400"/>
            <a:ext cx="8412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350"/>
              <a:buFont typeface="Georgia"/>
              <a:buNone/>
            </a:pPr>
            <a:r>
              <a:rPr b="0" i="1" lang="en-US" sz="1350" u="none" cap="none" strike="noStrike">
                <a:solidFill>
                  <a:srgbClr val="606060"/>
                </a:solidFill>
                <a:latin typeface="Georgia"/>
                <a:ea typeface="Georgia"/>
                <a:cs typeface="Georgia"/>
                <a:sym typeface="Georgia"/>
              </a:rPr>
              <a:t>Three trends came together in the 2010s and made modern ML inevitable.</a:t>
            </a:r>
            <a:endParaRPr b="0" i="0" sz="1350" u="none" cap="none" strike="noStrike">
              <a:solidFill>
                <a:schemeClr val="dk1"/>
              </a:solidFill>
              <a:latin typeface="Calibri"/>
              <a:ea typeface="Calibri"/>
              <a:cs typeface="Calibri"/>
              <a:sym typeface="Calibri"/>
            </a:endParaRPr>
          </a:p>
        </p:txBody>
      </p:sp>
      <p:sp>
        <p:nvSpPr>
          <p:cNvPr id="313" name="Google Shape;313;p13"/>
          <p:cNvSpPr/>
          <p:nvPr/>
        </p:nvSpPr>
        <p:spPr>
          <a:xfrm>
            <a:off x="365760" y="1371600"/>
            <a:ext cx="2743200" cy="132588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3"/>
          <p:cNvSpPr/>
          <p:nvPr/>
        </p:nvSpPr>
        <p:spPr>
          <a:xfrm>
            <a:off x="502920" y="1399032"/>
            <a:ext cx="24688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400"/>
              <a:buFont typeface="Georgia"/>
              <a:buNone/>
            </a:pPr>
            <a:r>
              <a:rPr b="1" i="0" lang="en-US" sz="1400" u="none" cap="none" strike="noStrike">
                <a:solidFill>
                  <a:srgbClr val="7B2D26"/>
                </a:solidFill>
                <a:latin typeface="Georgia"/>
                <a:ea typeface="Georgia"/>
                <a:cs typeface="Georgia"/>
                <a:sym typeface="Georgia"/>
              </a:rPr>
              <a:t>1.  Data</a:t>
            </a:r>
            <a:endParaRPr b="0" i="0" sz="1400" u="none" cap="none" strike="noStrike">
              <a:solidFill>
                <a:schemeClr val="dk1"/>
              </a:solidFill>
              <a:latin typeface="Calibri"/>
              <a:ea typeface="Calibri"/>
              <a:cs typeface="Calibri"/>
              <a:sym typeface="Calibri"/>
            </a:endParaRPr>
          </a:p>
        </p:txBody>
      </p:sp>
      <p:sp>
        <p:nvSpPr>
          <p:cNvPr id="315" name="Google Shape;315;p13"/>
          <p:cNvSpPr/>
          <p:nvPr/>
        </p:nvSpPr>
        <p:spPr>
          <a:xfrm>
            <a:off x="502920" y="1737360"/>
            <a:ext cx="246888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100"/>
              <a:buFont typeface="Georgia"/>
              <a:buNone/>
            </a:pPr>
            <a:r>
              <a:rPr b="0" i="0" lang="en-US" sz="1100" u="none" cap="none" strike="noStrike">
                <a:solidFill>
                  <a:srgbClr val="2B2B2B"/>
                </a:solidFill>
                <a:latin typeface="Georgia"/>
                <a:ea typeface="Georgia"/>
                <a:cs typeface="Georgia"/>
                <a:sym typeface="Georgia"/>
              </a:rPr>
              <a:t>Surveys grow ~10× per decade — SDSS → DES → LSST → Euclid → SKA. Multi-modal data everywhere.</a:t>
            </a:r>
            <a:endParaRPr b="0" i="0" sz="1100" u="none" cap="none" strike="noStrike">
              <a:solidFill>
                <a:schemeClr val="dk1"/>
              </a:solidFill>
              <a:latin typeface="Calibri"/>
              <a:ea typeface="Calibri"/>
              <a:cs typeface="Calibri"/>
              <a:sym typeface="Calibri"/>
            </a:endParaRPr>
          </a:p>
        </p:txBody>
      </p:sp>
      <p:sp>
        <p:nvSpPr>
          <p:cNvPr id="316" name="Google Shape;316;p13"/>
          <p:cNvSpPr/>
          <p:nvPr/>
        </p:nvSpPr>
        <p:spPr>
          <a:xfrm>
            <a:off x="3246120" y="1371600"/>
            <a:ext cx="2743200" cy="1325880"/>
          </a:xfrm>
          <a:prstGeom prst="rect">
            <a:avLst/>
          </a:prstGeom>
          <a:solidFill>
            <a:srgbClr val="EAF1F4"/>
          </a:solidFill>
          <a:ln cap="flat" cmpd="sng" w="9525">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3"/>
          <p:cNvSpPr/>
          <p:nvPr/>
        </p:nvSpPr>
        <p:spPr>
          <a:xfrm>
            <a:off x="3383280" y="1399032"/>
            <a:ext cx="24688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5A7A"/>
              </a:buClr>
              <a:buSzPts val="1400"/>
              <a:buFont typeface="Georgia"/>
              <a:buNone/>
            </a:pPr>
            <a:r>
              <a:rPr b="1" i="0" lang="en-US" sz="1400" u="none" cap="none" strike="noStrike">
                <a:solidFill>
                  <a:srgbClr val="2F5A7A"/>
                </a:solidFill>
                <a:latin typeface="Georgia"/>
                <a:ea typeface="Georgia"/>
                <a:cs typeface="Georgia"/>
                <a:sym typeface="Georgia"/>
              </a:rPr>
              <a:t>2.  Algorithms</a:t>
            </a:r>
            <a:endParaRPr b="0" i="0" sz="1400" u="none" cap="none" strike="noStrike">
              <a:solidFill>
                <a:schemeClr val="dk1"/>
              </a:solidFill>
              <a:latin typeface="Calibri"/>
              <a:ea typeface="Calibri"/>
              <a:cs typeface="Calibri"/>
              <a:sym typeface="Calibri"/>
            </a:endParaRPr>
          </a:p>
        </p:txBody>
      </p:sp>
      <p:sp>
        <p:nvSpPr>
          <p:cNvPr id="318" name="Google Shape;318;p13"/>
          <p:cNvSpPr/>
          <p:nvPr/>
        </p:nvSpPr>
        <p:spPr>
          <a:xfrm>
            <a:off x="3383280" y="1737360"/>
            <a:ext cx="246888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100"/>
              <a:buFont typeface="Georgia"/>
              <a:buNone/>
            </a:pPr>
            <a:r>
              <a:rPr b="0" i="0" lang="en-US" sz="1100" u="none" cap="none" strike="noStrike">
                <a:solidFill>
                  <a:srgbClr val="2B2B2B"/>
                </a:solidFill>
                <a:latin typeface="Georgia"/>
                <a:ea typeface="Georgia"/>
                <a:cs typeface="Georgia"/>
                <a:sym typeface="Georgia"/>
              </a:rPr>
              <a:t>Modern toolbox: backprop, CNNs, Transformers, diffusion models, foundation models.</a:t>
            </a:r>
            <a:endParaRPr b="0" i="0" sz="1100" u="none" cap="none" strike="noStrike">
              <a:solidFill>
                <a:schemeClr val="dk1"/>
              </a:solidFill>
              <a:latin typeface="Calibri"/>
              <a:ea typeface="Calibri"/>
              <a:cs typeface="Calibri"/>
              <a:sym typeface="Calibri"/>
            </a:endParaRPr>
          </a:p>
        </p:txBody>
      </p:sp>
      <p:sp>
        <p:nvSpPr>
          <p:cNvPr id="319" name="Google Shape;319;p13"/>
          <p:cNvSpPr/>
          <p:nvPr/>
        </p:nvSpPr>
        <p:spPr>
          <a:xfrm>
            <a:off x="6126480" y="1371600"/>
            <a:ext cx="2743200" cy="1325880"/>
          </a:xfrm>
          <a:prstGeom prst="rect">
            <a:avLst/>
          </a:prstGeom>
          <a:solidFill>
            <a:srgbClr val="E7EAE3"/>
          </a:solidFill>
          <a:ln cap="flat" cmpd="sng" w="9525">
            <a:solidFill>
              <a:srgbClr val="3A5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3"/>
          <p:cNvSpPr/>
          <p:nvPr/>
        </p:nvSpPr>
        <p:spPr>
          <a:xfrm>
            <a:off x="6263640" y="1399032"/>
            <a:ext cx="24688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5A3B"/>
              </a:buClr>
              <a:buSzPts val="1400"/>
              <a:buFont typeface="Georgia"/>
              <a:buNone/>
            </a:pPr>
            <a:r>
              <a:rPr b="1" i="0" lang="en-US" sz="1400" u="none" cap="none" strike="noStrike">
                <a:solidFill>
                  <a:srgbClr val="3A5A3B"/>
                </a:solidFill>
                <a:latin typeface="Georgia"/>
                <a:ea typeface="Georgia"/>
                <a:cs typeface="Georgia"/>
                <a:sym typeface="Georgia"/>
              </a:rPr>
              <a:t>3.  Hardware</a:t>
            </a:r>
            <a:endParaRPr b="0" i="0" sz="1400" u="none" cap="none" strike="noStrike">
              <a:solidFill>
                <a:schemeClr val="dk1"/>
              </a:solidFill>
              <a:latin typeface="Calibri"/>
              <a:ea typeface="Calibri"/>
              <a:cs typeface="Calibri"/>
              <a:sym typeface="Calibri"/>
            </a:endParaRPr>
          </a:p>
        </p:txBody>
      </p:sp>
      <p:sp>
        <p:nvSpPr>
          <p:cNvPr id="321" name="Google Shape;321;p13"/>
          <p:cNvSpPr/>
          <p:nvPr/>
        </p:nvSpPr>
        <p:spPr>
          <a:xfrm>
            <a:off x="6263640" y="1737360"/>
            <a:ext cx="246888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100"/>
              <a:buFont typeface="Georgia"/>
              <a:buNone/>
            </a:pPr>
            <a:r>
              <a:rPr b="0" i="0" lang="en-US" sz="1100" u="none" cap="none" strike="noStrike">
                <a:solidFill>
                  <a:srgbClr val="2B2B2B"/>
                </a:solidFill>
                <a:latin typeface="Georgia"/>
                <a:ea typeface="Georgia"/>
                <a:cs typeface="Georgia"/>
                <a:sym typeface="Georgia"/>
              </a:rPr>
              <a:t>Massive parallel compute: NVIDIA GPUs, Google TPUs. CUDA (2007) democratized this.</a:t>
            </a:r>
            <a:endParaRPr b="0" i="0" sz="1100" u="none" cap="none" strike="noStrike">
              <a:solidFill>
                <a:schemeClr val="dk1"/>
              </a:solidFill>
              <a:latin typeface="Calibri"/>
              <a:ea typeface="Calibri"/>
              <a:cs typeface="Calibri"/>
              <a:sym typeface="Calibri"/>
            </a:endParaRPr>
          </a:p>
        </p:txBody>
      </p:sp>
      <p:pic>
        <p:nvPicPr>
          <p:cNvPr descr="/sessions/sleepy-friendly-euler/mnt/outputs/figs/fig_data_compute_growth.png" id="322" name="Google Shape;322;p13"/>
          <p:cNvPicPr preferRelativeResize="0"/>
          <p:nvPr/>
        </p:nvPicPr>
        <p:blipFill rotWithShape="1">
          <a:blip r:embed="rId3">
            <a:alphaModFix/>
          </a:blip>
          <a:srcRect b="0" l="0" r="0" t="0"/>
          <a:stretch/>
        </p:blipFill>
        <p:spPr>
          <a:xfrm>
            <a:off x="1123801" y="3046900"/>
            <a:ext cx="6896400" cy="1645924"/>
          </a:xfrm>
          <a:prstGeom prst="rect">
            <a:avLst/>
          </a:prstGeom>
          <a:noFill/>
          <a:ln>
            <a:noFill/>
          </a:ln>
        </p:spPr>
      </p:pic>
      <p:sp>
        <p:nvSpPr>
          <p:cNvPr id="323" name="Google Shape;323;p13"/>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324" name="Google Shape;324;p13"/>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9" name="Shape 329"/>
        <p:cNvGrpSpPr/>
        <p:nvPr/>
      </p:nvGrpSpPr>
      <p:grpSpPr>
        <a:xfrm>
          <a:off x="0" y="0"/>
          <a:ext cx="0" cy="0"/>
          <a:chOff x="0" y="0"/>
          <a:chExt cx="0" cy="0"/>
        </a:xfrm>
      </p:grpSpPr>
      <p:sp>
        <p:nvSpPr>
          <p:cNvPr id="330" name="Google Shape;330;p14"/>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Recap  —  What You Now Know</a:t>
            </a:r>
            <a:endParaRPr b="0" i="0" sz="3000" u="none" cap="none" strike="noStrike">
              <a:solidFill>
                <a:schemeClr val="dk1"/>
              </a:solidFill>
              <a:latin typeface="Calibri"/>
              <a:ea typeface="Calibri"/>
              <a:cs typeface="Calibri"/>
              <a:sym typeface="Calibri"/>
            </a:endParaRPr>
          </a:p>
        </p:txBody>
      </p:sp>
      <p:cxnSp>
        <p:nvCxnSpPr>
          <p:cNvPr id="331" name="Google Shape;331;p14"/>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332" name="Google Shape;332;p14"/>
          <p:cNvSpPr/>
          <p:nvPr/>
        </p:nvSpPr>
        <p:spPr>
          <a:xfrm>
            <a:off x="548640" y="914400"/>
            <a:ext cx="457200" cy="457200"/>
          </a:xfrm>
          <a:prstGeom prst="ellipse">
            <a:avLst/>
          </a:prstGeom>
          <a:solidFill>
            <a:srgbClr val="7B2D26"/>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4"/>
          <p:cNvSpPr/>
          <p:nvPr/>
        </p:nvSpPr>
        <p:spPr>
          <a:xfrm>
            <a:off x="548640" y="914400"/>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1</a:t>
            </a:r>
            <a:endParaRPr b="0" i="0" sz="1800" u="none" cap="none" strike="noStrike">
              <a:solidFill>
                <a:schemeClr val="dk1"/>
              </a:solidFill>
              <a:latin typeface="Calibri"/>
              <a:ea typeface="Calibri"/>
              <a:cs typeface="Calibri"/>
              <a:sym typeface="Calibri"/>
            </a:endParaRPr>
          </a:p>
        </p:txBody>
      </p:sp>
      <p:sp>
        <p:nvSpPr>
          <p:cNvPr id="334" name="Google Shape;334;p14"/>
          <p:cNvSpPr/>
          <p:nvPr/>
        </p:nvSpPr>
        <p:spPr>
          <a:xfrm>
            <a:off x="1143000" y="914400"/>
            <a:ext cx="3200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600"/>
              <a:buFont typeface="Georgia"/>
              <a:buNone/>
            </a:pPr>
            <a:r>
              <a:rPr b="1" i="0" lang="en-US" sz="1600" u="none" cap="none" strike="noStrike">
                <a:solidFill>
                  <a:srgbClr val="7B2D26"/>
                </a:solidFill>
                <a:latin typeface="Georgia"/>
                <a:ea typeface="Georgia"/>
                <a:cs typeface="Georgia"/>
                <a:sym typeface="Georgia"/>
              </a:rPr>
              <a:t>AI  ⊃  ML  ⊃  Deep Learning</a:t>
            </a:r>
            <a:endParaRPr b="0" i="0" sz="1600" u="none" cap="none" strike="noStrike">
              <a:solidFill>
                <a:schemeClr val="dk1"/>
              </a:solidFill>
              <a:latin typeface="Calibri"/>
              <a:ea typeface="Calibri"/>
              <a:cs typeface="Calibri"/>
              <a:sym typeface="Calibri"/>
            </a:endParaRPr>
          </a:p>
        </p:txBody>
      </p:sp>
      <p:sp>
        <p:nvSpPr>
          <p:cNvPr id="335" name="Google Shape;335;p14"/>
          <p:cNvSpPr/>
          <p:nvPr/>
        </p:nvSpPr>
        <p:spPr>
          <a:xfrm>
            <a:off x="4434840" y="914400"/>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Nested concepts; the rest of this course lives in classical ML.</a:t>
            </a:r>
            <a:endParaRPr b="0" i="0" sz="1250" u="none" cap="none" strike="noStrike">
              <a:solidFill>
                <a:schemeClr val="dk1"/>
              </a:solidFill>
              <a:latin typeface="Calibri"/>
              <a:ea typeface="Calibri"/>
              <a:cs typeface="Calibri"/>
              <a:sym typeface="Calibri"/>
            </a:endParaRPr>
          </a:p>
        </p:txBody>
      </p:sp>
      <p:sp>
        <p:nvSpPr>
          <p:cNvPr id="336" name="Google Shape;336;p14"/>
          <p:cNvSpPr/>
          <p:nvPr/>
        </p:nvSpPr>
        <p:spPr>
          <a:xfrm>
            <a:off x="548640" y="1572768"/>
            <a:ext cx="457200" cy="457200"/>
          </a:xfrm>
          <a:prstGeom prst="ellipse">
            <a:avLst/>
          </a:prstGeom>
          <a:solidFill>
            <a:srgbClr val="7B2D26"/>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4"/>
          <p:cNvSpPr/>
          <p:nvPr/>
        </p:nvSpPr>
        <p:spPr>
          <a:xfrm>
            <a:off x="548640" y="1572768"/>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2</a:t>
            </a:r>
            <a:endParaRPr b="0" i="0" sz="1800" u="none" cap="none" strike="noStrike">
              <a:solidFill>
                <a:schemeClr val="dk1"/>
              </a:solidFill>
              <a:latin typeface="Calibri"/>
              <a:ea typeface="Calibri"/>
              <a:cs typeface="Calibri"/>
              <a:sym typeface="Calibri"/>
            </a:endParaRPr>
          </a:p>
        </p:txBody>
      </p:sp>
      <p:sp>
        <p:nvSpPr>
          <p:cNvPr id="338" name="Google Shape;338;p14"/>
          <p:cNvSpPr/>
          <p:nvPr/>
        </p:nvSpPr>
        <p:spPr>
          <a:xfrm>
            <a:off x="1143000" y="1572768"/>
            <a:ext cx="3200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600"/>
              <a:buFont typeface="Georgia"/>
              <a:buNone/>
            </a:pPr>
            <a:r>
              <a:rPr b="1" i="0" lang="en-US" sz="1600" u="none" cap="none" strike="noStrike">
                <a:solidFill>
                  <a:srgbClr val="7B2D26"/>
                </a:solidFill>
                <a:latin typeface="Georgia"/>
                <a:ea typeface="Georgia"/>
                <a:cs typeface="Georgia"/>
                <a:sym typeface="Georgia"/>
              </a:rPr>
              <a:t>Four paradigms</a:t>
            </a:r>
            <a:endParaRPr b="0" i="0" sz="1600" u="none" cap="none" strike="noStrike">
              <a:solidFill>
                <a:schemeClr val="dk1"/>
              </a:solidFill>
              <a:latin typeface="Calibri"/>
              <a:ea typeface="Calibri"/>
              <a:cs typeface="Calibri"/>
              <a:sym typeface="Calibri"/>
            </a:endParaRPr>
          </a:p>
        </p:txBody>
      </p:sp>
      <p:sp>
        <p:nvSpPr>
          <p:cNvPr id="339" name="Google Shape;339;p14"/>
          <p:cNvSpPr/>
          <p:nvPr/>
        </p:nvSpPr>
        <p:spPr>
          <a:xfrm>
            <a:off x="4434840" y="1572768"/>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Supervised, Unsupervised, Semi-/Self-, Reinforcement (out of scope).</a:t>
            </a:r>
            <a:endParaRPr b="0" i="0" sz="1250" u="none" cap="none" strike="noStrike">
              <a:solidFill>
                <a:schemeClr val="dk1"/>
              </a:solidFill>
              <a:latin typeface="Calibri"/>
              <a:ea typeface="Calibri"/>
              <a:cs typeface="Calibri"/>
              <a:sym typeface="Calibri"/>
            </a:endParaRPr>
          </a:p>
        </p:txBody>
      </p:sp>
      <p:sp>
        <p:nvSpPr>
          <p:cNvPr id="340" name="Google Shape;340;p14"/>
          <p:cNvSpPr/>
          <p:nvPr/>
        </p:nvSpPr>
        <p:spPr>
          <a:xfrm>
            <a:off x="548640" y="2231136"/>
            <a:ext cx="457200" cy="457200"/>
          </a:xfrm>
          <a:prstGeom prst="ellipse">
            <a:avLst/>
          </a:prstGeom>
          <a:solidFill>
            <a:srgbClr val="7B2D26"/>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4"/>
          <p:cNvSpPr/>
          <p:nvPr/>
        </p:nvSpPr>
        <p:spPr>
          <a:xfrm>
            <a:off x="548640" y="2231136"/>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3</a:t>
            </a:r>
            <a:endParaRPr b="0" i="0" sz="1800" u="none" cap="none" strike="noStrike">
              <a:solidFill>
                <a:schemeClr val="dk1"/>
              </a:solidFill>
              <a:latin typeface="Calibri"/>
              <a:ea typeface="Calibri"/>
              <a:cs typeface="Calibri"/>
              <a:sym typeface="Calibri"/>
            </a:endParaRPr>
          </a:p>
        </p:txBody>
      </p:sp>
      <p:sp>
        <p:nvSpPr>
          <p:cNvPr id="342" name="Google Shape;342;p14"/>
          <p:cNvSpPr/>
          <p:nvPr/>
        </p:nvSpPr>
        <p:spPr>
          <a:xfrm>
            <a:off x="1143000" y="2231136"/>
            <a:ext cx="3200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600"/>
              <a:buFont typeface="Georgia"/>
              <a:buNone/>
            </a:pPr>
            <a:r>
              <a:rPr b="1" i="0" lang="en-US" sz="1600" u="none" cap="none" strike="noStrike">
                <a:solidFill>
                  <a:srgbClr val="7B2D26"/>
                </a:solidFill>
                <a:latin typeface="Georgia"/>
                <a:ea typeface="Georgia"/>
                <a:cs typeface="Georgia"/>
                <a:sym typeface="Georgia"/>
              </a:rPr>
              <a:t>Problem archetypes</a:t>
            </a:r>
            <a:endParaRPr b="0" i="0" sz="1600" u="none" cap="none" strike="noStrike">
              <a:solidFill>
                <a:schemeClr val="dk1"/>
              </a:solidFill>
              <a:latin typeface="Calibri"/>
              <a:ea typeface="Calibri"/>
              <a:cs typeface="Calibri"/>
              <a:sym typeface="Calibri"/>
            </a:endParaRPr>
          </a:p>
        </p:txBody>
      </p:sp>
      <p:sp>
        <p:nvSpPr>
          <p:cNvPr id="343" name="Google Shape;343;p14"/>
          <p:cNvSpPr/>
          <p:nvPr/>
        </p:nvSpPr>
        <p:spPr>
          <a:xfrm>
            <a:off x="4434840" y="2231136"/>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Classification, regression, clustering, image analysis, anomaly, generative.</a:t>
            </a:r>
            <a:endParaRPr b="0" i="0" sz="1250" u="none" cap="none" strike="noStrike">
              <a:solidFill>
                <a:schemeClr val="dk1"/>
              </a:solidFill>
              <a:latin typeface="Calibri"/>
              <a:ea typeface="Calibri"/>
              <a:cs typeface="Calibri"/>
              <a:sym typeface="Calibri"/>
            </a:endParaRPr>
          </a:p>
        </p:txBody>
      </p:sp>
      <p:sp>
        <p:nvSpPr>
          <p:cNvPr id="344" name="Google Shape;344;p14"/>
          <p:cNvSpPr/>
          <p:nvPr/>
        </p:nvSpPr>
        <p:spPr>
          <a:xfrm>
            <a:off x="548640" y="2889504"/>
            <a:ext cx="457200" cy="457200"/>
          </a:xfrm>
          <a:prstGeom prst="ellipse">
            <a:avLst/>
          </a:prstGeom>
          <a:solidFill>
            <a:srgbClr val="7B2D26"/>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4"/>
          <p:cNvSpPr/>
          <p:nvPr/>
        </p:nvSpPr>
        <p:spPr>
          <a:xfrm>
            <a:off x="548640" y="2889504"/>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4</a:t>
            </a:r>
            <a:endParaRPr b="0" i="0" sz="1800" u="none" cap="none" strike="noStrike">
              <a:solidFill>
                <a:schemeClr val="dk1"/>
              </a:solidFill>
              <a:latin typeface="Calibri"/>
              <a:ea typeface="Calibri"/>
              <a:cs typeface="Calibri"/>
              <a:sym typeface="Calibri"/>
            </a:endParaRPr>
          </a:p>
        </p:txBody>
      </p:sp>
      <p:sp>
        <p:nvSpPr>
          <p:cNvPr id="346" name="Google Shape;346;p14"/>
          <p:cNvSpPr/>
          <p:nvPr/>
        </p:nvSpPr>
        <p:spPr>
          <a:xfrm>
            <a:off x="1143000" y="2889504"/>
            <a:ext cx="3200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600"/>
              <a:buFont typeface="Georgia"/>
              <a:buNone/>
            </a:pPr>
            <a:r>
              <a:rPr b="1" i="0" lang="en-US" sz="1600" u="none" cap="none" strike="noStrike">
                <a:solidFill>
                  <a:srgbClr val="7B2D26"/>
                </a:solidFill>
                <a:latin typeface="Georgia"/>
                <a:ea typeface="Georgia"/>
                <a:cs typeface="Georgia"/>
                <a:sym typeface="Georgia"/>
              </a:rPr>
              <a:t>ML vs traditional</a:t>
            </a:r>
            <a:endParaRPr b="0" i="0" sz="1600" u="none" cap="none" strike="noStrike">
              <a:solidFill>
                <a:schemeClr val="dk1"/>
              </a:solidFill>
              <a:latin typeface="Calibri"/>
              <a:ea typeface="Calibri"/>
              <a:cs typeface="Calibri"/>
              <a:sym typeface="Calibri"/>
            </a:endParaRPr>
          </a:p>
        </p:txBody>
      </p:sp>
      <p:sp>
        <p:nvSpPr>
          <p:cNvPr id="347" name="Google Shape;347;p14"/>
          <p:cNvSpPr/>
          <p:nvPr/>
        </p:nvSpPr>
        <p:spPr>
          <a:xfrm>
            <a:off x="4434840" y="2889504"/>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Examples → rules, not the other way around.</a:t>
            </a:r>
            <a:endParaRPr b="0" i="0" sz="1250" u="none" cap="none" strike="noStrike">
              <a:solidFill>
                <a:schemeClr val="dk1"/>
              </a:solidFill>
              <a:latin typeface="Calibri"/>
              <a:ea typeface="Calibri"/>
              <a:cs typeface="Calibri"/>
              <a:sym typeface="Calibri"/>
            </a:endParaRPr>
          </a:p>
        </p:txBody>
      </p:sp>
      <p:sp>
        <p:nvSpPr>
          <p:cNvPr id="348" name="Google Shape;348;p14"/>
          <p:cNvSpPr/>
          <p:nvPr/>
        </p:nvSpPr>
        <p:spPr>
          <a:xfrm>
            <a:off x="548640" y="3547872"/>
            <a:ext cx="457200" cy="457200"/>
          </a:xfrm>
          <a:prstGeom prst="ellipse">
            <a:avLst/>
          </a:prstGeom>
          <a:solidFill>
            <a:srgbClr val="7B2D26"/>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4"/>
          <p:cNvSpPr/>
          <p:nvPr/>
        </p:nvSpPr>
        <p:spPr>
          <a:xfrm>
            <a:off x="548640" y="3547872"/>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5</a:t>
            </a:r>
            <a:endParaRPr b="0" i="0" sz="1800" u="none" cap="none" strike="noStrike">
              <a:solidFill>
                <a:schemeClr val="dk1"/>
              </a:solidFill>
              <a:latin typeface="Calibri"/>
              <a:ea typeface="Calibri"/>
              <a:cs typeface="Calibri"/>
              <a:sym typeface="Calibri"/>
            </a:endParaRPr>
          </a:p>
        </p:txBody>
      </p:sp>
      <p:sp>
        <p:nvSpPr>
          <p:cNvPr id="350" name="Google Shape;350;p14"/>
          <p:cNvSpPr/>
          <p:nvPr/>
        </p:nvSpPr>
        <p:spPr>
          <a:xfrm>
            <a:off x="1143000" y="3547872"/>
            <a:ext cx="3200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600"/>
              <a:buFont typeface="Georgia"/>
              <a:buNone/>
            </a:pPr>
            <a:r>
              <a:rPr b="1" i="0" lang="en-US" sz="1600" u="none" cap="none" strike="noStrike">
                <a:solidFill>
                  <a:srgbClr val="7B2D26"/>
                </a:solidFill>
                <a:latin typeface="Georgia"/>
                <a:ea typeface="Georgia"/>
                <a:cs typeface="Georgia"/>
                <a:sym typeface="Georgia"/>
              </a:rPr>
              <a:t>Why now</a:t>
            </a:r>
            <a:endParaRPr b="0" i="0" sz="1600" u="none" cap="none" strike="noStrike">
              <a:solidFill>
                <a:schemeClr val="dk1"/>
              </a:solidFill>
              <a:latin typeface="Calibri"/>
              <a:ea typeface="Calibri"/>
              <a:cs typeface="Calibri"/>
              <a:sym typeface="Calibri"/>
            </a:endParaRPr>
          </a:p>
        </p:txBody>
      </p:sp>
      <p:sp>
        <p:nvSpPr>
          <p:cNvPr id="351" name="Google Shape;351;p14"/>
          <p:cNvSpPr/>
          <p:nvPr/>
        </p:nvSpPr>
        <p:spPr>
          <a:xfrm>
            <a:off x="4434840" y="3547872"/>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Data deluge, modern algorithms, parallel compute.</a:t>
            </a:r>
            <a:endParaRPr b="0" i="0" sz="1250" u="none" cap="none" strike="noStrike">
              <a:solidFill>
                <a:schemeClr val="dk1"/>
              </a:solidFill>
              <a:latin typeface="Calibri"/>
              <a:ea typeface="Calibri"/>
              <a:cs typeface="Calibri"/>
              <a:sym typeface="Calibri"/>
            </a:endParaRPr>
          </a:p>
        </p:txBody>
      </p:sp>
      <p:sp>
        <p:nvSpPr>
          <p:cNvPr id="352" name="Google Shape;352;p14"/>
          <p:cNvSpPr/>
          <p:nvPr/>
        </p:nvSpPr>
        <p:spPr>
          <a:xfrm>
            <a:off x="457200" y="4160520"/>
            <a:ext cx="8412480" cy="365760"/>
          </a:xfrm>
          <a:prstGeom prst="rect">
            <a:avLst/>
          </a:prstGeom>
          <a:solidFill>
            <a:srgbClr val="EAF1F4"/>
          </a:solidFill>
          <a:ln cap="flat" cmpd="sng" w="9525">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4"/>
          <p:cNvSpPr/>
          <p:nvPr/>
        </p:nvSpPr>
        <p:spPr>
          <a:xfrm>
            <a:off x="548640" y="416052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5A7A"/>
              </a:buClr>
              <a:buSzPts val="1250"/>
              <a:buFont typeface="Georgia"/>
              <a:buNone/>
            </a:pPr>
            <a:r>
              <a:rPr b="1" i="0" lang="en-US" sz="1250" u="none" cap="none" strike="noStrike">
                <a:solidFill>
                  <a:srgbClr val="2F5A7A"/>
                </a:solidFill>
                <a:latin typeface="Georgia"/>
                <a:ea typeface="Georgia"/>
                <a:cs typeface="Georgia"/>
                <a:sym typeface="Georgia"/>
              </a:rPr>
              <a:t>Next  →  Lecture 1b:  </a:t>
            </a:r>
            <a:r>
              <a:rPr b="0" i="0" lang="en-US" sz="1250" u="none" cap="none" strike="noStrike">
                <a:solidFill>
                  <a:srgbClr val="2B2B2B"/>
                </a:solidFill>
                <a:latin typeface="Georgia"/>
                <a:ea typeface="Georgia"/>
                <a:cs typeface="Georgia"/>
                <a:sym typeface="Georgia"/>
              </a:rPr>
              <a:t>feature vectors, data modalities, framing a problem precisely.</a:t>
            </a:r>
            <a:endParaRPr b="0" i="0" sz="1250" u="none" cap="none" strike="noStrike">
              <a:solidFill>
                <a:schemeClr val="dk1"/>
              </a:solidFill>
              <a:latin typeface="Calibri"/>
              <a:ea typeface="Calibri"/>
              <a:cs typeface="Calibri"/>
              <a:sym typeface="Calibri"/>
            </a:endParaRPr>
          </a:p>
        </p:txBody>
      </p:sp>
      <p:sp>
        <p:nvSpPr>
          <p:cNvPr id="354" name="Google Shape;354;p14"/>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355" name="Google Shape;355;p14"/>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2026-06-01T21:40:51Z</dcterms:created>
  <dc:creator>Omkar Bait</dc:creator>
</cp:coreProperties>
</file>