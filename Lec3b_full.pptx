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6" roundtripDataSignature="AMtx7minvYC309k8Qd2Tefuq5oIFnyLqB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customschemas.google.com/relationships/presentationmetadata" Target="metadata"/><Relationship Id="rId25" Type="http://schemas.openxmlformats.org/officeDocument/2006/relationships/slide" Target="slides/slide2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 finally meet a real model. Decision trees are the conceptual root of much of modern ML — gradient boosting, random forests, XGBoost — all are trees underneath. The plan: start with one tree, understand its strengths and weaknesses, then turn it into a forest.</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 name="Google Shape;2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through the small galaxy tree on the right slowly: 'if g-r &lt; 1 then look at r-i; if r-i &lt; 0.45 predict spiral.' Stress that every question uses ONE feature and a threshold — this is the secret of decision trees' interpretability.</a:t>
            </a:r>
            <a:endParaRPr/>
          </a:p>
        </p:txBody>
      </p:sp>
      <p:sp>
        <p:nvSpPr>
          <p:cNvPr id="26" name="Google Shape;2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 name="Shape 36"/>
        <p:cNvGrpSpPr/>
        <p:nvPr/>
      </p:nvGrpSpPr>
      <p:grpSpPr>
        <a:xfrm>
          <a:off x="0" y="0"/>
          <a:ext cx="0" cy="0"/>
          <a:chOff x="0" y="0"/>
          <a:chExt cx="0" cy="0"/>
        </a:xfrm>
      </p:grpSpPr>
      <p:sp>
        <p:nvSpPr>
          <p:cNvPr id="37" name="Google Shape;3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 name="Google Shape;3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Glue point with Lec 1b: the tree partitions the n-dimensional feature space into M non-overlapping regions {R_1, ..., R_M}. Every leaf is one region. The whole machine learning of a tree is choosing those regions cleverly.</a:t>
            </a:r>
            <a:endParaRPr/>
          </a:p>
        </p:txBody>
      </p:sp>
      <p:sp>
        <p:nvSpPr>
          <p:cNvPr id="39" name="Google Shape;3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 name="Google Shape;5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Don't let them think these are two different algorithms. The tree-building procedure is identical; only the splitting criterion and the leaf prediction change. That's why scikit-learn has DecisionTreeClassifier and DecisionTreeRegressor side-by-side.</a:t>
            </a:r>
            <a:endParaRPr/>
          </a:p>
        </p:txBody>
      </p:sp>
      <p:sp>
        <p:nvSpPr>
          <p:cNvPr id="52" name="Google Shape;5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 name="Google Shape;6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heart of decision trees. Note that the objective is intuitive: minimize squared error by carving the feature space into rectangular boxes. The trick is that finding the optimal partition is NP-hard. So we use a greedy heuristic — recursive binary splitting. Next slide.</a:t>
            </a:r>
            <a:endParaRPr/>
          </a:p>
        </p:txBody>
      </p:sp>
      <p:sp>
        <p:nvSpPr>
          <p:cNvPr id="70" name="Google Shape;7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 name="Google Shape;8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left-to-right through the figure. First split takes all data, finds the best (feature, threshold) by minimizing MSE — that's the vertical line at g-r=1.0. Then we apply the same procedure RECURSIVELY to the left region (horizontal split) and then to the right region. This is THE decision-tree algorithm. Note 'greedy' is the price of tractability: we never undo a split.</a:t>
            </a:r>
            <a:endParaRPr/>
          </a:p>
        </p:txBody>
      </p:sp>
      <p:sp>
        <p:nvSpPr>
          <p:cNvPr id="81" name="Google Shape;8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 name="Google Shape;9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Both are zero when the node is pure (all one class) and maximal at p=0.5 (perfect mixture). Gini is the default because it's slightly cheaper. The choice rarely matters — what matters is that we have ANY impurity measure. The split that maximizes the impurity DECREASE is selected.</a:t>
            </a:r>
            <a:endParaRPr/>
          </a:p>
        </p:txBody>
      </p:sp>
      <p:sp>
        <p:nvSpPr>
          <p:cNvPr id="100" name="Google Shape;100;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 name="Google Shape;118;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U-shape on the right is the canonical overfitting curve. Train error monotonically drops; test error has a sweet spot. Pre-pruning sets a maximum depth (or leaf count) upfront — you choose that via CV from Lec 3a. Post-pruning grows fully then prunes back — next slide.</a:t>
            </a:r>
            <a:endParaRPr/>
          </a:p>
        </p:txBody>
      </p:sp>
      <p:sp>
        <p:nvSpPr>
          <p:cNvPr id="119" name="Google Shape;119;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 name="Google Shape;131;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cost-complexity (CCP) formulation by Breiman. The α·|T| term is exactly like ridge or lasso regularization — it just penalizes model complexity in the appropriate way for trees. Walk through what happens at α=0 (full tree) and α=∞ (only the root).</a:t>
            </a:r>
            <a:endParaRPr/>
          </a:p>
        </p:txBody>
      </p:sp>
      <p:sp>
        <p:nvSpPr>
          <p:cNvPr id="132" name="Google Shape;132;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 name="Google Shape;14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Important: that probability is just an empirical proportion in a leaf, not a calibrated probability. For science applications (galaxy survey purity / completeness) you may need to recalibrate.</a:t>
            </a:r>
            <a:endParaRPr/>
          </a:p>
        </p:txBody>
      </p:sp>
      <p:sp>
        <p:nvSpPr>
          <p:cNvPr id="148" name="Google Shape;148;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0" name="Google Shape;160;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High variance is the key sin we are about to fix. Trees are intuitive and powerful but unstable. Bagging is the cure: average many noisy trees together and the variance collapses.</a:t>
            </a:r>
            <a:endParaRPr/>
          </a:p>
        </p:txBody>
      </p:sp>
      <p:sp>
        <p:nvSpPr>
          <p:cNvPr id="161" name="Google Shape;161;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ec3abbe6f5_0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 name="Google Shape;173;g3ec3abbe6f5_0_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g3ec3abbe6f5_0_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3" name="Google Shape;183;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 bootstrap sample is drawn WITH REPLACEMENT, so it has the same size as the original training set but ~37% of original examples are missing (and ~63% appear, some multiple times). The missing ones are 'out-of-bag' — useful for estimating generalization (slide 14).</a:t>
            </a:r>
            <a:endParaRPr/>
          </a:p>
        </p:txBody>
      </p:sp>
      <p:sp>
        <p:nvSpPr>
          <p:cNvPr id="184" name="Google Shape;184;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5" name="Google Shape;195;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Bagging by itself reduces variance only modestly because every tree still picks the same dominant feature for the first split — bagged trees are CORRELATED. Random feature subsampling at each split forces trees to use different features → trees become decorrelated → averaging is much more effective. This is THE insight of Random Forests (Breiman 2001).</a:t>
            </a:r>
            <a:endParaRPr/>
          </a:p>
        </p:txBody>
      </p:sp>
      <p:sp>
        <p:nvSpPr>
          <p:cNvPr id="196" name="Google Shape;196;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ec3abbe6f5_0_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 name="Google Shape;209;g3ec3abbe6f5_0_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g3ec3abbe6f5_0_1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9" name="Google Shape;219;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Common confusion: students remember 'bagging = many trees' and pick A. The point of this question is to crystallize that BOTH techniques use many trees and bootstrap sampling — but ONLY Random Forests add the feature-subsampling layer at every split.</a:t>
            </a:r>
            <a:endParaRPr/>
          </a:p>
        </p:txBody>
      </p:sp>
      <p:sp>
        <p:nvSpPr>
          <p:cNvPr id="220" name="Google Shape;220;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 name="Google Shape;248;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If time allows, do the math heuristic: variance of the mean of N iid variables = σ²/N. If they're correlated with average ρ, the variance is σ² × (ρ + (1-ρ)/N). So if ρ → 1, no improvement from adding trees. Feature subsampling drives ρ down, and the bound tightens.</a:t>
            </a:r>
            <a:endParaRPr/>
          </a:p>
        </p:txBody>
      </p:sp>
      <p:sp>
        <p:nvSpPr>
          <p:cNvPr id="249" name="Google Shape;249;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2" name="Google Shape;282;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OOB is one of the unsung joys of random forests. You get a near-free estimate of generalization, no extra split, no extra fit. Tell students: when prototyping, this saves real time.</a:t>
            </a:r>
            <a:endParaRPr/>
          </a:p>
        </p:txBody>
      </p:sp>
      <p:sp>
        <p:nvSpPr>
          <p:cNvPr id="283" name="Google Shape;283;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7" name="Google Shape;297;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Real story for students: feature importance is the cheapest 'why does the model work' diagnostic you can run. For papers, prefer permutation importance because MDI inflates the score of features with many possible values (e.g., continuous over binary).</a:t>
            </a:r>
            <a:endParaRPr/>
          </a:p>
        </p:txBody>
      </p:sp>
      <p:sp>
        <p:nvSpPr>
          <p:cNvPr id="298" name="Google Shape;298;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8" name="Google Shape;308;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Notes for live coding: (1) n_estimators=500 is generous; even 100 is usually fine. More trees never hurt accuracy but cost compute. (2) max_features='sqrt' is the classic Breiman default for classification; 'log2' or floats also work. (3) min_samples_leaf=5 is a soft anti-overfitting knob; tune via CV. (4) n_jobs=-1 uses all CPU cores.</a:t>
            </a:r>
            <a:endParaRPr/>
          </a:p>
        </p:txBody>
      </p:sp>
      <p:sp>
        <p:nvSpPr>
          <p:cNvPr id="309" name="Google Shape;309;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0" name="Google Shape;320;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Wrap up: a decision tree is a simple, interpretable building block. A random forest is a robust, high-performance model with virtually no tuning needed. Lec 4 will use a random forest as our workhorse for the photometric redshift case study.</a:t>
            </a:r>
            <a:endParaRPr/>
          </a:p>
        </p:txBody>
      </p:sp>
      <p:sp>
        <p:nvSpPr>
          <p:cNvPr id="321" name="Google Shape;321;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 name="Shape 15"/>
        <p:cNvGrpSpPr/>
        <p:nvPr/>
      </p:nvGrpSpPr>
      <p:grpSpPr>
        <a:xfrm>
          <a:off x="0" y="0"/>
          <a:ext cx="0" cy="0"/>
          <a:chOff x="0" y="0"/>
          <a:chExt cx="0" cy="0"/>
        </a:xfrm>
      </p:grpSpPr>
      <p:pic>
        <p:nvPicPr>
          <p:cNvPr descr="/sessions/sleepy-friendly-euler/mnt/outputs/logos/nrao_logo.png" id="16" name="Google Shape;16;p1"/>
          <p:cNvPicPr preferRelativeResize="0"/>
          <p:nvPr/>
        </p:nvPicPr>
        <p:blipFill rotWithShape="1">
          <a:blip r:embed="rId3">
            <a:alphaModFix/>
          </a:blip>
          <a:srcRect b="0" l="0" r="0" t="0"/>
          <a:stretch/>
        </p:blipFill>
        <p:spPr>
          <a:xfrm>
            <a:off x="228600" y="182880"/>
            <a:ext cx="594360" cy="758952"/>
          </a:xfrm>
          <a:prstGeom prst="rect">
            <a:avLst/>
          </a:prstGeom>
          <a:noFill/>
          <a:ln>
            <a:noFill/>
          </a:ln>
        </p:spPr>
      </p:pic>
      <p:sp>
        <p:nvSpPr>
          <p:cNvPr id="17" name="Google Shape;17;p1"/>
          <p:cNvSpPr/>
          <p:nvPr/>
        </p:nvSpPr>
        <p:spPr>
          <a:xfrm>
            <a:off x="457200" y="1371600"/>
            <a:ext cx="8229600" cy="7315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B2D26"/>
              </a:buClr>
              <a:buSzPts val="3800"/>
              <a:buFont typeface="Georgia"/>
              <a:buNone/>
            </a:pPr>
            <a:r>
              <a:rPr b="0" i="0" lang="en-US" sz="3800" u="none" cap="none" strike="noStrike">
                <a:solidFill>
                  <a:srgbClr val="7B2D26"/>
                </a:solidFill>
                <a:latin typeface="Georgia"/>
                <a:ea typeface="Georgia"/>
                <a:cs typeface="Georgia"/>
                <a:sym typeface="Georgia"/>
              </a:rPr>
              <a:t>Lecture 3b:</a:t>
            </a:r>
            <a:endParaRPr b="0" i="0" sz="3800" u="none" cap="none" strike="noStrike">
              <a:solidFill>
                <a:schemeClr val="dk1"/>
              </a:solidFill>
              <a:latin typeface="Calibri"/>
              <a:ea typeface="Calibri"/>
              <a:cs typeface="Calibri"/>
              <a:sym typeface="Calibri"/>
            </a:endParaRPr>
          </a:p>
        </p:txBody>
      </p:sp>
      <p:sp>
        <p:nvSpPr>
          <p:cNvPr id="18" name="Google Shape;18;p1"/>
          <p:cNvSpPr/>
          <p:nvPr/>
        </p:nvSpPr>
        <p:spPr>
          <a:xfrm>
            <a:off x="457200" y="2057400"/>
            <a:ext cx="8229600" cy="8229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B2D26"/>
              </a:buClr>
              <a:buSzPts val="3200"/>
              <a:buFont typeface="Georgia"/>
              <a:buNone/>
            </a:pPr>
            <a:r>
              <a:rPr b="0" i="0" lang="en-US" sz="3200" u="none" cap="none" strike="noStrike">
                <a:solidFill>
                  <a:srgbClr val="7B2D26"/>
                </a:solidFill>
                <a:latin typeface="Georgia"/>
                <a:ea typeface="Georgia"/>
                <a:cs typeface="Georgia"/>
                <a:sym typeface="Georgia"/>
              </a:rPr>
              <a:t>Decision Trees → Random Forests</a:t>
            </a:r>
            <a:endParaRPr b="0" i="0" sz="3200" u="none" cap="none" strike="noStrike">
              <a:solidFill>
                <a:schemeClr val="dk1"/>
              </a:solidFill>
              <a:latin typeface="Calibri"/>
              <a:ea typeface="Calibri"/>
              <a:cs typeface="Calibri"/>
              <a:sym typeface="Calibri"/>
            </a:endParaRPr>
          </a:p>
        </p:txBody>
      </p:sp>
      <p:sp>
        <p:nvSpPr>
          <p:cNvPr id="19" name="Google Shape;19;p1"/>
          <p:cNvSpPr/>
          <p:nvPr/>
        </p:nvSpPr>
        <p:spPr>
          <a:xfrm>
            <a:off x="457200" y="2926080"/>
            <a:ext cx="82296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06060"/>
              </a:buClr>
              <a:buSzPts val="1800"/>
              <a:buFont typeface="Georgia"/>
              <a:buNone/>
            </a:pPr>
            <a:r>
              <a:rPr b="0" i="1" lang="en-US" sz="1800" u="none" cap="none" strike="noStrike">
                <a:solidFill>
                  <a:srgbClr val="606060"/>
                </a:solidFill>
                <a:latin typeface="Georgia"/>
                <a:ea typeface="Georgia"/>
                <a:cs typeface="Georgia"/>
                <a:sym typeface="Georgia"/>
              </a:rPr>
              <a:t>Recursive partitioning, ensembles, and feature importance</a:t>
            </a:r>
            <a:endParaRPr b="0" i="0" sz="1800" u="none" cap="none" strike="noStrike">
              <a:solidFill>
                <a:schemeClr val="dk1"/>
              </a:solidFill>
              <a:latin typeface="Calibri"/>
              <a:ea typeface="Calibri"/>
              <a:cs typeface="Calibri"/>
              <a:sym typeface="Calibri"/>
            </a:endParaRPr>
          </a:p>
        </p:txBody>
      </p:sp>
      <p:sp>
        <p:nvSpPr>
          <p:cNvPr id="20" name="Google Shape;20;p1"/>
          <p:cNvSpPr/>
          <p:nvPr/>
        </p:nvSpPr>
        <p:spPr>
          <a:xfrm>
            <a:off x="457200" y="3566160"/>
            <a:ext cx="8229600" cy="7315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B2B2B"/>
              </a:buClr>
              <a:buSzPts val="1800"/>
              <a:buFont typeface="Georgia"/>
              <a:buNone/>
            </a:pPr>
            <a:r>
              <a:rPr b="0" i="0" lang="en-US" sz="1800" u="none" cap="none" strike="noStrike">
                <a:solidFill>
                  <a:srgbClr val="2B2B2B"/>
                </a:solidFill>
                <a:latin typeface="Georgia"/>
                <a:ea typeface="Georgia"/>
                <a:cs typeface="Georgia"/>
                <a:sym typeface="Georgia"/>
              </a:rPr>
              <a:t>Omkar Bait (CosmicAI Fellow)</a:t>
            </a:r>
            <a:endParaRPr b="0" i="0" sz="1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2B2B2B"/>
              </a:buClr>
              <a:buSzPts val="1800"/>
              <a:buFont typeface="Georgia"/>
              <a:buNone/>
            </a:pPr>
            <a:r>
              <a:rPr b="0" i="0" lang="en-US" sz="1800" u="none" cap="none" strike="noStrike">
                <a:solidFill>
                  <a:srgbClr val="2B2B2B"/>
                </a:solidFill>
                <a:latin typeface="Georgia"/>
                <a:ea typeface="Georgia"/>
                <a:cs typeface="Georgia"/>
                <a:sym typeface="Georgia"/>
              </a:rPr>
              <a:t>NRAO, Charlottesville</a:t>
            </a:r>
            <a:endParaRPr b="0" i="0" sz="1800" u="none" cap="none" strike="noStrike">
              <a:solidFill>
                <a:schemeClr val="dk1"/>
              </a:solidFill>
              <a:latin typeface="Calibri"/>
              <a:ea typeface="Calibri"/>
              <a:cs typeface="Calibri"/>
              <a:sym typeface="Calibri"/>
            </a:endParaRPr>
          </a:p>
        </p:txBody>
      </p:sp>
      <p:sp>
        <p:nvSpPr>
          <p:cNvPr id="21" name="Google Shape;21;p1"/>
          <p:cNvSpPr/>
          <p:nvPr/>
        </p:nvSpPr>
        <p:spPr>
          <a:xfrm>
            <a:off x="2743200" y="4663440"/>
            <a:ext cx="36576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B2B2B"/>
              </a:buClr>
              <a:buSzPts val="1200"/>
              <a:buFont typeface="Georgia"/>
              <a:buNone/>
            </a:pPr>
            <a:r>
              <a:rPr b="1" i="0" lang="en-US" sz="1200" u="none" cap="none" strike="noStrike">
                <a:solidFill>
                  <a:srgbClr val="2B2B2B"/>
                </a:solidFill>
                <a:latin typeface="Georgia"/>
                <a:ea typeface="Georgia"/>
                <a:cs typeface="Georgia"/>
                <a:sym typeface="Georgia"/>
              </a:rPr>
              <a:t>CosmicAI Summer School</a:t>
            </a:r>
            <a:endParaRPr b="0" i="0" sz="1200" u="none" cap="none" strike="noStrike">
              <a:solidFill>
                <a:schemeClr val="dk1"/>
              </a:solidFill>
              <a:latin typeface="Calibri"/>
              <a:ea typeface="Calibri"/>
              <a:cs typeface="Calibri"/>
              <a:sym typeface="Calibri"/>
            </a:endParaRPr>
          </a:p>
        </p:txBody>
      </p:sp>
      <p:sp>
        <p:nvSpPr>
          <p:cNvPr id="22" name="Google Shape;22;p1"/>
          <p:cNvSpPr/>
          <p:nvPr/>
        </p:nvSpPr>
        <p:spPr>
          <a:xfrm>
            <a:off x="8275320" y="4754880"/>
            <a:ext cx="6858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06060"/>
              </a:buClr>
              <a:buSzPts val="1200"/>
              <a:buFont typeface="Georgia"/>
              <a:buNone/>
            </a:pPr>
            <a:r>
              <a:rPr b="0" i="0" lang="en-US" sz="1200" u="none" cap="none" strike="noStrike">
                <a:solidFill>
                  <a:srgbClr val="606060"/>
                </a:solidFill>
                <a:latin typeface="Georgia"/>
                <a:ea typeface="Georgia"/>
                <a:cs typeface="Georgia"/>
                <a:sym typeface="Georgia"/>
              </a:rPr>
              <a:t>1</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 name="Shape 27"/>
        <p:cNvGrpSpPr/>
        <p:nvPr/>
      </p:nvGrpSpPr>
      <p:grpSpPr>
        <a:xfrm>
          <a:off x="0" y="0"/>
          <a:ext cx="0" cy="0"/>
          <a:chOff x="0" y="0"/>
          <a:chExt cx="0" cy="0"/>
        </a:xfrm>
      </p:grpSpPr>
      <p:sp>
        <p:nvSpPr>
          <p:cNvPr id="28" name="Google Shape;28;p2"/>
          <p:cNvSpPr/>
          <p:nvPr/>
        </p:nvSpPr>
        <p:spPr>
          <a:xfrm>
            <a:off x="274320" y="137160"/>
            <a:ext cx="859536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B2D26"/>
              </a:buClr>
              <a:buSzPts val="3000"/>
              <a:buFont typeface="Georgia"/>
              <a:buNone/>
            </a:pPr>
            <a:r>
              <a:rPr b="0" i="0" lang="en-US" sz="3000" u="none" cap="none" strike="noStrike">
                <a:solidFill>
                  <a:srgbClr val="7B2D26"/>
                </a:solidFill>
                <a:latin typeface="Georgia"/>
                <a:ea typeface="Georgia"/>
                <a:cs typeface="Georgia"/>
                <a:sym typeface="Georgia"/>
              </a:rPr>
              <a:t>What is a Decision Tree?</a:t>
            </a:r>
            <a:endParaRPr b="0" i="0" sz="3000" u="none" cap="none" strike="noStrike">
              <a:solidFill>
                <a:schemeClr val="dk1"/>
              </a:solidFill>
              <a:latin typeface="Calibri"/>
              <a:ea typeface="Calibri"/>
              <a:cs typeface="Calibri"/>
              <a:sym typeface="Calibri"/>
            </a:endParaRPr>
          </a:p>
        </p:txBody>
      </p:sp>
      <p:cxnSp>
        <p:nvCxnSpPr>
          <p:cNvPr id="29" name="Google Shape;29;p2"/>
          <p:cNvCxnSpPr/>
          <p:nvPr/>
        </p:nvCxnSpPr>
        <p:spPr>
          <a:xfrm>
            <a:off x="365760" y="777240"/>
            <a:ext cx="8412480" cy="0"/>
          </a:xfrm>
          <a:prstGeom prst="straightConnector1">
            <a:avLst/>
          </a:prstGeom>
          <a:noFill/>
          <a:ln cap="flat" cmpd="sng" w="15875">
            <a:solidFill>
              <a:srgbClr val="B0B0B0"/>
            </a:solidFill>
            <a:prstDash val="solid"/>
            <a:round/>
            <a:headEnd len="sm" w="sm" type="none"/>
            <a:tailEnd len="sm" w="sm" type="none"/>
          </a:ln>
        </p:spPr>
      </p:cxnSp>
      <p:sp>
        <p:nvSpPr>
          <p:cNvPr id="30" name="Google Shape;30;p2"/>
          <p:cNvSpPr/>
          <p:nvPr/>
        </p:nvSpPr>
        <p:spPr>
          <a:xfrm>
            <a:off x="411480" y="914400"/>
            <a:ext cx="3931920" cy="34747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B2B2B"/>
              </a:buClr>
              <a:buSzPts val="1400"/>
              <a:buFont typeface="Georgia"/>
              <a:buNone/>
            </a:pPr>
            <a:r>
              <a:rPr b="0" i="0" lang="en-US" sz="1400" u="none" cap="none" strike="noStrike">
                <a:solidFill>
                  <a:srgbClr val="2B2B2B"/>
                </a:solidFill>
                <a:latin typeface="Georgia"/>
                <a:ea typeface="Georgia"/>
                <a:cs typeface="Georgia"/>
                <a:sym typeface="Georgia"/>
              </a:rPr>
              <a:t>A series of yes / no questions that route an </a:t>
            </a:r>
            <a:r>
              <a:rPr lang="en-US">
                <a:solidFill>
                  <a:srgbClr val="2B2B2B"/>
                </a:solidFill>
                <a:latin typeface="Georgia"/>
                <a:ea typeface="Georgia"/>
                <a:cs typeface="Georgia"/>
                <a:sym typeface="Georgia"/>
              </a:rPr>
              <a:t>input</a:t>
            </a:r>
            <a:r>
              <a:rPr b="0" i="0" lang="en-US" sz="1400" u="none" cap="none" strike="noStrike">
                <a:solidFill>
                  <a:srgbClr val="2B2B2B"/>
                </a:solidFill>
                <a:latin typeface="Georgia"/>
                <a:ea typeface="Georgia"/>
                <a:cs typeface="Georgia"/>
                <a:sym typeface="Georgia"/>
              </a:rPr>
              <a:t> to a prediction.</a:t>
            </a:r>
            <a:endParaRPr b="0" i="0" sz="14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2B2B2B"/>
              </a:buClr>
              <a:buSzPts val="600"/>
              <a:buFont typeface="Georgia"/>
              <a:buNone/>
            </a:pPr>
            <a:r>
              <a:rPr b="0" i="0" lang="en-US" sz="600" u="none" cap="none" strike="noStrike">
                <a:solidFill>
                  <a:srgbClr val="2B2B2B"/>
                </a:solidFill>
                <a:latin typeface="Georgia"/>
                <a:ea typeface="Georgia"/>
                <a:cs typeface="Georgia"/>
                <a:sym typeface="Georgia"/>
              </a:rPr>
              <a:t> </a:t>
            </a:r>
            <a:endParaRPr b="0" i="0" sz="14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2B2B2B"/>
              </a:buClr>
              <a:buSzPts val="1400"/>
              <a:buFont typeface="Georgia"/>
              <a:buNone/>
            </a:pPr>
            <a:r>
              <a:rPr b="0" i="0" lang="en-US" sz="1400" u="none" cap="none" strike="noStrike">
                <a:solidFill>
                  <a:srgbClr val="2B2B2B"/>
                </a:solidFill>
                <a:latin typeface="Georgia"/>
                <a:ea typeface="Georgia"/>
                <a:cs typeface="Georgia"/>
                <a:sym typeface="Georgia"/>
              </a:rPr>
              <a:t>Each question splits the feature space </a:t>
            </a:r>
            <a:r>
              <a:rPr b="0" i="1" lang="en-US" sz="1400" u="none" cap="none" strike="noStrike">
                <a:solidFill>
                  <a:srgbClr val="2B2B2B"/>
                </a:solidFill>
                <a:latin typeface="Georgia"/>
                <a:ea typeface="Georgia"/>
                <a:cs typeface="Georgia"/>
                <a:sym typeface="Georgia"/>
              </a:rPr>
              <a:t>on a single feature; </a:t>
            </a:r>
            <a:r>
              <a:rPr b="0" i="0" lang="en-US" sz="1400" u="none" cap="none" strike="noStrike">
                <a:solidFill>
                  <a:srgbClr val="2B2B2B"/>
                </a:solidFill>
                <a:latin typeface="Georgia"/>
                <a:ea typeface="Georgia"/>
                <a:cs typeface="Georgia"/>
                <a:sym typeface="Georgia"/>
              </a:rPr>
              <a:t>every example follows </a:t>
            </a:r>
            <a:r>
              <a:rPr b="1" i="0" lang="en-US" sz="1400" u="none" cap="none" strike="noStrike">
                <a:solidFill>
                  <a:srgbClr val="2B2B2B"/>
                </a:solidFill>
                <a:latin typeface="Georgia"/>
                <a:ea typeface="Georgia"/>
                <a:cs typeface="Georgia"/>
                <a:sym typeface="Georgia"/>
              </a:rPr>
              <a:t>exactly one </a:t>
            </a:r>
            <a:r>
              <a:rPr b="0" i="0" lang="en-US" sz="1400" u="none" cap="none" strike="noStrike">
                <a:solidFill>
                  <a:srgbClr val="2B2B2B"/>
                </a:solidFill>
                <a:latin typeface="Georgia"/>
                <a:ea typeface="Georgia"/>
                <a:cs typeface="Georgia"/>
                <a:sym typeface="Georgia"/>
              </a:rPr>
              <a:t>path from root to leaf.</a:t>
            </a:r>
            <a:endParaRPr b="0" i="0" sz="14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2B2B2B"/>
              </a:buClr>
              <a:buSzPts val="600"/>
              <a:buFont typeface="Georgia"/>
              <a:buNone/>
            </a:pPr>
            <a:r>
              <a:rPr b="0" i="0" lang="en-US" sz="600" u="none" cap="none" strike="noStrike">
                <a:solidFill>
                  <a:srgbClr val="2B2B2B"/>
                </a:solidFill>
                <a:latin typeface="Georgia"/>
                <a:ea typeface="Georgia"/>
                <a:cs typeface="Georgia"/>
                <a:sym typeface="Georgia"/>
              </a:rPr>
              <a:t> </a:t>
            </a:r>
            <a:endParaRPr b="0" i="0" sz="14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2B2B2B"/>
              </a:buClr>
              <a:buSzPts val="1400"/>
              <a:buFont typeface="Georgia"/>
              <a:buNone/>
            </a:pPr>
            <a:r>
              <a:rPr b="0" i="0" lang="en-US" sz="1400" u="none" cap="none" strike="noStrike">
                <a:solidFill>
                  <a:srgbClr val="2B2B2B"/>
                </a:solidFill>
                <a:latin typeface="Georgia"/>
                <a:ea typeface="Georgia"/>
                <a:cs typeface="Georgia"/>
                <a:sym typeface="Georgia"/>
              </a:rPr>
              <a:t>Leaves carry the prediction: </a:t>
            </a:r>
            <a:r>
              <a:rPr b="0" i="1" lang="en-US" sz="1400" u="none" cap="none" strike="noStrike">
                <a:solidFill>
                  <a:srgbClr val="2B2B2B"/>
                </a:solidFill>
                <a:latin typeface="Georgia"/>
                <a:ea typeface="Georgia"/>
                <a:cs typeface="Georgia"/>
                <a:sym typeface="Georgia"/>
              </a:rPr>
              <a:t>a class label, a probability, or a number.</a:t>
            </a:r>
            <a:endParaRPr b="0" i="0" sz="1400" u="none" cap="none" strike="noStrike">
              <a:solidFill>
                <a:schemeClr val="dk1"/>
              </a:solidFill>
              <a:latin typeface="Calibri"/>
              <a:ea typeface="Calibri"/>
              <a:cs typeface="Calibri"/>
              <a:sym typeface="Calibri"/>
            </a:endParaRPr>
          </a:p>
        </p:txBody>
      </p:sp>
      <p:pic>
        <p:nvPicPr>
          <p:cNvPr descr="/sessions/sleepy-friendly-euler/mnt/outputs/figs/fig_simple_tree.png" id="31" name="Google Shape;31;p2"/>
          <p:cNvPicPr preferRelativeResize="0"/>
          <p:nvPr/>
        </p:nvPicPr>
        <p:blipFill rotWithShape="1">
          <a:blip r:embed="rId3">
            <a:alphaModFix/>
          </a:blip>
          <a:srcRect b="0" l="0" r="0" t="0"/>
          <a:stretch/>
        </p:blipFill>
        <p:spPr>
          <a:xfrm>
            <a:off x="4480560" y="868680"/>
            <a:ext cx="4526280" cy="2788920"/>
          </a:xfrm>
          <a:prstGeom prst="rect">
            <a:avLst/>
          </a:prstGeom>
          <a:noFill/>
          <a:ln>
            <a:noFill/>
          </a:ln>
        </p:spPr>
      </p:pic>
      <p:sp>
        <p:nvSpPr>
          <p:cNvPr id="32" name="Google Shape;32;p2"/>
          <p:cNvSpPr/>
          <p:nvPr/>
        </p:nvSpPr>
        <p:spPr>
          <a:xfrm>
            <a:off x="457200" y="4114800"/>
            <a:ext cx="8412480" cy="457200"/>
          </a:xfrm>
          <a:prstGeom prst="rect">
            <a:avLst/>
          </a:prstGeom>
          <a:solidFill>
            <a:srgbClr val="F4ECE9"/>
          </a:solidFill>
          <a:ln cap="flat" cmpd="sng" w="9525">
            <a:solidFill>
              <a:srgbClr val="7B2D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594360" y="4133088"/>
            <a:ext cx="8183880" cy="42062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B2D26"/>
              </a:buClr>
              <a:buSzPts val="1200"/>
              <a:buFont typeface="Georgia"/>
              <a:buNone/>
            </a:pPr>
            <a:r>
              <a:rPr lang="en-US" sz="1200">
                <a:solidFill>
                  <a:srgbClr val="2B2B2B"/>
                </a:solidFill>
                <a:latin typeface="Georgia"/>
                <a:ea typeface="Georgia"/>
                <a:cs typeface="Georgia"/>
                <a:sym typeface="Georgia"/>
              </a:rPr>
              <a:t>Tr</a:t>
            </a:r>
            <a:r>
              <a:rPr b="0" i="0" lang="en-US" sz="1200" u="none" cap="none" strike="noStrike">
                <a:solidFill>
                  <a:srgbClr val="2B2B2B"/>
                </a:solidFill>
                <a:latin typeface="Georgia"/>
                <a:ea typeface="Georgia"/>
                <a:cs typeface="Georgia"/>
                <a:sym typeface="Georgia"/>
              </a:rPr>
              <a:t>ees are the easiest model to </a:t>
            </a:r>
            <a:r>
              <a:rPr b="0" i="1" lang="en-US" sz="1200" u="none" cap="none" strike="noStrike">
                <a:solidFill>
                  <a:srgbClr val="000000"/>
                </a:solidFill>
                <a:latin typeface="Georgia"/>
                <a:ea typeface="Georgia"/>
                <a:cs typeface="Georgia"/>
                <a:sym typeface="Georgia"/>
              </a:rPr>
              <a:t>draw on a whiteboard </a:t>
            </a:r>
            <a:r>
              <a:rPr b="0" i="0" lang="en-US" sz="1200" u="none" cap="none" strike="noStrike">
                <a:solidFill>
                  <a:srgbClr val="2B2B2B"/>
                </a:solidFill>
                <a:latin typeface="Georgia"/>
                <a:ea typeface="Georgia"/>
                <a:cs typeface="Georgia"/>
                <a:sym typeface="Georgia"/>
              </a:rPr>
              <a:t>and explain to a non-expert.</a:t>
            </a:r>
            <a:endParaRPr b="0" i="0" sz="1200" u="none" cap="none" strike="noStrike">
              <a:solidFill>
                <a:schemeClr val="dk1"/>
              </a:solidFill>
              <a:latin typeface="Calibri"/>
              <a:ea typeface="Calibri"/>
              <a:cs typeface="Calibri"/>
              <a:sym typeface="Calibri"/>
            </a:endParaRPr>
          </a:p>
        </p:txBody>
      </p:sp>
      <p:sp>
        <p:nvSpPr>
          <p:cNvPr id="34" name="Google Shape;34;p2"/>
          <p:cNvSpPr/>
          <p:nvPr/>
        </p:nvSpPr>
        <p:spPr>
          <a:xfrm>
            <a:off x="2743200" y="4663440"/>
            <a:ext cx="36576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B2B2B"/>
              </a:buClr>
              <a:buSzPts val="1200"/>
              <a:buFont typeface="Georgia"/>
              <a:buNone/>
            </a:pPr>
            <a:r>
              <a:rPr b="1" i="0" lang="en-US" sz="1200" u="none" cap="none" strike="noStrike">
                <a:solidFill>
                  <a:srgbClr val="2B2B2B"/>
                </a:solidFill>
                <a:latin typeface="Georgia"/>
                <a:ea typeface="Georgia"/>
                <a:cs typeface="Georgia"/>
                <a:sym typeface="Georgia"/>
              </a:rPr>
              <a:t>CosmicAI Summer School</a:t>
            </a:r>
            <a:endParaRPr b="0" i="0" sz="1200" u="none" cap="none" strike="noStrike">
              <a:solidFill>
                <a:schemeClr val="dk1"/>
              </a:solidFill>
              <a:latin typeface="Calibri"/>
              <a:ea typeface="Calibri"/>
              <a:cs typeface="Calibri"/>
              <a:sym typeface="Calibri"/>
            </a:endParaRPr>
          </a:p>
        </p:txBody>
      </p:sp>
      <p:sp>
        <p:nvSpPr>
          <p:cNvPr id="35" name="Google Shape;35;p2"/>
          <p:cNvSpPr/>
          <p:nvPr/>
        </p:nvSpPr>
        <p:spPr>
          <a:xfrm>
            <a:off x="8275320" y="4754880"/>
            <a:ext cx="6858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06060"/>
              </a:buClr>
              <a:buSzPts val="1200"/>
              <a:buFont typeface="Georgia"/>
              <a:buNone/>
            </a:pPr>
            <a:r>
              <a:rPr b="0" i="0" lang="en-US" sz="1200" u="none" cap="none" strike="noStrike">
                <a:solidFill>
                  <a:srgbClr val="606060"/>
                </a:solidFill>
                <a:latin typeface="Georgia"/>
                <a:ea typeface="Georgia"/>
                <a:cs typeface="Georgia"/>
                <a:sym typeface="Georgia"/>
              </a:rPr>
              <a:t>2</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 name="Shape 40"/>
        <p:cNvGrpSpPr/>
        <p:nvPr/>
      </p:nvGrpSpPr>
      <p:grpSpPr>
        <a:xfrm>
          <a:off x="0" y="0"/>
          <a:ext cx="0" cy="0"/>
          <a:chOff x="0" y="0"/>
          <a:chExt cx="0" cy="0"/>
        </a:xfrm>
      </p:grpSpPr>
      <p:sp>
        <p:nvSpPr>
          <p:cNvPr id="41" name="Google Shape;41;p3"/>
          <p:cNvSpPr/>
          <p:nvPr/>
        </p:nvSpPr>
        <p:spPr>
          <a:xfrm>
            <a:off x="274320" y="137160"/>
            <a:ext cx="859536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B2D26"/>
              </a:buClr>
              <a:buSzPts val="3000"/>
              <a:buFont typeface="Georgia"/>
              <a:buNone/>
            </a:pPr>
            <a:r>
              <a:rPr b="0" i="0" lang="en-US" sz="3000" u="none" cap="none" strike="noStrike">
                <a:solidFill>
                  <a:srgbClr val="7B2D26"/>
                </a:solidFill>
                <a:latin typeface="Georgia"/>
                <a:ea typeface="Georgia"/>
                <a:cs typeface="Georgia"/>
                <a:sym typeface="Georgia"/>
              </a:rPr>
              <a:t>Anatomy of a Tree</a:t>
            </a:r>
            <a:endParaRPr b="0" i="0" sz="3000" u="none" cap="none" strike="noStrike">
              <a:solidFill>
                <a:schemeClr val="dk1"/>
              </a:solidFill>
              <a:latin typeface="Calibri"/>
              <a:ea typeface="Calibri"/>
              <a:cs typeface="Calibri"/>
              <a:sym typeface="Calibri"/>
            </a:endParaRPr>
          </a:p>
        </p:txBody>
      </p:sp>
      <p:cxnSp>
        <p:nvCxnSpPr>
          <p:cNvPr id="42" name="Google Shape;42;p3"/>
          <p:cNvCxnSpPr/>
          <p:nvPr/>
        </p:nvCxnSpPr>
        <p:spPr>
          <a:xfrm>
            <a:off x="365760" y="777240"/>
            <a:ext cx="8412480" cy="0"/>
          </a:xfrm>
          <a:prstGeom prst="straightConnector1">
            <a:avLst/>
          </a:prstGeom>
          <a:noFill/>
          <a:ln cap="flat" cmpd="sng" w="15875">
            <a:solidFill>
              <a:srgbClr val="B0B0B0"/>
            </a:solidFill>
            <a:prstDash val="solid"/>
            <a:round/>
            <a:headEnd len="sm" w="sm" type="none"/>
            <a:tailEnd len="sm" w="sm" type="none"/>
          </a:ln>
        </p:spPr>
      </p:cxnSp>
      <p:pic>
        <p:nvPicPr>
          <p:cNvPr descr="/sessions/sleepy-friendly-euler/mnt/outputs/figs/fig_simple_tree.png" id="43" name="Google Shape;43;p3"/>
          <p:cNvPicPr preferRelativeResize="0"/>
          <p:nvPr/>
        </p:nvPicPr>
        <p:blipFill rotWithShape="1">
          <a:blip r:embed="rId3">
            <a:alphaModFix/>
          </a:blip>
          <a:srcRect b="0" l="0" r="0" t="0"/>
          <a:stretch/>
        </p:blipFill>
        <p:spPr>
          <a:xfrm>
            <a:off x="365760" y="914400"/>
            <a:ext cx="4572000" cy="2743200"/>
          </a:xfrm>
          <a:prstGeom prst="rect">
            <a:avLst/>
          </a:prstGeom>
          <a:noFill/>
          <a:ln>
            <a:noFill/>
          </a:ln>
        </p:spPr>
      </p:pic>
      <p:sp>
        <p:nvSpPr>
          <p:cNvPr id="44" name="Google Shape;44;p3"/>
          <p:cNvSpPr/>
          <p:nvPr/>
        </p:nvSpPr>
        <p:spPr>
          <a:xfrm>
            <a:off x="5074920" y="914400"/>
            <a:ext cx="36576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2D26"/>
              </a:buClr>
              <a:buSzPts val="1600"/>
              <a:buFont typeface="Georgia"/>
              <a:buNone/>
            </a:pPr>
            <a:r>
              <a:rPr b="1" i="0" lang="en-US" sz="1600" u="none" cap="none" strike="noStrike">
                <a:solidFill>
                  <a:srgbClr val="7B2D26"/>
                </a:solidFill>
                <a:latin typeface="Georgia"/>
                <a:ea typeface="Georgia"/>
                <a:cs typeface="Georgia"/>
                <a:sym typeface="Georgia"/>
              </a:rPr>
              <a:t>Vocabulary</a:t>
            </a:r>
            <a:endParaRPr b="0" i="0" sz="1600" u="none" cap="none" strike="noStrike">
              <a:solidFill>
                <a:schemeClr val="dk1"/>
              </a:solidFill>
              <a:latin typeface="Calibri"/>
              <a:ea typeface="Calibri"/>
              <a:cs typeface="Calibri"/>
              <a:sym typeface="Calibri"/>
            </a:endParaRPr>
          </a:p>
        </p:txBody>
      </p:sp>
      <p:sp>
        <p:nvSpPr>
          <p:cNvPr id="45" name="Google Shape;45;p3"/>
          <p:cNvSpPr/>
          <p:nvPr/>
        </p:nvSpPr>
        <p:spPr>
          <a:xfrm>
            <a:off x="5074920" y="1280160"/>
            <a:ext cx="3703320" cy="2743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7B2D26"/>
              </a:buClr>
              <a:buSzPts val="1300"/>
              <a:buFont typeface="Georgia"/>
              <a:buNone/>
            </a:pPr>
            <a:r>
              <a:rPr b="1" i="0" lang="en-US" sz="1300" u="none" cap="none" strike="noStrike">
                <a:solidFill>
                  <a:srgbClr val="7B2D26"/>
                </a:solidFill>
                <a:latin typeface="Georgia"/>
                <a:ea typeface="Georgia"/>
                <a:cs typeface="Georgia"/>
                <a:sym typeface="Georgia"/>
              </a:rPr>
              <a:t>Root node — </a:t>
            </a:r>
            <a:r>
              <a:rPr b="0" i="0" lang="en-US" sz="1300" u="none" cap="none" strike="noStrike">
                <a:solidFill>
                  <a:srgbClr val="2B2B2B"/>
                </a:solidFill>
                <a:latin typeface="Georgia"/>
                <a:ea typeface="Georgia"/>
                <a:cs typeface="Georgia"/>
                <a:sym typeface="Georgia"/>
              </a:rPr>
              <a:t>the topmost question.</a:t>
            </a:r>
            <a:endParaRPr b="0" i="0" sz="13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7B2D26"/>
              </a:buClr>
              <a:buSzPts val="1300"/>
              <a:buFont typeface="Georgia"/>
              <a:buNone/>
            </a:pPr>
            <a:r>
              <a:rPr b="1" i="0" lang="en-US" sz="1300" u="none" cap="none" strike="noStrike">
                <a:solidFill>
                  <a:srgbClr val="7B2D26"/>
                </a:solidFill>
                <a:latin typeface="Georgia"/>
                <a:ea typeface="Georgia"/>
                <a:cs typeface="Georgia"/>
                <a:sym typeface="Georgia"/>
              </a:rPr>
              <a:t>Internal node — </a:t>
            </a:r>
            <a:r>
              <a:rPr b="0" i="0" lang="en-US" sz="1300" u="none" cap="none" strike="noStrike">
                <a:solidFill>
                  <a:srgbClr val="2B2B2B"/>
                </a:solidFill>
                <a:latin typeface="Georgia"/>
                <a:ea typeface="Georgia"/>
                <a:cs typeface="Georgia"/>
                <a:sym typeface="Georgia"/>
              </a:rPr>
              <a:t>an interior question.</a:t>
            </a:r>
            <a:endParaRPr b="0" i="0" sz="13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7B2D26"/>
              </a:buClr>
              <a:buSzPts val="1300"/>
              <a:buFont typeface="Georgia"/>
              <a:buNone/>
            </a:pPr>
            <a:r>
              <a:rPr b="1" i="0" lang="en-US" sz="1300" u="none" cap="none" strike="noStrike">
                <a:solidFill>
                  <a:srgbClr val="7B2D26"/>
                </a:solidFill>
                <a:latin typeface="Georgia"/>
                <a:ea typeface="Georgia"/>
                <a:cs typeface="Georgia"/>
                <a:sym typeface="Georgia"/>
              </a:rPr>
              <a:t>Leaf (terminal node) — </a:t>
            </a:r>
            <a:r>
              <a:rPr b="0" i="0" lang="en-US" sz="1300" u="none" cap="none" strike="noStrike">
                <a:solidFill>
                  <a:srgbClr val="2B2B2B"/>
                </a:solidFill>
                <a:latin typeface="Georgia"/>
                <a:ea typeface="Georgia"/>
                <a:cs typeface="Georgia"/>
                <a:sym typeface="Georgia"/>
              </a:rPr>
              <a:t>a prediction.</a:t>
            </a:r>
            <a:endParaRPr b="0" i="0" sz="13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7B2D26"/>
              </a:buClr>
              <a:buSzPts val="1300"/>
              <a:buFont typeface="Georgia"/>
              <a:buNone/>
            </a:pPr>
            <a:r>
              <a:rPr b="1" i="0" lang="en-US" sz="1300" u="none" cap="none" strike="noStrike">
                <a:solidFill>
                  <a:srgbClr val="7B2D26"/>
                </a:solidFill>
                <a:latin typeface="Georgia"/>
                <a:ea typeface="Georgia"/>
                <a:cs typeface="Georgia"/>
                <a:sym typeface="Georgia"/>
              </a:rPr>
              <a:t>Branch / edge — </a:t>
            </a:r>
            <a:r>
              <a:rPr b="0" i="0" lang="en-US" sz="1300" u="none" cap="none" strike="noStrike">
                <a:solidFill>
                  <a:srgbClr val="2B2B2B"/>
                </a:solidFill>
                <a:latin typeface="Georgia"/>
                <a:ea typeface="Georgia"/>
                <a:cs typeface="Georgia"/>
                <a:sym typeface="Georgia"/>
              </a:rPr>
              <a:t>the yes / no answer.</a:t>
            </a:r>
            <a:endParaRPr b="0" i="0" sz="13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7B2D26"/>
              </a:buClr>
              <a:buSzPts val="1300"/>
              <a:buFont typeface="Georgia"/>
              <a:buNone/>
            </a:pPr>
            <a:r>
              <a:rPr b="1" i="0" lang="en-US" sz="1300" u="none" cap="none" strike="noStrike">
                <a:solidFill>
                  <a:srgbClr val="7B2D26"/>
                </a:solidFill>
                <a:latin typeface="Georgia"/>
                <a:ea typeface="Georgia"/>
                <a:cs typeface="Georgia"/>
                <a:sym typeface="Georgia"/>
              </a:rPr>
              <a:t>Depth — </a:t>
            </a:r>
            <a:r>
              <a:rPr b="0" i="0" lang="en-US" sz="1300" u="none" cap="none" strike="noStrike">
                <a:solidFill>
                  <a:srgbClr val="2B2B2B"/>
                </a:solidFill>
                <a:latin typeface="Georgia"/>
                <a:ea typeface="Georgia"/>
                <a:cs typeface="Georgia"/>
                <a:sym typeface="Georgia"/>
              </a:rPr>
              <a:t>longest root-to-leaf path.</a:t>
            </a:r>
            <a:endParaRPr b="0" i="0" sz="1300" u="none" cap="none" strike="noStrike">
              <a:solidFill>
                <a:schemeClr val="dk1"/>
              </a:solidFill>
              <a:latin typeface="Calibri"/>
              <a:ea typeface="Calibri"/>
              <a:cs typeface="Calibri"/>
              <a:sym typeface="Calibri"/>
            </a:endParaRPr>
          </a:p>
        </p:txBody>
      </p:sp>
      <p:sp>
        <p:nvSpPr>
          <p:cNvPr id="46" name="Google Shape;46;p3"/>
          <p:cNvSpPr/>
          <p:nvPr/>
        </p:nvSpPr>
        <p:spPr>
          <a:xfrm>
            <a:off x="457200" y="4160520"/>
            <a:ext cx="84124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2D26"/>
              </a:buClr>
              <a:buSzPts val="1250"/>
              <a:buFont typeface="Georgia"/>
              <a:buNone/>
            </a:pPr>
            <a:r>
              <a:rPr b="1" i="0" lang="en-US" sz="1250" u="none" cap="none" strike="noStrike">
                <a:solidFill>
                  <a:srgbClr val="7B2D26"/>
                </a:solidFill>
                <a:latin typeface="Georgia"/>
                <a:ea typeface="Georgia"/>
                <a:cs typeface="Georgia"/>
                <a:sym typeface="Georgia"/>
              </a:rPr>
              <a:t>Prediction rule:  </a:t>
            </a:r>
            <a:r>
              <a:rPr b="0" i="0" lang="en-US" sz="1250" u="none" cap="none" strike="noStrike">
                <a:solidFill>
                  <a:srgbClr val="2B2B2B"/>
                </a:solidFill>
                <a:latin typeface="Georgia"/>
                <a:ea typeface="Georgia"/>
                <a:cs typeface="Georgia"/>
                <a:sym typeface="Georgia"/>
              </a:rPr>
              <a:t>route the example down the tree → read off the leaf value.  </a:t>
            </a:r>
            <a:r>
              <a:rPr b="0" i="1" lang="en-US" sz="1250" u="none" cap="none" strike="noStrike">
                <a:solidFill>
                  <a:srgbClr val="606060"/>
                </a:solidFill>
                <a:latin typeface="Georgia"/>
                <a:ea typeface="Georgia"/>
                <a:cs typeface="Georgia"/>
                <a:sym typeface="Georgia"/>
              </a:rPr>
              <a:t>Inference is O(depth) — extremely fast.</a:t>
            </a:r>
            <a:endParaRPr b="0" i="0" sz="1250" u="none" cap="none" strike="noStrike">
              <a:solidFill>
                <a:schemeClr val="dk1"/>
              </a:solidFill>
              <a:latin typeface="Calibri"/>
              <a:ea typeface="Calibri"/>
              <a:cs typeface="Calibri"/>
              <a:sym typeface="Calibri"/>
            </a:endParaRPr>
          </a:p>
        </p:txBody>
      </p:sp>
      <p:sp>
        <p:nvSpPr>
          <p:cNvPr id="47" name="Google Shape;47;p3"/>
          <p:cNvSpPr/>
          <p:nvPr/>
        </p:nvSpPr>
        <p:spPr>
          <a:xfrm>
            <a:off x="2743200" y="4663440"/>
            <a:ext cx="36576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B2B2B"/>
              </a:buClr>
              <a:buSzPts val="1200"/>
              <a:buFont typeface="Georgia"/>
              <a:buNone/>
            </a:pPr>
            <a:r>
              <a:rPr b="1" i="0" lang="en-US" sz="1200" u="none" cap="none" strike="noStrike">
                <a:solidFill>
                  <a:srgbClr val="2B2B2B"/>
                </a:solidFill>
                <a:latin typeface="Georgia"/>
                <a:ea typeface="Georgia"/>
                <a:cs typeface="Georgia"/>
                <a:sym typeface="Georgia"/>
              </a:rPr>
              <a:t>CosmicAI Summer School</a:t>
            </a:r>
            <a:endParaRPr b="0" i="0" sz="1200" u="none" cap="none" strike="noStrike">
              <a:solidFill>
                <a:schemeClr val="dk1"/>
              </a:solidFill>
              <a:latin typeface="Calibri"/>
              <a:ea typeface="Calibri"/>
              <a:cs typeface="Calibri"/>
              <a:sym typeface="Calibri"/>
            </a:endParaRPr>
          </a:p>
        </p:txBody>
      </p:sp>
      <p:sp>
        <p:nvSpPr>
          <p:cNvPr id="48" name="Google Shape;48;p3"/>
          <p:cNvSpPr/>
          <p:nvPr/>
        </p:nvSpPr>
        <p:spPr>
          <a:xfrm>
            <a:off x="8275320" y="4754880"/>
            <a:ext cx="6858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06060"/>
              </a:buClr>
              <a:buSzPts val="1200"/>
              <a:buFont typeface="Georgia"/>
              <a:buNone/>
            </a:pPr>
            <a:r>
              <a:rPr b="0" i="0" lang="en-US" sz="1200" u="none" cap="none" strike="noStrike">
                <a:solidFill>
                  <a:srgbClr val="606060"/>
                </a:solidFill>
                <a:latin typeface="Georgia"/>
                <a:ea typeface="Georgia"/>
                <a:cs typeface="Georgia"/>
                <a:sym typeface="Georgia"/>
              </a:rPr>
              <a:t>3</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 name="Shape 53"/>
        <p:cNvGrpSpPr/>
        <p:nvPr/>
      </p:nvGrpSpPr>
      <p:grpSpPr>
        <a:xfrm>
          <a:off x="0" y="0"/>
          <a:ext cx="0" cy="0"/>
          <a:chOff x="0" y="0"/>
          <a:chExt cx="0" cy="0"/>
        </a:xfrm>
      </p:grpSpPr>
      <p:sp>
        <p:nvSpPr>
          <p:cNvPr id="54" name="Google Shape;54;p4"/>
          <p:cNvSpPr/>
          <p:nvPr/>
        </p:nvSpPr>
        <p:spPr>
          <a:xfrm>
            <a:off x="274320" y="137160"/>
            <a:ext cx="859536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B2D26"/>
              </a:buClr>
              <a:buSzPts val="3000"/>
              <a:buFont typeface="Georgia"/>
              <a:buNone/>
            </a:pPr>
            <a:r>
              <a:rPr b="0" i="0" lang="en-US" sz="3000" u="none" cap="none" strike="noStrike">
                <a:solidFill>
                  <a:srgbClr val="7B2D26"/>
                </a:solidFill>
                <a:latin typeface="Georgia"/>
                <a:ea typeface="Georgia"/>
                <a:cs typeface="Georgia"/>
                <a:sym typeface="Georgia"/>
              </a:rPr>
              <a:t>Two Flavors — Classification &amp; Regression</a:t>
            </a:r>
            <a:endParaRPr b="0" i="0" sz="3000" u="none" cap="none" strike="noStrike">
              <a:solidFill>
                <a:schemeClr val="dk1"/>
              </a:solidFill>
              <a:latin typeface="Calibri"/>
              <a:ea typeface="Calibri"/>
              <a:cs typeface="Calibri"/>
              <a:sym typeface="Calibri"/>
            </a:endParaRPr>
          </a:p>
        </p:txBody>
      </p:sp>
      <p:cxnSp>
        <p:nvCxnSpPr>
          <p:cNvPr id="55" name="Google Shape;55;p4"/>
          <p:cNvCxnSpPr/>
          <p:nvPr/>
        </p:nvCxnSpPr>
        <p:spPr>
          <a:xfrm>
            <a:off x="365760" y="777240"/>
            <a:ext cx="8412480" cy="0"/>
          </a:xfrm>
          <a:prstGeom prst="straightConnector1">
            <a:avLst/>
          </a:prstGeom>
          <a:noFill/>
          <a:ln cap="flat" cmpd="sng" w="15875">
            <a:solidFill>
              <a:srgbClr val="B0B0B0"/>
            </a:solidFill>
            <a:prstDash val="solid"/>
            <a:round/>
            <a:headEnd len="sm" w="sm" type="none"/>
            <a:tailEnd len="sm" w="sm" type="none"/>
          </a:ln>
        </p:spPr>
      </p:cxnSp>
      <p:sp>
        <p:nvSpPr>
          <p:cNvPr id="56" name="Google Shape;56;p4"/>
          <p:cNvSpPr/>
          <p:nvPr/>
        </p:nvSpPr>
        <p:spPr>
          <a:xfrm>
            <a:off x="365760" y="914400"/>
            <a:ext cx="4114800" cy="3291840"/>
          </a:xfrm>
          <a:prstGeom prst="rect">
            <a:avLst/>
          </a:prstGeom>
          <a:solidFill>
            <a:srgbClr val="F4ECE9"/>
          </a:solidFill>
          <a:ln cap="flat" cmpd="sng" w="9525">
            <a:solidFill>
              <a:srgbClr val="7B2D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4"/>
          <p:cNvSpPr/>
          <p:nvPr/>
        </p:nvSpPr>
        <p:spPr>
          <a:xfrm>
            <a:off x="502920" y="960120"/>
            <a:ext cx="384048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2D26"/>
              </a:buClr>
              <a:buSzPts val="1800"/>
              <a:buFont typeface="Georgia"/>
              <a:buNone/>
            </a:pPr>
            <a:r>
              <a:rPr b="1" i="0" lang="en-US" sz="1800" u="none" cap="none" strike="noStrike">
                <a:solidFill>
                  <a:srgbClr val="7B2D26"/>
                </a:solidFill>
                <a:latin typeface="Georgia"/>
                <a:ea typeface="Georgia"/>
                <a:cs typeface="Georgia"/>
                <a:sym typeface="Georgia"/>
              </a:rPr>
              <a:t>Classification tree</a:t>
            </a:r>
            <a:endParaRPr b="0" i="0" sz="1800" u="none" cap="none" strike="noStrike">
              <a:solidFill>
                <a:schemeClr val="dk1"/>
              </a:solidFill>
              <a:latin typeface="Calibri"/>
              <a:ea typeface="Calibri"/>
              <a:cs typeface="Calibri"/>
              <a:sym typeface="Calibri"/>
            </a:endParaRPr>
          </a:p>
        </p:txBody>
      </p:sp>
      <p:sp>
        <p:nvSpPr>
          <p:cNvPr id="58" name="Google Shape;58;p4"/>
          <p:cNvSpPr/>
          <p:nvPr/>
        </p:nvSpPr>
        <p:spPr>
          <a:xfrm>
            <a:off x="502920" y="1325880"/>
            <a:ext cx="38404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06060"/>
              </a:buClr>
              <a:buSzPts val="1300"/>
              <a:buFont typeface="Georgia"/>
              <a:buNone/>
            </a:pPr>
            <a:r>
              <a:rPr b="0" i="1" lang="en-US" sz="1300" u="none" cap="none" strike="noStrike">
                <a:solidFill>
                  <a:srgbClr val="606060"/>
                </a:solidFill>
                <a:latin typeface="Georgia"/>
                <a:ea typeface="Georgia"/>
                <a:cs typeface="Georgia"/>
                <a:sym typeface="Georgia"/>
              </a:rPr>
              <a:t>y is categorical</a:t>
            </a:r>
            <a:endParaRPr b="0" i="0" sz="1300" u="none" cap="none" strike="noStrike">
              <a:solidFill>
                <a:schemeClr val="dk1"/>
              </a:solidFill>
              <a:latin typeface="Calibri"/>
              <a:ea typeface="Calibri"/>
              <a:cs typeface="Calibri"/>
              <a:sym typeface="Calibri"/>
            </a:endParaRPr>
          </a:p>
        </p:txBody>
      </p:sp>
      <p:sp>
        <p:nvSpPr>
          <p:cNvPr id="59" name="Google Shape;59;p4"/>
          <p:cNvSpPr/>
          <p:nvPr/>
        </p:nvSpPr>
        <p:spPr>
          <a:xfrm>
            <a:off x="502920" y="1691640"/>
            <a:ext cx="3840480" cy="237744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B2B2B"/>
              </a:buClr>
              <a:buSzPts val="1300"/>
              <a:buFont typeface="Georgia"/>
              <a:buChar char="■"/>
            </a:pPr>
            <a:r>
              <a:rPr b="0" i="0" lang="en-US" sz="1300" u="none" cap="none" strike="noStrike">
                <a:solidFill>
                  <a:srgbClr val="2B2B2B"/>
                </a:solidFill>
                <a:latin typeface="Georgia"/>
                <a:ea typeface="Georgia"/>
                <a:cs typeface="Georgia"/>
                <a:sym typeface="Georgia"/>
              </a:rPr>
              <a:t>Leaf prediction = most frequent class in that region (majority vote).</a:t>
            </a:r>
            <a:endParaRPr b="0" i="0" sz="1300" u="none" cap="none" strike="noStrike">
              <a:solidFill>
                <a:schemeClr val="dk1"/>
              </a:solidFill>
              <a:latin typeface="Calibri"/>
              <a:ea typeface="Calibri"/>
              <a:cs typeface="Calibri"/>
              <a:sym typeface="Calibri"/>
            </a:endParaRPr>
          </a:p>
          <a:p>
            <a:pPr indent="-342900" lvl="0" marL="342900" marR="0" rtl="0" algn="l">
              <a:spcBef>
                <a:spcPts val="700"/>
              </a:spcBef>
              <a:spcAft>
                <a:spcPts val="0"/>
              </a:spcAft>
              <a:buClr>
                <a:srgbClr val="2B2B2B"/>
              </a:buClr>
              <a:buSzPts val="1300"/>
              <a:buFont typeface="Georgia"/>
              <a:buChar char="■"/>
            </a:pPr>
            <a:r>
              <a:rPr b="0" i="0" lang="en-US" sz="1300" u="none" cap="none" strike="noStrike">
                <a:solidFill>
                  <a:srgbClr val="2B2B2B"/>
                </a:solidFill>
                <a:latin typeface="Georgia"/>
                <a:ea typeface="Georgia"/>
                <a:cs typeface="Georgia"/>
                <a:sym typeface="Georgia"/>
              </a:rPr>
              <a:t>Also outputs class proportions → probability-like score for each class.</a:t>
            </a:r>
            <a:endParaRPr b="0" i="0" sz="1300" u="none" cap="none" strike="noStrike">
              <a:solidFill>
                <a:schemeClr val="dk1"/>
              </a:solidFill>
              <a:latin typeface="Calibri"/>
              <a:ea typeface="Calibri"/>
              <a:cs typeface="Calibri"/>
              <a:sym typeface="Calibri"/>
            </a:endParaRPr>
          </a:p>
          <a:p>
            <a:pPr indent="-342900" lvl="0" marL="342900" marR="0" rtl="0" algn="l">
              <a:spcBef>
                <a:spcPts val="700"/>
              </a:spcBef>
              <a:spcAft>
                <a:spcPts val="0"/>
              </a:spcAft>
              <a:buClr>
                <a:srgbClr val="2B2B2B"/>
              </a:buClr>
              <a:buSzPts val="1300"/>
              <a:buFont typeface="Georgia"/>
              <a:buChar char="■"/>
            </a:pPr>
            <a:r>
              <a:rPr b="0" i="0" lang="en-US" sz="1300" u="none" cap="none" strike="noStrike">
                <a:solidFill>
                  <a:srgbClr val="2B2B2B"/>
                </a:solidFill>
                <a:latin typeface="Georgia"/>
                <a:ea typeface="Georgia"/>
                <a:cs typeface="Georgia"/>
                <a:sym typeface="Georgia"/>
              </a:rPr>
              <a:t>Example: spiral / elliptical / irregular from ugriz colors.</a:t>
            </a:r>
            <a:endParaRPr b="0" i="0" sz="1300" u="none" cap="none" strike="noStrike">
              <a:solidFill>
                <a:schemeClr val="dk1"/>
              </a:solidFill>
              <a:latin typeface="Calibri"/>
              <a:ea typeface="Calibri"/>
              <a:cs typeface="Calibri"/>
              <a:sym typeface="Calibri"/>
            </a:endParaRPr>
          </a:p>
        </p:txBody>
      </p:sp>
      <p:sp>
        <p:nvSpPr>
          <p:cNvPr id="60" name="Google Shape;60;p4"/>
          <p:cNvSpPr/>
          <p:nvPr/>
        </p:nvSpPr>
        <p:spPr>
          <a:xfrm>
            <a:off x="4663440" y="914400"/>
            <a:ext cx="4114800" cy="3291840"/>
          </a:xfrm>
          <a:prstGeom prst="rect">
            <a:avLst/>
          </a:prstGeom>
          <a:solidFill>
            <a:srgbClr val="EAF1F4"/>
          </a:solidFill>
          <a:ln cap="flat" cmpd="sng" w="9525">
            <a:solidFill>
              <a:srgbClr val="2F5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4"/>
          <p:cNvSpPr/>
          <p:nvPr/>
        </p:nvSpPr>
        <p:spPr>
          <a:xfrm>
            <a:off x="4800600" y="960120"/>
            <a:ext cx="384048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F5A7A"/>
              </a:buClr>
              <a:buSzPts val="1800"/>
              <a:buFont typeface="Georgia"/>
              <a:buNone/>
            </a:pPr>
            <a:r>
              <a:rPr b="1" i="0" lang="en-US" sz="1800" u="none" cap="none" strike="noStrike">
                <a:solidFill>
                  <a:srgbClr val="2F5A7A"/>
                </a:solidFill>
                <a:latin typeface="Georgia"/>
                <a:ea typeface="Georgia"/>
                <a:cs typeface="Georgia"/>
                <a:sym typeface="Georgia"/>
              </a:rPr>
              <a:t>Regression tree</a:t>
            </a:r>
            <a:endParaRPr b="0" i="0" sz="1800" u="none" cap="none" strike="noStrike">
              <a:solidFill>
                <a:schemeClr val="dk1"/>
              </a:solidFill>
              <a:latin typeface="Calibri"/>
              <a:ea typeface="Calibri"/>
              <a:cs typeface="Calibri"/>
              <a:sym typeface="Calibri"/>
            </a:endParaRPr>
          </a:p>
        </p:txBody>
      </p:sp>
      <p:sp>
        <p:nvSpPr>
          <p:cNvPr id="62" name="Google Shape;62;p4"/>
          <p:cNvSpPr/>
          <p:nvPr/>
        </p:nvSpPr>
        <p:spPr>
          <a:xfrm>
            <a:off x="4800600" y="1325880"/>
            <a:ext cx="38404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06060"/>
              </a:buClr>
              <a:buSzPts val="1300"/>
              <a:buFont typeface="Georgia"/>
              <a:buNone/>
            </a:pPr>
            <a:r>
              <a:rPr b="0" i="1" lang="en-US" sz="1300" u="none" cap="none" strike="noStrike">
                <a:solidFill>
                  <a:srgbClr val="606060"/>
                </a:solidFill>
                <a:latin typeface="Georgia"/>
                <a:ea typeface="Georgia"/>
                <a:cs typeface="Georgia"/>
                <a:sym typeface="Georgia"/>
              </a:rPr>
              <a:t>y is continuous</a:t>
            </a:r>
            <a:endParaRPr b="0" i="0" sz="1300" u="none" cap="none" strike="noStrike">
              <a:solidFill>
                <a:schemeClr val="dk1"/>
              </a:solidFill>
              <a:latin typeface="Calibri"/>
              <a:ea typeface="Calibri"/>
              <a:cs typeface="Calibri"/>
              <a:sym typeface="Calibri"/>
            </a:endParaRPr>
          </a:p>
        </p:txBody>
      </p:sp>
      <p:sp>
        <p:nvSpPr>
          <p:cNvPr id="63" name="Google Shape;63;p4"/>
          <p:cNvSpPr/>
          <p:nvPr/>
        </p:nvSpPr>
        <p:spPr>
          <a:xfrm>
            <a:off x="4800600" y="1691640"/>
            <a:ext cx="3840480" cy="237744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B2B2B"/>
              </a:buClr>
              <a:buSzPts val="1300"/>
              <a:buFont typeface="Georgia"/>
              <a:buChar char="■"/>
            </a:pPr>
            <a:r>
              <a:rPr b="0" i="0" lang="en-US" sz="1300" u="none" cap="none" strike="noStrike">
                <a:solidFill>
                  <a:srgbClr val="2B2B2B"/>
                </a:solidFill>
                <a:latin typeface="Georgia"/>
                <a:ea typeface="Georgia"/>
                <a:cs typeface="Georgia"/>
                <a:sym typeface="Georgia"/>
              </a:rPr>
              <a:t>Leaf prediction = mean (or median) of y in that region.</a:t>
            </a:r>
            <a:endParaRPr b="0" i="0" sz="1300" u="none" cap="none" strike="noStrike">
              <a:solidFill>
                <a:schemeClr val="dk1"/>
              </a:solidFill>
              <a:latin typeface="Calibri"/>
              <a:ea typeface="Calibri"/>
              <a:cs typeface="Calibri"/>
              <a:sym typeface="Calibri"/>
            </a:endParaRPr>
          </a:p>
          <a:p>
            <a:pPr indent="-342900" lvl="0" marL="342900" marR="0" rtl="0" algn="l">
              <a:spcBef>
                <a:spcPts val="700"/>
              </a:spcBef>
              <a:spcAft>
                <a:spcPts val="0"/>
              </a:spcAft>
              <a:buClr>
                <a:srgbClr val="2B2B2B"/>
              </a:buClr>
              <a:buSzPts val="1300"/>
              <a:buFont typeface="Georgia"/>
              <a:buChar char="■"/>
            </a:pPr>
            <a:r>
              <a:rPr b="0" i="0" lang="en-US" sz="1300" u="none" cap="none" strike="noStrike">
                <a:solidFill>
                  <a:srgbClr val="2B2B2B"/>
                </a:solidFill>
                <a:latin typeface="Georgia"/>
                <a:ea typeface="Georgia"/>
                <a:cs typeface="Georgia"/>
                <a:sym typeface="Georgia"/>
              </a:rPr>
              <a:t>Splits chosen to minimize squared-error within each region.</a:t>
            </a:r>
            <a:endParaRPr b="0" i="0" sz="1300" u="none" cap="none" strike="noStrike">
              <a:solidFill>
                <a:schemeClr val="dk1"/>
              </a:solidFill>
              <a:latin typeface="Calibri"/>
              <a:ea typeface="Calibri"/>
              <a:cs typeface="Calibri"/>
              <a:sym typeface="Calibri"/>
            </a:endParaRPr>
          </a:p>
          <a:p>
            <a:pPr indent="-342900" lvl="0" marL="342900" marR="0" rtl="0" algn="l">
              <a:spcBef>
                <a:spcPts val="700"/>
              </a:spcBef>
              <a:spcAft>
                <a:spcPts val="0"/>
              </a:spcAft>
              <a:buClr>
                <a:srgbClr val="2B2B2B"/>
              </a:buClr>
              <a:buSzPts val="1300"/>
              <a:buFont typeface="Georgia"/>
              <a:buChar char="■"/>
            </a:pPr>
            <a:r>
              <a:rPr b="0" i="0" lang="en-US" sz="1300" u="none" cap="none" strike="noStrike">
                <a:solidFill>
                  <a:srgbClr val="2B2B2B"/>
                </a:solidFill>
                <a:latin typeface="Georgia"/>
                <a:ea typeface="Georgia"/>
                <a:cs typeface="Georgia"/>
                <a:sym typeface="Georgia"/>
              </a:rPr>
              <a:t>Example: photometric redshift z from ugriz magnitudes.</a:t>
            </a:r>
            <a:endParaRPr b="0" i="0" sz="1300" u="none" cap="none" strike="noStrike">
              <a:solidFill>
                <a:schemeClr val="dk1"/>
              </a:solidFill>
              <a:latin typeface="Calibri"/>
              <a:ea typeface="Calibri"/>
              <a:cs typeface="Calibri"/>
              <a:sym typeface="Calibri"/>
            </a:endParaRPr>
          </a:p>
        </p:txBody>
      </p:sp>
      <p:sp>
        <p:nvSpPr>
          <p:cNvPr id="64" name="Google Shape;64;p4"/>
          <p:cNvSpPr/>
          <p:nvPr/>
        </p:nvSpPr>
        <p:spPr>
          <a:xfrm>
            <a:off x="457200" y="4343400"/>
            <a:ext cx="841248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2D26"/>
              </a:buClr>
              <a:buSzPts val="1250"/>
              <a:buFont typeface="Georgia"/>
              <a:buNone/>
            </a:pPr>
            <a:r>
              <a:rPr b="1" i="0" lang="en-US" sz="1250" u="none" cap="none" strike="noStrike">
                <a:solidFill>
                  <a:srgbClr val="7B2D26"/>
                </a:solidFill>
                <a:latin typeface="Georgia"/>
                <a:ea typeface="Georgia"/>
                <a:cs typeface="Georgia"/>
                <a:sym typeface="Georgia"/>
              </a:rPr>
              <a:t>Same algorithm, different leaf values.  </a:t>
            </a:r>
            <a:r>
              <a:rPr b="0" i="0" lang="en-US" sz="1250" u="none" cap="none" strike="noStrike">
                <a:solidFill>
                  <a:srgbClr val="2B2B2B"/>
                </a:solidFill>
                <a:latin typeface="Georgia"/>
                <a:ea typeface="Georgia"/>
                <a:cs typeface="Georgia"/>
                <a:sym typeface="Georgia"/>
              </a:rPr>
              <a:t>We start with the regression case because the objective is simpler to write down.</a:t>
            </a:r>
            <a:endParaRPr b="0" i="0" sz="1250" u="none" cap="none" strike="noStrike">
              <a:solidFill>
                <a:schemeClr val="dk1"/>
              </a:solidFill>
              <a:latin typeface="Calibri"/>
              <a:ea typeface="Calibri"/>
              <a:cs typeface="Calibri"/>
              <a:sym typeface="Calibri"/>
            </a:endParaRPr>
          </a:p>
        </p:txBody>
      </p:sp>
      <p:sp>
        <p:nvSpPr>
          <p:cNvPr id="65" name="Google Shape;65;p4"/>
          <p:cNvSpPr/>
          <p:nvPr/>
        </p:nvSpPr>
        <p:spPr>
          <a:xfrm>
            <a:off x="2743200" y="4663440"/>
            <a:ext cx="36576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B2B2B"/>
              </a:buClr>
              <a:buSzPts val="1200"/>
              <a:buFont typeface="Georgia"/>
              <a:buNone/>
            </a:pPr>
            <a:r>
              <a:rPr b="1" i="0" lang="en-US" sz="1200" u="none" cap="none" strike="noStrike">
                <a:solidFill>
                  <a:srgbClr val="2B2B2B"/>
                </a:solidFill>
                <a:latin typeface="Georgia"/>
                <a:ea typeface="Georgia"/>
                <a:cs typeface="Georgia"/>
                <a:sym typeface="Georgia"/>
              </a:rPr>
              <a:t>CosmicAI Summer School</a:t>
            </a:r>
            <a:endParaRPr b="0" i="0" sz="1200" u="none" cap="none" strike="noStrike">
              <a:solidFill>
                <a:schemeClr val="dk1"/>
              </a:solidFill>
              <a:latin typeface="Calibri"/>
              <a:ea typeface="Calibri"/>
              <a:cs typeface="Calibri"/>
              <a:sym typeface="Calibri"/>
            </a:endParaRPr>
          </a:p>
        </p:txBody>
      </p:sp>
      <p:sp>
        <p:nvSpPr>
          <p:cNvPr id="66" name="Google Shape;66;p4"/>
          <p:cNvSpPr/>
          <p:nvPr/>
        </p:nvSpPr>
        <p:spPr>
          <a:xfrm>
            <a:off x="8275320" y="4754880"/>
            <a:ext cx="6858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06060"/>
              </a:buClr>
              <a:buSzPts val="1200"/>
              <a:buFont typeface="Georgia"/>
              <a:buNone/>
            </a:pPr>
            <a:r>
              <a:rPr b="0" i="0" lang="en-US" sz="1200" u="none" cap="none" strike="noStrike">
                <a:solidFill>
                  <a:srgbClr val="606060"/>
                </a:solidFill>
                <a:latin typeface="Georgia"/>
                <a:ea typeface="Georgia"/>
                <a:cs typeface="Georgia"/>
                <a:sym typeface="Georgia"/>
              </a:rPr>
              <a:t>4</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1" name="Shape 71"/>
        <p:cNvGrpSpPr/>
        <p:nvPr/>
      </p:nvGrpSpPr>
      <p:grpSpPr>
        <a:xfrm>
          <a:off x="0" y="0"/>
          <a:ext cx="0" cy="0"/>
          <a:chOff x="0" y="0"/>
          <a:chExt cx="0" cy="0"/>
        </a:xfrm>
      </p:grpSpPr>
      <p:sp>
        <p:nvSpPr>
          <p:cNvPr id="72" name="Google Shape;72;p5"/>
          <p:cNvSpPr/>
          <p:nvPr/>
        </p:nvSpPr>
        <p:spPr>
          <a:xfrm>
            <a:off x="274320" y="137160"/>
            <a:ext cx="859536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B2D26"/>
              </a:buClr>
              <a:buSzPts val="2800"/>
              <a:buFont typeface="Georgia"/>
              <a:buNone/>
            </a:pPr>
            <a:r>
              <a:rPr b="0" i="0" lang="en-US" sz="2800" u="none" cap="none" strike="noStrike">
                <a:solidFill>
                  <a:srgbClr val="7B2D26"/>
                </a:solidFill>
                <a:latin typeface="Georgia"/>
                <a:ea typeface="Georgia"/>
                <a:cs typeface="Georgia"/>
                <a:sym typeface="Georgia"/>
              </a:rPr>
              <a:t>Regression Trees — Partitioning Feature Space</a:t>
            </a:r>
            <a:endParaRPr b="0" i="0" sz="2800" u="none" cap="none" strike="noStrike">
              <a:solidFill>
                <a:schemeClr val="dk1"/>
              </a:solidFill>
              <a:latin typeface="Calibri"/>
              <a:ea typeface="Calibri"/>
              <a:cs typeface="Calibri"/>
              <a:sym typeface="Calibri"/>
            </a:endParaRPr>
          </a:p>
        </p:txBody>
      </p:sp>
      <p:cxnSp>
        <p:nvCxnSpPr>
          <p:cNvPr id="73" name="Google Shape;73;p5"/>
          <p:cNvCxnSpPr/>
          <p:nvPr/>
        </p:nvCxnSpPr>
        <p:spPr>
          <a:xfrm>
            <a:off x="365760" y="777240"/>
            <a:ext cx="8412480" cy="0"/>
          </a:xfrm>
          <a:prstGeom prst="straightConnector1">
            <a:avLst/>
          </a:prstGeom>
          <a:noFill/>
          <a:ln cap="flat" cmpd="sng" w="15875">
            <a:solidFill>
              <a:srgbClr val="B0B0B0"/>
            </a:solidFill>
            <a:prstDash val="solid"/>
            <a:round/>
            <a:headEnd len="sm" w="sm" type="none"/>
            <a:tailEnd len="sm" w="sm" type="none"/>
          </a:ln>
        </p:spPr>
      </p:cxnSp>
      <p:sp>
        <p:nvSpPr>
          <p:cNvPr id="74" name="Google Shape;74;p5"/>
          <p:cNvSpPr/>
          <p:nvPr/>
        </p:nvSpPr>
        <p:spPr>
          <a:xfrm>
            <a:off x="302300" y="1156700"/>
            <a:ext cx="4206300" cy="2469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B2B2B"/>
              </a:buClr>
              <a:buSzPts val="1350"/>
              <a:buFont typeface="Georgia"/>
              <a:buNone/>
            </a:pPr>
            <a:r>
              <a:rPr b="0" i="0" lang="en-US" sz="1350" u="none" cap="none" strike="noStrike">
                <a:solidFill>
                  <a:srgbClr val="2B2B2B"/>
                </a:solidFill>
                <a:latin typeface="Georgia"/>
                <a:ea typeface="Georgia"/>
                <a:cs typeface="Georgia"/>
                <a:sym typeface="Georgia"/>
              </a:rPr>
              <a:t>1.  Partition the feature space into </a:t>
            </a:r>
            <a:r>
              <a:rPr b="1" i="1" lang="en-US" sz="1350" u="none" cap="none" strike="noStrike">
                <a:solidFill>
                  <a:srgbClr val="2B2B2B"/>
                </a:solidFill>
                <a:latin typeface="Georgia"/>
                <a:ea typeface="Georgia"/>
                <a:cs typeface="Georgia"/>
                <a:sym typeface="Georgia"/>
              </a:rPr>
              <a:t>J </a:t>
            </a:r>
            <a:r>
              <a:rPr b="0" i="0" lang="en-US" sz="1350" u="none" cap="none" strike="noStrike">
                <a:solidFill>
                  <a:srgbClr val="2B2B2B"/>
                </a:solidFill>
                <a:latin typeface="Georgia"/>
                <a:ea typeface="Georgia"/>
                <a:cs typeface="Georgia"/>
                <a:sym typeface="Georgia"/>
              </a:rPr>
              <a:t>distinct, non-overlapping regions  R₁, R₂, …, R_J.</a:t>
            </a:r>
            <a:endParaRPr b="0" i="0" sz="1350" u="none" cap="none" strike="noStrike">
              <a:solidFill>
                <a:schemeClr val="dk1"/>
              </a:solidFill>
              <a:latin typeface="Calibri"/>
              <a:ea typeface="Calibri"/>
              <a:cs typeface="Calibri"/>
              <a:sym typeface="Calibri"/>
            </a:endParaRPr>
          </a:p>
          <a:p>
            <a:pPr indent="0" lvl="0" marL="0" marR="0" rtl="0" algn="l">
              <a:spcBef>
                <a:spcPts val="700"/>
              </a:spcBef>
              <a:spcAft>
                <a:spcPts val="0"/>
              </a:spcAft>
              <a:buClr>
                <a:srgbClr val="2B2B2B"/>
              </a:buClr>
              <a:buSzPts val="1350"/>
              <a:buFont typeface="Georgia"/>
              <a:buNone/>
            </a:pPr>
            <a:r>
              <a:rPr b="0" i="0" lang="en-US" sz="1350" u="none" cap="none" strike="noStrike">
                <a:solidFill>
                  <a:srgbClr val="2B2B2B"/>
                </a:solidFill>
                <a:latin typeface="Georgia"/>
                <a:ea typeface="Georgia"/>
                <a:cs typeface="Georgia"/>
                <a:sym typeface="Georgia"/>
              </a:rPr>
              <a:t>2.  In each region, predict the </a:t>
            </a:r>
            <a:r>
              <a:rPr b="1" i="0" lang="en-US" sz="1350" u="none" cap="none" strike="noStrike">
                <a:solidFill>
                  <a:srgbClr val="2B2B2B"/>
                </a:solidFill>
                <a:latin typeface="Georgia"/>
                <a:ea typeface="Georgia"/>
                <a:cs typeface="Georgia"/>
                <a:sym typeface="Georgia"/>
              </a:rPr>
              <a:t>mean </a:t>
            </a:r>
            <a:r>
              <a:rPr b="0" i="0" lang="en-US" sz="1350" u="none" cap="none" strike="noStrike">
                <a:solidFill>
                  <a:srgbClr val="2B2B2B"/>
                </a:solidFill>
                <a:latin typeface="Georgia"/>
                <a:ea typeface="Georgia"/>
                <a:cs typeface="Georgia"/>
                <a:sym typeface="Georgia"/>
              </a:rPr>
              <a:t>of the training responses that fall there.</a:t>
            </a:r>
            <a:endParaRPr b="0" i="0" sz="1350" u="none" cap="none" strike="noStrike">
              <a:solidFill>
                <a:schemeClr val="dk1"/>
              </a:solidFill>
              <a:latin typeface="Calibri"/>
              <a:ea typeface="Calibri"/>
              <a:cs typeface="Calibri"/>
              <a:sym typeface="Calibri"/>
            </a:endParaRPr>
          </a:p>
          <a:p>
            <a:pPr indent="0" lvl="0" marL="0" marR="0" rtl="0" algn="l">
              <a:spcBef>
                <a:spcPts val="700"/>
              </a:spcBef>
              <a:spcAft>
                <a:spcPts val="0"/>
              </a:spcAft>
              <a:buClr>
                <a:srgbClr val="2B2B2B"/>
              </a:buClr>
              <a:buSzPts val="1350"/>
              <a:buFont typeface="Georgia"/>
              <a:buNone/>
            </a:pPr>
            <a:r>
              <a:rPr b="0" i="0" lang="en-US" sz="1350" u="none" cap="none" strike="noStrike">
                <a:solidFill>
                  <a:srgbClr val="2B2B2B"/>
                </a:solidFill>
                <a:latin typeface="Georgia"/>
                <a:ea typeface="Georgia"/>
                <a:cs typeface="Georgia"/>
                <a:sym typeface="Georgia"/>
              </a:rPr>
              <a:t>3.  For simplicity choose </a:t>
            </a:r>
            <a:r>
              <a:rPr b="1" i="0" lang="en-US" sz="1350" u="none" cap="none" strike="noStrike">
                <a:solidFill>
                  <a:srgbClr val="2B2B2B"/>
                </a:solidFill>
                <a:latin typeface="Georgia"/>
                <a:ea typeface="Georgia"/>
                <a:cs typeface="Georgia"/>
                <a:sym typeface="Georgia"/>
              </a:rPr>
              <a:t>rectangular </a:t>
            </a:r>
            <a:r>
              <a:rPr b="0" i="0" lang="en-US" sz="1350" u="none" cap="none" strike="noStrike">
                <a:solidFill>
                  <a:srgbClr val="2B2B2B"/>
                </a:solidFill>
                <a:latin typeface="Georgia"/>
                <a:ea typeface="Georgia"/>
                <a:cs typeface="Georgia"/>
                <a:sym typeface="Georgia"/>
              </a:rPr>
              <a:t>regions (axis-aligned splits).</a:t>
            </a:r>
            <a:endParaRPr b="0" i="0" sz="1350" u="none" cap="none" strike="noStrike">
              <a:solidFill>
                <a:schemeClr val="dk1"/>
              </a:solidFill>
              <a:latin typeface="Calibri"/>
              <a:ea typeface="Calibri"/>
              <a:cs typeface="Calibri"/>
              <a:sym typeface="Calibri"/>
            </a:endParaRPr>
          </a:p>
          <a:p>
            <a:pPr indent="0" lvl="0" marL="0" marR="0" rtl="0" algn="l">
              <a:spcBef>
                <a:spcPts val="700"/>
              </a:spcBef>
              <a:spcAft>
                <a:spcPts val="0"/>
              </a:spcAft>
              <a:buClr>
                <a:srgbClr val="2B2B2B"/>
              </a:buClr>
              <a:buSzPts val="1350"/>
              <a:buFont typeface="Georgia"/>
              <a:buNone/>
            </a:pPr>
            <a:r>
              <a:rPr b="0" i="0" lang="en-US" sz="1350" u="none" cap="none" strike="noStrike">
                <a:solidFill>
                  <a:srgbClr val="2B2B2B"/>
                </a:solidFill>
                <a:latin typeface="Georgia"/>
                <a:ea typeface="Georgia"/>
                <a:cs typeface="Georgia"/>
                <a:sym typeface="Georgia"/>
              </a:rPr>
              <a:t>4.  Pick the splits to </a:t>
            </a:r>
            <a:r>
              <a:rPr b="1" i="0" lang="en-US" sz="1350" u="none" cap="none" strike="noStrike">
                <a:solidFill>
                  <a:srgbClr val="2B2B2B"/>
                </a:solidFill>
                <a:latin typeface="Georgia"/>
                <a:ea typeface="Georgia"/>
                <a:cs typeface="Georgia"/>
                <a:sym typeface="Georgia"/>
              </a:rPr>
              <a:t>minimize mean-square-error </a:t>
            </a:r>
            <a:r>
              <a:rPr b="0" i="0" lang="en-US" sz="1350" u="none" cap="none" strike="noStrike">
                <a:solidFill>
                  <a:srgbClr val="2B2B2B"/>
                </a:solidFill>
                <a:latin typeface="Georgia"/>
                <a:ea typeface="Georgia"/>
                <a:cs typeface="Georgia"/>
                <a:sym typeface="Georgia"/>
              </a:rPr>
              <a:t>inside every region.</a:t>
            </a:r>
            <a:endParaRPr b="0" i="0" sz="1350" u="none" cap="none" strike="noStrike">
              <a:solidFill>
                <a:schemeClr val="dk1"/>
              </a:solidFill>
              <a:latin typeface="Calibri"/>
              <a:ea typeface="Calibri"/>
              <a:cs typeface="Calibri"/>
              <a:sym typeface="Calibri"/>
            </a:endParaRPr>
          </a:p>
        </p:txBody>
      </p:sp>
      <p:pic>
        <p:nvPicPr>
          <p:cNvPr descr="/sessions/sleepy-friendly-euler/mnt/outputs/figs/fig_tree_partition.png" id="75" name="Google Shape;75;p5"/>
          <p:cNvPicPr preferRelativeResize="0"/>
          <p:nvPr/>
        </p:nvPicPr>
        <p:blipFill rotWithShape="1">
          <a:blip r:embed="rId3">
            <a:alphaModFix/>
          </a:blip>
          <a:srcRect b="0" l="0" r="0" t="0"/>
          <a:stretch/>
        </p:blipFill>
        <p:spPr>
          <a:xfrm>
            <a:off x="4691330" y="1293925"/>
            <a:ext cx="4297679" cy="2194559"/>
          </a:xfrm>
          <a:prstGeom prst="rect">
            <a:avLst/>
          </a:prstGeom>
          <a:noFill/>
          <a:ln>
            <a:noFill/>
          </a:ln>
        </p:spPr>
      </p:pic>
      <p:sp>
        <p:nvSpPr>
          <p:cNvPr id="76" name="Google Shape;76;p5"/>
          <p:cNvSpPr/>
          <p:nvPr/>
        </p:nvSpPr>
        <p:spPr>
          <a:xfrm>
            <a:off x="2743200" y="4663440"/>
            <a:ext cx="36576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B2B2B"/>
              </a:buClr>
              <a:buSzPts val="1200"/>
              <a:buFont typeface="Georgia"/>
              <a:buNone/>
            </a:pPr>
            <a:r>
              <a:rPr b="1" i="0" lang="en-US" sz="1200" u="none" cap="none" strike="noStrike">
                <a:solidFill>
                  <a:srgbClr val="2B2B2B"/>
                </a:solidFill>
                <a:latin typeface="Georgia"/>
                <a:ea typeface="Georgia"/>
                <a:cs typeface="Georgia"/>
                <a:sym typeface="Georgia"/>
              </a:rPr>
              <a:t>CosmicAI Summer School</a:t>
            </a:r>
            <a:endParaRPr b="0" i="0" sz="1200" u="none" cap="none" strike="noStrike">
              <a:solidFill>
                <a:schemeClr val="dk1"/>
              </a:solidFill>
              <a:latin typeface="Calibri"/>
              <a:ea typeface="Calibri"/>
              <a:cs typeface="Calibri"/>
              <a:sym typeface="Calibri"/>
            </a:endParaRPr>
          </a:p>
        </p:txBody>
      </p:sp>
      <p:sp>
        <p:nvSpPr>
          <p:cNvPr id="77" name="Google Shape;77;p5"/>
          <p:cNvSpPr/>
          <p:nvPr/>
        </p:nvSpPr>
        <p:spPr>
          <a:xfrm>
            <a:off x="8275320" y="4754880"/>
            <a:ext cx="6858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06060"/>
              </a:buClr>
              <a:buSzPts val="1200"/>
              <a:buFont typeface="Georgia"/>
              <a:buNone/>
            </a:pPr>
            <a:r>
              <a:rPr b="0" i="0" lang="en-US" sz="1200" u="none" cap="none" strike="noStrike">
                <a:solidFill>
                  <a:srgbClr val="606060"/>
                </a:solidFill>
                <a:latin typeface="Georgia"/>
                <a:ea typeface="Georgia"/>
                <a:cs typeface="Georgia"/>
                <a:sym typeface="Georgia"/>
              </a:rPr>
              <a:t>5</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2" name="Shape 82"/>
        <p:cNvGrpSpPr/>
        <p:nvPr/>
      </p:nvGrpSpPr>
      <p:grpSpPr>
        <a:xfrm>
          <a:off x="0" y="0"/>
          <a:ext cx="0" cy="0"/>
          <a:chOff x="0" y="0"/>
          <a:chExt cx="0" cy="0"/>
        </a:xfrm>
      </p:grpSpPr>
      <p:sp>
        <p:nvSpPr>
          <p:cNvPr id="83" name="Google Shape;83;p6"/>
          <p:cNvSpPr/>
          <p:nvPr/>
        </p:nvSpPr>
        <p:spPr>
          <a:xfrm>
            <a:off x="274320" y="137160"/>
            <a:ext cx="859536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B2D26"/>
              </a:buClr>
              <a:buSzPts val="3000"/>
              <a:buFont typeface="Georgia"/>
              <a:buNone/>
            </a:pPr>
            <a:r>
              <a:rPr b="0" i="0" lang="en-US" sz="3000" u="none" cap="none" strike="noStrike">
                <a:solidFill>
                  <a:srgbClr val="7B2D26"/>
                </a:solidFill>
                <a:latin typeface="Georgia"/>
                <a:ea typeface="Georgia"/>
                <a:cs typeface="Georgia"/>
                <a:sym typeface="Georgia"/>
              </a:rPr>
              <a:t>Recursive Binary Splitting</a:t>
            </a:r>
            <a:endParaRPr b="0" i="0" sz="3000" u="none" cap="none" strike="noStrike">
              <a:solidFill>
                <a:schemeClr val="dk1"/>
              </a:solidFill>
              <a:latin typeface="Calibri"/>
              <a:ea typeface="Calibri"/>
              <a:cs typeface="Calibri"/>
              <a:sym typeface="Calibri"/>
            </a:endParaRPr>
          </a:p>
        </p:txBody>
      </p:sp>
      <p:cxnSp>
        <p:nvCxnSpPr>
          <p:cNvPr id="84" name="Google Shape;84;p6"/>
          <p:cNvCxnSpPr/>
          <p:nvPr/>
        </p:nvCxnSpPr>
        <p:spPr>
          <a:xfrm>
            <a:off x="365760" y="777240"/>
            <a:ext cx="8412480" cy="0"/>
          </a:xfrm>
          <a:prstGeom prst="straightConnector1">
            <a:avLst/>
          </a:prstGeom>
          <a:noFill/>
          <a:ln cap="flat" cmpd="sng" w="15875">
            <a:solidFill>
              <a:srgbClr val="B0B0B0"/>
            </a:solidFill>
            <a:prstDash val="solid"/>
            <a:round/>
            <a:headEnd len="sm" w="sm" type="none"/>
            <a:tailEnd len="sm" w="sm" type="none"/>
          </a:ln>
        </p:spPr>
      </p:cxnSp>
      <p:pic>
        <p:nvPicPr>
          <p:cNvPr descr="/sessions/sleepy-friendly-euler/mnt/outputs/figs/fig_recursive_splits.png" id="85" name="Google Shape;85;p6"/>
          <p:cNvPicPr preferRelativeResize="0"/>
          <p:nvPr/>
        </p:nvPicPr>
        <p:blipFill rotWithShape="1">
          <a:blip r:embed="rId3">
            <a:alphaModFix/>
          </a:blip>
          <a:srcRect b="0" l="0" r="0" t="0"/>
          <a:stretch/>
        </p:blipFill>
        <p:spPr>
          <a:xfrm>
            <a:off x="365760" y="868680"/>
            <a:ext cx="8412480" cy="2286000"/>
          </a:xfrm>
          <a:prstGeom prst="rect">
            <a:avLst/>
          </a:prstGeom>
          <a:noFill/>
          <a:ln>
            <a:noFill/>
          </a:ln>
        </p:spPr>
      </p:pic>
      <p:sp>
        <p:nvSpPr>
          <p:cNvPr id="86" name="Google Shape;86;p6"/>
          <p:cNvSpPr/>
          <p:nvPr/>
        </p:nvSpPr>
        <p:spPr>
          <a:xfrm>
            <a:off x="365760" y="3291840"/>
            <a:ext cx="2743200" cy="1234440"/>
          </a:xfrm>
          <a:prstGeom prst="rect">
            <a:avLst/>
          </a:prstGeom>
          <a:solidFill>
            <a:srgbClr val="F4ECE9"/>
          </a:solidFill>
          <a:ln cap="flat" cmpd="sng" w="9525">
            <a:solidFill>
              <a:srgbClr val="7B2D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6"/>
          <p:cNvSpPr/>
          <p:nvPr/>
        </p:nvSpPr>
        <p:spPr>
          <a:xfrm>
            <a:off x="502920" y="3337560"/>
            <a:ext cx="246888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B2D26"/>
              </a:buClr>
              <a:buSzPts val="1400"/>
              <a:buFont typeface="Georgia"/>
              <a:buNone/>
            </a:pPr>
            <a:r>
              <a:rPr b="1" i="0" lang="en-US" sz="1400" u="none" cap="none" strike="noStrike">
                <a:solidFill>
                  <a:srgbClr val="7B2D26"/>
                </a:solidFill>
                <a:latin typeface="Georgia"/>
                <a:ea typeface="Georgia"/>
                <a:cs typeface="Georgia"/>
                <a:sym typeface="Georgia"/>
              </a:rPr>
              <a:t>Top-down</a:t>
            </a:r>
            <a:endParaRPr b="0" i="0" sz="1400" u="none" cap="none" strike="noStrike">
              <a:solidFill>
                <a:schemeClr val="dk1"/>
              </a:solidFill>
              <a:latin typeface="Calibri"/>
              <a:ea typeface="Calibri"/>
              <a:cs typeface="Calibri"/>
              <a:sym typeface="Calibri"/>
            </a:endParaRPr>
          </a:p>
        </p:txBody>
      </p:sp>
      <p:sp>
        <p:nvSpPr>
          <p:cNvPr id="88" name="Google Shape;88;p6"/>
          <p:cNvSpPr/>
          <p:nvPr/>
        </p:nvSpPr>
        <p:spPr>
          <a:xfrm>
            <a:off x="502920" y="3657600"/>
            <a:ext cx="2468880" cy="8229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2B2B2B"/>
              </a:buClr>
              <a:buSzPts val="1200"/>
              <a:buFont typeface="Georgia"/>
              <a:buNone/>
            </a:pPr>
            <a:r>
              <a:rPr b="0" i="0" lang="en-US" sz="1200" u="none" cap="none" strike="noStrike">
                <a:solidFill>
                  <a:srgbClr val="2B2B2B"/>
                </a:solidFill>
                <a:latin typeface="Georgia"/>
                <a:ea typeface="Georgia"/>
                <a:cs typeface="Georgia"/>
                <a:sym typeface="Georgia"/>
              </a:rPr>
              <a:t>Start at the root with all data, then split into smaller regions step by step.</a:t>
            </a:r>
            <a:endParaRPr b="0" i="0" sz="1200" u="none" cap="none" strike="noStrike">
              <a:solidFill>
                <a:schemeClr val="dk1"/>
              </a:solidFill>
              <a:latin typeface="Calibri"/>
              <a:ea typeface="Calibri"/>
              <a:cs typeface="Calibri"/>
              <a:sym typeface="Calibri"/>
            </a:endParaRPr>
          </a:p>
        </p:txBody>
      </p:sp>
      <p:sp>
        <p:nvSpPr>
          <p:cNvPr id="89" name="Google Shape;89;p6"/>
          <p:cNvSpPr/>
          <p:nvPr/>
        </p:nvSpPr>
        <p:spPr>
          <a:xfrm>
            <a:off x="3246120" y="3291840"/>
            <a:ext cx="2743200" cy="1234440"/>
          </a:xfrm>
          <a:prstGeom prst="rect">
            <a:avLst/>
          </a:prstGeom>
          <a:solidFill>
            <a:srgbClr val="F4ECE9"/>
          </a:solidFill>
          <a:ln cap="flat" cmpd="sng" w="9525">
            <a:solidFill>
              <a:srgbClr val="7B2D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6"/>
          <p:cNvSpPr/>
          <p:nvPr/>
        </p:nvSpPr>
        <p:spPr>
          <a:xfrm>
            <a:off x="3383280" y="3337560"/>
            <a:ext cx="246888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B2D26"/>
              </a:buClr>
              <a:buSzPts val="1400"/>
              <a:buFont typeface="Georgia"/>
              <a:buNone/>
            </a:pPr>
            <a:r>
              <a:rPr b="1" i="0" lang="en-US" sz="1400" u="none" cap="none" strike="noStrike">
                <a:solidFill>
                  <a:srgbClr val="7B2D26"/>
                </a:solidFill>
                <a:latin typeface="Georgia"/>
                <a:ea typeface="Georgia"/>
                <a:cs typeface="Georgia"/>
                <a:sym typeface="Georgia"/>
              </a:rPr>
              <a:t>Recursive</a:t>
            </a:r>
            <a:endParaRPr b="0" i="0" sz="1400" u="none" cap="none" strike="noStrike">
              <a:solidFill>
                <a:schemeClr val="dk1"/>
              </a:solidFill>
              <a:latin typeface="Calibri"/>
              <a:ea typeface="Calibri"/>
              <a:cs typeface="Calibri"/>
              <a:sym typeface="Calibri"/>
            </a:endParaRPr>
          </a:p>
        </p:txBody>
      </p:sp>
      <p:sp>
        <p:nvSpPr>
          <p:cNvPr id="91" name="Google Shape;91;p6"/>
          <p:cNvSpPr/>
          <p:nvPr/>
        </p:nvSpPr>
        <p:spPr>
          <a:xfrm>
            <a:off x="3383280" y="3657600"/>
            <a:ext cx="2468880" cy="8229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2B2B2B"/>
              </a:buClr>
              <a:buSzPts val="1200"/>
              <a:buFont typeface="Georgia"/>
              <a:buNone/>
            </a:pPr>
            <a:r>
              <a:rPr b="0" i="0" lang="en-US" sz="1200" u="none" cap="none" strike="noStrike">
                <a:solidFill>
                  <a:srgbClr val="2B2B2B"/>
                </a:solidFill>
                <a:latin typeface="Georgia"/>
                <a:ea typeface="Georgia"/>
                <a:cs typeface="Georgia"/>
                <a:sym typeface="Georgia"/>
              </a:rPr>
              <a:t>Each split creates two children, and the same procedure runs on each child.</a:t>
            </a:r>
            <a:endParaRPr b="0" i="0" sz="1200" u="none" cap="none" strike="noStrike">
              <a:solidFill>
                <a:schemeClr val="dk1"/>
              </a:solidFill>
              <a:latin typeface="Calibri"/>
              <a:ea typeface="Calibri"/>
              <a:cs typeface="Calibri"/>
              <a:sym typeface="Calibri"/>
            </a:endParaRPr>
          </a:p>
        </p:txBody>
      </p:sp>
      <p:sp>
        <p:nvSpPr>
          <p:cNvPr id="92" name="Google Shape;92;p6"/>
          <p:cNvSpPr/>
          <p:nvPr/>
        </p:nvSpPr>
        <p:spPr>
          <a:xfrm>
            <a:off x="6126480" y="3291840"/>
            <a:ext cx="2743200" cy="1234440"/>
          </a:xfrm>
          <a:prstGeom prst="rect">
            <a:avLst/>
          </a:prstGeom>
          <a:solidFill>
            <a:srgbClr val="F4ECE9"/>
          </a:solidFill>
          <a:ln cap="flat" cmpd="sng" w="9525">
            <a:solidFill>
              <a:srgbClr val="7B2D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6"/>
          <p:cNvSpPr/>
          <p:nvPr/>
        </p:nvSpPr>
        <p:spPr>
          <a:xfrm>
            <a:off x="6263640" y="3337560"/>
            <a:ext cx="246888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B2D26"/>
              </a:buClr>
              <a:buSzPts val="1400"/>
              <a:buFont typeface="Georgia"/>
              <a:buNone/>
            </a:pPr>
            <a:r>
              <a:rPr b="1" i="0" lang="en-US" sz="1400" u="none" cap="none" strike="noStrike">
                <a:solidFill>
                  <a:srgbClr val="7B2D26"/>
                </a:solidFill>
                <a:latin typeface="Georgia"/>
                <a:ea typeface="Georgia"/>
                <a:cs typeface="Georgia"/>
                <a:sym typeface="Georgia"/>
              </a:rPr>
              <a:t>Greedy</a:t>
            </a:r>
            <a:endParaRPr b="0" i="0" sz="1400" u="none" cap="none" strike="noStrike">
              <a:solidFill>
                <a:schemeClr val="dk1"/>
              </a:solidFill>
              <a:latin typeface="Calibri"/>
              <a:ea typeface="Calibri"/>
              <a:cs typeface="Calibri"/>
              <a:sym typeface="Calibri"/>
            </a:endParaRPr>
          </a:p>
        </p:txBody>
      </p:sp>
      <p:sp>
        <p:nvSpPr>
          <p:cNvPr id="94" name="Google Shape;94;p6"/>
          <p:cNvSpPr/>
          <p:nvPr/>
        </p:nvSpPr>
        <p:spPr>
          <a:xfrm>
            <a:off x="6263640" y="3657600"/>
            <a:ext cx="2468880" cy="8229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2B2B2B"/>
              </a:buClr>
              <a:buSzPts val="1200"/>
              <a:buFont typeface="Georgia"/>
              <a:buNone/>
            </a:pPr>
            <a:r>
              <a:rPr b="0" i="0" lang="en-US" sz="1200" u="none" cap="none" strike="noStrike">
                <a:solidFill>
                  <a:srgbClr val="2B2B2B"/>
                </a:solidFill>
                <a:latin typeface="Georgia"/>
                <a:ea typeface="Georgia"/>
                <a:cs typeface="Georgia"/>
                <a:sym typeface="Georgia"/>
              </a:rPr>
              <a:t>Pick the locally best split at every step. Don't search ahead — practical, but suboptimal.</a:t>
            </a:r>
            <a:endParaRPr b="0" i="0" sz="1200" u="none" cap="none" strike="noStrike">
              <a:solidFill>
                <a:schemeClr val="dk1"/>
              </a:solidFill>
              <a:latin typeface="Calibri"/>
              <a:ea typeface="Calibri"/>
              <a:cs typeface="Calibri"/>
              <a:sym typeface="Calibri"/>
            </a:endParaRPr>
          </a:p>
        </p:txBody>
      </p:sp>
      <p:sp>
        <p:nvSpPr>
          <p:cNvPr id="95" name="Google Shape;95;p6"/>
          <p:cNvSpPr/>
          <p:nvPr/>
        </p:nvSpPr>
        <p:spPr>
          <a:xfrm>
            <a:off x="2743200" y="4663440"/>
            <a:ext cx="36576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B2B2B"/>
              </a:buClr>
              <a:buSzPts val="1200"/>
              <a:buFont typeface="Georgia"/>
              <a:buNone/>
            </a:pPr>
            <a:r>
              <a:rPr b="1" i="0" lang="en-US" sz="1200" u="none" cap="none" strike="noStrike">
                <a:solidFill>
                  <a:srgbClr val="2B2B2B"/>
                </a:solidFill>
                <a:latin typeface="Georgia"/>
                <a:ea typeface="Georgia"/>
                <a:cs typeface="Georgia"/>
                <a:sym typeface="Georgia"/>
              </a:rPr>
              <a:t>CosmicAI Summer School</a:t>
            </a:r>
            <a:endParaRPr b="0" i="0" sz="1200" u="none" cap="none" strike="noStrike">
              <a:solidFill>
                <a:schemeClr val="dk1"/>
              </a:solidFill>
              <a:latin typeface="Calibri"/>
              <a:ea typeface="Calibri"/>
              <a:cs typeface="Calibri"/>
              <a:sym typeface="Calibri"/>
            </a:endParaRPr>
          </a:p>
        </p:txBody>
      </p:sp>
      <p:sp>
        <p:nvSpPr>
          <p:cNvPr id="96" name="Google Shape;96;p6"/>
          <p:cNvSpPr/>
          <p:nvPr/>
        </p:nvSpPr>
        <p:spPr>
          <a:xfrm>
            <a:off x="8275320" y="4754880"/>
            <a:ext cx="6858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06060"/>
              </a:buClr>
              <a:buSzPts val="1200"/>
              <a:buFont typeface="Georgia"/>
              <a:buNone/>
            </a:pPr>
            <a:r>
              <a:rPr b="0" i="0" lang="en-US" sz="1200" u="none" cap="none" strike="noStrike">
                <a:solidFill>
                  <a:srgbClr val="606060"/>
                </a:solidFill>
                <a:latin typeface="Georgia"/>
                <a:ea typeface="Georgia"/>
                <a:cs typeface="Georgia"/>
                <a:sym typeface="Georgia"/>
              </a:rPr>
              <a:t>6</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1" name="Shape 101"/>
        <p:cNvGrpSpPr/>
        <p:nvPr/>
      </p:nvGrpSpPr>
      <p:grpSpPr>
        <a:xfrm>
          <a:off x="0" y="0"/>
          <a:ext cx="0" cy="0"/>
          <a:chOff x="0" y="0"/>
          <a:chExt cx="0" cy="0"/>
        </a:xfrm>
      </p:grpSpPr>
      <p:sp>
        <p:nvSpPr>
          <p:cNvPr id="102" name="Google Shape;102;p7"/>
          <p:cNvSpPr/>
          <p:nvPr/>
        </p:nvSpPr>
        <p:spPr>
          <a:xfrm>
            <a:off x="274320" y="137160"/>
            <a:ext cx="859536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B2D26"/>
              </a:buClr>
              <a:buSzPts val="3000"/>
              <a:buFont typeface="Georgia"/>
              <a:buNone/>
            </a:pPr>
            <a:r>
              <a:rPr b="0" i="0" lang="en-US" sz="3000" u="none" cap="none" strike="noStrike">
                <a:solidFill>
                  <a:srgbClr val="7B2D26"/>
                </a:solidFill>
                <a:latin typeface="Georgia"/>
                <a:ea typeface="Georgia"/>
                <a:cs typeface="Georgia"/>
                <a:sym typeface="Georgia"/>
              </a:rPr>
              <a:t>Splitting Criteria — Gini &amp; Entropy</a:t>
            </a:r>
            <a:endParaRPr b="0" i="0" sz="3000" u="none" cap="none" strike="noStrike">
              <a:solidFill>
                <a:schemeClr val="dk1"/>
              </a:solidFill>
              <a:latin typeface="Calibri"/>
              <a:ea typeface="Calibri"/>
              <a:cs typeface="Calibri"/>
              <a:sym typeface="Calibri"/>
            </a:endParaRPr>
          </a:p>
        </p:txBody>
      </p:sp>
      <p:cxnSp>
        <p:nvCxnSpPr>
          <p:cNvPr id="103" name="Google Shape;103;p7"/>
          <p:cNvCxnSpPr/>
          <p:nvPr/>
        </p:nvCxnSpPr>
        <p:spPr>
          <a:xfrm>
            <a:off x="365760" y="777240"/>
            <a:ext cx="8412480" cy="0"/>
          </a:xfrm>
          <a:prstGeom prst="straightConnector1">
            <a:avLst/>
          </a:prstGeom>
          <a:noFill/>
          <a:ln cap="flat" cmpd="sng" w="15875">
            <a:solidFill>
              <a:srgbClr val="B0B0B0"/>
            </a:solidFill>
            <a:prstDash val="solid"/>
            <a:round/>
            <a:headEnd len="sm" w="sm" type="none"/>
            <a:tailEnd len="sm" w="sm" type="none"/>
          </a:ln>
        </p:spPr>
      </p:cxnSp>
      <p:sp>
        <p:nvSpPr>
          <p:cNvPr id="104" name="Google Shape;104;p7"/>
          <p:cNvSpPr/>
          <p:nvPr/>
        </p:nvSpPr>
        <p:spPr>
          <a:xfrm>
            <a:off x="457200" y="914400"/>
            <a:ext cx="841248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06060"/>
              </a:buClr>
              <a:buSzPts val="1350"/>
              <a:buFont typeface="Georgia"/>
              <a:buNone/>
            </a:pPr>
            <a:r>
              <a:rPr b="0" i="1" lang="en-US" sz="1350" u="none" cap="none" strike="noStrike">
                <a:solidFill>
                  <a:srgbClr val="606060"/>
                </a:solidFill>
                <a:latin typeface="Georgia"/>
                <a:ea typeface="Georgia"/>
                <a:cs typeface="Georgia"/>
                <a:sym typeface="Georgia"/>
              </a:rPr>
              <a:t>For classification, MSE no longer makes sense. We need a measure of node impurity.</a:t>
            </a:r>
            <a:endParaRPr b="0" i="0" sz="1350" u="none" cap="none" strike="noStrike">
              <a:solidFill>
                <a:schemeClr val="dk1"/>
              </a:solidFill>
              <a:latin typeface="Calibri"/>
              <a:ea typeface="Calibri"/>
              <a:cs typeface="Calibri"/>
              <a:sym typeface="Calibri"/>
            </a:endParaRPr>
          </a:p>
        </p:txBody>
      </p:sp>
      <p:sp>
        <p:nvSpPr>
          <p:cNvPr id="105" name="Google Shape;105;p7"/>
          <p:cNvSpPr/>
          <p:nvPr/>
        </p:nvSpPr>
        <p:spPr>
          <a:xfrm>
            <a:off x="2468885" y="1351750"/>
            <a:ext cx="4206300" cy="1326000"/>
          </a:xfrm>
          <a:prstGeom prst="rect">
            <a:avLst/>
          </a:prstGeom>
          <a:solidFill>
            <a:srgbClr val="F4ECE9"/>
          </a:solidFill>
          <a:ln cap="flat" cmpd="sng" w="9525">
            <a:solidFill>
              <a:srgbClr val="7B2D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7"/>
          <p:cNvSpPr/>
          <p:nvPr/>
        </p:nvSpPr>
        <p:spPr>
          <a:xfrm>
            <a:off x="502920" y="1417320"/>
            <a:ext cx="393192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2D26"/>
              </a:buClr>
              <a:buSzPts val="1400"/>
              <a:buFont typeface="Georgia"/>
              <a:buNone/>
            </a:pPr>
            <a:r>
              <a:rPr b="1" i="0" lang="en-US" sz="1400" u="none" cap="none" strike="noStrike">
                <a:solidFill>
                  <a:srgbClr val="7B2D26"/>
                </a:solidFill>
                <a:latin typeface="Georgia"/>
                <a:ea typeface="Georgia"/>
                <a:cs typeface="Georgia"/>
                <a:sym typeface="Georgia"/>
              </a:rPr>
              <a:t>Gini impurity</a:t>
            </a:r>
            <a:endParaRPr b="0" i="0" sz="1400" u="none" cap="none" strike="noStrike">
              <a:solidFill>
                <a:schemeClr val="dk1"/>
              </a:solidFill>
              <a:latin typeface="Calibri"/>
              <a:ea typeface="Calibri"/>
              <a:cs typeface="Calibri"/>
              <a:sym typeface="Calibri"/>
            </a:endParaRPr>
          </a:p>
        </p:txBody>
      </p:sp>
      <p:sp>
        <p:nvSpPr>
          <p:cNvPr id="107" name="Google Shape;107;p7"/>
          <p:cNvSpPr/>
          <p:nvPr/>
        </p:nvSpPr>
        <p:spPr>
          <a:xfrm>
            <a:off x="2500745" y="1623072"/>
            <a:ext cx="3931800" cy="365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B2D26"/>
              </a:buClr>
              <a:buSzPts val="1600"/>
              <a:buFont typeface="Courier New"/>
              <a:buNone/>
            </a:pPr>
            <a:r>
              <a:rPr b="1" i="0" lang="en-US" sz="1600" u="none" cap="none" strike="noStrike">
                <a:solidFill>
                  <a:srgbClr val="7B2D26"/>
                </a:solidFill>
                <a:latin typeface="Courier New"/>
                <a:ea typeface="Courier New"/>
                <a:cs typeface="Courier New"/>
                <a:sym typeface="Courier New"/>
              </a:rPr>
              <a:t>G  =  1  −  Σ_k  p_k²</a:t>
            </a:r>
            <a:endParaRPr b="0" i="0" sz="1600" u="none" cap="none" strike="noStrike">
              <a:solidFill>
                <a:schemeClr val="dk1"/>
              </a:solidFill>
              <a:latin typeface="Calibri"/>
              <a:ea typeface="Calibri"/>
              <a:cs typeface="Calibri"/>
              <a:sym typeface="Calibri"/>
            </a:endParaRPr>
          </a:p>
        </p:txBody>
      </p:sp>
      <p:sp>
        <p:nvSpPr>
          <p:cNvPr id="108" name="Google Shape;108;p7"/>
          <p:cNvSpPr/>
          <p:nvPr/>
        </p:nvSpPr>
        <p:spPr>
          <a:xfrm>
            <a:off x="2723170" y="2107185"/>
            <a:ext cx="3931800" cy="457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06060"/>
              </a:buClr>
              <a:buSzPts val="1150"/>
              <a:buFont typeface="Georgia"/>
              <a:buNone/>
            </a:pPr>
            <a:r>
              <a:rPr b="0" i="1" lang="en-US" sz="1150" u="none" cap="none" strike="noStrike">
                <a:solidFill>
                  <a:srgbClr val="606060"/>
                </a:solidFill>
                <a:latin typeface="Georgia"/>
                <a:ea typeface="Georgia"/>
                <a:cs typeface="Georgia"/>
                <a:sym typeface="Georgia"/>
              </a:rPr>
              <a:t>p_k = proportion of class k in the node.  Default in sklearn.</a:t>
            </a:r>
            <a:endParaRPr b="0" i="0" sz="1150" u="none" cap="none" strike="noStrike">
              <a:solidFill>
                <a:schemeClr val="dk1"/>
              </a:solidFill>
              <a:latin typeface="Calibri"/>
              <a:ea typeface="Calibri"/>
              <a:cs typeface="Calibri"/>
              <a:sym typeface="Calibri"/>
            </a:endParaRPr>
          </a:p>
        </p:txBody>
      </p:sp>
      <p:sp>
        <p:nvSpPr>
          <p:cNvPr id="109" name="Google Shape;109;p7"/>
          <p:cNvSpPr/>
          <p:nvPr/>
        </p:nvSpPr>
        <p:spPr>
          <a:xfrm>
            <a:off x="2468885" y="2801907"/>
            <a:ext cx="4206300" cy="1326000"/>
          </a:xfrm>
          <a:prstGeom prst="rect">
            <a:avLst/>
          </a:prstGeom>
          <a:solidFill>
            <a:srgbClr val="EAF1F4"/>
          </a:solidFill>
          <a:ln cap="flat" cmpd="sng" w="9525">
            <a:solidFill>
              <a:srgbClr val="2F5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7"/>
          <p:cNvSpPr/>
          <p:nvPr/>
        </p:nvSpPr>
        <p:spPr>
          <a:xfrm>
            <a:off x="502920" y="2834640"/>
            <a:ext cx="393192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F5A7A"/>
              </a:buClr>
              <a:buSzPts val="1400"/>
              <a:buFont typeface="Georgia"/>
              <a:buNone/>
            </a:pPr>
            <a:r>
              <a:rPr b="1" i="0" lang="en-US" sz="1400" u="none" cap="none" strike="noStrike">
                <a:solidFill>
                  <a:srgbClr val="2F5A7A"/>
                </a:solidFill>
                <a:latin typeface="Georgia"/>
                <a:ea typeface="Georgia"/>
                <a:cs typeface="Georgia"/>
                <a:sym typeface="Georgia"/>
              </a:rPr>
              <a:t>Entropy</a:t>
            </a:r>
            <a:endParaRPr b="0" i="0" sz="1400" u="none" cap="none" strike="noStrike">
              <a:solidFill>
                <a:schemeClr val="dk1"/>
              </a:solidFill>
              <a:latin typeface="Calibri"/>
              <a:ea typeface="Calibri"/>
              <a:cs typeface="Calibri"/>
              <a:sym typeface="Calibri"/>
            </a:endParaRPr>
          </a:p>
        </p:txBody>
      </p:sp>
      <p:sp>
        <p:nvSpPr>
          <p:cNvPr id="111" name="Google Shape;111;p7"/>
          <p:cNvSpPr/>
          <p:nvPr/>
        </p:nvSpPr>
        <p:spPr>
          <a:xfrm>
            <a:off x="2723107" y="3063230"/>
            <a:ext cx="3931800" cy="365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F5A7A"/>
              </a:buClr>
              <a:buSzPts val="1600"/>
              <a:buFont typeface="Courier New"/>
              <a:buNone/>
            </a:pPr>
            <a:r>
              <a:rPr b="1" i="0" lang="en-US" sz="1600" u="none" cap="none" strike="noStrike">
                <a:solidFill>
                  <a:srgbClr val="2F5A7A"/>
                </a:solidFill>
                <a:latin typeface="Courier New"/>
                <a:ea typeface="Courier New"/>
                <a:cs typeface="Courier New"/>
                <a:sym typeface="Courier New"/>
              </a:rPr>
              <a:t>H  =  −  Σ_k  p_k  log p_k</a:t>
            </a:r>
            <a:endParaRPr b="0" i="0" sz="1600" u="none" cap="none" strike="noStrike">
              <a:solidFill>
                <a:schemeClr val="dk1"/>
              </a:solidFill>
              <a:latin typeface="Calibri"/>
              <a:ea typeface="Calibri"/>
              <a:cs typeface="Calibri"/>
              <a:sym typeface="Calibri"/>
            </a:endParaRPr>
          </a:p>
        </p:txBody>
      </p:sp>
      <p:sp>
        <p:nvSpPr>
          <p:cNvPr id="112" name="Google Shape;112;p7"/>
          <p:cNvSpPr/>
          <p:nvPr/>
        </p:nvSpPr>
        <p:spPr>
          <a:xfrm>
            <a:off x="2667570" y="3556280"/>
            <a:ext cx="3931800" cy="457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06060"/>
              </a:buClr>
              <a:buSzPts val="1150"/>
              <a:buFont typeface="Georgia"/>
              <a:buNone/>
            </a:pPr>
            <a:r>
              <a:rPr b="0" i="1" lang="en-US" sz="1150" u="none" cap="none" strike="noStrike">
                <a:solidFill>
                  <a:srgbClr val="606060"/>
                </a:solidFill>
                <a:latin typeface="Georgia"/>
                <a:ea typeface="Georgia"/>
                <a:cs typeface="Georgia"/>
                <a:sym typeface="Georgia"/>
              </a:rPr>
              <a:t>Roots in information theory.</a:t>
            </a:r>
            <a:endParaRPr b="0" i="0" sz="1150" u="none" cap="none" strike="noStrike">
              <a:solidFill>
                <a:schemeClr val="dk1"/>
              </a:solidFill>
              <a:latin typeface="Calibri"/>
              <a:ea typeface="Calibri"/>
              <a:cs typeface="Calibri"/>
              <a:sym typeface="Calibri"/>
            </a:endParaRPr>
          </a:p>
        </p:txBody>
      </p:sp>
      <p:sp>
        <p:nvSpPr>
          <p:cNvPr id="113" name="Google Shape;113;p7"/>
          <p:cNvSpPr/>
          <p:nvPr/>
        </p:nvSpPr>
        <p:spPr>
          <a:xfrm>
            <a:off x="457200" y="4251960"/>
            <a:ext cx="84124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2D26"/>
              </a:buClr>
              <a:buSzPts val="1250"/>
              <a:buFont typeface="Georgia"/>
              <a:buNone/>
            </a:pPr>
            <a:r>
              <a:rPr b="1" i="0" lang="en-US" sz="1250" u="none" cap="none" strike="noStrike">
                <a:solidFill>
                  <a:srgbClr val="7B2D26"/>
                </a:solidFill>
                <a:latin typeface="Georgia"/>
                <a:ea typeface="Georgia"/>
                <a:cs typeface="Georgia"/>
                <a:sym typeface="Georgia"/>
              </a:rPr>
              <a:t>Split quality:  </a:t>
            </a:r>
            <a:r>
              <a:rPr b="0" i="0" lang="en-US" sz="1250" u="none" cap="none" strike="noStrike">
                <a:solidFill>
                  <a:srgbClr val="2B2B2B"/>
                </a:solidFill>
                <a:latin typeface="Georgia"/>
                <a:ea typeface="Georgia"/>
                <a:cs typeface="Georgia"/>
                <a:sym typeface="Georgia"/>
              </a:rPr>
              <a:t>minimize the weighted-average impurity of the two child nodes.  In practice </a:t>
            </a:r>
            <a:r>
              <a:rPr b="1" i="1" lang="en-US" sz="1250" u="none" cap="none" strike="noStrike">
                <a:solidFill>
                  <a:srgbClr val="000000"/>
                </a:solidFill>
                <a:latin typeface="Georgia"/>
                <a:ea typeface="Georgia"/>
                <a:cs typeface="Georgia"/>
                <a:sym typeface="Georgia"/>
              </a:rPr>
              <a:t>Gini ≈ Entropy </a:t>
            </a:r>
            <a:r>
              <a:rPr b="0" i="0" lang="en-US" sz="1250" u="none" cap="none" strike="noStrike">
                <a:solidFill>
                  <a:srgbClr val="2B2B2B"/>
                </a:solidFill>
                <a:latin typeface="Georgia"/>
                <a:ea typeface="Georgia"/>
                <a:cs typeface="Georgia"/>
                <a:sym typeface="Georgia"/>
              </a:rPr>
              <a:t>— either works.</a:t>
            </a:r>
            <a:endParaRPr b="0" i="0" sz="1250" u="none" cap="none" strike="noStrike">
              <a:solidFill>
                <a:schemeClr val="dk1"/>
              </a:solidFill>
              <a:latin typeface="Calibri"/>
              <a:ea typeface="Calibri"/>
              <a:cs typeface="Calibri"/>
              <a:sym typeface="Calibri"/>
            </a:endParaRPr>
          </a:p>
        </p:txBody>
      </p:sp>
      <p:sp>
        <p:nvSpPr>
          <p:cNvPr id="114" name="Google Shape;114;p7"/>
          <p:cNvSpPr/>
          <p:nvPr/>
        </p:nvSpPr>
        <p:spPr>
          <a:xfrm>
            <a:off x="2743200" y="4663440"/>
            <a:ext cx="36576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B2B2B"/>
              </a:buClr>
              <a:buSzPts val="1200"/>
              <a:buFont typeface="Georgia"/>
              <a:buNone/>
            </a:pPr>
            <a:r>
              <a:rPr b="1" i="0" lang="en-US" sz="1200" u="none" cap="none" strike="noStrike">
                <a:solidFill>
                  <a:srgbClr val="2B2B2B"/>
                </a:solidFill>
                <a:latin typeface="Georgia"/>
                <a:ea typeface="Georgia"/>
                <a:cs typeface="Georgia"/>
                <a:sym typeface="Georgia"/>
              </a:rPr>
              <a:t>CosmicAI Summer School</a:t>
            </a:r>
            <a:endParaRPr b="0" i="0" sz="1200" u="none" cap="none" strike="noStrike">
              <a:solidFill>
                <a:schemeClr val="dk1"/>
              </a:solidFill>
              <a:latin typeface="Calibri"/>
              <a:ea typeface="Calibri"/>
              <a:cs typeface="Calibri"/>
              <a:sym typeface="Calibri"/>
            </a:endParaRPr>
          </a:p>
        </p:txBody>
      </p:sp>
      <p:sp>
        <p:nvSpPr>
          <p:cNvPr id="115" name="Google Shape;115;p7"/>
          <p:cNvSpPr/>
          <p:nvPr/>
        </p:nvSpPr>
        <p:spPr>
          <a:xfrm>
            <a:off x="8275320" y="4754880"/>
            <a:ext cx="6858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06060"/>
              </a:buClr>
              <a:buSzPts val="1200"/>
              <a:buFont typeface="Georgia"/>
              <a:buNone/>
            </a:pPr>
            <a:r>
              <a:rPr b="0" i="0" lang="en-US" sz="1200" u="none" cap="none" strike="noStrike">
                <a:solidFill>
                  <a:srgbClr val="606060"/>
                </a:solidFill>
                <a:latin typeface="Georgia"/>
                <a:ea typeface="Georgia"/>
                <a:cs typeface="Georgia"/>
                <a:sym typeface="Georgia"/>
              </a:rPr>
              <a:t>7</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0" name="Shape 120"/>
        <p:cNvGrpSpPr/>
        <p:nvPr/>
      </p:nvGrpSpPr>
      <p:grpSpPr>
        <a:xfrm>
          <a:off x="0" y="0"/>
          <a:ext cx="0" cy="0"/>
          <a:chOff x="0" y="0"/>
          <a:chExt cx="0" cy="0"/>
        </a:xfrm>
      </p:grpSpPr>
      <p:sp>
        <p:nvSpPr>
          <p:cNvPr id="121" name="Google Shape;121;p11"/>
          <p:cNvSpPr/>
          <p:nvPr/>
        </p:nvSpPr>
        <p:spPr>
          <a:xfrm>
            <a:off x="274320" y="137160"/>
            <a:ext cx="859536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B2D26"/>
              </a:buClr>
              <a:buSzPts val="3000"/>
              <a:buFont typeface="Georgia"/>
              <a:buNone/>
            </a:pPr>
            <a:r>
              <a:rPr b="0" i="0" lang="en-US" sz="3000" u="none" cap="none" strike="noStrike">
                <a:solidFill>
                  <a:srgbClr val="7B2D26"/>
                </a:solidFill>
                <a:latin typeface="Georgia"/>
                <a:ea typeface="Georgia"/>
                <a:cs typeface="Georgia"/>
                <a:sym typeface="Georgia"/>
              </a:rPr>
              <a:t>Pruning — Why?</a:t>
            </a:r>
            <a:endParaRPr b="0" i="0" sz="3000" u="none" cap="none" strike="noStrike">
              <a:solidFill>
                <a:schemeClr val="dk1"/>
              </a:solidFill>
              <a:latin typeface="Calibri"/>
              <a:ea typeface="Calibri"/>
              <a:cs typeface="Calibri"/>
              <a:sym typeface="Calibri"/>
            </a:endParaRPr>
          </a:p>
        </p:txBody>
      </p:sp>
      <p:cxnSp>
        <p:nvCxnSpPr>
          <p:cNvPr id="122" name="Google Shape;122;p11"/>
          <p:cNvCxnSpPr/>
          <p:nvPr/>
        </p:nvCxnSpPr>
        <p:spPr>
          <a:xfrm>
            <a:off x="365760" y="777240"/>
            <a:ext cx="8412480" cy="0"/>
          </a:xfrm>
          <a:prstGeom prst="straightConnector1">
            <a:avLst/>
          </a:prstGeom>
          <a:noFill/>
          <a:ln cap="flat" cmpd="sng" w="15875">
            <a:solidFill>
              <a:srgbClr val="B0B0B0"/>
            </a:solidFill>
            <a:prstDash val="solid"/>
            <a:round/>
            <a:headEnd len="sm" w="sm" type="none"/>
            <a:tailEnd len="sm" w="sm" type="none"/>
          </a:ln>
        </p:spPr>
      </p:cxnSp>
      <p:sp>
        <p:nvSpPr>
          <p:cNvPr id="123" name="Google Shape;123;p11"/>
          <p:cNvSpPr/>
          <p:nvPr/>
        </p:nvSpPr>
        <p:spPr>
          <a:xfrm>
            <a:off x="457200" y="914400"/>
            <a:ext cx="4206240" cy="35204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B2B2B"/>
              </a:buClr>
              <a:buSzPts val="1300"/>
              <a:buFont typeface="Georgia"/>
              <a:buNone/>
            </a:pPr>
            <a:r>
              <a:rPr b="0" i="0" lang="en-US" sz="1300" u="none" cap="none" strike="noStrike">
                <a:solidFill>
                  <a:srgbClr val="2B2B2B"/>
                </a:solidFill>
                <a:latin typeface="Georgia"/>
                <a:ea typeface="Georgia"/>
                <a:cs typeface="Georgia"/>
                <a:sym typeface="Georgia"/>
              </a:rPr>
              <a:t>A </a:t>
            </a:r>
            <a:r>
              <a:rPr lang="en-US" sz="1300">
                <a:solidFill>
                  <a:srgbClr val="2B2B2B"/>
                </a:solidFill>
                <a:latin typeface="Georgia"/>
                <a:ea typeface="Georgia"/>
                <a:cs typeface="Georgia"/>
                <a:sym typeface="Georgia"/>
              </a:rPr>
              <a:t>large</a:t>
            </a:r>
            <a:r>
              <a:rPr b="0" i="0" lang="en-US" sz="1300" u="none" cap="none" strike="noStrike">
                <a:solidFill>
                  <a:srgbClr val="2B2B2B"/>
                </a:solidFill>
                <a:latin typeface="Georgia"/>
                <a:ea typeface="Georgia"/>
                <a:cs typeface="Georgia"/>
                <a:sym typeface="Georgia"/>
              </a:rPr>
              <a:t> tree can fit </a:t>
            </a:r>
            <a:r>
              <a:rPr b="1" i="1" lang="en-US" sz="1300" u="none" cap="none" strike="noStrike">
                <a:solidFill>
                  <a:srgbClr val="2B2B2B"/>
                </a:solidFill>
                <a:latin typeface="Georgia"/>
                <a:ea typeface="Georgia"/>
                <a:cs typeface="Georgia"/>
                <a:sym typeface="Georgia"/>
              </a:rPr>
              <a:t>any </a:t>
            </a:r>
            <a:r>
              <a:rPr b="0" i="0" lang="en-US" sz="1300" u="none" cap="none" strike="noStrike">
                <a:solidFill>
                  <a:srgbClr val="2B2B2B"/>
                </a:solidFill>
                <a:latin typeface="Georgia"/>
                <a:ea typeface="Georgia"/>
                <a:cs typeface="Georgia"/>
                <a:sym typeface="Georgia"/>
              </a:rPr>
              <a:t>training set perfectly:</a:t>
            </a:r>
            <a:endParaRPr b="0" i="0" sz="13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606060"/>
              </a:buClr>
              <a:buSzPts val="1200"/>
              <a:buFont typeface="Georgia"/>
              <a:buNone/>
            </a:pPr>
            <a:r>
              <a:rPr b="0" i="1" lang="en-US" sz="1200" u="none" cap="none" strike="noStrike">
                <a:solidFill>
                  <a:srgbClr val="606060"/>
                </a:solidFill>
                <a:latin typeface="Georgia"/>
                <a:ea typeface="Georgia"/>
                <a:cs typeface="Georgia"/>
                <a:sym typeface="Georgia"/>
              </a:rPr>
              <a:t>    just keep splitting until every leaf has one example.</a:t>
            </a:r>
            <a:endParaRPr b="0" i="0" sz="13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2B2B2B"/>
              </a:buClr>
              <a:buSzPts val="600"/>
              <a:buFont typeface="Georgia"/>
              <a:buNone/>
            </a:pPr>
            <a:r>
              <a:rPr b="0" i="0" lang="en-US" sz="600" u="none" cap="none" strike="noStrike">
                <a:solidFill>
                  <a:srgbClr val="2B2B2B"/>
                </a:solidFill>
                <a:latin typeface="Georgia"/>
                <a:ea typeface="Georgia"/>
                <a:cs typeface="Georgia"/>
                <a:sym typeface="Georgia"/>
              </a:rPr>
              <a:t> </a:t>
            </a:r>
            <a:endParaRPr b="0" i="0" sz="13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7B2D26"/>
              </a:buClr>
              <a:buSzPts val="1300"/>
              <a:buFont typeface="Georgia"/>
              <a:buNone/>
            </a:pPr>
            <a:r>
              <a:rPr b="1" i="0" lang="en-US" sz="1300" u="none" cap="none" strike="noStrike">
                <a:solidFill>
                  <a:srgbClr val="7B2D26"/>
                </a:solidFill>
                <a:latin typeface="Georgia"/>
                <a:ea typeface="Georgia"/>
                <a:cs typeface="Georgia"/>
                <a:sym typeface="Georgia"/>
              </a:rPr>
              <a:t>But the model has memorized noise:</a:t>
            </a:r>
            <a:endParaRPr b="0" i="0" sz="13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2B2B2B"/>
              </a:buClr>
              <a:buSzPts val="1300"/>
              <a:buFont typeface="Georgia"/>
              <a:buNone/>
            </a:pPr>
            <a:r>
              <a:rPr b="0" i="0" lang="en-US" sz="1300" u="none" cap="none" strike="noStrike">
                <a:solidFill>
                  <a:srgbClr val="2B2B2B"/>
                </a:solidFill>
                <a:latin typeface="Georgia"/>
                <a:ea typeface="Georgia"/>
                <a:cs typeface="Georgia"/>
                <a:sym typeface="Georgia"/>
              </a:rPr>
              <a:t>train error → 0, test error climbs.</a:t>
            </a:r>
            <a:endParaRPr b="0" i="0" sz="13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606060"/>
              </a:buClr>
              <a:buSzPts val="1200"/>
              <a:buFont typeface="Georgia"/>
              <a:buNone/>
            </a:pPr>
            <a:r>
              <a:rPr b="0" i="1" lang="en-US" sz="1200" u="none" cap="none" strike="noStrike">
                <a:solidFill>
                  <a:srgbClr val="606060"/>
                </a:solidFill>
                <a:latin typeface="Georgia"/>
                <a:ea typeface="Georgia"/>
                <a:cs typeface="Georgia"/>
                <a:sym typeface="Georgia"/>
              </a:rPr>
              <a:t>Recall Lec 3a: the test set is the only honest judge.</a:t>
            </a:r>
            <a:endParaRPr b="0" i="0" sz="13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2B2B2B"/>
              </a:buClr>
              <a:buSzPts val="600"/>
              <a:buFont typeface="Georgia"/>
              <a:buNone/>
            </a:pPr>
            <a:r>
              <a:rPr b="0" i="0" lang="en-US" sz="600" u="none" cap="none" strike="noStrike">
                <a:solidFill>
                  <a:srgbClr val="2B2B2B"/>
                </a:solidFill>
                <a:latin typeface="Georgia"/>
                <a:ea typeface="Georgia"/>
                <a:cs typeface="Georgia"/>
                <a:sym typeface="Georgia"/>
              </a:rPr>
              <a:t> </a:t>
            </a:r>
            <a:endParaRPr b="0" i="0" sz="13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7B2D26"/>
              </a:buClr>
              <a:buSzPts val="1300"/>
              <a:buFont typeface="Georgia"/>
              <a:buNone/>
            </a:pPr>
            <a:r>
              <a:rPr b="1" i="0" lang="en-US" sz="1300" u="none" cap="none" strike="noStrike">
                <a:solidFill>
                  <a:srgbClr val="7B2D26"/>
                </a:solidFill>
                <a:latin typeface="Georgia"/>
                <a:ea typeface="Georgia"/>
                <a:cs typeface="Georgia"/>
                <a:sym typeface="Georgia"/>
              </a:rPr>
              <a:t>Two cures:</a:t>
            </a:r>
            <a:endParaRPr b="0" i="0" sz="13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2B2B2B"/>
              </a:buClr>
              <a:buSzPts val="1300"/>
              <a:buFont typeface="Georgia"/>
              <a:buNone/>
            </a:pPr>
            <a:r>
              <a:rPr b="1" i="0" lang="en-US" sz="1300" u="none" cap="none" strike="noStrike">
                <a:solidFill>
                  <a:srgbClr val="2B2B2B"/>
                </a:solidFill>
                <a:latin typeface="Georgia"/>
                <a:ea typeface="Georgia"/>
                <a:cs typeface="Georgia"/>
                <a:sym typeface="Georgia"/>
              </a:rPr>
              <a:t>Pre-pruning:  </a:t>
            </a:r>
            <a:r>
              <a:rPr b="0" i="0" lang="en-US" sz="1300" u="none" cap="none" strike="noStrike">
                <a:solidFill>
                  <a:srgbClr val="2B2B2B"/>
                </a:solidFill>
                <a:latin typeface="Georgia"/>
                <a:ea typeface="Georgia"/>
                <a:cs typeface="Georgia"/>
                <a:sym typeface="Georgia"/>
              </a:rPr>
              <a:t>stop splitting when the tree gets deep enough.</a:t>
            </a:r>
            <a:endParaRPr b="0" i="0" sz="13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2B2B2B"/>
              </a:buClr>
              <a:buSzPts val="1300"/>
              <a:buFont typeface="Georgia"/>
              <a:buNone/>
            </a:pPr>
            <a:r>
              <a:rPr b="1" i="0" lang="en-US" sz="1300" u="none" cap="none" strike="noStrike">
                <a:solidFill>
                  <a:srgbClr val="2B2B2B"/>
                </a:solidFill>
                <a:latin typeface="Georgia"/>
                <a:ea typeface="Georgia"/>
                <a:cs typeface="Georgia"/>
                <a:sym typeface="Georgia"/>
              </a:rPr>
              <a:t>Post-pruning:  </a:t>
            </a:r>
            <a:r>
              <a:rPr b="0" i="0" lang="en-US" sz="1300" u="none" cap="none" strike="noStrike">
                <a:solidFill>
                  <a:srgbClr val="2B2B2B"/>
                </a:solidFill>
                <a:latin typeface="Georgia"/>
                <a:ea typeface="Georgia"/>
                <a:cs typeface="Georgia"/>
                <a:sym typeface="Georgia"/>
              </a:rPr>
              <a:t>grow fully, then chop branches that don't help on validation.</a:t>
            </a:r>
            <a:endParaRPr b="0" i="0" sz="1300" u="none" cap="none" strike="noStrike">
              <a:solidFill>
                <a:schemeClr val="dk1"/>
              </a:solidFill>
              <a:latin typeface="Calibri"/>
              <a:ea typeface="Calibri"/>
              <a:cs typeface="Calibri"/>
              <a:sym typeface="Calibri"/>
            </a:endParaRPr>
          </a:p>
        </p:txBody>
      </p:sp>
      <p:pic>
        <p:nvPicPr>
          <p:cNvPr descr="/sessions/sleepy-friendly-euler/mnt/outputs/figs/fig_overfit_depth.png" id="124" name="Google Shape;124;p11"/>
          <p:cNvPicPr preferRelativeResize="0"/>
          <p:nvPr/>
        </p:nvPicPr>
        <p:blipFill rotWithShape="1">
          <a:blip r:embed="rId3">
            <a:alphaModFix/>
          </a:blip>
          <a:srcRect b="0" l="0" r="0" t="0"/>
          <a:stretch/>
        </p:blipFill>
        <p:spPr>
          <a:xfrm>
            <a:off x="4754880" y="914400"/>
            <a:ext cx="4297680" cy="2560320"/>
          </a:xfrm>
          <a:prstGeom prst="rect">
            <a:avLst/>
          </a:prstGeom>
          <a:noFill/>
          <a:ln>
            <a:noFill/>
          </a:ln>
        </p:spPr>
      </p:pic>
      <p:sp>
        <p:nvSpPr>
          <p:cNvPr id="125" name="Google Shape;125;p11"/>
          <p:cNvSpPr/>
          <p:nvPr/>
        </p:nvSpPr>
        <p:spPr>
          <a:xfrm>
            <a:off x="4754880" y="3611880"/>
            <a:ext cx="4251960" cy="868680"/>
          </a:xfrm>
          <a:prstGeom prst="rect">
            <a:avLst/>
          </a:prstGeom>
          <a:solidFill>
            <a:srgbClr val="EAF1F4"/>
          </a:solidFill>
          <a:ln cap="flat" cmpd="sng" w="9525">
            <a:solidFill>
              <a:srgbClr val="2F5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1"/>
          <p:cNvSpPr/>
          <p:nvPr/>
        </p:nvSpPr>
        <p:spPr>
          <a:xfrm>
            <a:off x="4892040" y="3657600"/>
            <a:ext cx="402336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F5A7A"/>
              </a:buClr>
              <a:buSzPts val="1200"/>
              <a:buFont typeface="Georgia"/>
              <a:buNone/>
            </a:pPr>
            <a:r>
              <a:rPr b="1" i="0" lang="en-US" sz="1200" u="none" cap="none" strike="noStrike">
                <a:solidFill>
                  <a:srgbClr val="2F5A7A"/>
                </a:solidFill>
                <a:latin typeface="Georgia"/>
                <a:ea typeface="Georgia"/>
                <a:cs typeface="Georgia"/>
                <a:sym typeface="Georgia"/>
              </a:rPr>
              <a:t>Pre-pruning hyperparameters in sklearn:</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B2B2B"/>
              </a:buClr>
              <a:buSzPts val="1150"/>
              <a:buFont typeface="Courier New"/>
              <a:buNone/>
            </a:pPr>
            <a:r>
              <a:rPr b="0" i="0" lang="en-US" sz="1150" u="none" cap="none" strike="noStrike">
                <a:solidFill>
                  <a:srgbClr val="2B2B2B"/>
                </a:solidFill>
                <a:latin typeface="Courier New"/>
                <a:ea typeface="Courier New"/>
                <a:cs typeface="Courier New"/>
                <a:sym typeface="Courier New"/>
              </a:rPr>
              <a:t>max_depth, min_samples_split, min_samples_leaf, max_leaf_nodes.</a:t>
            </a:r>
            <a:endParaRPr b="0" i="0" sz="1200" u="none" cap="none" strike="noStrike">
              <a:solidFill>
                <a:schemeClr val="dk1"/>
              </a:solidFill>
              <a:latin typeface="Calibri"/>
              <a:ea typeface="Calibri"/>
              <a:cs typeface="Calibri"/>
              <a:sym typeface="Calibri"/>
            </a:endParaRPr>
          </a:p>
        </p:txBody>
      </p:sp>
      <p:sp>
        <p:nvSpPr>
          <p:cNvPr id="127" name="Google Shape;127;p11"/>
          <p:cNvSpPr/>
          <p:nvPr/>
        </p:nvSpPr>
        <p:spPr>
          <a:xfrm>
            <a:off x="2743200" y="4663440"/>
            <a:ext cx="36576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B2B2B"/>
              </a:buClr>
              <a:buSzPts val="1200"/>
              <a:buFont typeface="Georgia"/>
              <a:buNone/>
            </a:pPr>
            <a:r>
              <a:rPr b="1" i="0" lang="en-US" sz="1200" u="none" cap="none" strike="noStrike">
                <a:solidFill>
                  <a:srgbClr val="2B2B2B"/>
                </a:solidFill>
                <a:latin typeface="Georgia"/>
                <a:ea typeface="Georgia"/>
                <a:cs typeface="Georgia"/>
                <a:sym typeface="Georgia"/>
              </a:rPr>
              <a:t>CosmicAI Summer School</a:t>
            </a:r>
            <a:endParaRPr b="0" i="0" sz="1200" u="none" cap="none" strike="noStrike">
              <a:solidFill>
                <a:schemeClr val="dk1"/>
              </a:solidFill>
              <a:latin typeface="Calibri"/>
              <a:ea typeface="Calibri"/>
              <a:cs typeface="Calibri"/>
              <a:sym typeface="Calibri"/>
            </a:endParaRPr>
          </a:p>
        </p:txBody>
      </p:sp>
      <p:sp>
        <p:nvSpPr>
          <p:cNvPr id="128" name="Google Shape;128;p11"/>
          <p:cNvSpPr/>
          <p:nvPr/>
        </p:nvSpPr>
        <p:spPr>
          <a:xfrm>
            <a:off x="8275320" y="4754880"/>
            <a:ext cx="6858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06060"/>
              </a:buClr>
              <a:buSzPts val="1200"/>
              <a:buFont typeface="Georgia"/>
              <a:buNone/>
            </a:pPr>
            <a:r>
              <a:rPr b="0" i="0" lang="en-US" sz="1200" u="none" cap="none" strike="noStrike">
                <a:solidFill>
                  <a:srgbClr val="606060"/>
                </a:solidFill>
                <a:latin typeface="Georgia"/>
                <a:ea typeface="Georgia"/>
                <a:cs typeface="Georgia"/>
                <a:sym typeface="Georgia"/>
              </a:rPr>
              <a:t>11</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3" name="Shape 133"/>
        <p:cNvGrpSpPr/>
        <p:nvPr/>
      </p:nvGrpSpPr>
      <p:grpSpPr>
        <a:xfrm>
          <a:off x="0" y="0"/>
          <a:ext cx="0" cy="0"/>
          <a:chOff x="0" y="0"/>
          <a:chExt cx="0" cy="0"/>
        </a:xfrm>
      </p:grpSpPr>
      <p:sp>
        <p:nvSpPr>
          <p:cNvPr id="134" name="Google Shape;134;p12"/>
          <p:cNvSpPr/>
          <p:nvPr/>
        </p:nvSpPr>
        <p:spPr>
          <a:xfrm>
            <a:off x="274320" y="137160"/>
            <a:ext cx="859536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B2D26"/>
              </a:buClr>
              <a:buSzPts val="3000"/>
              <a:buFont typeface="Georgia"/>
              <a:buNone/>
            </a:pPr>
            <a:r>
              <a:rPr b="0" i="0" lang="en-US" sz="3000" u="none" cap="none" strike="noStrike">
                <a:solidFill>
                  <a:srgbClr val="7B2D26"/>
                </a:solidFill>
                <a:latin typeface="Georgia"/>
                <a:ea typeface="Georgia"/>
                <a:cs typeface="Georgia"/>
                <a:sym typeface="Georgia"/>
              </a:rPr>
              <a:t>Pruning — Cost-Complexity (post-pruning)</a:t>
            </a:r>
            <a:endParaRPr b="0" i="0" sz="3000" u="none" cap="none" strike="noStrike">
              <a:solidFill>
                <a:schemeClr val="dk1"/>
              </a:solidFill>
              <a:latin typeface="Calibri"/>
              <a:ea typeface="Calibri"/>
              <a:cs typeface="Calibri"/>
              <a:sym typeface="Calibri"/>
            </a:endParaRPr>
          </a:p>
        </p:txBody>
      </p:sp>
      <p:cxnSp>
        <p:nvCxnSpPr>
          <p:cNvPr id="135" name="Google Shape;135;p12"/>
          <p:cNvCxnSpPr/>
          <p:nvPr/>
        </p:nvCxnSpPr>
        <p:spPr>
          <a:xfrm>
            <a:off x="365760" y="777240"/>
            <a:ext cx="8412480" cy="0"/>
          </a:xfrm>
          <a:prstGeom prst="straightConnector1">
            <a:avLst/>
          </a:prstGeom>
          <a:noFill/>
          <a:ln cap="flat" cmpd="sng" w="15875">
            <a:solidFill>
              <a:srgbClr val="B0B0B0"/>
            </a:solidFill>
            <a:prstDash val="solid"/>
            <a:round/>
            <a:headEnd len="sm" w="sm" type="none"/>
            <a:tailEnd len="sm" w="sm" type="none"/>
          </a:ln>
        </p:spPr>
      </p:cxnSp>
      <p:sp>
        <p:nvSpPr>
          <p:cNvPr id="136" name="Google Shape;136;p12"/>
          <p:cNvSpPr/>
          <p:nvPr/>
        </p:nvSpPr>
        <p:spPr>
          <a:xfrm>
            <a:off x="457200" y="914400"/>
            <a:ext cx="841248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06060"/>
              </a:buClr>
              <a:buSzPts val="1350"/>
              <a:buFont typeface="Georgia"/>
              <a:buNone/>
            </a:pPr>
            <a:r>
              <a:rPr b="0" i="1" lang="en-US" sz="1350" u="none" cap="none" strike="noStrike">
                <a:solidFill>
                  <a:srgbClr val="606060"/>
                </a:solidFill>
                <a:latin typeface="Georgia"/>
                <a:ea typeface="Georgia"/>
                <a:cs typeface="Georgia"/>
                <a:sym typeface="Georgia"/>
              </a:rPr>
              <a:t>Grow the tree to full depth, then remove the weakest branches.</a:t>
            </a:r>
            <a:endParaRPr b="0" i="0" sz="1350" u="none" cap="none" strike="noStrike">
              <a:solidFill>
                <a:schemeClr val="dk1"/>
              </a:solidFill>
              <a:latin typeface="Calibri"/>
              <a:ea typeface="Calibri"/>
              <a:cs typeface="Calibri"/>
              <a:sym typeface="Calibri"/>
            </a:endParaRPr>
          </a:p>
        </p:txBody>
      </p:sp>
      <p:sp>
        <p:nvSpPr>
          <p:cNvPr id="137" name="Google Shape;137;p12"/>
          <p:cNvSpPr/>
          <p:nvPr/>
        </p:nvSpPr>
        <p:spPr>
          <a:xfrm>
            <a:off x="457200" y="1417320"/>
            <a:ext cx="8412480" cy="914400"/>
          </a:xfrm>
          <a:prstGeom prst="rect">
            <a:avLst/>
          </a:prstGeom>
          <a:solidFill>
            <a:schemeClr val="lt1"/>
          </a:solidFill>
          <a:ln cap="flat" cmpd="sng" w="9525">
            <a:solidFill>
              <a:srgbClr val="7B2D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2"/>
          <p:cNvSpPr/>
          <p:nvPr/>
        </p:nvSpPr>
        <p:spPr>
          <a:xfrm>
            <a:off x="548651" y="1600200"/>
            <a:ext cx="2827500" cy="548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B2B2B"/>
              </a:buClr>
              <a:buSzPts val="1700"/>
              <a:buFont typeface="Courier New"/>
              <a:buNone/>
            </a:pPr>
            <a:r>
              <a:rPr b="0" i="0" lang="en-US" sz="1700" u="none" cap="none" strike="noStrike">
                <a:solidFill>
                  <a:srgbClr val="2B2B2B"/>
                </a:solidFill>
                <a:latin typeface="Courier New"/>
                <a:ea typeface="Courier New"/>
                <a:cs typeface="Courier New"/>
                <a:sym typeface="Courier New"/>
              </a:rPr>
              <a:t>minimize     </a:t>
            </a:r>
            <a:endParaRPr b="0" i="0" sz="1700" u="none" cap="none" strike="noStrike">
              <a:solidFill>
                <a:schemeClr val="dk1"/>
              </a:solidFill>
              <a:latin typeface="Calibri"/>
              <a:ea typeface="Calibri"/>
              <a:cs typeface="Calibri"/>
              <a:sym typeface="Calibri"/>
            </a:endParaRPr>
          </a:p>
        </p:txBody>
      </p:sp>
      <p:sp>
        <p:nvSpPr>
          <p:cNvPr id="139" name="Google Shape;139;p12"/>
          <p:cNvSpPr/>
          <p:nvPr/>
        </p:nvSpPr>
        <p:spPr>
          <a:xfrm>
            <a:off x="457200" y="2560320"/>
            <a:ext cx="4114800" cy="15544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7B2D26"/>
              </a:buClr>
              <a:buSzPts val="1300"/>
              <a:buFont typeface="Georgia"/>
              <a:buNone/>
            </a:pPr>
            <a:r>
              <a:rPr b="1" i="0" lang="en-US" sz="1300" u="none" cap="none" strike="noStrike">
                <a:solidFill>
                  <a:srgbClr val="7B2D26"/>
                </a:solidFill>
                <a:latin typeface="Georgia"/>
                <a:ea typeface="Georgia"/>
                <a:cs typeface="Georgia"/>
                <a:sym typeface="Georgia"/>
              </a:rPr>
              <a:t>What the symbols mean:</a:t>
            </a:r>
            <a:endParaRPr b="0" i="0" sz="13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2F5A7A"/>
              </a:buClr>
              <a:buSzPts val="1300"/>
              <a:buFont typeface="Courier New"/>
              <a:buNone/>
            </a:pPr>
            <a:r>
              <a:rPr b="1" i="0" lang="en-US" sz="1300" u="none" cap="none" strike="noStrike">
                <a:solidFill>
                  <a:srgbClr val="2F5A7A"/>
                </a:solidFill>
                <a:latin typeface="Courier New"/>
                <a:ea typeface="Courier New"/>
                <a:cs typeface="Courier New"/>
                <a:sym typeface="Courier New"/>
              </a:rPr>
              <a:t>|T|</a:t>
            </a:r>
            <a:r>
              <a:rPr b="0" i="0" lang="en-US" sz="1300" u="none" cap="none" strike="noStrike">
                <a:solidFill>
                  <a:srgbClr val="2B2B2B"/>
                </a:solidFill>
                <a:latin typeface="Georgia"/>
                <a:ea typeface="Georgia"/>
                <a:cs typeface="Georgia"/>
                <a:sym typeface="Georgia"/>
              </a:rPr>
              <a:t>  total number of leaves in the (sub-)tree.</a:t>
            </a:r>
            <a:endParaRPr b="0" i="0" sz="13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2F5A7A"/>
              </a:buClr>
              <a:buSzPts val="1300"/>
              <a:buFont typeface="Courier New"/>
              <a:buNone/>
            </a:pPr>
            <a:r>
              <a:rPr b="1" i="0" lang="en-US" sz="1300" u="none" cap="none" strike="noStrike">
                <a:solidFill>
                  <a:srgbClr val="2F5A7A"/>
                </a:solidFill>
                <a:latin typeface="Courier New"/>
                <a:ea typeface="Courier New"/>
                <a:cs typeface="Courier New"/>
                <a:sym typeface="Courier New"/>
              </a:rPr>
              <a:t>α</a:t>
            </a:r>
            <a:r>
              <a:rPr b="0" i="0" lang="en-US" sz="1300" u="none" cap="none" strike="noStrike">
                <a:solidFill>
                  <a:srgbClr val="2B2B2B"/>
                </a:solidFill>
                <a:latin typeface="Georgia"/>
                <a:ea typeface="Georgia"/>
                <a:cs typeface="Georgia"/>
                <a:sym typeface="Georgia"/>
              </a:rPr>
              <a:t>    hyperparameter trading off </a:t>
            </a:r>
            <a:r>
              <a:rPr b="0" i="1" lang="en-US" sz="1300" u="none" cap="none" strike="noStrike">
                <a:solidFill>
                  <a:srgbClr val="2B2B2B"/>
                </a:solidFill>
                <a:latin typeface="Georgia"/>
                <a:ea typeface="Georgia"/>
                <a:cs typeface="Georgia"/>
                <a:sym typeface="Georgia"/>
              </a:rPr>
              <a:t>fit </a:t>
            </a:r>
            <a:r>
              <a:rPr b="0" i="0" lang="en-US" sz="1300" u="none" cap="none" strike="noStrike">
                <a:solidFill>
                  <a:srgbClr val="2B2B2B"/>
                </a:solidFill>
                <a:latin typeface="Georgia"/>
                <a:ea typeface="Georgia"/>
                <a:cs typeface="Georgia"/>
                <a:sym typeface="Georgia"/>
              </a:rPr>
              <a:t>vs </a:t>
            </a:r>
            <a:r>
              <a:rPr b="0" i="1" lang="en-US" sz="1300" u="none" cap="none" strike="noStrike">
                <a:solidFill>
                  <a:srgbClr val="2B2B2B"/>
                </a:solidFill>
                <a:latin typeface="Georgia"/>
                <a:ea typeface="Georgia"/>
                <a:cs typeface="Georgia"/>
                <a:sym typeface="Georgia"/>
              </a:rPr>
              <a:t>size.</a:t>
            </a:r>
            <a:endParaRPr b="0" i="0" sz="1300" u="none" cap="none" strike="noStrike">
              <a:solidFill>
                <a:schemeClr val="dk1"/>
              </a:solidFill>
              <a:latin typeface="Calibri"/>
              <a:ea typeface="Calibri"/>
              <a:cs typeface="Calibri"/>
              <a:sym typeface="Calibri"/>
            </a:endParaRPr>
          </a:p>
        </p:txBody>
      </p:sp>
      <p:sp>
        <p:nvSpPr>
          <p:cNvPr id="140" name="Google Shape;140;p12"/>
          <p:cNvSpPr/>
          <p:nvPr/>
        </p:nvSpPr>
        <p:spPr>
          <a:xfrm>
            <a:off x="4709160" y="2560320"/>
            <a:ext cx="4160520" cy="15544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7B2D26"/>
              </a:buClr>
              <a:buSzPts val="1300"/>
              <a:buFont typeface="Georgia"/>
              <a:buNone/>
            </a:pPr>
            <a:r>
              <a:rPr b="1" i="0" lang="en-US" sz="1300" u="none" cap="none" strike="noStrike">
                <a:solidFill>
                  <a:srgbClr val="7B2D26"/>
                </a:solidFill>
                <a:latin typeface="Georgia"/>
                <a:ea typeface="Georgia"/>
                <a:cs typeface="Georgia"/>
                <a:sym typeface="Georgia"/>
              </a:rPr>
              <a:t>How to pick α:</a:t>
            </a:r>
            <a:endParaRPr b="0" i="0" sz="13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2B2B2B"/>
              </a:buClr>
              <a:buSzPts val="1300"/>
              <a:buFont typeface="Courier New"/>
              <a:buNone/>
            </a:pPr>
            <a:r>
              <a:rPr b="1" i="0" lang="en-US" sz="1300" u="none" cap="none" strike="noStrike">
                <a:solidFill>
                  <a:srgbClr val="2B2B2B"/>
                </a:solidFill>
                <a:latin typeface="Courier New"/>
                <a:ea typeface="Courier New"/>
                <a:cs typeface="Courier New"/>
                <a:sym typeface="Courier New"/>
              </a:rPr>
              <a:t>α = 0:  </a:t>
            </a:r>
            <a:r>
              <a:rPr b="0" i="0" lang="en-US" sz="1300" u="none" cap="none" strike="noStrike">
                <a:solidFill>
                  <a:srgbClr val="2B2B2B"/>
                </a:solidFill>
                <a:latin typeface="Georgia"/>
                <a:ea typeface="Georgia"/>
                <a:cs typeface="Georgia"/>
                <a:sym typeface="Georgia"/>
              </a:rPr>
              <a:t>no penalty → full tree.</a:t>
            </a:r>
            <a:endParaRPr b="0" i="0" sz="13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2B2B2B"/>
              </a:buClr>
              <a:buSzPts val="1300"/>
              <a:buFont typeface="Courier New"/>
              <a:buNone/>
            </a:pPr>
            <a:r>
              <a:rPr b="1" i="0" lang="en-US" sz="1300" u="none" cap="none" strike="noStrike">
                <a:solidFill>
                  <a:srgbClr val="2B2B2B"/>
                </a:solidFill>
                <a:latin typeface="Courier New"/>
                <a:ea typeface="Courier New"/>
                <a:cs typeface="Courier New"/>
                <a:sym typeface="Courier New"/>
              </a:rPr>
              <a:t>α large:  </a:t>
            </a:r>
            <a:r>
              <a:rPr b="0" i="0" lang="en-US" sz="1300" u="none" cap="none" strike="noStrike">
                <a:solidFill>
                  <a:srgbClr val="2B2B2B"/>
                </a:solidFill>
                <a:latin typeface="Georgia"/>
                <a:ea typeface="Georgia"/>
                <a:cs typeface="Georgia"/>
                <a:sym typeface="Georgia"/>
              </a:rPr>
              <a:t>tiny tree, even just the root.</a:t>
            </a:r>
            <a:endParaRPr b="0" i="0" sz="13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2B2B2B"/>
              </a:buClr>
              <a:buSzPts val="1300"/>
              <a:buFont typeface="Georgia"/>
              <a:buNone/>
            </a:pPr>
            <a:r>
              <a:rPr b="1" i="0" lang="en-US" sz="1300" u="none" cap="none" strike="noStrike">
                <a:solidFill>
                  <a:srgbClr val="2B2B2B"/>
                </a:solidFill>
                <a:latin typeface="Georgia"/>
                <a:ea typeface="Georgia"/>
                <a:cs typeface="Georgia"/>
                <a:sym typeface="Georgia"/>
              </a:rPr>
              <a:t>Sweet spot: </a:t>
            </a:r>
            <a:r>
              <a:rPr b="0" i="0" lang="en-US" sz="1300" u="none" cap="none" strike="noStrike">
                <a:solidFill>
                  <a:srgbClr val="2B2B2B"/>
                </a:solidFill>
                <a:latin typeface="Georgia"/>
                <a:ea typeface="Georgia"/>
                <a:cs typeface="Georgia"/>
                <a:sym typeface="Georgia"/>
              </a:rPr>
              <a:t>minimize error on the validation set.</a:t>
            </a:r>
            <a:endParaRPr b="0" i="0" sz="1300" u="none" cap="none" strike="noStrike">
              <a:solidFill>
                <a:schemeClr val="dk1"/>
              </a:solidFill>
              <a:latin typeface="Calibri"/>
              <a:ea typeface="Calibri"/>
              <a:cs typeface="Calibri"/>
              <a:sym typeface="Calibri"/>
            </a:endParaRPr>
          </a:p>
        </p:txBody>
      </p:sp>
      <p:sp>
        <p:nvSpPr>
          <p:cNvPr id="141" name="Google Shape;141;p12"/>
          <p:cNvSpPr/>
          <p:nvPr/>
        </p:nvSpPr>
        <p:spPr>
          <a:xfrm>
            <a:off x="457200" y="4206240"/>
            <a:ext cx="84124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2D26"/>
              </a:buClr>
              <a:buSzPts val="1250"/>
              <a:buFont typeface="Georgia"/>
              <a:buNone/>
            </a:pPr>
            <a:r>
              <a:rPr b="1" i="0" lang="en-US" sz="1250" u="none" cap="none" strike="noStrike">
                <a:solidFill>
                  <a:srgbClr val="7B2D26"/>
                </a:solidFill>
                <a:latin typeface="Georgia"/>
                <a:ea typeface="Georgia"/>
                <a:cs typeface="Georgia"/>
                <a:sym typeface="Georgia"/>
              </a:rPr>
              <a:t>sklearn:  </a:t>
            </a:r>
            <a:r>
              <a:rPr b="0" i="0" lang="en-US" sz="1250" u="none" cap="none" strike="noStrike">
                <a:solidFill>
                  <a:srgbClr val="2B2B2B"/>
                </a:solidFill>
                <a:latin typeface="Courier New"/>
                <a:ea typeface="Courier New"/>
                <a:cs typeface="Courier New"/>
                <a:sym typeface="Courier New"/>
              </a:rPr>
              <a:t>DecisionTreeClassifier(ccp_alpha=α)  —  scan α with cross-validation.</a:t>
            </a:r>
            <a:endParaRPr b="0" i="0" sz="1250" u="none" cap="none" strike="noStrike">
              <a:solidFill>
                <a:schemeClr val="dk1"/>
              </a:solidFill>
              <a:latin typeface="Calibri"/>
              <a:ea typeface="Calibri"/>
              <a:cs typeface="Calibri"/>
              <a:sym typeface="Calibri"/>
            </a:endParaRPr>
          </a:p>
        </p:txBody>
      </p:sp>
      <p:sp>
        <p:nvSpPr>
          <p:cNvPr id="142" name="Google Shape;142;p12"/>
          <p:cNvSpPr/>
          <p:nvPr/>
        </p:nvSpPr>
        <p:spPr>
          <a:xfrm>
            <a:off x="2743200" y="4663440"/>
            <a:ext cx="36576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B2B2B"/>
              </a:buClr>
              <a:buSzPts val="1200"/>
              <a:buFont typeface="Georgia"/>
              <a:buNone/>
            </a:pPr>
            <a:r>
              <a:rPr b="1" i="0" lang="en-US" sz="1200" u="none" cap="none" strike="noStrike">
                <a:solidFill>
                  <a:srgbClr val="2B2B2B"/>
                </a:solidFill>
                <a:latin typeface="Georgia"/>
                <a:ea typeface="Georgia"/>
                <a:cs typeface="Georgia"/>
                <a:sym typeface="Georgia"/>
              </a:rPr>
              <a:t>CosmicAI Summer School</a:t>
            </a:r>
            <a:endParaRPr b="0" i="0" sz="1200" u="none" cap="none" strike="noStrike">
              <a:solidFill>
                <a:schemeClr val="dk1"/>
              </a:solidFill>
              <a:latin typeface="Calibri"/>
              <a:ea typeface="Calibri"/>
              <a:cs typeface="Calibri"/>
              <a:sym typeface="Calibri"/>
            </a:endParaRPr>
          </a:p>
        </p:txBody>
      </p:sp>
      <p:sp>
        <p:nvSpPr>
          <p:cNvPr id="143" name="Google Shape;143;p12"/>
          <p:cNvSpPr/>
          <p:nvPr/>
        </p:nvSpPr>
        <p:spPr>
          <a:xfrm>
            <a:off x="8275320" y="4754880"/>
            <a:ext cx="6858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06060"/>
              </a:buClr>
              <a:buSzPts val="1200"/>
              <a:buFont typeface="Georgia"/>
              <a:buNone/>
            </a:pPr>
            <a:r>
              <a:rPr b="0" i="0" lang="en-US" sz="1200" u="none" cap="none" strike="noStrike">
                <a:solidFill>
                  <a:srgbClr val="606060"/>
                </a:solidFill>
                <a:latin typeface="Georgia"/>
                <a:ea typeface="Georgia"/>
                <a:cs typeface="Georgia"/>
                <a:sym typeface="Georgia"/>
              </a:rPr>
              <a:t>12</a:t>
            </a:r>
            <a:endParaRPr b="0" i="0" sz="1200" u="none" cap="none" strike="noStrike">
              <a:solidFill>
                <a:schemeClr val="dk1"/>
              </a:solidFill>
              <a:latin typeface="Calibri"/>
              <a:ea typeface="Calibri"/>
              <a:cs typeface="Calibri"/>
              <a:sym typeface="Calibri"/>
            </a:endParaRPr>
          </a:p>
        </p:txBody>
      </p:sp>
      <p:pic>
        <p:nvPicPr>
          <p:cNvPr id="144" name="Google Shape;144;p12"/>
          <p:cNvPicPr preferRelativeResize="0"/>
          <p:nvPr/>
        </p:nvPicPr>
        <p:blipFill>
          <a:blip r:embed="rId3">
            <a:alphaModFix/>
          </a:blip>
          <a:stretch>
            <a:fillRect/>
          </a:stretch>
        </p:blipFill>
        <p:spPr>
          <a:xfrm>
            <a:off x="3532125" y="1493400"/>
            <a:ext cx="2904973" cy="7864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9" name="Shape 149"/>
        <p:cNvGrpSpPr/>
        <p:nvPr/>
      </p:nvGrpSpPr>
      <p:grpSpPr>
        <a:xfrm>
          <a:off x="0" y="0"/>
          <a:ext cx="0" cy="0"/>
          <a:chOff x="0" y="0"/>
          <a:chExt cx="0" cy="0"/>
        </a:xfrm>
      </p:grpSpPr>
      <p:sp>
        <p:nvSpPr>
          <p:cNvPr id="150" name="Google Shape;150;p10"/>
          <p:cNvSpPr/>
          <p:nvPr/>
        </p:nvSpPr>
        <p:spPr>
          <a:xfrm>
            <a:off x="274320" y="137160"/>
            <a:ext cx="859536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B2D26"/>
              </a:buClr>
              <a:buSzPts val="3000"/>
              <a:buFont typeface="Georgia"/>
              <a:buNone/>
            </a:pPr>
            <a:r>
              <a:rPr b="0" i="0" lang="en-US" sz="3000" u="none" cap="none" strike="noStrike">
                <a:solidFill>
                  <a:srgbClr val="7B2D26"/>
                </a:solidFill>
                <a:latin typeface="Georgia"/>
                <a:ea typeface="Georgia"/>
                <a:cs typeface="Georgia"/>
                <a:sym typeface="Georgia"/>
              </a:rPr>
              <a:t>Predicting from a Classification Tree</a:t>
            </a:r>
            <a:endParaRPr b="0" i="0" sz="3000" u="none" cap="none" strike="noStrike">
              <a:solidFill>
                <a:schemeClr val="dk1"/>
              </a:solidFill>
              <a:latin typeface="Calibri"/>
              <a:ea typeface="Calibri"/>
              <a:cs typeface="Calibri"/>
              <a:sym typeface="Calibri"/>
            </a:endParaRPr>
          </a:p>
        </p:txBody>
      </p:sp>
      <p:cxnSp>
        <p:nvCxnSpPr>
          <p:cNvPr id="151" name="Google Shape;151;p10"/>
          <p:cNvCxnSpPr/>
          <p:nvPr/>
        </p:nvCxnSpPr>
        <p:spPr>
          <a:xfrm>
            <a:off x="365760" y="777240"/>
            <a:ext cx="8412480" cy="0"/>
          </a:xfrm>
          <a:prstGeom prst="straightConnector1">
            <a:avLst/>
          </a:prstGeom>
          <a:noFill/>
          <a:ln cap="flat" cmpd="sng" w="15875">
            <a:solidFill>
              <a:srgbClr val="B0B0B0"/>
            </a:solidFill>
            <a:prstDash val="solid"/>
            <a:round/>
            <a:headEnd len="sm" w="sm" type="none"/>
            <a:tailEnd len="sm" w="sm" type="none"/>
          </a:ln>
        </p:spPr>
      </p:cxnSp>
      <p:sp>
        <p:nvSpPr>
          <p:cNvPr id="152" name="Google Shape;152;p10"/>
          <p:cNvSpPr/>
          <p:nvPr/>
        </p:nvSpPr>
        <p:spPr>
          <a:xfrm>
            <a:off x="457200" y="914400"/>
            <a:ext cx="4023300" cy="3383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7B2D26"/>
              </a:buClr>
              <a:buSzPts val="1300"/>
              <a:buFont typeface="Georgia"/>
              <a:buNone/>
            </a:pPr>
            <a:r>
              <a:rPr b="1" i="0" lang="en-US" sz="1300" u="none" cap="none" strike="noStrike">
                <a:solidFill>
                  <a:srgbClr val="7B2D26"/>
                </a:solidFill>
                <a:latin typeface="Georgia"/>
                <a:ea typeface="Georgia"/>
                <a:cs typeface="Georgia"/>
                <a:sym typeface="Georgia"/>
              </a:rPr>
              <a:t>Once trained, prediction is mechanical:</a:t>
            </a:r>
            <a:endParaRPr b="0" i="0" sz="13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2B2B2B"/>
              </a:buClr>
              <a:buSzPts val="500"/>
              <a:buFont typeface="Georgia"/>
              <a:buNone/>
            </a:pPr>
            <a:r>
              <a:rPr b="0" i="0" lang="en-US" sz="500" u="none" cap="none" strike="noStrike">
                <a:solidFill>
                  <a:srgbClr val="2B2B2B"/>
                </a:solidFill>
                <a:latin typeface="Georgia"/>
                <a:ea typeface="Georgia"/>
                <a:cs typeface="Georgia"/>
                <a:sym typeface="Georgia"/>
              </a:rPr>
              <a:t> </a:t>
            </a:r>
            <a:endParaRPr b="0" i="0" sz="13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2B2B2B"/>
              </a:buClr>
              <a:buSzPts val="1300"/>
              <a:buFont typeface="Georgia"/>
              <a:buNone/>
            </a:pPr>
            <a:r>
              <a:rPr b="0" i="0" lang="en-US" sz="1300" u="none" cap="none" strike="noStrike">
                <a:solidFill>
                  <a:srgbClr val="2B2B2B"/>
                </a:solidFill>
                <a:latin typeface="Georgia"/>
                <a:ea typeface="Georgia"/>
                <a:cs typeface="Georgia"/>
                <a:sym typeface="Georgia"/>
              </a:rPr>
              <a:t>Route the new example down the tree until it lands in a leaf.</a:t>
            </a:r>
            <a:endParaRPr b="0" i="0" sz="13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2B2B2B"/>
              </a:buClr>
              <a:buSzPts val="500"/>
              <a:buFont typeface="Georgia"/>
              <a:buNone/>
            </a:pPr>
            <a:r>
              <a:rPr b="0" i="0" lang="en-US" sz="500" u="none" cap="none" strike="noStrike">
                <a:solidFill>
                  <a:srgbClr val="2B2B2B"/>
                </a:solidFill>
                <a:latin typeface="Georgia"/>
                <a:ea typeface="Georgia"/>
                <a:cs typeface="Georgia"/>
                <a:sym typeface="Georgia"/>
              </a:rPr>
              <a:t> </a:t>
            </a:r>
            <a:endParaRPr b="0" i="0" sz="13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2B2B2B"/>
              </a:buClr>
              <a:buSzPts val="1300"/>
              <a:buFont typeface="Georgia"/>
              <a:buNone/>
            </a:pPr>
            <a:r>
              <a:rPr b="0" i="0" lang="en-US" sz="1300" u="none" cap="none" strike="noStrike">
                <a:solidFill>
                  <a:srgbClr val="2B2B2B"/>
                </a:solidFill>
                <a:latin typeface="Georgia"/>
                <a:ea typeface="Georgia"/>
                <a:cs typeface="Georgia"/>
                <a:sym typeface="Georgia"/>
              </a:rPr>
              <a:t>Predict the most frequent class (majority vote) among the training examples in that leaf.</a:t>
            </a:r>
            <a:endParaRPr b="0" i="0" sz="13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2B2B2B"/>
              </a:buClr>
              <a:buSzPts val="500"/>
              <a:buFont typeface="Georgia"/>
              <a:buNone/>
            </a:pPr>
            <a:r>
              <a:rPr b="0" i="0" lang="en-US" sz="500" u="none" cap="none" strike="noStrike">
                <a:solidFill>
                  <a:srgbClr val="2B2B2B"/>
                </a:solidFill>
                <a:latin typeface="Georgia"/>
                <a:ea typeface="Georgia"/>
                <a:cs typeface="Georgia"/>
                <a:sym typeface="Georgia"/>
              </a:rPr>
              <a:t> </a:t>
            </a:r>
            <a:endParaRPr b="0" i="0" sz="13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2B2B2B"/>
              </a:buClr>
              <a:buSzPts val="1300"/>
              <a:buFont typeface="Georgia"/>
              <a:buNone/>
            </a:pPr>
            <a:r>
              <a:rPr b="0" i="0" lang="en-US" sz="1300" u="none" cap="none" strike="noStrike">
                <a:solidFill>
                  <a:srgbClr val="2B2B2B"/>
                </a:solidFill>
                <a:latin typeface="Georgia"/>
                <a:ea typeface="Georgia"/>
                <a:cs typeface="Georgia"/>
                <a:sym typeface="Georgia"/>
              </a:rPr>
              <a:t>Also report class proportions in the leaf as a probability-like score:</a:t>
            </a:r>
            <a:endParaRPr b="0" i="0" sz="13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7B2D26"/>
              </a:buClr>
              <a:buSzPts val="1150"/>
              <a:buFont typeface="Courier New"/>
              <a:buNone/>
            </a:pPr>
            <a:r>
              <a:rPr b="0" i="0" lang="en-US" sz="1150" u="none" cap="none" strike="noStrike">
                <a:solidFill>
                  <a:srgbClr val="7B2D26"/>
                </a:solidFill>
                <a:latin typeface="Courier New"/>
                <a:ea typeface="Courier New"/>
                <a:cs typeface="Courier New"/>
                <a:sym typeface="Courier New"/>
              </a:rPr>
              <a:t>    P̂(spiral | x) ≈ n_spiral / n_total in leaf</a:t>
            </a:r>
            <a:endParaRPr b="0" i="0" sz="1300" u="none" cap="none" strike="noStrike">
              <a:solidFill>
                <a:schemeClr val="dk1"/>
              </a:solidFill>
              <a:latin typeface="Calibri"/>
              <a:ea typeface="Calibri"/>
              <a:cs typeface="Calibri"/>
              <a:sym typeface="Calibri"/>
            </a:endParaRPr>
          </a:p>
        </p:txBody>
      </p:sp>
      <p:sp>
        <p:nvSpPr>
          <p:cNvPr id="153" name="Google Shape;153;p10"/>
          <p:cNvSpPr/>
          <p:nvPr/>
        </p:nvSpPr>
        <p:spPr>
          <a:xfrm>
            <a:off x="4617720" y="914400"/>
            <a:ext cx="4297680" cy="3291840"/>
          </a:xfrm>
          <a:prstGeom prst="rect">
            <a:avLst/>
          </a:prstGeom>
          <a:solidFill>
            <a:srgbClr val="F9F4F1"/>
          </a:solidFill>
          <a:ln cap="flat" cmpd="sng" w="9525">
            <a:solidFill>
              <a:srgbClr val="7B2D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0"/>
          <p:cNvSpPr/>
          <p:nvPr/>
        </p:nvSpPr>
        <p:spPr>
          <a:xfrm>
            <a:off x="4754880" y="960120"/>
            <a:ext cx="40233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2D26"/>
              </a:buClr>
              <a:buSzPts val="1400"/>
              <a:buFont typeface="Georgia"/>
              <a:buNone/>
            </a:pPr>
            <a:r>
              <a:rPr b="1" i="1" lang="en-US" sz="1400" u="none" cap="none" strike="noStrike">
                <a:solidFill>
                  <a:srgbClr val="7B2D26"/>
                </a:solidFill>
                <a:latin typeface="Georgia"/>
                <a:ea typeface="Georgia"/>
                <a:cs typeface="Georgia"/>
                <a:sym typeface="Georgia"/>
              </a:rPr>
              <a:t>Worked example</a:t>
            </a:r>
            <a:endParaRPr b="0" i="0" sz="1400" u="none" cap="none" strike="noStrike">
              <a:solidFill>
                <a:schemeClr val="dk1"/>
              </a:solidFill>
              <a:latin typeface="Calibri"/>
              <a:ea typeface="Calibri"/>
              <a:cs typeface="Calibri"/>
              <a:sym typeface="Calibri"/>
            </a:endParaRPr>
          </a:p>
        </p:txBody>
      </p:sp>
      <p:sp>
        <p:nvSpPr>
          <p:cNvPr id="155" name="Google Shape;155;p10"/>
          <p:cNvSpPr/>
          <p:nvPr/>
        </p:nvSpPr>
        <p:spPr>
          <a:xfrm>
            <a:off x="4754880" y="1280160"/>
            <a:ext cx="4023360" cy="28803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B2B2B"/>
              </a:buClr>
              <a:buSzPts val="1250"/>
              <a:buFont typeface="Georgia"/>
              <a:buNone/>
            </a:pPr>
            <a:r>
              <a:rPr b="0" i="0" lang="en-US" sz="1250" u="none" cap="none" strike="noStrike">
                <a:solidFill>
                  <a:srgbClr val="2B2B2B"/>
                </a:solidFill>
                <a:latin typeface="Georgia"/>
                <a:ea typeface="Georgia"/>
                <a:cs typeface="Georgia"/>
                <a:sym typeface="Georgia"/>
              </a:rPr>
              <a:t>A new galaxy with  g − r = 0.9,  r − i = 0.30:</a:t>
            </a:r>
            <a:endParaRPr b="0" i="0" sz="12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2B2B2B"/>
              </a:buClr>
              <a:buSzPts val="1250"/>
              <a:buFont typeface="Georgia"/>
              <a:buNone/>
            </a:pPr>
            <a:r>
              <a:rPr b="1" i="0" lang="en-US" sz="1250" u="none" cap="none" strike="noStrike">
                <a:solidFill>
                  <a:srgbClr val="2B2B2B"/>
                </a:solidFill>
                <a:latin typeface="Georgia"/>
                <a:ea typeface="Georgia"/>
                <a:cs typeface="Georgia"/>
                <a:sym typeface="Georgia"/>
              </a:rPr>
              <a:t>1. </a:t>
            </a:r>
            <a:r>
              <a:rPr b="0" i="0" lang="en-US" sz="1250" u="none" cap="none" strike="noStrike">
                <a:solidFill>
                  <a:srgbClr val="2B2B2B"/>
                </a:solidFill>
                <a:latin typeface="Georgia"/>
                <a:ea typeface="Georgia"/>
                <a:cs typeface="Georgia"/>
                <a:sym typeface="Georgia"/>
              </a:rPr>
              <a:t>g − r &lt; 1.0?  →  yes, go left.</a:t>
            </a:r>
            <a:endParaRPr b="0" i="0" sz="12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2B2B2B"/>
              </a:buClr>
              <a:buSzPts val="1250"/>
              <a:buFont typeface="Georgia"/>
              <a:buNone/>
            </a:pPr>
            <a:r>
              <a:rPr b="1" i="0" lang="en-US" sz="1250" u="none" cap="none" strike="noStrike">
                <a:solidFill>
                  <a:srgbClr val="2B2B2B"/>
                </a:solidFill>
                <a:latin typeface="Georgia"/>
                <a:ea typeface="Georgia"/>
                <a:cs typeface="Georgia"/>
                <a:sym typeface="Georgia"/>
              </a:rPr>
              <a:t>2. </a:t>
            </a:r>
            <a:r>
              <a:rPr b="0" i="0" lang="en-US" sz="1250" u="none" cap="none" strike="noStrike">
                <a:solidFill>
                  <a:srgbClr val="2B2B2B"/>
                </a:solidFill>
                <a:latin typeface="Georgia"/>
                <a:ea typeface="Georgia"/>
                <a:cs typeface="Georgia"/>
                <a:sym typeface="Georgia"/>
              </a:rPr>
              <a:t>r − i &lt; 0.45?  →  yes, go left.</a:t>
            </a:r>
            <a:endParaRPr b="0" i="0" sz="12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2B2B2B"/>
              </a:buClr>
              <a:buSzPts val="1250"/>
              <a:buFont typeface="Georgia"/>
              <a:buNone/>
            </a:pPr>
            <a:r>
              <a:rPr b="0" i="0" lang="en-US" sz="1250" u="none" cap="none" strike="noStrike">
                <a:solidFill>
                  <a:srgbClr val="2B2B2B"/>
                </a:solidFill>
                <a:latin typeface="Georgia"/>
                <a:ea typeface="Georgia"/>
                <a:cs typeface="Georgia"/>
                <a:sym typeface="Georgia"/>
              </a:rPr>
              <a:t>3. Leaf has n = 178 examples:</a:t>
            </a:r>
            <a:endParaRPr b="0" i="0" sz="12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2B2B2B"/>
              </a:buClr>
              <a:buSzPts val="1200"/>
              <a:buFont typeface="Courier New"/>
              <a:buNone/>
            </a:pPr>
            <a:r>
              <a:rPr b="0" i="0" lang="en-US" sz="1200" u="none" cap="none" strike="noStrike">
                <a:solidFill>
                  <a:srgbClr val="2B2B2B"/>
                </a:solidFill>
                <a:latin typeface="Courier New"/>
                <a:ea typeface="Courier New"/>
                <a:cs typeface="Courier New"/>
                <a:sym typeface="Courier New"/>
              </a:rPr>
              <a:t>      170 spiral,  6 elliptical,  2 irregular.</a:t>
            </a:r>
            <a:endParaRPr b="0" i="0" sz="12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2B2B2B"/>
              </a:buClr>
              <a:buSzPts val="500"/>
              <a:buFont typeface="Georgia"/>
              <a:buNone/>
            </a:pPr>
            <a:r>
              <a:rPr b="0" i="0" lang="en-US" sz="500" u="none" cap="none" strike="noStrike">
                <a:solidFill>
                  <a:srgbClr val="2B2B2B"/>
                </a:solidFill>
                <a:latin typeface="Georgia"/>
                <a:ea typeface="Georgia"/>
                <a:cs typeface="Georgia"/>
                <a:sym typeface="Georgia"/>
              </a:rPr>
              <a:t> </a:t>
            </a:r>
            <a:endParaRPr b="0" i="0" sz="12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7B2D26"/>
              </a:buClr>
              <a:buSzPts val="1250"/>
              <a:buFont typeface="Georgia"/>
              <a:buNone/>
            </a:pPr>
            <a:r>
              <a:rPr b="1" i="0" lang="en-US" sz="1250" u="none" cap="none" strike="noStrike">
                <a:solidFill>
                  <a:srgbClr val="7B2D26"/>
                </a:solidFill>
                <a:latin typeface="Georgia"/>
                <a:ea typeface="Georgia"/>
                <a:cs typeface="Georgia"/>
                <a:sym typeface="Georgia"/>
              </a:rPr>
              <a:t>Prediction:  </a:t>
            </a:r>
            <a:r>
              <a:rPr b="0" i="1" lang="en-US" sz="1250" u="none" cap="none" strike="noStrike">
                <a:solidFill>
                  <a:srgbClr val="2B2B2B"/>
                </a:solidFill>
                <a:latin typeface="Georgia"/>
                <a:ea typeface="Georgia"/>
                <a:cs typeface="Georgia"/>
                <a:sym typeface="Georgia"/>
              </a:rPr>
              <a:t>spiral</a:t>
            </a:r>
            <a:r>
              <a:rPr b="0" i="0" lang="en-US" sz="1250" u="none" cap="none" strike="noStrike">
                <a:solidFill>
                  <a:srgbClr val="7B2D26"/>
                </a:solidFill>
                <a:latin typeface="Courier New"/>
                <a:ea typeface="Courier New"/>
                <a:cs typeface="Courier New"/>
                <a:sym typeface="Courier New"/>
              </a:rPr>
              <a:t> with  P̂ = 170 / 178 = 0.96</a:t>
            </a:r>
            <a:endParaRPr b="0" i="0" sz="1250" u="none" cap="none" strike="noStrike">
              <a:solidFill>
                <a:schemeClr val="dk1"/>
              </a:solidFill>
              <a:latin typeface="Calibri"/>
              <a:ea typeface="Calibri"/>
              <a:cs typeface="Calibri"/>
              <a:sym typeface="Calibri"/>
            </a:endParaRPr>
          </a:p>
        </p:txBody>
      </p:sp>
      <p:sp>
        <p:nvSpPr>
          <p:cNvPr id="156" name="Google Shape;156;p10"/>
          <p:cNvSpPr/>
          <p:nvPr/>
        </p:nvSpPr>
        <p:spPr>
          <a:xfrm>
            <a:off x="2743200" y="4663440"/>
            <a:ext cx="36576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B2B2B"/>
              </a:buClr>
              <a:buSzPts val="1200"/>
              <a:buFont typeface="Georgia"/>
              <a:buNone/>
            </a:pPr>
            <a:r>
              <a:rPr b="1" i="0" lang="en-US" sz="1200" u="none" cap="none" strike="noStrike">
                <a:solidFill>
                  <a:srgbClr val="2B2B2B"/>
                </a:solidFill>
                <a:latin typeface="Georgia"/>
                <a:ea typeface="Georgia"/>
                <a:cs typeface="Georgia"/>
                <a:sym typeface="Georgia"/>
              </a:rPr>
              <a:t>CosmicAI Summer School</a:t>
            </a:r>
            <a:endParaRPr b="0" i="0" sz="1200" u="none" cap="none" strike="noStrike">
              <a:solidFill>
                <a:schemeClr val="dk1"/>
              </a:solidFill>
              <a:latin typeface="Calibri"/>
              <a:ea typeface="Calibri"/>
              <a:cs typeface="Calibri"/>
              <a:sym typeface="Calibri"/>
            </a:endParaRPr>
          </a:p>
        </p:txBody>
      </p:sp>
      <p:sp>
        <p:nvSpPr>
          <p:cNvPr id="157" name="Google Shape;157;p10"/>
          <p:cNvSpPr/>
          <p:nvPr/>
        </p:nvSpPr>
        <p:spPr>
          <a:xfrm>
            <a:off x="8275320" y="4754880"/>
            <a:ext cx="6858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06060"/>
              </a:buClr>
              <a:buSzPts val="1200"/>
              <a:buFont typeface="Georgia"/>
              <a:buNone/>
            </a:pPr>
            <a:r>
              <a:rPr b="0" i="0" lang="en-US" sz="1200" u="none" cap="none" strike="noStrike">
                <a:solidFill>
                  <a:srgbClr val="606060"/>
                </a:solidFill>
                <a:latin typeface="Georgia"/>
                <a:ea typeface="Georgia"/>
                <a:cs typeface="Georgia"/>
                <a:sym typeface="Georgia"/>
              </a:rPr>
              <a:t>10</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2" name="Shape 162"/>
        <p:cNvGrpSpPr/>
        <p:nvPr/>
      </p:nvGrpSpPr>
      <p:grpSpPr>
        <a:xfrm>
          <a:off x="0" y="0"/>
          <a:ext cx="0" cy="0"/>
          <a:chOff x="0" y="0"/>
          <a:chExt cx="0" cy="0"/>
        </a:xfrm>
      </p:grpSpPr>
      <p:sp>
        <p:nvSpPr>
          <p:cNvPr id="163" name="Google Shape;163;p13"/>
          <p:cNvSpPr/>
          <p:nvPr/>
        </p:nvSpPr>
        <p:spPr>
          <a:xfrm>
            <a:off x="274320" y="137160"/>
            <a:ext cx="859536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B2D26"/>
              </a:buClr>
              <a:buSzPts val="3000"/>
              <a:buFont typeface="Georgia"/>
              <a:buNone/>
            </a:pPr>
            <a:r>
              <a:rPr b="0" i="0" lang="en-US" sz="3000" u="none" cap="none" strike="noStrike">
                <a:solidFill>
                  <a:srgbClr val="7B2D26"/>
                </a:solidFill>
                <a:latin typeface="Georgia"/>
                <a:ea typeface="Georgia"/>
                <a:cs typeface="Georgia"/>
                <a:sym typeface="Georgia"/>
              </a:rPr>
              <a:t>Strengths &amp; Weaknesses of Single Trees</a:t>
            </a:r>
            <a:endParaRPr b="0" i="0" sz="3000" u="none" cap="none" strike="noStrike">
              <a:solidFill>
                <a:schemeClr val="dk1"/>
              </a:solidFill>
              <a:latin typeface="Calibri"/>
              <a:ea typeface="Calibri"/>
              <a:cs typeface="Calibri"/>
              <a:sym typeface="Calibri"/>
            </a:endParaRPr>
          </a:p>
        </p:txBody>
      </p:sp>
      <p:cxnSp>
        <p:nvCxnSpPr>
          <p:cNvPr id="164" name="Google Shape;164;p13"/>
          <p:cNvCxnSpPr/>
          <p:nvPr/>
        </p:nvCxnSpPr>
        <p:spPr>
          <a:xfrm>
            <a:off x="365760" y="777240"/>
            <a:ext cx="8412480" cy="0"/>
          </a:xfrm>
          <a:prstGeom prst="straightConnector1">
            <a:avLst/>
          </a:prstGeom>
          <a:noFill/>
          <a:ln cap="flat" cmpd="sng" w="15875">
            <a:solidFill>
              <a:srgbClr val="B0B0B0"/>
            </a:solidFill>
            <a:prstDash val="solid"/>
            <a:round/>
            <a:headEnd len="sm" w="sm" type="none"/>
            <a:tailEnd len="sm" w="sm" type="none"/>
          </a:ln>
        </p:spPr>
      </p:cxnSp>
      <p:sp>
        <p:nvSpPr>
          <p:cNvPr id="165" name="Google Shape;165;p13"/>
          <p:cNvSpPr/>
          <p:nvPr/>
        </p:nvSpPr>
        <p:spPr>
          <a:xfrm>
            <a:off x="502933" y="844920"/>
            <a:ext cx="39318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A5A3B"/>
              </a:buClr>
              <a:buSzPts val="1700"/>
              <a:buFont typeface="Georgia"/>
              <a:buNone/>
            </a:pPr>
            <a:r>
              <a:rPr b="1" i="0" lang="en-US" sz="1700" u="none" cap="none" strike="noStrike">
                <a:solidFill>
                  <a:srgbClr val="3A5A3B"/>
                </a:solidFill>
                <a:latin typeface="Georgia"/>
                <a:ea typeface="Georgia"/>
                <a:cs typeface="Georgia"/>
                <a:sym typeface="Georgia"/>
              </a:rPr>
              <a:t>Strengths</a:t>
            </a:r>
            <a:endParaRPr b="0" i="0" sz="1700" u="none" cap="none" strike="noStrike">
              <a:solidFill>
                <a:schemeClr val="dk1"/>
              </a:solidFill>
              <a:latin typeface="Calibri"/>
              <a:ea typeface="Calibri"/>
              <a:cs typeface="Calibri"/>
              <a:sym typeface="Calibri"/>
            </a:endParaRPr>
          </a:p>
        </p:txBody>
      </p:sp>
      <p:sp>
        <p:nvSpPr>
          <p:cNvPr id="166" name="Google Shape;166;p13"/>
          <p:cNvSpPr/>
          <p:nvPr/>
        </p:nvSpPr>
        <p:spPr>
          <a:xfrm>
            <a:off x="475200" y="1182875"/>
            <a:ext cx="4958400" cy="3429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B2B2B"/>
              </a:buClr>
              <a:buSzPts val="1300"/>
              <a:buFont typeface="Georgia"/>
              <a:buNone/>
            </a:pPr>
            <a:r>
              <a:rPr b="1" i="0" lang="en-US" sz="1300" u="none" cap="none" strike="noStrike">
                <a:solidFill>
                  <a:srgbClr val="2B2B2B"/>
                </a:solidFill>
                <a:latin typeface="Georgia"/>
                <a:ea typeface="Georgia"/>
                <a:cs typeface="Georgia"/>
                <a:sym typeface="Georgia"/>
              </a:rPr>
              <a:t>Intuitive: </a:t>
            </a:r>
            <a:r>
              <a:rPr b="0" i="0" lang="en-US" sz="1300" u="none" cap="none" strike="noStrike">
                <a:solidFill>
                  <a:srgbClr val="2B2B2B"/>
                </a:solidFill>
                <a:latin typeface="Georgia"/>
                <a:ea typeface="Georgia"/>
                <a:cs typeface="Georgia"/>
                <a:sym typeface="Georgia"/>
              </a:rPr>
              <a:t>easy to draw, explain, </a:t>
            </a:r>
            <a:r>
              <a:rPr lang="en-US" sz="1300">
                <a:solidFill>
                  <a:srgbClr val="2B2B2B"/>
                </a:solidFill>
                <a:latin typeface="Georgia"/>
                <a:ea typeface="Georgia"/>
                <a:cs typeface="Georgia"/>
                <a:sym typeface="Georgia"/>
              </a:rPr>
              <a:t>modify</a:t>
            </a:r>
            <a:r>
              <a:rPr b="0" i="0" lang="en-US" sz="1300" u="none" cap="none" strike="noStrike">
                <a:solidFill>
                  <a:srgbClr val="2B2B2B"/>
                </a:solidFill>
                <a:latin typeface="Georgia"/>
                <a:ea typeface="Georgia"/>
                <a:cs typeface="Georgia"/>
                <a:sym typeface="Georgia"/>
              </a:rPr>
              <a:t>.</a:t>
            </a:r>
            <a:endParaRPr b="0" i="0" sz="130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2B2B2B"/>
              </a:buClr>
              <a:buSzPts val="1300"/>
              <a:buFont typeface="Georgia"/>
              <a:buNone/>
            </a:pPr>
            <a:r>
              <a:rPr b="1" i="0" lang="en-US" sz="1300" u="none" cap="none" strike="noStrike">
                <a:solidFill>
                  <a:srgbClr val="2B2B2B"/>
                </a:solidFill>
                <a:latin typeface="Georgia"/>
                <a:ea typeface="Georgia"/>
                <a:cs typeface="Georgia"/>
                <a:sym typeface="Georgia"/>
              </a:rPr>
              <a:t>No scaling needed: </a:t>
            </a:r>
            <a:r>
              <a:rPr b="0" i="0" lang="en-US" sz="1300" u="none" cap="none" strike="noStrike">
                <a:solidFill>
                  <a:srgbClr val="2B2B2B"/>
                </a:solidFill>
                <a:latin typeface="Georgia"/>
                <a:ea typeface="Georgia"/>
                <a:cs typeface="Georgia"/>
                <a:sym typeface="Georgia"/>
              </a:rPr>
              <a:t>trees are invariant to</a:t>
            </a:r>
            <a:r>
              <a:rPr lang="en-US" sz="1300">
                <a:solidFill>
                  <a:srgbClr val="2B2B2B"/>
                </a:solidFill>
                <a:latin typeface="Georgia"/>
                <a:ea typeface="Georgia"/>
                <a:cs typeface="Georgia"/>
                <a:sym typeface="Georgia"/>
              </a:rPr>
              <a:t> </a:t>
            </a:r>
            <a:r>
              <a:rPr b="0" i="0" lang="en-US" sz="1300" u="none" cap="none" strike="noStrike">
                <a:solidFill>
                  <a:srgbClr val="2B2B2B"/>
                </a:solidFill>
                <a:latin typeface="Georgia"/>
                <a:ea typeface="Georgia"/>
                <a:cs typeface="Georgia"/>
                <a:sym typeface="Georgia"/>
              </a:rPr>
              <a:t>transforms.</a:t>
            </a:r>
            <a:endParaRPr b="0" i="0" sz="130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2B2B2B"/>
              </a:buClr>
              <a:buSzPts val="1300"/>
              <a:buFont typeface="Georgia"/>
              <a:buNone/>
            </a:pPr>
            <a:r>
              <a:rPr b="1" i="0" lang="en-US" sz="1300" u="none" cap="none" strike="noStrike">
                <a:solidFill>
                  <a:srgbClr val="2B2B2B"/>
                </a:solidFill>
                <a:latin typeface="Georgia"/>
                <a:ea typeface="Georgia"/>
                <a:cs typeface="Georgia"/>
                <a:sym typeface="Georgia"/>
              </a:rPr>
              <a:t>Mixed feature types: </a:t>
            </a:r>
            <a:r>
              <a:rPr b="0" i="0" lang="en-US" sz="1300" u="none" cap="none" strike="noStrike">
                <a:solidFill>
                  <a:srgbClr val="2B2B2B"/>
                </a:solidFill>
                <a:latin typeface="Georgia"/>
                <a:ea typeface="Georgia"/>
                <a:cs typeface="Georgia"/>
                <a:sym typeface="Georgia"/>
              </a:rPr>
              <a:t>numerical and categorical handled together.</a:t>
            </a:r>
            <a:endParaRPr b="0" i="0" sz="130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2B2B2B"/>
              </a:buClr>
              <a:buSzPts val="1300"/>
              <a:buFont typeface="Georgia"/>
              <a:buNone/>
            </a:pPr>
            <a:r>
              <a:rPr b="0" i="0" lang="en-US" sz="1300" u="none" cap="none" strike="noStrike">
                <a:solidFill>
                  <a:srgbClr val="2B2B2B"/>
                </a:solidFill>
                <a:latin typeface="Georgia"/>
                <a:ea typeface="Georgia"/>
                <a:cs typeface="Georgia"/>
                <a:sym typeface="Georgia"/>
              </a:rPr>
              <a:t>Captures non-linear, non-monotonic structure (the partition).</a:t>
            </a:r>
            <a:endParaRPr b="0" i="0" sz="130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2B2B2B"/>
              </a:buClr>
              <a:buSzPts val="1300"/>
              <a:buFont typeface="Georgia"/>
              <a:buNone/>
            </a:pPr>
            <a:r>
              <a:rPr b="0" i="0" lang="en-US" sz="1300" u="none" cap="none" strike="noStrike">
                <a:solidFill>
                  <a:srgbClr val="2B2B2B"/>
                </a:solidFill>
                <a:latin typeface="Georgia"/>
                <a:ea typeface="Georgia"/>
                <a:cs typeface="Georgia"/>
                <a:sym typeface="Georgia"/>
              </a:rPr>
              <a:t>Built-in feature importance.</a:t>
            </a:r>
            <a:endParaRPr b="0" i="0" sz="130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2B2B2B"/>
              </a:buClr>
              <a:buSzPts val="1300"/>
              <a:buFont typeface="Georgia"/>
              <a:buNone/>
            </a:pPr>
            <a:r>
              <a:rPr b="0" i="0" lang="en-US" sz="1300" u="none" cap="none" strike="noStrike">
                <a:solidFill>
                  <a:srgbClr val="2B2B2B"/>
                </a:solidFill>
                <a:latin typeface="Georgia"/>
                <a:ea typeface="Georgia"/>
                <a:cs typeface="Georgia"/>
                <a:sym typeface="Georgia"/>
              </a:rPr>
              <a:t>Fast inference  O(depth).</a:t>
            </a:r>
            <a:endParaRPr b="0" i="0" sz="1300" u="none" cap="none" strike="noStrike">
              <a:solidFill>
                <a:srgbClr val="2B2B2B"/>
              </a:solidFill>
              <a:latin typeface="Georgia"/>
              <a:ea typeface="Georgia"/>
              <a:cs typeface="Georgia"/>
              <a:sym typeface="Georgia"/>
            </a:endParaRPr>
          </a:p>
          <a:p>
            <a:pPr indent="0" lvl="0" marL="0" marR="0" rtl="0" algn="l">
              <a:spcBef>
                <a:spcPts val="500"/>
              </a:spcBef>
              <a:spcAft>
                <a:spcPts val="0"/>
              </a:spcAft>
              <a:buClr>
                <a:srgbClr val="2B2B2B"/>
              </a:buClr>
              <a:buSzPts val="1300"/>
              <a:buFont typeface="Georgia"/>
              <a:buNone/>
            </a:pPr>
            <a:r>
              <a:t/>
            </a:r>
            <a:endParaRPr sz="1300">
              <a:solidFill>
                <a:srgbClr val="2B2B2B"/>
              </a:solidFill>
              <a:latin typeface="Georgia"/>
              <a:ea typeface="Georgia"/>
              <a:cs typeface="Georgia"/>
              <a:sym typeface="Georgia"/>
            </a:endParaRPr>
          </a:p>
          <a:p>
            <a:pPr indent="0" lvl="0" marL="0" rtl="0" algn="l">
              <a:spcBef>
                <a:spcPts val="0"/>
              </a:spcBef>
              <a:spcAft>
                <a:spcPts val="0"/>
              </a:spcAft>
              <a:buClr>
                <a:srgbClr val="3A5A3B"/>
              </a:buClr>
              <a:buSzPts val="1700"/>
              <a:buFont typeface="Georgia"/>
              <a:buNone/>
            </a:pPr>
            <a:r>
              <a:rPr b="1" lang="en-US" sz="1700">
                <a:solidFill>
                  <a:srgbClr val="F9CB9C"/>
                </a:solidFill>
                <a:latin typeface="Georgia"/>
                <a:ea typeface="Georgia"/>
                <a:cs typeface="Georgia"/>
                <a:sym typeface="Georgia"/>
              </a:rPr>
              <a:t>Weaknesses</a:t>
            </a:r>
            <a:endParaRPr sz="1300">
              <a:solidFill>
                <a:srgbClr val="F9CB9C"/>
              </a:solidFill>
              <a:latin typeface="Georgia"/>
              <a:ea typeface="Georgia"/>
              <a:cs typeface="Georgia"/>
              <a:sym typeface="Georgia"/>
            </a:endParaRPr>
          </a:p>
          <a:p>
            <a:pPr indent="0" lvl="0" marL="0" rtl="0" algn="l">
              <a:spcBef>
                <a:spcPts val="0"/>
              </a:spcBef>
              <a:spcAft>
                <a:spcPts val="0"/>
              </a:spcAft>
              <a:buClr>
                <a:srgbClr val="2B2B2B"/>
              </a:buClr>
              <a:buSzPts val="1300"/>
              <a:buFont typeface="Georgia"/>
              <a:buNone/>
            </a:pPr>
            <a:r>
              <a:rPr b="1" lang="en-US" sz="1300">
                <a:solidFill>
                  <a:srgbClr val="2B2B2B"/>
                </a:solidFill>
                <a:latin typeface="Georgia"/>
                <a:ea typeface="Georgia"/>
                <a:cs typeface="Georgia"/>
                <a:sym typeface="Georgia"/>
              </a:rPr>
              <a:t>High variance: </a:t>
            </a:r>
            <a:r>
              <a:rPr lang="en-US" sz="1300">
                <a:solidFill>
                  <a:srgbClr val="2B2B2B"/>
                </a:solidFill>
                <a:latin typeface="Georgia"/>
                <a:ea typeface="Georgia"/>
                <a:cs typeface="Georgia"/>
                <a:sym typeface="Georgia"/>
              </a:rPr>
              <a:t>small data change → very different tree.</a:t>
            </a:r>
            <a:endParaRPr sz="1300">
              <a:solidFill>
                <a:srgbClr val="2B2B2B"/>
              </a:solidFill>
              <a:latin typeface="Georgia"/>
              <a:ea typeface="Georgia"/>
              <a:cs typeface="Georgia"/>
              <a:sym typeface="Georgia"/>
            </a:endParaRPr>
          </a:p>
          <a:p>
            <a:pPr indent="0" lvl="0" marL="0" marR="0" rtl="0" algn="l">
              <a:spcBef>
                <a:spcPts val="500"/>
              </a:spcBef>
              <a:spcAft>
                <a:spcPts val="0"/>
              </a:spcAft>
              <a:buClr>
                <a:srgbClr val="2B2B2B"/>
              </a:buClr>
              <a:buSzPts val="1300"/>
              <a:buFont typeface="Georgia"/>
              <a:buNone/>
            </a:pPr>
            <a:r>
              <a:rPr lang="en-US" sz="1300">
                <a:solidFill>
                  <a:srgbClr val="2B2B2B"/>
                </a:solidFill>
                <a:latin typeface="Georgia"/>
                <a:ea typeface="Georgia"/>
                <a:cs typeface="Georgia"/>
                <a:sym typeface="Georgia"/>
              </a:rPr>
              <a:t>Trees can underperform on some simple linear tasks.</a:t>
            </a:r>
            <a:endParaRPr sz="1300">
              <a:solidFill>
                <a:srgbClr val="2B2B2B"/>
              </a:solidFill>
              <a:latin typeface="Georgia"/>
              <a:ea typeface="Georgia"/>
              <a:cs typeface="Georgia"/>
              <a:sym typeface="Georgia"/>
            </a:endParaRPr>
          </a:p>
          <a:p>
            <a:pPr indent="0" lvl="0" marL="0" rtl="0" algn="l">
              <a:spcBef>
                <a:spcPts val="0"/>
              </a:spcBef>
              <a:spcAft>
                <a:spcPts val="0"/>
              </a:spcAft>
              <a:buClr>
                <a:srgbClr val="2B2B2B"/>
              </a:buClr>
              <a:buSzPts val="1300"/>
              <a:buFont typeface="Georgia"/>
              <a:buNone/>
            </a:pPr>
            <a:r>
              <a:rPr lang="en-US" sz="1300">
                <a:solidFill>
                  <a:srgbClr val="2B2B2B"/>
                </a:solidFill>
                <a:latin typeface="Georgia"/>
                <a:ea typeface="Georgia"/>
                <a:cs typeface="Georgia"/>
                <a:sym typeface="Georgia"/>
              </a:rPr>
              <a:t>Very easy to overfit.</a:t>
            </a:r>
            <a:endParaRPr sz="1300">
              <a:solidFill>
                <a:srgbClr val="2B2B2B"/>
              </a:solidFill>
              <a:latin typeface="Georgia"/>
              <a:ea typeface="Georgia"/>
              <a:cs typeface="Georgia"/>
              <a:sym typeface="Georgia"/>
            </a:endParaRPr>
          </a:p>
        </p:txBody>
      </p:sp>
      <p:sp>
        <p:nvSpPr>
          <p:cNvPr id="167" name="Google Shape;167;p13"/>
          <p:cNvSpPr/>
          <p:nvPr/>
        </p:nvSpPr>
        <p:spPr>
          <a:xfrm>
            <a:off x="2743200" y="4667415"/>
            <a:ext cx="36576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B2B2B"/>
              </a:buClr>
              <a:buSzPts val="1200"/>
              <a:buFont typeface="Georgia"/>
              <a:buNone/>
            </a:pPr>
            <a:r>
              <a:rPr b="1" i="0" lang="en-US" sz="1200" u="none" cap="none" strike="noStrike">
                <a:solidFill>
                  <a:srgbClr val="2B2B2B"/>
                </a:solidFill>
                <a:latin typeface="Georgia"/>
                <a:ea typeface="Georgia"/>
                <a:cs typeface="Georgia"/>
                <a:sym typeface="Georgia"/>
              </a:rPr>
              <a:t>CosmicAI Summer School</a:t>
            </a:r>
            <a:endParaRPr b="0" i="0" sz="1200" u="none" cap="none" strike="noStrike">
              <a:solidFill>
                <a:schemeClr val="dk1"/>
              </a:solidFill>
              <a:latin typeface="Calibri"/>
              <a:ea typeface="Calibri"/>
              <a:cs typeface="Calibri"/>
              <a:sym typeface="Calibri"/>
            </a:endParaRPr>
          </a:p>
        </p:txBody>
      </p:sp>
      <p:sp>
        <p:nvSpPr>
          <p:cNvPr id="168" name="Google Shape;168;p13"/>
          <p:cNvSpPr/>
          <p:nvPr/>
        </p:nvSpPr>
        <p:spPr>
          <a:xfrm>
            <a:off x="8275320" y="4754880"/>
            <a:ext cx="6858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06060"/>
              </a:buClr>
              <a:buSzPts val="1200"/>
              <a:buFont typeface="Georgia"/>
              <a:buNone/>
            </a:pPr>
            <a:r>
              <a:rPr b="0" i="0" lang="en-US" sz="1200" u="none" cap="none" strike="noStrike">
                <a:solidFill>
                  <a:srgbClr val="606060"/>
                </a:solidFill>
                <a:latin typeface="Georgia"/>
                <a:ea typeface="Georgia"/>
                <a:cs typeface="Georgia"/>
                <a:sym typeface="Georgia"/>
              </a:rPr>
              <a:t>13</a:t>
            </a:r>
            <a:endParaRPr b="0" i="0" sz="1200" u="none" cap="none" strike="noStrike">
              <a:solidFill>
                <a:schemeClr val="dk1"/>
              </a:solidFill>
              <a:latin typeface="Calibri"/>
              <a:ea typeface="Calibri"/>
              <a:cs typeface="Calibri"/>
              <a:sym typeface="Calibri"/>
            </a:endParaRPr>
          </a:p>
        </p:txBody>
      </p:sp>
      <p:pic>
        <p:nvPicPr>
          <p:cNvPr id="169" name="Google Shape;169;p13"/>
          <p:cNvPicPr preferRelativeResize="0"/>
          <p:nvPr/>
        </p:nvPicPr>
        <p:blipFill>
          <a:blip r:embed="rId3">
            <a:alphaModFix/>
          </a:blip>
          <a:stretch>
            <a:fillRect/>
          </a:stretch>
        </p:blipFill>
        <p:spPr>
          <a:xfrm>
            <a:off x="5921925" y="874243"/>
            <a:ext cx="2177150" cy="1773525"/>
          </a:xfrm>
          <a:prstGeom prst="rect">
            <a:avLst/>
          </a:prstGeom>
          <a:noFill/>
          <a:ln>
            <a:noFill/>
          </a:ln>
        </p:spPr>
      </p:pic>
      <p:pic>
        <p:nvPicPr>
          <p:cNvPr id="170" name="Google Shape;170;p13"/>
          <p:cNvPicPr preferRelativeResize="0"/>
          <p:nvPr/>
        </p:nvPicPr>
        <p:blipFill>
          <a:blip r:embed="rId4">
            <a:alphaModFix/>
          </a:blip>
          <a:stretch>
            <a:fillRect/>
          </a:stretch>
        </p:blipFill>
        <p:spPr>
          <a:xfrm>
            <a:off x="5980700" y="2826500"/>
            <a:ext cx="2253499" cy="17536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5" name="Shape 175"/>
        <p:cNvGrpSpPr/>
        <p:nvPr/>
      </p:nvGrpSpPr>
      <p:grpSpPr>
        <a:xfrm>
          <a:off x="0" y="0"/>
          <a:ext cx="0" cy="0"/>
          <a:chOff x="0" y="0"/>
          <a:chExt cx="0" cy="0"/>
        </a:xfrm>
      </p:grpSpPr>
      <p:sp>
        <p:nvSpPr>
          <p:cNvPr id="176" name="Google Shape;176;g3ec3abbe6f5_0_2"/>
          <p:cNvSpPr/>
          <p:nvPr/>
        </p:nvSpPr>
        <p:spPr>
          <a:xfrm>
            <a:off x="274320" y="137160"/>
            <a:ext cx="8595300" cy="640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B2D26"/>
              </a:buClr>
              <a:buSzPts val="3000"/>
              <a:buFont typeface="Georgia"/>
              <a:buNone/>
            </a:pPr>
            <a:r>
              <a:rPr lang="en-US" sz="3000">
                <a:solidFill>
                  <a:srgbClr val="7B2D26"/>
                </a:solidFill>
                <a:latin typeface="Georgia"/>
                <a:ea typeface="Georgia"/>
                <a:cs typeface="Georgia"/>
                <a:sym typeface="Georgia"/>
              </a:rPr>
              <a:t>Bootstrap</a:t>
            </a:r>
            <a:endParaRPr b="0" i="0" sz="3000" u="none" cap="none" strike="noStrike">
              <a:solidFill>
                <a:schemeClr val="dk1"/>
              </a:solidFill>
              <a:latin typeface="Calibri"/>
              <a:ea typeface="Calibri"/>
              <a:cs typeface="Calibri"/>
              <a:sym typeface="Calibri"/>
            </a:endParaRPr>
          </a:p>
        </p:txBody>
      </p:sp>
      <p:cxnSp>
        <p:nvCxnSpPr>
          <p:cNvPr id="177" name="Google Shape;177;g3ec3abbe6f5_0_2"/>
          <p:cNvCxnSpPr/>
          <p:nvPr/>
        </p:nvCxnSpPr>
        <p:spPr>
          <a:xfrm>
            <a:off x="365760" y="777240"/>
            <a:ext cx="8412600" cy="0"/>
          </a:xfrm>
          <a:prstGeom prst="straightConnector1">
            <a:avLst/>
          </a:prstGeom>
          <a:noFill/>
          <a:ln cap="flat" cmpd="sng" w="15875">
            <a:solidFill>
              <a:srgbClr val="B0B0B0"/>
            </a:solidFill>
            <a:prstDash val="solid"/>
            <a:round/>
            <a:headEnd len="sm" w="sm" type="none"/>
            <a:tailEnd len="sm" w="sm" type="none"/>
          </a:ln>
        </p:spPr>
      </p:cxnSp>
      <p:sp>
        <p:nvSpPr>
          <p:cNvPr id="178" name="Google Shape;178;g3ec3abbe6f5_0_2"/>
          <p:cNvSpPr/>
          <p:nvPr/>
        </p:nvSpPr>
        <p:spPr>
          <a:xfrm>
            <a:off x="2743200" y="4667415"/>
            <a:ext cx="36576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B2B2B"/>
              </a:buClr>
              <a:buSzPts val="1200"/>
              <a:buFont typeface="Georgia"/>
              <a:buNone/>
            </a:pPr>
            <a:r>
              <a:rPr b="1" i="0" lang="en-US" sz="1200" u="none" cap="none" strike="noStrike">
                <a:solidFill>
                  <a:srgbClr val="2B2B2B"/>
                </a:solidFill>
                <a:latin typeface="Georgia"/>
                <a:ea typeface="Georgia"/>
                <a:cs typeface="Georgia"/>
                <a:sym typeface="Georgia"/>
              </a:rPr>
              <a:t>CosmicAI Summer School</a:t>
            </a:r>
            <a:endParaRPr b="0" i="0" sz="1200" u="none" cap="none" strike="noStrike">
              <a:solidFill>
                <a:schemeClr val="dk1"/>
              </a:solidFill>
              <a:latin typeface="Calibri"/>
              <a:ea typeface="Calibri"/>
              <a:cs typeface="Calibri"/>
              <a:sym typeface="Calibri"/>
            </a:endParaRPr>
          </a:p>
        </p:txBody>
      </p:sp>
      <p:sp>
        <p:nvSpPr>
          <p:cNvPr id="179" name="Google Shape;179;g3ec3abbe6f5_0_2"/>
          <p:cNvSpPr/>
          <p:nvPr/>
        </p:nvSpPr>
        <p:spPr>
          <a:xfrm>
            <a:off x="8275320" y="4754880"/>
            <a:ext cx="685800" cy="2742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06060"/>
              </a:buClr>
              <a:buSzPts val="1200"/>
              <a:buFont typeface="Georgia"/>
              <a:buNone/>
            </a:pPr>
            <a:r>
              <a:rPr b="0" i="0" lang="en-US" sz="1200" u="none" cap="none" strike="noStrike">
                <a:solidFill>
                  <a:srgbClr val="606060"/>
                </a:solidFill>
                <a:latin typeface="Georgia"/>
                <a:ea typeface="Georgia"/>
                <a:cs typeface="Georgia"/>
                <a:sym typeface="Georgia"/>
              </a:rPr>
              <a:t>13</a:t>
            </a:r>
            <a:endParaRPr b="0" i="0" sz="1200" u="none" cap="none" strike="noStrike">
              <a:solidFill>
                <a:schemeClr val="dk1"/>
              </a:solidFill>
              <a:latin typeface="Calibri"/>
              <a:ea typeface="Calibri"/>
              <a:cs typeface="Calibri"/>
              <a:sym typeface="Calibri"/>
            </a:endParaRPr>
          </a:p>
        </p:txBody>
      </p:sp>
      <p:pic>
        <p:nvPicPr>
          <p:cNvPr id="180" name="Google Shape;180;g3ec3abbe6f5_0_2"/>
          <p:cNvPicPr preferRelativeResize="0"/>
          <p:nvPr/>
        </p:nvPicPr>
        <p:blipFill>
          <a:blip r:embed="rId3">
            <a:alphaModFix/>
          </a:blip>
          <a:stretch>
            <a:fillRect/>
          </a:stretch>
        </p:blipFill>
        <p:spPr>
          <a:xfrm>
            <a:off x="2337651" y="879925"/>
            <a:ext cx="4267474" cy="400142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5" name="Shape 185"/>
        <p:cNvGrpSpPr/>
        <p:nvPr/>
      </p:nvGrpSpPr>
      <p:grpSpPr>
        <a:xfrm>
          <a:off x="0" y="0"/>
          <a:ext cx="0" cy="0"/>
          <a:chOff x="0" y="0"/>
          <a:chExt cx="0" cy="0"/>
        </a:xfrm>
      </p:grpSpPr>
      <p:sp>
        <p:nvSpPr>
          <p:cNvPr id="186" name="Google Shape;186;p14"/>
          <p:cNvSpPr/>
          <p:nvPr/>
        </p:nvSpPr>
        <p:spPr>
          <a:xfrm>
            <a:off x="274320" y="137160"/>
            <a:ext cx="859536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B2D26"/>
              </a:buClr>
              <a:buSzPts val="3000"/>
              <a:buFont typeface="Georgia"/>
              <a:buNone/>
            </a:pPr>
            <a:r>
              <a:rPr b="0" i="0" lang="en-US" sz="3000" u="none" cap="none" strike="noStrike">
                <a:solidFill>
                  <a:srgbClr val="7B2D26"/>
                </a:solidFill>
                <a:latin typeface="Georgia"/>
                <a:ea typeface="Georgia"/>
                <a:cs typeface="Georgia"/>
                <a:sym typeface="Georgia"/>
              </a:rPr>
              <a:t>From One Tree to Many — Bagging</a:t>
            </a:r>
            <a:endParaRPr b="0" i="0" sz="3000" u="none" cap="none" strike="noStrike">
              <a:solidFill>
                <a:schemeClr val="dk1"/>
              </a:solidFill>
              <a:latin typeface="Calibri"/>
              <a:ea typeface="Calibri"/>
              <a:cs typeface="Calibri"/>
              <a:sym typeface="Calibri"/>
            </a:endParaRPr>
          </a:p>
        </p:txBody>
      </p:sp>
      <p:cxnSp>
        <p:nvCxnSpPr>
          <p:cNvPr id="187" name="Google Shape;187;p14"/>
          <p:cNvCxnSpPr/>
          <p:nvPr/>
        </p:nvCxnSpPr>
        <p:spPr>
          <a:xfrm>
            <a:off x="365760" y="777240"/>
            <a:ext cx="8412480" cy="0"/>
          </a:xfrm>
          <a:prstGeom prst="straightConnector1">
            <a:avLst/>
          </a:prstGeom>
          <a:noFill/>
          <a:ln cap="flat" cmpd="sng" w="15875">
            <a:solidFill>
              <a:srgbClr val="B0B0B0"/>
            </a:solidFill>
            <a:prstDash val="solid"/>
            <a:round/>
            <a:headEnd len="sm" w="sm" type="none"/>
            <a:tailEnd len="sm" w="sm" type="none"/>
          </a:ln>
        </p:spPr>
      </p:cxnSp>
      <p:pic>
        <p:nvPicPr>
          <p:cNvPr descr="/sessions/sleepy-friendly-euler/mnt/outputs/figs/fig_bagging.png" id="188" name="Google Shape;188;p14"/>
          <p:cNvPicPr preferRelativeResize="0"/>
          <p:nvPr/>
        </p:nvPicPr>
        <p:blipFill rotWithShape="1">
          <a:blip r:embed="rId3">
            <a:alphaModFix/>
          </a:blip>
          <a:srcRect b="0" l="0" r="0" t="0"/>
          <a:stretch/>
        </p:blipFill>
        <p:spPr>
          <a:xfrm>
            <a:off x="969688" y="912150"/>
            <a:ext cx="7204624" cy="2450250"/>
          </a:xfrm>
          <a:prstGeom prst="rect">
            <a:avLst/>
          </a:prstGeom>
          <a:noFill/>
          <a:ln>
            <a:noFill/>
          </a:ln>
        </p:spPr>
      </p:pic>
      <p:sp>
        <p:nvSpPr>
          <p:cNvPr id="189" name="Google Shape;189;p14"/>
          <p:cNvSpPr/>
          <p:nvPr/>
        </p:nvSpPr>
        <p:spPr>
          <a:xfrm>
            <a:off x="457200" y="3566160"/>
            <a:ext cx="4160520" cy="10058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7B2D26"/>
              </a:buClr>
              <a:buSzPts val="1250"/>
              <a:buFont typeface="Georgia"/>
              <a:buNone/>
            </a:pPr>
            <a:r>
              <a:rPr b="1" i="0" lang="en-US" sz="1250" u="none" cap="none" strike="noStrike">
                <a:solidFill>
                  <a:srgbClr val="7B2D26"/>
                </a:solidFill>
                <a:latin typeface="Georgia"/>
                <a:ea typeface="Georgia"/>
                <a:cs typeface="Georgia"/>
                <a:sym typeface="Georgia"/>
              </a:rPr>
              <a:t>Bagging = </a:t>
            </a:r>
            <a:r>
              <a:rPr b="0" i="0" lang="en-US" sz="1250" u="none" cap="none" strike="noStrike">
                <a:solidFill>
                  <a:srgbClr val="2B2B2B"/>
                </a:solidFill>
                <a:latin typeface="Georgia"/>
                <a:ea typeface="Georgia"/>
                <a:cs typeface="Georgia"/>
                <a:sym typeface="Georgia"/>
              </a:rPr>
              <a:t>Bootstrap + Aggregating.</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B2B2B"/>
              </a:buClr>
              <a:buSzPts val="1250"/>
              <a:buFont typeface="Georgia"/>
              <a:buNone/>
            </a:pPr>
            <a:r>
              <a:rPr b="1" i="0" lang="en-US" sz="1250" u="none" cap="none" strike="noStrike">
                <a:solidFill>
                  <a:srgbClr val="2B2B2B"/>
                </a:solidFill>
                <a:latin typeface="Georgia"/>
                <a:ea typeface="Georgia"/>
                <a:cs typeface="Georgia"/>
                <a:sym typeface="Georgia"/>
              </a:rPr>
              <a:t>1. </a:t>
            </a:r>
            <a:r>
              <a:rPr b="0" i="0" lang="en-US" sz="1250" u="none" cap="none" strike="noStrike">
                <a:solidFill>
                  <a:srgbClr val="2B2B2B"/>
                </a:solidFill>
                <a:latin typeface="Georgia"/>
                <a:ea typeface="Georgia"/>
                <a:cs typeface="Georgia"/>
                <a:sym typeface="Georgia"/>
              </a:rPr>
              <a:t>Draw B bootstrap samples </a:t>
            </a:r>
            <a:r>
              <a:rPr b="0" i="1" lang="en-US" sz="1250" u="none" cap="none" strike="noStrike">
                <a:solidFill>
                  <a:srgbClr val="606060"/>
                </a:solidFill>
                <a:latin typeface="Georgia"/>
                <a:ea typeface="Georgia"/>
                <a:cs typeface="Georgia"/>
                <a:sym typeface="Georgia"/>
              </a:rPr>
              <a:t>(with replacement)</a:t>
            </a:r>
            <a:r>
              <a:rPr b="0" i="0" lang="en-US" sz="1250" u="none" cap="none" strike="noStrike">
                <a:solidFill>
                  <a:srgbClr val="2B2B2B"/>
                </a:solidFill>
                <a:latin typeface="Georgia"/>
                <a:ea typeface="Georgia"/>
                <a:cs typeface="Georgia"/>
                <a:sym typeface="Georgia"/>
              </a:rPr>
              <a:t>.</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B2B2B"/>
              </a:buClr>
              <a:buSzPts val="1250"/>
              <a:buFont typeface="Georgia"/>
              <a:buNone/>
            </a:pPr>
            <a:r>
              <a:rPr b="1" i="0" lang="en-US" sz="1250" u="none" cap="none" strike="noStrike">
                <a:solidFill>
                  <a:srgbClr val="2B2B2B"/>
                </a:solidFill>
                <a:latin typeface="Georgia"/>
                <a:ea typeface="Georgia"/>
                <a:cs typeface="Georgia"/>
                <a:sym typeface="Georgia"/>
              </a:rPr>
              <a:t>2. </a:t>
            </a:r>
            <a:r>
              <a:rPr b="0" i="0" lang="en-US" sz="1250" u="none" cap="none" strike="noStrike">
                <a:solidFill>
                  <a:srgbClr val="2B2B2B"/>
                </a:solidFill>
                <a:latin typeface="Georgia"/>
                <a:ea typeface="Georgia"/>
                <a:cs typeface="Georgia"/>
                <a:sym typeface="Georgia"/>
              </a:rPr>
              <a:t>Train one tree per sample.</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B2B2B"/>
              </a:buClr>
              <a:buSzPts val="1250"/>
              <a:buFont typeface="Georgia"/>
              <a:buNone/>
            </a:pPr>
            <a:r>
              <a:rPr b="1" i="0" lang="en-US" sz="1250" u="none" cap="none" strike="noStrike">
                <a:solidFill>
                  <a:srgbClr val="2B2B2B"/>
                </a:solidFill>
                <a:latin typeface="Georgia"/>
                <a:ea typeface="Georgia"/>
                <a:cs typeface="Georgia"/>
                <a:sym typeface="Georgia"/>
              </a:rPr>
              <a:t>3. </a:t>
            </a:r>
            <a:r>
              <a:rPr b="0" i="0" lang="en-US" sz="1250" u="none" cap="none" strike="noStrike">
                <a:solidFill>
                  <a:srgbClr val="2B2B2B"/>
                </a:solidFill>
                <a:latin typeface="Georgia"/>
                <a:ea typeface="Georgia"/>
                <a:cs typeface="Georgia"/>
                <a:sym typeface="Georgia"/>
              </a:rPr>
              <a:t>Aggregate: mean for regression, vote for classification.</a:t>
            </a:r>
            <a:endParaRPr b="0" i="0" sz="1250" u="none" cap="none" strike="noStrike">
              <a:solidFill>
                <a:schemeClr val="dk1"/>
              </a:solidFill>
              <a:latin typeface="Calibri"/>
              <a:ea typeface="Calibri"/>
              <a:cs typeface="Calibri"/>
              <a:sym typeface="Calibri"/>
            </a:endParaRPr>
          </a:p>
        </p:txBody>
      </p:sp>
      <p:sp>
        <p:nvSpPr>
          <p:cNvPr id="190" name="Google Shape;190;p14"/>
          <p:cNvSpPr/>
          <p:nvPr/>
        </p:nvSpPr>
        <p:spPr>
          <a:xfrm>
            <a:off x="4709160" y="3566160"/>
            <a:ext cx="4160520" cy="914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F5A7A"/>
              </a:buClr>
              <a:buSzPts val="1200"/>
              <a:buFont typeface="Georgia"/>
              <a:buNone/>
            </a:pPr>
            <a:r>
              <a:rPr b="1" i="0" lang="en-US" sz="1200" u="none" cap="none" strike="noStrike">
                <a:solidFill>
                  <a:srgbClr val="2F5A7A"/>
                </a:solidFill>
                <a:latin typeface="Georgia"/>
                <a:ea typeface="Georgia"/>
                <a:cs typeface="Georgia"/>
                <a:sym typeface="Georgia"/>
              </a:rPr>
              <a:t>Why this helps:</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B2B2B"/>
              </a:buClr>
              <a:buSzPts val="1200"/>
              <a:buFont typeface="Georgia"/>
              <a:buNone/>
            </a:pPr>
            <a:r>
              <a:rPr b="0" i="0" lang="en-US" sz="1200" u="none" cap="none" strike="noStrike">
                <a:solidFill>
                  <a:srgbClr val="2B2B2B"/>
                </a:solidFill>
                <a:latin typeface="Georgia"/>
                <a:ea typeface="Georgia"/>
                <a:cs typeface="Georgia"/>
                <a:sym typeface="Georgia"/>
              </a:rPr>
              <a:t>Each tree is trained on a different bootstrap, so averaging cancels the noise (variance ↓).</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06060"/>
              </a:buClr>
              <a:buSzPts val="1150"/>
              <a:buFont typeface="Georgia"/>
              <a:buNone/>
            </a:pPr>
            <a:r>
              <a:rPr b="0" i="1" lang="en-US" sz="1150" u="none" cap="none" strike="noStrike">
                <a:solidFill>
                  <a:srgbClr val="606060"/>
                </a:solidFill>
                <a:latin typeface="Georgia"/>
                <a:ea typeface="Georgia"/>
                <a:cs typeface="Georgia"/>
                <a:sym typeface="Georgia"/>
              </a:rPr>
              <a:t>Bias stays the same (trees are fully grown).</a:t>
            </a:r>
            <a:endParaRPr b="0" i="0" sz="1200" u="none" cap="none" strike="noStrike">
              <a:solidFill>
                <a:schemeClr val="dk1"/>
              </a:solidFill>
              <a:latin typeface="Calibri"/>
              <a:ea typeface="Calibri"/>
              <a:cs typeface="Calibri"/>
              <a:sym typeface="Calibri"/>
            </a:endParaRPr>
          </a:p>
        </p:txBody>
      </p:sp>
      <p:sp>
        <p:nvSpPr>
          <p:cNvPr id="191" name="Google Shape;191;p14"/>
          <p:cNvSpPr/>
          <p:nvPr/>
        </p:nvSpPr>
        <p:spPr>
          <a:xfrm>
            <a:off x="2743200" y="4663440"/>
            <a:ext cx="36576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B2B2B"/>
              </a:buClr>
              <a:buSzPts val="1200"/>
              <a:buFont typeface="Georgia"/>
              <a:buNone/>
            </a:pPr>
            <a:r>
              <a:rPr b="1" i="0" lang="en-US" sz="1200" u="none" cap="none" strike="noStrike">
                <a:solidFill>
                  <a:srgbClr val="2B2B2B"/>
                </a:solidFill>
                <a:latin typeface="Georgia"/>
                <a:ea typeface="Georgia"/>
                <a:cs typeface="Georgia"/>
                <a:sym typeface="Georgia"/>
              </a:rPr>
              <a:t>CosmicAI Summer School</a:t>
            </a:r>
            <a:endParaRPr b="0" i="0" sz="1200" u="none" cap="none" strike="noStrike">
              <a:solidFill>
                <a:schemeClr val="dk1"/>
              </a:solidFill>
              <a:latin typeface="Calibri"/>
              <a:ea typeface="Calibri"/>
              <a:cs typeface="Calibri"/>
              <a:sym typeface="Calibri"/>
            </a:endParaRPr>
          </a:p>
        </p:txBody>
      </p:sp>
      <p:sp>
        <p:nvSpPr>
          <p:cNvPr id="192" name="Google Shape;192;p14"/>
          <p:cNvSpPr/>
          <p:nvPr/>
        </p:nvSpPr>
        <p:spPr>
          <a:xfrm>
            <a:off x="8275320" y="4754880"/>
            <a:ext cx="6858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06060"/>
              </a:buClr>
              <a:buSzPts val="1200"/>
              <a:buFont typeface="Georgia"/>
              <a:buNone/>
            </a:pPr>
            <a:r>
              <a:rPr b="0" i="0" lang="en-US" sz="1200" u="none" cap="none" strike="noStrike">
                <a:solidFill>
                  <a:srgbClr val="606060"/>
                </a:solidFill>
                <a:latin typeface="Georgia"/>
                <a:ea typeface="Georgia"/>
                <a:cs typeface="Georgia"/>
                <a:sym typeface="Georgia"/>
              </a:rPr>
              <a:t>14</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7" name="Shape 197"/>
        <p:cNvGrpSpPr/>
        <p:nvPr/>
      </p:nvGrpSpPr>
      <p:grpSpPr>
        <a:xfrm>
          <a:off x="0" y="0"/>
          <a:ext cx="0" cy="0"/>
          <a:chOff x="0" y="0"/>
          <a:chExt cx="0" cy="0"/>
        </a:xfrm>
      </p:grpSpPr>
      <p:sp>
        <p:nvSpPr>
          <p:cNvPr id="198" name="Google Shape;198;p15"/>
          <p:cNvSpPr/>
          <p:nvPr/>
        </p:nvSpPr>
        <p:spPr>
          <a:xfrm>
            <a:off x="274320" y="137160"/>
            <a:ext cx="859536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B2D26"/>
              </a:buClr>
              <a:buSzPts val="3000"/>
              <a:buFont typeface="Georgia"/>
              <a:buNone/>
            </a:pPr>
            <a:r>
              <a:rPr b="0" i="0" lang="en-US" sz="3000" u="none" cap="none" strike="noStrike">
                <a:solidFill>
                  <a:srgbClr val="7B2D26"/>
                </a:solidFill>
                <a:latin typeface="Georgia"/>
                <a:ea typeface="Georgia"/>
                <a:cs typeface="Georgia"/>
                <a:sym typeface="Georgia"/>
              </a:rPr>
              <a:t>Random Forests — Two Ingredients</a:t>
            </a:r>
            <a:endParaRPr b="0" i="0" sz="3000" u="none" cap="none" strike="noStrike">
              <a:solidFill>
                <a:schemeClr val="dk1"/>
              </a:solidFill>
              <a:latin typeface="Calibri"/>
              <a:ea typeface="Calibri"/>
              <a:cs typeface="Calibri"/>
              <a:sym typeface="Calibri"/>
            </a:endParaRPr>
          </a:p>
        </p:txBody>
      </p:sp>
      <p:cxnSp>
        <p:nvCxnSpPr>
          <p:cNvPr id="199" name="Google Shape;199;p15"/>
          <p:cNvCxnSpPr/>
          <p:nvPr/>
        </p:nvCxnSpPr>
        <p:spPr>
          <a:xfrm>
            <a:off x="365760" y="777240"/>
            <a:ext cx="8412480" cy="0"/>
          </a:xfrm>
          <a:prstGeom prst="straightConnector1">
            <a:avLst/>
          </a:prstGeom>
          <a:noFill/>
          <a:ln cap="flat" cmpd="sng" w="15875">
            <a:solidFill>
              <a:srgbClr val="B0B0B0"/>
            </a:solidFill>
            <a:prstDash val="solid"/>
            <a:round/>
            <a:headEnd len="sm" w="sm" type="none"/>
            <a:tailEnd len="sm" w="sm" type="none"/>
          </a:ln>
        </p:spPr>
      </p:cxnSp>
      <p:pic>
        <p:nvPicPr>
          <p:cNvPr descr="/sessions/sleepy-friendly-euler/mnt/outputs/figs/fig_rf_ingredients.png" id="200" name="Google Shape;200;p15"/>
          <p:cNvPicPr preferRelativeResize="0"/>
          <p:nvPr/>
        </p:nvPicPr>
        <p:blipFill rotWithShape="1">
          <a:blip r:embed="rId3">
            <a:alphaModFix/>
          </a:blip>
          <a:srcRect b="0" l="0" r="0" t="0"/>
          <a:stretch/>
        </p:blipFill>
        <p:spPr>
          <a:xfrm>
            <a:off x="365760" y="868680"/>
            <a:ext cx="8412480" cy="2468880"/>
          </a:xfrm>
          <a:prstGeom prst="rect">
            <a:avLst/>
          </a:prstGeom>
          <a:noFill/>
          <a:ln>
            <a:noFill/>
          </a:ln>
        </p:spPr>
      </p:pic>
      <p:sp>
        <p:nvSpPr>
          <p:cNvPr id="201" name="Google Shape;201;p15"/>
          <p:cNvSpPr/>
          <p:nvPr/>
        </p:nvSpPr>
        <p:spPr>
          <a:xfrm>
            <a:off x="365760" y="3474720"/>
            <a:ext cx="4160520" cy="1051560"/>
          </a:xfrm>
          <a:prstGeom prst="rect">
            <a:avLst/>
          </a:prstGeom>
          <a:solidFill>
            <a:srgbClr val="F4ECE9"/>
          </a:solidFill>
          <a:ln cap="flat" cmpd="sng" w="9525">
            <a:solidFill>
              <a:srgbClr val="7B2D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5"/>
          <p:cNvSpPr/>
          <p:nvPr/>
        </p:nvSpPr>
        <p:spPr>
          <a:xfrm>
            <a:off x="502920" y="3520440"/>
            <a:ext cx="3886200" cy="9601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2D26"/>
              </a:buClr>
              <a:buSzPts val="1200"/>
              <a:buFont typeface="Georgia"/>
              <a:buNone/>
            </a:pPr>
            <a:r>
              <a:rPr b="1" i="0" lang="en-US" sz="1200" u="none" cap="none" strike="noStrike">
                <a:solidFill>
                  <a:srgbClr val="7B2D26"/>
                </a:solidFill>
                <a:latin typeface="Georgia"/>
                <a:ea typeface="Georgia"/>
                <a:cs typeface="Georgia"/>
                <a:sym typeface="Georgia"/>
              </a:rPr>
              <a:t>1. Bagging (data randomness):  </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B2B2B"/>
              </a:buClr>
              <a:buSzPts val="1200"/>
              <a:buFont typeface="Georgia"/>
              <a:buNone/>
            </a:pPr>
            <a:r>
              <a:rPr b="0" i="0" lang="en-US" sz="1200" u="none" cap="none" strike="noStrike">
                <a:solidFill>
                  <a:srgbClr val="2B2B2B"/>
                </a:solidFill>
                <a:latin typeface="Georgia"/>
                <a:ea typeface="Georgia"/>
                <a:cs typeface="Georgia"/>
                <a:sym typeface="Georgia"/>
              </a:rPr>
              <a:t>different bootstrap sample per tree → different data.</a:t>
            </a:r>
            <a:endParaRPr b="0" i="0" sz="1200" u="none" cap="none" strike="noStrike">
              <a:solidFill>
                <a:schemeClr val="dk1"/>
              </a:solidFill>
              <a:latin typeface="Calibri"/>
              <a:ea typeface="Calibri"/>
              <a:cs typeface="Calibri"/>
              <a:sym typeface="Calibri"/>
            </a:endParaRPr>
          </a:p>
        </p:txBody>
      </p:sp>
      <p:sp>
        <p:nvSpPr>
          <p:cNvPr id="203" name="Google Shape;203;p15"/>
          <p:cNvSpPr/>
          <p:nvPr/>
        </p:nvSpPr>
        <p:spPr>
          <a:xfrm>
            <a:off x="4663440" y="3474720"/>
            <a:ext cx="4160520" cy="1051560"/>
          </a:xfrm>
          <a:prstGeom prst="rect">
            <a:avLst/>
          </a:prstGeom>
          <a:solidFill>
            <a:srgbClr val="EAF1F4"/>
          </a:solidFill>
          <a:ln cap="flat" cmpd="sng" w="9525">
            <a:solidFill>
              <a:srgbClr val="2F5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5"/>
          <p:cNvSpPr/>
          <p:nvPr/>
        </p:nvSpPr>
        <p:spPr>
          <a:xfrm>
            <a:off x="4800600" y="3520440"/>
            <a:ext cx="3886200" cy="9601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F5A7A"/>
              </a:buClr>
              <a:buSzPts val="1200"/>
              <a:buFont typeface="Georgia"/>
              <a:buNone/>
            </a:pPr>
            <a:r>
              <a:rPr b="1" i="0" lang="en-US" sz="1200" u="none" cap="none" strike="noStrike">
                <a:solidFill>
                  <a:srgbClr val="2F5A7A"/>
                </a:solidFill>
                <a:latin typeface="Georgia"/>
                <a:ea typeface="Georgia"/>
                <a:cs typeface="Georgia"/>
                <a:sym typeface="Georgia"/>
              </a:rPr>
              <a:t>2. Feature subsampling (feature randomness):  </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B2B2B"/>
              </a:buClr>
              <a:buSzPts val="1200"/>
              <a:buFont typeface="Georgia"/>
              <a:buNone/>
            </a:pPr>
            <a:r>
              <a:rPr b="0" i="0" lang="en-US" sz="1200" u="none" cap="none" strike="noStrike">
                <a:solidFill>
                  <a:srgbClr val="2B2B2B"/>
                </a:solidFill>
                <a:latin typeface="Georgia"/>
                <a:ea typeface="Georgia"/>
                <a:cs typeface="Georgia"/>
                <a:sym typeface="Georgia"/>
              </a:rPr>
              <a:t>at every split, only a random subset of features is considered.</a:t>
            </a:r>
            <a:endParaRPr b="0" i="0" sz="1200" u="none" cap="none" strike="noStrike">
              <a:solidFill>
                <a:schemeClr val="dk1"/>
              </a:solidFill>
              <a:latin typeface="Calibri"/>
              <a:ea typeface="Calibri"/>
              <a:cs typeface="Calibri"/>
              <a:sym typeface="Calibri"/>
            </a:endParaRPr>
          </a:p>
        </p:txBody>
      </p:sp>
      <p:sp>
        <p:nvSpPr>
          <p:cNvPr id="205" name="Google Shape;205;p15"/>
          <p:cNvSpPr/>
          <p:nvPr/>
        </p:nvSpPr>
        <p:spPr>
          <a:xfrm>
            <a:off x="2743200" y="4663440"/>
            <a:ext cx="36576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B2B2B"/>
              </a:buClr>
              <a:buSzPts val="1200"/>
              <a:buFont typeface="Georgia"/>
              <a:buNone/>
            </a:pPr>
            <a:r>
              <a:rPr b="1" i="0" lang="en-US" sz="1200" u="none" cap="none" strike="noStrike">
                <a:solidFill>
                  <a:srgbClr val="2B2B2B"/>
                </a:solidFill>
                <a:latin typeface="Georgia"/>
                <a:ea typeface="Georgia"/>
                <a:cs typeface="Georgia"/>
                <a:sym typeface="Georgia"/>
              </a:rPr>
              <a:t>CosmicAI Summer School</a:t>
            </a:r>
            <a:endParaRPr b="0" i="0" sz="1200" u="none" cap="none" strike="noStrike">
              <a:solidFill>
                <a:schemeClr val="dk1"/>
              </a:solidFill>
              <a:latin typeface="Calibri"/>
              <a:ea typeface="Calibri"/>
              <a:cs typeface="Calibri"/>
              <a:sym typeface="Calibri"/>
            </a:endParaRPr>
          </a:p>
        </p:txBody>
      </p:sp>
      <p:sp>
        <p:nvSpPr>
          <p:cNvPr id="206" name="Google Shape;206;p15"/>
          <p:cNvSpPr/>
          <p:nvPr/>
        </p:nvSpPr>
        <p:spPr>
          <a:xfrm>
            <a:off x="8275320" y="4754880"/>
            <a:ext cx="6858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06060"/>
              </a:buClr>
              <a:buSzPts val="1200"/>
              <a:buFont typeface="Georgia"/>
              <a:buNone/>
            </a:pPr>
            <a:r>
              <a:rPr b="0" i="0" lang="en-US" sz="1200" u="none" cap="none" strike="noStrike">
                <a:solidFill>
                  <a:srgbClr val="606060"/>
                </a:solidFill>
                <a:latin typeface="Georgia"/>
                <a:ea typeface="Georgia"/>
                <a:cs typeface="Georgia"/>
                <a:sym typeface="Georgia"/>
              </a:rPr>
              <a:t>15</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1" name="Shape 211"/>
        <p:cNvGrpSpPr/>
        <p:nvPr/>
      </p:nvGrpSpPr>
      <p:grpSpPr>
        <a:xfrm>
          <a:off x="0" y="0"/>
          <a:ext cx="0" cy="0"/>
          <a:chOff x="0" y="0"/>
          <a:chExt cx="0" cy="0"/>
        </a:xfrm>
      </p:grpSpPr>
      <p:sp>
        <p:nvSpPr>
          <p:cNvPr id="212" name="Google Shape;212;g3ec3abbe6f5_0_16"/>
          <p:cNvSpPr/>
          <p:nvPr/>
        </p:nvSpPr>
        <p:spPr>
          <a:xfrm>
            <a:off x="274320" y="137160"/>
            <a:ext cx="8595300" cy="640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B2D26"/>
              </a:buClr>
              <a:buSzPts val="3000"/>
              <a:buFont typeface="Georgia"/>
              <a:buNone/>
            </a:pPr>
            <a:r>
              <a:rPr lang="en-US" sz="3000">
                <a:solidFill>
                  <a:srgbClr val="7B2D26"/>
                </a:solidFill>
                <a:latin typeface="Georgia"/>
                <a:ea typeface="Georgia"/>
                <a:cs typeface="Georgia"/>
                <a:sym typeface="Georgia"/>
              </a:rPr>
              <a:t>Random Forest on Spiral Data</a:t>
            </a:r>
            <a:endParaRPr b="0" i="0" sz="3000" u="none" cap="none" strike="noStrike">
              <a:solidFill>
                <a:schemeClr val="dk1"/>
              </a:solidFill>
              <a:latin typeface="Calibri"/>
              <a:ea typeface="Calibri"/>
              <a:cs typeface="Calibri"/>
              <a:sym typeface="Calibri"/>
            </a:endParaRPr>
          </a:p>
        </p:txBody>
      </p:sp>
      <p:cxnSp>
        <p:nvCxnSpPr>
          <p:cNvPr id="213" name="Google Shape;213;g3ec3abbe6f5_0_16"/>
          <p:cNvCxnSpPr/>
          <p:nvPr/>
        </p:nvCxnSpPr>
        <p:spPr>
          <a:xfrm>
            <a:off x="365760" y="777240"/>
            <a:ext cx="8412600" cy="0"/>
          </a:xfrm>
          <a:prstGeom prst="straightConnector1">
            <a:avLst/>
          </a:prstGeom>
          <a:noFill/>
          <a:ln cap="flat" cmpd="sng" w="15875">
            <a:solidFill>
              <a:srgbClr val="B0B0B0"/>
            </a:solidFill>
            <a:prstDash val="solid"/>
            <a:round/>
            <a:headEnd len="sm" w="sm" type="none"/>
            <a:tailEnd len="sm" w="sm" type="none"/>
          </a:ln>
        </p:spPr>
      </p:cxnSp>
      <p:sp>
        <p:nvSpPr>
          <p:cNvPr id="214" name="Google Shape;214;g3ec3abbe6f5_0_16"/>
          <p:cNvSpPr/>
          <p:nvPr/>
        </p:nvSpPr>
        <p:spPr>
          <a:xfrm>
            <a:off x="2743200" y="4667415"/>
            <a:ext cx="36576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B2B2B"/>
              </a:buClr>
              <a:buSzPts val="1200"/>
              <a:buFont typeface="Georgia"/>
              <a:buNone/>
            </a:pPr>
            <a:r>
              <a:rPr b="1" i="0" lang="en-US" sz="1200" u="none" cap="none" strike="noStrike">
                <a:solidFill>
                  <a:srgbClr val="2B2B2B"/>
                </a:solidFill>
                <a:latin typeface="Georgia"/>
                <a:ea typeface="Georgia"/>
                <a:cs typeface="Georgia"/>
                <a:sym typeface="Georgia"/>
              </a:rPr>
              <a:t>CosmicAI Summer School</a:t>
            </a:r>
            <a:endParaRPr b="0" i="0" sz="1200" u="none" cap="none" strike="noStrike">
              <a:solidFill>
                <a:schemeClr val="dk1"/>
              </a:solidFill>
              <a:latin typeface="Calibri"/>
              <a:ea typeface="Calibri"/>
              <a:cs typeface="Calibri"/>
              <a:sym typeface="Calibri"/>
            </a:endParaRPr>
          </a:p>
        </p:txBody>
      </p:sp>
      <p:sp>
        <p:nvSpPr>
          <p:cNvPr id="215" name="Google Shape;215;g3ec3abbe6f5_0_16"/>
          <p:cNvSpPr/>
          <p:nvPr/>
        </p:nvSpPr>
        <p:spPr>
          <a:xfrm>
            <a:off x="8275320" y="4754880"/>
            <a:ext cx="685800" cy="2742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06060"/>
              </a:buClr>
              <a:buSzPts val="1200"/>
              <a:buFont typeface="Georgia"/>
              <a:buNone/>
            </a:pPr>
            <a:r>
              <a:rPr b="0" i="0" lang="en-US" sz="1200" u="none" cap="none" strike="noStrike">
                <a:solidFill>
                  <a:srgbClr val="606060"/>
                </a:solidFill>
                <a:latin typeface="Georgia"/>
                <a:ea typeface="Georgia"/>
                <a:cs typeface="Georgia"/>
                <a:sym typeface="Georgia"/>
              </a:rPr>
              <a:t>13</a:t>
            </a:r>
            <a:endParaRPr b="0" i="0" sz="1200" u="none" cap="none" strike="noStrike">
              <a:solidFill>
                <a:schemeClr val="dk1"/>
              </a:solidFill>
              <a:latin typeface="Calibri"/>
              <a:ea typeface="Calibri"/>
              <a:cs typeface="Calibri"/>
              <a:sym typeface="Calibri"/>
            </a:endParaRPr>
          </a:p>
        </p:txBody>
      </p:sp>
      <p:pic>
        <p:nvPicPr>
          <p:cNvPr id="216" name="Google Shape;216;g3ec3abbe6f5_0_16"/>
          <p:cNvPicPr preferRelativeResize="0"/>
          <p:nvPr/>
        </p:nvPicPr>
        <p:blipFill>
          <a:blip r:embed="rId3">
            <a:alphaModFix/>
          </a:blip>
          <a:stretch>
            <a:fillRect/>
          </a:stretch>
        </p:blipFill>
        <p:spPr>
          <a:xfrm>
            <a:off x="1670013" y="929400"/>
            <a:ext cx="5803926" cy="335947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221" name="Shape 221"/>
        <p:cNvGrpSpPr/>
        <p:nvPr/>
      </p:nvGrpSpPr>
      <p:grpSpPr>
        <a:xfrm>
          <a:off x="0" y="0"/>
          <a:ext cx="0" cy="0"/>
          <a:chOff x="0" y="0"/>
          <a:chExt cx="0" cy="0"/>
        </a:xfrm>
      </p:grpSpPr>
      <p:sp>
        <p:nvSpPr>
          <p:cNvPr id="222" name="Google Shape;222;p16"/>
          <p:cNvSpPr/>
          <p:nvPr/>
        </p:nvSpPr>
        <p:spPr>
          <a:xfrm>
            <a:off x="274320" y="137160"/>
            <a:ext cx="704088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2D26"/>
              </a:buClr>
              <a:buSzPts val="2600"/>
              <a:buFont typeface="Georgia"/>
              <a:buNone/>
            </a:pPr>
            <a:r>
              <a:rPr b="0" i="0" lang="en-US" sz="2600" u="none" cap="none" strike="noStrike">
                <a:solidFill>
                  <a:srgbClr val="7B2D26"/>
                </a:solidFill>
                <a:latin typeface="Georgia"/>
                <a:ea typeface="Georgia"/>
                <a:cs typeface="Georgia"/>
                <a:sym typeface="Georgia"/>
              </a:rPr>
              <a:t>Quick Check  1</a:t>
            </a:r>
            <a:endParaRPr b="0" i="0" sz="2600" u="none" cap="none" strike="noStrike">
              <a:solidFill>
                <a:schemeClr val="dk1"/>
              </a:solidFill>
              <a:latin typeface="Calibri"/>
              <a:ea typeface="Calibri"/>
              <a:cs typeface="Calibri"/>
              <a:sym typeface="Calibri"/>
            </a:endParaRPr>
          </a:p>
        </p:txBody>
      </p:sp>
      <p:cxnSp>
        <p:nvCxnSpPr>
          <p:cNvPr id="223" name="Google Shape;223;p16"/>
          <p:cNvCxnSpPr/>
          <p:nvPr/>
        </p:nvCxnSpPr>
        <p:spPr>
          <a:xfrm>
            <a:off x="365760" y="685800"/>
            <a:ext cx="8412480" cy="0"/>
          </a:xfrm>
          <a:prstGeom prst="straightConnector1">
            <a:avLst/>
          </a:prstGeom>
          <a:noFill/>
          <a:ln cap="flat" cmpd="sng" w="15875">
            <a:solidFill>
              <a:srgbClr val="B0B0B0"/>
            </a:solidFill>
            <a:prstDash val="solid"/>
            <a:round/>
            <a:headEnd len="sm" w="sm" type="none"/>
            <a:tailEnd len="sm" w="sm" type="none"/>
          </a:ln>
        </p:spPr>
      </p:cxnSp>
      <p:sp>
        <p:nvSpPr>
          <p:cNvPr id="224" name="Google Shape;224;p16"/>
          <p:cNvSpPr/>
          <p:nvPr/>
        </p:nvSpPr>
        <p:spPr>
          <a:xfrm>
            <a:off x="7360920" y="182880"/>
            <a:ext cx="1600200" cy="292608"/>
          </a:xfrm>
          <a:prstGeom prst="rect">
            <a:avLst/>
          </a:prstGeom>
          <a:solidFill>
            <a:srgbClr val="2F5A7A"/>
          </a:solidFill>
          <a:ln cap="flat" cmpd="sng" w="12700">
            <a:solidFill>
              <a:srgbClr val="2F5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6"/>
          <p:cNvSpPr/>
          <p:nvPr/>
        </p:nvSpPr>
        <p:spPr>
          <a:xfrm>
            <a:off x="7360920" y="182880"/>
            <a:ext cx="1600200"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50"/>
              <a:buFont typeface="Georgia"/>
              <a:buNone/>
            </a:pPr>
            <a:r>
              <a:rPr b="1" i="0" lang="en-US" sz="1050" u="none" cap="none" strike="noStrike">
                <a:solidFill>
                  <a:srgbClr val="FFFFFF"/>
                </a:solidFill>
                <a:latin typeface="Georgia"/>
                <a:ea typeface="Georgia"/>
                <a:cs typeface="Georgia"/>
                <a:sym typeface="Georgia"/>
              </a:rPr>
              <a:t>QUIZ</a:t>
            </a:r>
            <a:endParaRPr b="0" i="0" sz="1050" u="none" cap="none" strike="noStrike">
              <a:solidFill>
                <a:schemeClr val="dk1"/>
              </a:solidFill>
              <a:latin typeface="Calibri"/>
              <a:ea typeface="Calibri"/>
              <a:cs typeface="Calibri"/>
              <a:sym typeface="Calibri"/>
            </a:endParaRPr>
          </a:p>
        </p:txBody>
      </p:sp>
      <p:sp>
        <p:nvSpPr>
          <p:cNvPr id="226" name="Google Shape;226;p16"/>
          <p:cNvSpPr/>
          <p:nvPr/>
        </p:nvSpPr>
        <p:spPr>
          <a:xfrm>
            <a:off x="457200" y="822960"/>
            <a:ext cx="841248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B2B2B"/>
              </a:buClr>
              <a:buSzPts val="1500"/>
              <a:buFont typeface="Georgia"/>
              <a:buNone/>
            </a:pPr>
            <a:r>
              <a:rPr b="0" i="1" lang="en-US" sz="1500" u="none" cap="none" strike="noStrike">
                <a:solidFill>
                  <a:srgbClr val="2B2B2B"/>
                </a:solidFill>
                <a:latin typeface="Georgia"/>
                <a:ea typeface="Georgia"/>
                <a:cs typeface="Georgia"/>
                <a:sym typeface="Georgia"/>
              </a:rPr>
              <a:t>What  single  property distinguishes a  Random Forest  from plain  bagged  decision trees?</a:t>
            </a:r>
            <a:endParaRPr b="0" i="0" sz="1500" u="none" cap="none" strike="noStrike">
              <a:solidFill>
                <a:schemeClr val="dk1"/>
              </a:solidFill>
              <a:latin typeface="Calibri"/>
              <a:ea typeface="Calibri"/>
              <a:cs typeface="Calibri"/>
              <a:sym typeface="Calibri"/>
            </a:endParaRPr>
          </a:p>
        </p:txBody>
      </p:sp>
      <p:sp>
        <p:nvSpPr>
          <p:cNvPr id="227" name="Google Shape;227;p16"/>
          <p:cNvSpPr/>
          <p:nvPr/>
        </p:nvSpPr>
        <p:spPr>
          <a:xfrm>
            <a:off x="457200" y="1554480"/>
            <a:ext cx="4023360" cy="1280160"/>
          </a:xfrm>
          <a:prstGeom prst="rect">
            <a:avLst/>
          </a:prstGeom>
          <a:solidFill>
            <a:srgbClr val="FFFFFF"/>
          </a:solidFill>
          <a:ln cap="flat" cmpd="sng" w="10150">
            <a:solidFill>
              <a:srgbClr val="2F5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6"/>
          <p:cNvSpPr/>
          <p:nvPr/>
        </p:nvSpPr>
        <p:spPr>
          <a:xfrm>
            <a:off x="594360" y="1783080"/>
            <a:ext cx="502920" cy="502920"/>
          </a:xfrm>
          <a:prstGeom prst="ellipse">
            <a:avLst/>
          </a:prstGeom>
          <a:solidFill>
            <a:srgbClr val="2F5A7A"/>
          </a:solidFill>
          <a:ln cap="flat" cmpd="sng" w="12700">
            <a:solidFill>
              <a:srgbClr val="2F5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6"/>
          <p:cNvSpPr/>
          <p:nvPr/>
        </p:nvSpPr>
        <p:spPr>
          <a:xfrm>
            <a:off x="594360" y="1783080"/>
            <a:ext cx="50292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A</a:t>
            </a:r>
            <a:endParaRPr b="0" i="0" sz="1800" u="none" cap="none" strike="noStrike">
              <a:solidFill>
                <a:schemeClr val="dk1"/>
              </a:solidFill>
              <a:latin typeface="Calibri"/>
              <a:ea typeface="Calibri"/>
              <a:cs typeface="Calibri"/>
              <a:sym typeface="Calibri"/>
            </a:endParaRPr>
          </a:p>
        </p:txBody>
      </p:sp>
      <p:sp>
        <p:nvSpPr>
          <p:cNvPr id="230" name="Google Shape;230;p16"/>
          <p:cNvSpPr/>
          <p:nvPr/>
        </p:nvSpPr>
        <p:spPr>
          <a:xfrm>
            <a:off x="1234440" y="1645920"/>
            <a:ext cx="3108960" cy="10972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B2B2B"/>
              </a:buClr>
              <a:buSzPts val="1250"/>
              <a:buFont typeface="Georgia"/>
              <a:buNone/>
            </a:pPr>
            <a:r>
              <a:rPr b="0" i="0" lang="en-US" sz="1250" u="none" cap="none" strike="noStrike">
                <a:solidFill>
                  <a:srgbClr val="2B2B2B"/>
                </a:solidFill>
                <a:latin typeface="Georgia"/>
                <a:ea typeface="Georgia"/>
                <a:cs typeface="Georgia"/>
                <a:sym typeface="Georgia"/>
              </a:rPr>
              <a:t>RF uses many trees;</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B2B2B"/>
              </a:buClr>
              <a:buSzPts val="1250"/>
              <a:buFont typeface="Georgia"/>
              <a:buNone/>
            </a:pPr>
            <a:r>
              <a:rPr b="0" i="0" lang="en-US" sz="1250" u="none" cap="none" strike="noStrike">
                <a:solidFill>
                  <a:srgbClr val="2B2B2B"/>
                </a:solidFill>
                <a:latin typeface="Georgia"/>
                <a:ea typeface="Georgia"/>
                <a:cs typeface="Georgia"/>
                <a:sym typeface="Georgia"/>
              </a:rPr>
              <a:t>bagging uses just one</a:t>
            </a:r>
            <a:endParaRPr b="0" i="0" sz="1250" u="none" cap="none" strike="noStrike">
              <a:solidFill>
                <a:schemeClr val="dk1"/>
              </a:solidFill>
              <a:latin typeface="Calibri"/>
              <a:ea typeface="Calibri"/>
              <a:cs typeface="Calibri"/>
              <a:sym typeface="Calibri"/>
            </a:endParaRPr>
          </a:p>
        </p:txBody>
      </p:sp>
      <p:sp>
        <p:nvSpPr>
          <p:cNvPr id="231" name="Google Shape;231;p16"/>
          <p:cNvSpPr/>
          <p:nvPr/>
        </p:nvSpPr>
        <p:spPr>
          <a:xfrm>
            <a:off x="4663440" y="1554480"/>
            <a:ext cx="4023360" cy="1280160"/>
          </a:xfrm>
          <a:prstGeom prst="rect">
            <a:avLst/>
          </a:prstGeom>
          <a:solidFill>
            <a:srgbClr val="FFFFFF"/>
          </a:solidFill>
          <a:ln cap="flat" cmpd="sng" w="10150">
            <a:solidFill>
              <a:srgbClr val="2F5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6"/>
          <p:cNvSpPr/>
          <p:nvPr/>
        </p:nvSpPr>
        <p:spPr>
          <a:xfrm>
            <a:off x="4800600" y="1783080"/>
            <a:ext cx="502920" cy="502920"/>
          </a:xfrm>
          <a:prstGeom prst="ellipse">
            <a:avLst/>
          </a:prstGeom>
          <a:solidFill>
            <a:srgbClr val="2F5A7A"/>
          </a:solidFill>
          <a:ln cap="flat" cmpd="sng" w="12700">
            <a:solidFill>
              <a:srgbClr val="2F5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6"/>
          <p:cNvSpPr/>
          <p:nvPr/>
        </p:nvSpPr>
        <p:spPr>
          <a:xfrm>
            <a:off x="4800600" y="1783080"/>
            <a:ext cx="50292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B</a:t>
            </a:r>
            <a:endParaRPr b="0" i="0" sz="1800" u="none" cap="none" strike="noStrike">
              <a:solidFill>
                <a:schemeClr val="dk1"/>
              </a:solidFill>
              <a:latin typeface="Calibri"/>
              <a:ea typeface="Calibri"/>
              <a:cs typeface="Calibri"/>
              <a:sym typeface="Calibri"/>
            </a:endParaRPr>
          </a:p>
        </p:txBody>
      </p:sp>
      <p:sp>
        <p:nvSpPr>
          <p:cNvPr id="234" name="Google Shape;234;p16"/>
          <p:cNvSpPr/>
          <p:nvPr/>
        </p:nvSpPr>
        <p:spPr>
          <a:xfrm>
            <a:off x="5440680" y="1645920"/>
            <a:ext cx="3108960" cy="10972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B2B2B"/>
              </a:buClr>
              <a:buSzPts val="1250"/>
              <a:buFont typeface="Georgia"/>
              <a:buNone/>
            </a:pPr>
            <a:r>
              <a:rPr b="0" i="0" lang="en-US" sz="1250" u="none" cap="none" strike="noStrike">
                <a:solidFill>
                  <a:srgbClr val="2B2B2B"/>
                </a:solidFill>
                <a:latin typeface="Georgia"/>
                <a:ea typeface="Georgia"/>
                <a:cs typeface="Georgia"/>
                <a:sym typeface="Georgia"/>
              </a:rPr>
              <a:t>RF uses bootstrap sampling;</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B2B2B"/>
              </a:buClr>
              <a:buSzPts val="1250"/>
              <a:buFont typeface="Georgia"/>
              <a:buNone/>
            </a:pPr>
            <a:r>
              <a:rPr b="0" i="0" lang="en-US" sz="1250" u="none" cap="none" strike="noStrike">
                <a:solidFill>
                  <a:srgbClr val="2B2B2B"/>
                </a:solidFill>
                <a:latin typeface="Georgia"/>
                <a:ea typeface="Georgia"/>
                <a:cs typeface="Georgia"/>
                <a:sym typeface="Georgia"/>
              </a:rPr>
              <a:t>bagging does not</a:t>
            </a:r>
            <a:endParaRPr b="0" i="0" sz="1250" u="none" cap="none" strike="noStrike">
              <a:solidFill>
                <a:schemeClr val="dk1"/>
              </a:solidFill>
              <a:latin typeface="Calibri"/>
              <a:ea typeface="Calibri"/>
              <a:cs typeface="Calibri"/>
              <a:sym typeface="Calibri"/>
            </a:endParaRPr>
          </a:p>
        </p:txBody>
      </p:sp>
      <p:sp>
        <p:nvSpPr>
          <p:cNvPr id="235" name="Google Shape;235;p16"/>
          <p:cNvSpPr/>
          <p:nvPr/>
        </p:nvSpPr>
        <p:spPr>
          <a:xfrm>
            <a:off x="457200" y="2971800"/>
            <a:ext cx="4023360" cy="1280160"/>
          </a:xfrm>
          <a:prstGeom prst="rect">
            <a:avLst/>
          </a:prstGeom>
          <a:solidFill>
            <a:srgbClr val="FFFFFF"/>
          </a:solidFill>
          <a:ln cap="flat" cmpd="sng" w="10150">
            <a:solidFill>
              <a:srgbClr val="2F5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6"/>
          <p:cNvSpPr/>
          <p:nvPr/>
        </p:nvSpPr>
        <p:spPr>
          <a:xfrm>
            <a:off x="594360" y="3200400"/>
            <a:ext cx="502920" cy="502920"/>
          </a:xfrm>
          <a:prstGeom prst="ellipse">
            <a:avLst/>
          </a:prstGeom>
          <a:solidFill>
            <a:srgbClr val="2F5A7A"/>
          </a:solidFill>
          <a:ln cap="flat" cmpd="sng" w="12700">
            <a:solidFill>
              <a:srgbClr val="2F5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6"/>
          <p:cNvSpPr/>
          <p:nvPr/>
        </p:nvSpPr>
        <p:spPr>
          <a:xfrm>
            <a:off x="594360" y="3200400"/>
            <a:ext cx="50292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C</a:t>
            </a:r>
            <a:endParaRPr b="0" i="0" sz="1800" u="none" cap="none" strike="noStrike">
              <a:solidFill>
                <a:schemeClr val="dk1"/>
              </a:solidFill>
              <a:latin typeface="Calibri"/>
              <a:ea typeface="Calibri"/>
              <a:cs typeface="Calibri"/>
              <a:sym typeface="Calibri"/>
            </a:endParaRPr>
          </a:p>
        </p:txBody>
      </p:sp>
      <p:sp>
        <p:nvSpPr>
          <p:cNvPr id="238" name="Google Shape;238;p16"/>
          <p:cNvSpPr/>
          <p:nvPr/>
        </p:nvSpPr>
        <p:spPr>
          <a:xfrm>
            <a:off x="1234440" y="3063240"/>
            <a:ext cx="3108960" cy="10972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B2B2B"/>
              </a:buClr>
              <a:buSzPts val="1250"/>
              <a:buFont typeface="Georgia"/>
              <a:buNone/>
            </a:pPr>
            <a:r>
              <a:rPr b="0" i="0" lang="en-US" sz="1250" u="none" cap="none" strike="noStrike">
                <a:solidFill>
                  <a:srgbClr val="2B2B2B"/>
                </a:solidFill>
                <a:latin typeface="Georgia"/>
                <a:ea typeface="Georgia"/>
                <a:cs typeface="Georgia"/>
                <a:sym typeface="Georgia"/>
              </a:rPr>
              <a:t>RF also samples FEATURES</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B2B2B"/>
              </a:buClr>
              <a:buSzPts val="1250"/>
              <a:buFont typeface="Georgia"/>
              <a:buNone/>
            </a:pPr>
            <a:r>
              <a:rPr b="0" i="0" lang="en-US" sz="1250" u="none" cap="none" strike="noStrike">
                <a:solidFill>
                  <a:srgbClr val="2B2B2B"/>
                </a:solidFill>
                <a:latin typeface="Georgia"/>
                <a:ea typeface="Georgia"/>
                <a:cs typeface="Georgia"/>
                <a:sym typeface="Georgia"/>
              </a:rPr>
              <a:t>at each split</a:t>
            </a:r>
            <a:endParaRPr b="0" i="0" sz="1250" u="none" cap="none" strike="noStrike">
              <a:solidFill>
                <a:schemeClr val="dk1"/>
              </a:solidFill>
              <a:latin typeface="Calibri"/>
              <a:ea typeface="Calibri"/>
              <a:cs typeface="Calibri"/>
              <a:sym typeface="Calibri"/>
            </a:endParaRPr>
          </a:p>
        </p:txBody>
      </p:sp>
      <p:sp>
        <p:nvSpPr>
          <p:cNvPr id="239" name="Google Shape;239;p16"/>
          <p:cNvSpPr/>
          <p:nvPr/>
        </p:nvSpPr>
        <p:spPr>
          <a:xfrm>
            <a:off x="4663440" y="2971800"/>
            <a:ext cx="4023360" cy="1280160"/>
          </a:xfrm>
          <a:prstGeom prst="rect">
            <a:avLst/>
          </a:prstGeom>
          <a:solidFill>
            <a:srgbClr val="FFFFFF"/>
          </a:solidFill>
          <a:ln cap="flat" cmpd="sng" w="10150">
            <a:solidFill>
              <a:srgbClr val="2F5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6"/>
          <p:cNvSpPr/>
          <p:nvPr/>
        </p:nvSpPr>
        <p:spPr>
          <a:xfrm>
            <a:off x="4800600" y="3200400"/>
            <a:ext cx="502920" cy="502920"/>
          </a:xfrm>
          <a:prstGeom prst="ellipse">
            <a:avLst/>
          </a:prstGeom>
          <a:solidFill>
            <a:srgbClr val="2F5A7A"/>
          </a:solidFill>
          <a:ln cap="flat" cmpd="sng" w="12700">
            <a:solidFill>
              <a:srgbClr val="2F5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6"/>
          <p:cNvSpPr/>
          <p:nvPr/>
        </p:nvSpPr>
        <p:spPr>
          <a:xfrm>
            <a:off x="4800600" y="3200400"/>
            <a:ext cx="50292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D</a:t>
            </a:r>
            <a:endParaRPr b="0" i="0" sz="1800" u="none" cap="none" strike="noStrike">
              <a:solidFill>
                <a:schemeClr val="dk1"/>
              </a:solidFill>
              <a:latin typeface="Calibri"/>
              <a:ea typeface="Calibri"/>
              <a:cs typeface="Calibri"/>
              <a:sym typeface="Calibri"/>
            </a:endParaRPr>
          </a:p>
        </p:txBody>
      </p:sp>
      <p:sp>
        <p:nvSpPr>
          <p:cNvPr id="242" name="Google Shape;242;p16"/>
          <p:cNvSpPr/>
          <p:nvPr/>
        </p:nvSpPr>
        <p:spPr>
          <a:xfrm>
            <a:off x="5440680" y="3063240"/>
            <a:ext cx="3108960" cy="10972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B2B2B"/>
              </a:buClr>
              <a:buSzPts val="1250"/>
              <a:buFont typeface="Georgia"/>
              <a:buNone/>
            </a:pPr>
            <a:r>
              <a:rPr b="0" i="0" lang="en-US" sz="1250" u="none" cap="none" strike="noStrike">
                <a:solidFill>
                  <a:srgbClr val="2B2B2B"/>
                </a:solidFill>
                <a:latin typeface="Georgia"/>
                <a:ea typeface="Georgia"/>
                <a:cs typeface="Georgia"/>
                <a:sym typeface="Georgia"/>
              </a:rPr>
              <a:t>RF is more interpretable</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B2B2B"/>
              </a:buClr>
              <a:buSzPts val="1250"/>
              <a:buFont typeface="Georgia"/>
              <a:buNone/>
            </a:pPr>
            <a:r>
              <a:rPr b="0" i="0" lang="en-US" sz="1250" u="none" cap="none" strike="noStrike">
                <a:solidFill>
                  <a:srgbClr val="2B2B2B"/>
                </a:solidFill>
                <a:latin typeface="Georgia"/>
                <a:ea typeface="Georgia"/>
                <a:cs typeface="Georgia"/>
                <a:sym typeface="Georgia"/>
              </a:rPr>
              <a:t>than bagged trees</a:t>
            </a:r>
            <a:endParaRPr b="0" i="0" sz="1250" u="none" cap="none" strike="noStrike">
              <a:solidFill>
                <a:schemeClr val="dk1"/>
              </a:solidFill>
              <a:latin typeface="Calibri"/>
              <a:ea typeface="Calibri"/>
              <a:cs typeface="Calibri"/>
              <a:sym typeface="Calibri"/>
            </a:endParaRPr>
          </a:p>
        </p:txBody>
      </p:sp>
      <p:sp>
        <p:nvSpPr>
          <p:cNvPr id="243" name="Google Shape;243;p16"/>
          <p:cNvSpPr/>
          <p:nvPr/>
        </p:nvSpPr>
        <p:spPr>
          <a:xfrm>
            <a:off x="457200" y="4343400"/>
            <a:ext cx="841248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06060"/>
              </a:buClr>
              <a:buSzPts val="1200"/>
              <a:buFont typeface="Georgia"/>
              <a:buNone/>
            </a:pPr>
            <a:r>
              <a:rPr b="0" i="1" lang="en-US" sz="1200" u="none" cap="none" strike="noStrike">
                <a:solidFill>
                  <a:srgbClr val="606060"/>
                </a:solidFill>
                <a:latin typeface="Georgia"/>
                <a:ea typeface="Georgia"/>
                <a:cs typeface="Georgia"/>
                <a:sym typeface="Georgia"/>
              </a:rPr>
              <a:t>Pick  A,  B,  C,  or  D  —  then advance.</a:t>
            </a:r>
            <a:endParaRPr b="0" i="0" sz="1200" u="none" cap="none" strike="noStrike">
              <a:solidFill>
                <a:schemeClr val="dk1"/>
              </a:solidFill>
              <a:latin typeface="Calibri"/>
              <a:ea typeface="Calibri"/>
              <a:cs typeface="Calibri"/>
              <a:sym typeface="Calibri"/>
            </a:endParaRPr>
          </a:p>
        </p:txBody>
      </p:sp>
      <p:sp>
        <p:nvSpPr>
          <p:cNvPr id="244" name="Google Shape;244;p16"/>
          <p:cNvSpPr/>
          <p:nvPr/>
        </p:nvSpPr>
        <p:spPr>
          <a:xfrm>
            <a:off x="2743200" y="4663440"/>
            <a:ext cx="36576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B2B2B"/>
              </a:buClr>
              <a:buSzPts val="1200"/>
              <a:buFont typeface="Georgia"/>
              <a:buNone/>
            </a:pPr>
            <a:r>
              <a:rPr b="1" i="0" lang="en-US" sz="1200" u="none" cap="none" strike="noStrike">
                <a:solidFill>
                  <a:srgbClr val="2B2B2B"/>
                </a:solidFill>
                <a:latin typeface="Georgia"/>
                <a:ea typeface="Georgia"/>
                <a:cs typeface="Georgia"/>
                <a:sym typeface="Georgia"/>
              </a:rPr>
              <a:t>CosmicAI Summer School</a:t>
            </a:r>
            <a:endParaRPr b="0" i="0" sz="1200" u="none" cap="none" strike="noStrike">
              <a:solidFill>
                <a:schemeClr val="dk1"/>
              </a:solidFill>
              <a:latin typeface="Calibri"/>
              <a:ea typeface="Calibri"/>
              <a:cs typeface="Calibri"/>
              <a:sym typeface="Calibri"/>
            </a:endParaRPr>
          </a:p>
        </p:txBody>
      </p:sp>
      <p:sp>
        <p:nvSpPr>
          <p:cNvPr id="245" name="Google Shape;245;p16"/>
          <p:cNvSpPr/>
          <p:nvPr/>
        </p:nvSpPr>
        <p:spPr>
          <a:xfrm>
            <a:off x="8275320" y="4754880"/>
            <a:ext cx="6858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06060"/>
              </a:buClr>
              <a:buSzPts val="1200"/>
              <a:buFont typeface="Georgia"/>
              <a:buNone/>
            </a:pPr>
            <a:r>
              <a:rPr b="0" i="0" lang="en-US" sz="1200" u="none" cap="none" strike="noStrike">
                <a:solidFill>
                  <a:srgbClr val="606060"/>
                </a:solidFill>
                <a:latin typeface="Georgia"/>
                <a:ea typeface="Georgia"/>
                <a:cs typeface="Georgia"/>
                <a:sym typeface="Georgia"/>
              </a:rPr>
              <a:t>16</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250" name="Shape 250"/>
        <p:cNvGrpSpPr/>
        <p:nvPr/>
      </p:nvGrpSpPr>
      <p:grpSpPr>
        <a:xfrm>
          <a:off x="0" y="0"/>
          <a:ext cx="0" cy="0"/>
          <a:chOff x="0" y="0"/>
          <a:chExt cx="0" cy="0"/>
        </a:xfrm>
      </p:grpSpPr>
      <p:sp>
        <p:nvSpPr>
          <p:cNvPr id="251" name="Google Shape;251;p17"/>
          <p:cNvSpPr/>
          <p:nvPr/>
        </p:nvSpPr>
        <p:spPr>
          <a:xfrm>
            <a:off x="274320" y="137160"/>
            <a:ext cx="704088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2D26"/>
              </a:buClr>
              <a:buSzPts val="2600"/>
              <a:buFont typeface="Georgia"/>
              <a:buNone/>
            </a:pPr>
            <a:r>
              <a:rPr b="0" i="0" lang="en-US" sz="2600" u="none" cap="none" strike="noStrike">
                <a:solidFill>
                  <a:srgbClr val="7B2D26"/>
                </a:solidFill>
                <a:latin typeface="Georgia"/>
                <a:ea typeface="Georgia"/>
                <a:cs typeface="Georgia"/>
                <a:sym typeface="Georgia"/>
              </a:rPr>
              <a:t>Quick Check  1  —  Answer</a:t>
            </a:r>
            <a:endParaRPr b="0" i="0" sz="2600" u="none" cap="none" strike="noStrike">
              <a:solidFill>
                <a:schemeClr val="dk1"/>
              </a:solidFill>
              <a:latin typeface="Calibri"/>
              <a:ea typeface="Calibri"/>
              <a:cs typeface="Calibri"/>
              <a:sym typeface="Calibri"/>
            </a:endParaRPr>
          </a:p>
        </p:txBody>
      </p:sp>
      <p:cxnSp>
        <p:nvCxnSpPr>
          <p:cNvPr id="252" name="Google Shape;252;p17"/>
          <p:cNvCxnSpPr/>
          <p:nvPr/>
        </p:nvCxnSpPr>
        <p:spPr>
          <a:xfrm>
            <a:off x="365760" y="685800"/>
            <a:ext cx="8412480" cy="0"/>
          </a:xfrm>
          <a:prstGeom prst="straightConnector1">
            <a:avLst/>
          </a:prstGeom>
          <a:noFill/>
          <a:ln cap="flat" cmpd="sng" w="15875">
            <a:solidFill>
              <a:srgbClr val="B0B0B0"/>
            </a:solidFill>
            <a:prstDash val="solid"/>
            <a:round/>
            <a:headEnd len="sm" w="sm" type="none"/>
            <a:tailEnd len="sm" w="sm" type="none"/>
          </a:ln>
        </p:spPr>
      </p:cxnSp>
      <p:sp>
        <p:nvSpPr>
          <p:cNvPr id="253" name="Google Shape;253;p17"/>
          <p:cNvSpPr/>
          <p:nvPr/>
        </p:nvSpPr>
        <p:spPr>
          <a:xfrm>
            <a:off x="7360920" y="182880"/>
            <a:ext cx="1600200" cy="292608"/>
          </a:xfrm>
          <a:prstGeom prst="rect">
            <a:avLst/>
          </a:prstGeom>
          <a:solidFill>
            <a:srgbClr val="3A5A3B"/>
          </a:solidFill>
          <a:ln cap="flat" cmpd="sng" w="12700">
            <a:solidFill>
              <a:srgbClr val="3A5A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7"/>
          <p:cNvSpPr/>
          <p:nvPr/>
        </p:nvSpPr>
        <p:spPr>
          <a:xfrm>
            <a:off x="7360920" y="182880"/>
            <a:ext cx="1600200"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50"/>
              <a:buFont typeface="Georgia"/>
              <a:buNone/>
            </a:pPr>
            <a:r>
              <a:rPr b="1" i="0" lang="en-US" sz="1050" u="none" cap="none" strike="noStrike">
                <a:solidFill>
                  <a:srgbClr val="FFFFFF"/>
                </a:solidFill>
                <a:latin typeface="Georgia"/>
                <a:ea typeface="Georgia"/>
                <a:cs typeface="Georgia"/>
                <a:sym typeface="Georgia"/>
              </a:rPr>
              <a:t>ANSWER</a:t>
            </a:r>
            <a:endParaRPr b="0" i="0" sz="1050" u="none" cap="none" strike="noStrike">
              <a:solidFill>
                <a:schemeClr val="dk1"/>
              </a:solidFill>
              <a:latin typeface="Calibri"/>
              <a:ea typeface="Calibri"/>
              <a:cs typeface="Calibri"/>
              <a:sym typeface="Calibri"/>
            </a:endParaRPr>
          </a:p>
        </p:txBody>
      </p:sp>
      <p:sp>
        <p:nvSpPr>
          <p:cNvPr id="255" name="Google Shape;255;p17"/>
          <p:cNvSpPr/>
          <p:nvPr/>
        </p:nvSpPr>
        <p:spPr>
          <a:xfrm>
            <a:off x="457200" y="914400"/>
            <a:ext cx="4023360" cy="1280160"/>
          </a:xfrm>
          <a:prstGeom prst="rect">
            <a:avLst/>
          </a:prstGeom>
          <a:solidFill>
            <a:srgbClr val="FFFFFF"/>
          </a:solidFill>
          <a:ln cap="flat" cmpd="sng" w="9525">
            <a:solidFill>
              <a:srgbClr val="B0B0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7"/>
          <p:cNvSpPr/>
          <p:nvPr/>
        </p:nvSpPr>
        <p:spPr>
          <a:xfrm>
            <a:off x="594360" y="1078992"/>
            <a:ext cx="502920" cy="502920"/>
          </a:xfrm>
          <a:prstGeom prst="ellipse">
            <a:avLst/>
          </a:prstGeom>
          <a:solidFill>
            <a:srgbClr val="2F5A7A"/>
          </a:solidFill>
          <a:ln cap="flat" cmpd="sng" w="12700">
            <a:solidFill>
              <a:srgbClr val="2F5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7"/>
          <p:cNvSpPr/>
          <p:nvPr/>
        </p:nvSpPr>
        <p:spPr>
          <a:xfrm>
            <a:off x="594360" y="1078992"/>
            <a:ext cx="50292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A</a:t>
            </a:r>
            <a:endParaRPr b="0" i="0" sz="1800" u="none" cap="none" strike="noStrike">
              <a:solidFill>
                <a:schemeClr val="dk1"/>
              </a:solidFill>
              <a:latin typeface="Calibri"/>
              <a:ea typeface="Calibri"/>
              <a:cs typeface="Calibri"/>
              <a:sym typeface="Calibri"/>
            </a:endParaRPr>
          </a:p>
        </p:txBody>
      </p:sp>
      <p:sp>
        <p:nvSpPr>
          <p:cNvPr id="258" name="Google Shape;258;p17"/>
          <p:cNvSpPr/>
          <p:nvPr/>
        </p:nvSpPr>
        <p:spPr>
          <a:xfrm>
            <a:off x="1234440" y="987552"/>
            <a:ext cx="310896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B2B2B"/>
              </a:buClr>
              <a:buSzPts val="1300"/>
              <a:buFont typeface="Georgia"/>
              <a:buNone/>
            </a:pPr>
            <a:r>
              <a:rPr b="0" i="0" lang="en-US" sz="1300" u="none" cap="none" strike="noStrike">
                <a:solidFill>
                  <a:srgbClr val="2B2B2B"/>
                </a:solidFill>
                <a:latin typeface="Georgia"/>
                <a:ea typeface="Georgia"/>
                <a:cs typeface="Georgia"/>
                <a:sym typeface="Georgia"/>
              </a:rPr>
              <a:t>Many trees vs one</a:t>
            </a:r>
            <a:endParaRPr b="0" i="0" sz="1300" u="none" cap="none" strike="noStrike">
              <a:solidFill>
                <a:schemeClr val="dk1"/>
              </a:solidFill>
              <a:latin typeface="Calibri"/>
              <a:ea typeface="Calibri"/>
              <a:cs typeface="Calibri"/>
              <a:sym typeface="Calibri"/>
            </a:endParaRPr>
          </a:p>
        </p:txBody>
      </p:sp>
      <p:sp>
        <p:nvSpPr>
          <p:cNvPr id="259" name="Google Shape;259;p17"/>
          <p:cNvSpPr/>
          <p:nvPr/>
        </p:nvSpPr>
        <p:spPr>
          <a:xfrm>
            <a:off x="1234440" y="1417320"/>
            <a:ext cx="3108960" cy="7315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06060"/>
              </a:buClr>
              <a:buSzPts val="1100"/>
              <a:buFont typeface="Georgia"/>
              <a:buNone/>
            </a:pPr>
            <a:r>
              <a:rPr b="0" i="1" lang="en-US" sz="1100" u="none" cap="none" strike="noStrike">
                <a:solidFill>
                  <a:srgbClr val="606060"/>
                </a:solidFill>
                <a:latin typeface="Georgia"/>
                <a:ea typeface="Georgia"/>
                <a:cs typeface="Georgia"/>
                <a:sym typeface="Georgia"/>
              </a:rPr>
              <a:t>Both use many trees — the difference is structural.</a:t>
            </a:r>
            <a:endParaRPr b="0" i="0" sz="1100" u="none" cap="none" strike="noStrike">
              <a:solidFill>
                <a:schemeClr val="dk1"/>
              </a:solidFill>
              <a:latin typeface="Calibri"/>
              <a:ea typeface="Calibri"/>
              <a:cs typeface="Calibri"/>
              <a:sym typeface="Calibri"/>
            </a:endParaRPr>
          </a:p>
        </p:txBody>
      </p:sp>
      <p:sp>
        <p:nvSpPr>
          <p:cNvPr id="260" name="Google Shape;260;p17"/>
          <p:cNvSpPr/>
          <p:nvPr/>
        </p:nvSpPr>
        <p:spPr>
          <a:xfrm>
            <a:off x="4663440" y="914400"/>
            <a:ext cx="4023360" cy="1280160"/>
          </a:xfrm>
          <a:prstGeom prst="rect">
            <a:avLst/>
          </a:prstGeom>
          <a:solidFill>
            <a:srgbClr val="FFFFFF"/>
          </a:solidFill>
          <a:ln cap="flat" cmpd="sng" w="9525">
            <a:solidFill>
              <a:srgbClr val="B0B0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7"/>
          <p:cNvSpPr/>
          <p:nvPr/>
        </p:nvSpPr>
        <p:spPr>
          <a:xfrm>
            <a:off x="4800600" y="1078992"/>
            <a:ext cx="502920" cy="502920"/>
          </a:xfrm>
          <a:prstGeom prst="ellipse">
            <a:avLst/>
          </a:prstGeom>
          <a:solidFill>
            <a:srgbClr val="2F5A7A"/>
          </a:solidFill>
          <a:ln cap="flat" cmpd="sng" w="12700">
            <a:solidFill>
              <a:srgbClr val="2F5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7"/>
          <p:cNvSpPr/>
          <p:nvPr/>
        </p:nvSpPr>
        <p:spPr>
          <a:xfrm>
            <a:off x="4800600" y="1078992"/>
            <a:ext cx="50292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B</a:t>
            </a:r>
            <a:endParaRPr b="0" i="0" sz="1800" u="none" cap="none" strike="noStrike">
              <a:solidFill>
                <a:schemeClr val="dk1"/>
              </a:solidFill>
              <a:latin typeface="Calibri"/>
              <a:ea typeface="Calibri"/>
              <a:cs typeface="Calibri"/>
              <a:sym typeface="Calibri"/>
            </a:endParaRPr>
          </a:p>
        </p:txBody>
      </p:sp>
      <p:sp>
        <p:nvSpPr>
          <p:cNvPr id="263" name="Google Shape;263;p17"/>
          <p:cNvSpPr/>
          <p:nvPr/>
        </p:nvSpPr>
        <p:spPr>
          <a:xfrm>
            <a:off x="5440680" y="987552"/>
            <a:ext cx="310896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B2B2B"/>
              </a:buClr>
              <a:buSzPts val="1300"/>
              <a:buFont typeface="Georgia"/>
              <a:buNone/>
            </a:pPr>
            <a:r>
              <a:rPr b="0" i="0" lang="en-US" sz="1300" u="none" cap="none" strike="noStrike">
                <a:solidFill>
                  <a:srgbClr val="2B2B2B"/>
                </a:solidFill>
                <a:latin typeface="Georgia"/>
                <a:ea typeface="Georgia"/>
                <a:cs typeface="Georgia"/>
                <a:sym typeface="Georgia"/>
              </a:rPr>
              <a:t>Bootstrap vs not</a:t>
            </a:r>
            <a:endParaRPr b="0" i="0" sz="1300" u="none" cap="none" strike="noStrike">
              <a:solidFill>
                <a:schemeClr val="dk1"/>
              </a:solidFill>
              <a:latin typeface="Calibri"/>
              <a:ea typeface="Calibri"/>
              <a:cs typeface="Calibri"/>
              <a:sym typeface="Calibri"/>
            </a:endParaRPr>
          </a:p>
        </p:txBody>
      </p:sp>
      <p:sp>
        <p:nvSpPr>
          <p:cNvPr id="264" name="Google Shape;264;p17"/>
          <p:cNvSpPr/>
          <p:nvPr/>
        </p:nvSpPr>
        <p:spPr>
          <a:xfrm>
            <a:off x="5440680" y="1417320"/>
            <a:ext cx="3108960" cy="7315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06060"/>
              </a:buClr>
              <a:buSzPts val="1100"/>
              <a:buFont typeface="Georgia"/>
              <a:buNone/>
            </a:pPr>
            <a:r>
              <a:rPr b="0" i="1" lang="en-US" sz="1100" u="none" cap="none" strike="noStrike">
                <a:solidFill>
                  <a:srgbClr val="606060"/>
                </a:solidFill>
                <a:latin typeface="Georgia"/>
                <a:ea typeface="Georgia"/>
                <a:cs typeface="Georgia"/>
                <a:sym typeface="Georgia"/>
              </a:rPr>
              <a:t>Both use bootstrap sampling (bagging).</a:t>
            </a:r>
            <a:endParaRPr b="0" i="0" sz="1100" u="none" cap="none" strike="noStrike">
              <a:solidFill>
                <a:schemeClr val="dk1"/>
              </a:solidFill>
              <a:latin typeface="Calibri"/>
              <a:ea typeface="Calibri"/>
              <a:cs typeface="Calibri"/>
              <a:sym typeface="Calibri"/>
            </a:endParaRPr>
          </a:p>
        </p:txBody>
      </p:sp>
      <p:sp>
        <p:nvSpPr>
          <p:cNvPr id="265" name="Google Shape;265;p17"/>
          <p:cNvSpPr/>
          <p:nvPr/>
        </p:nvSpPr>
        <p:spPr>
          <a:xfrm>
            <a:off x="457200" y="2331720"/>
            <a:ext cx="4023360" cy="1280160"/>
          </a:xfrm>
          <a:prstGeom prst="rect">
            <a:avLst/>
          </a:prstGeom>
          <a:solidFill>
            <a:srgbClr val="F4ECE9"/>
          </a:solidFill>
          <a:ln cap="flat" cmpd="sng" w="25400">
            <a:solidFill>
              <a:srgbClr val="7B2D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7"/>
          <p:cNvSpPr/>
          <p:nvPr/>
        </p:nvSpPr>
        <p:spPr>
          <a:xfrm>
            <a:off x="594360" y="2496312"/>
            <a:ext cx="502920" cy="502920"/>
          </a:xfrm>
          <a:prstGeom prst="ellipse">
            <a:avLst/>
          </a:prstGeom>
          <a:solidFill>
            <a:srgbClr val="7B2D26"/>
          </a:solidFill>
          <a:ln cap="flat" cmpd="sng" w="12700">
            <a:solidFill>
              <a:srgbClr val="7B2D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7"/>
          <p:cNvSpPr/>
          <p:nvPr/>
        </p:nvSpPr>
        <p:spPr>
          <a:xfrm>
            <a:off x="594360" y="2496312"/>
            <a:ext cx="50292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C</a:t>
            </a:r>
            <a:endParaRPr b="0" i="0" sz="1800" u="none" cap="none" strike="noStrike">
              <a:solidFill>
                <a:schemeClr val="dk1"/>
              </a:solidFill>
              <a:latin typeface="Calibri"/>
              <a:ea typeface="Calibri"/>
              <a:cs typeface="Calibri"/>
              <a:sym typeface="Calibri"/>
            </a:endParaRPr>
          </a:p>
        </p:txBody>
      </p:sp>
      <p:sp>
        <p:nvSpPr>
          <p:cNvPr id="268" name="Google Shape;268;p17"/>
          <p:cNvSpPr/>
          <p:nvPr/>
        </p:nvSpPr>
        <p:spPr>
          <a:xfrm>
            <a:off x="1234440" y="2404872"/>
            <a:ext cx="310896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2D26"/>
              </a:buClr>
              <a:buSzPts val="1300"/>
              <a:buFont typeface="Georgia"/>
              <a:buNone/>
            </a:pPr>
            <a:r>
              <a:rPr b="1" i="0" lang="en-US" sz="1300" u="none" cap="none" strike="noStrike">
                <a:solidFill>
                  <a:srgbClr val="7B2D26"/>
                </a:solidFill>
                <a:latin typeface="Georgia"/>
                <a:ea typeface="Georgia"/>
                <a:cs typeface="Georgia"/>
                <a:sym typeface="Georgia"/>
              </a:rPr>
              <a:t>RF samples FEATURES too</a:t>
            </a:r>
            <a:endParaRPr b="0" i="0" sz="1300" u="none" cap="none" strike="noStrike">
              <a:solidFill>
                <a:schemeClr val="dk1"/>
              </a:solidFill>
              <a:latin typeface="Calibri"/>
              <a:ea typeface="Calibri"/>
              <a:cs typeface="Calibri"/>
              <a:sym typeface="Calibri"/>
            </a:endParaRPr>
          </a:p>
        </p:txBody>
      </p:sp>
      <p:sp>
        <p:nvSpPr>
          <p:cNvPr id="269" name="Google Shape;269;p17"/>
          <p:cNvSpPr/>
          <p:nvPr/>
        </p:nvSpPr>
        <p:spPr>
          <a:xfrm>
            <a:off x="1234440" y="2834640"/>
            <a:ext cx="3108960" cy="7315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06060"/>
              </a:buClr>
              <a:buSzPts val="1100"/>
              <a:buFont typeface="Georgia"/>
              <a:buNone/>
            </a:pPr>
            <a:r>
              <a:rPr b="0" i="1" lang="en-US" sz="1100" u="none" cap="none" strike="noStrike">
                <a:solidFill>
                  <a:srgbClr val="606060"/>
                </a:solidFill>
                <a:latin typeface="Georgia"/>
                <a:ea typeface="Georgia"/>
                <a:cs typeface="Georgia"/>
                <a:sym typeface="Georgia"/>
              </a:rPr>
              <a:t>At each split, only √d  features are considered.</a:t>
            </a:r>
            <a:endParaRPr b="0" i="0" sz="1100" u="none" cap="none" strike="noStrike">
              <a:solidFill>
                <a:schemeClr val="dk1"/>
              </a:solidFill>
              <a:latin typeface="Calibri"/>
              <a:ea typeface="Calibri"/>
              <a:cs typeface="Calibri"/>
              <a:sym typeface="Calibri"/>
            </a:endParaRPr>
          </a:p>
        </p:txBody>
      </p:sp>
      <p:sp>
        <p:nvSpPr>
          <p:cNvPr id="270" name="Google Shape;270;p17"/>
          <p:cNvSpPr/>
          <p:nvPr/>
        </p:nvSpPr>
        <p:spPr>
          <a:xfrm>
            <a:off x="4069080" y="2404872"/>
            <a:ext cx="365760" cy="36576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7B2D26"/>
              </a:buClr>
              <a:buSzPts val="2200"/>
              <a:buFont typeface="Georgia"/>
              <a:buNone/>
            </a:pPr>
            <a:r>
              <a:rPr b="1" i="0" lang="en-US" sz="2200" u="none" cap="none" strike="noStrike">
                <a:solidFill>
                  <a:srgbClr val="7B2D26"/>
                </a:solidFill>
                <a:latin typeface="Georgia"/>
                <a:ea typeface="Georgia"/>
                <a:cs typeface="Georgia"/>
                <a:sym typeface="Georgia"/>
              </a:rPr>
              <a:t>✓</a:t>
            </a:r>
            <a:endParaRPr b="0" i="0" sz="2200" u="none" cap="none" strike="noStrike">
              <a:solidFill>
                <a:schemeClr val="dk1"/>
              </a:solidFill>
              <a:latin typeface="Calibri"/>
              <a:ea typeface="Calibri"/>
              <a:cs typeface="Calibri"/>
              <a:sym typeface="Calibri"/>
            </a:endParaRPr>
          </a:p>
        </p:txBody>
      </p:sp>
      <p:sp>
        <p:nvSpPr>
          <p:cNvPr id="271" name="Google Shape;271;p17"/>
          <p:cNvSpPr/>
          <p:nvPr/>
        </p:nvSpPr>
        <p:spPr>
          <a:xfrm>
            <a:off x="4663440" y="2331720"/>
            <a:ext cx="4023360" cy="1280160"/>
          </a:xfrm>
          <a:prstGeom prst="rect">
            <a:avLst/>
          </a:prstGeom>
          <a:solidFill>
            <a:srgbClr val="FFFFFF"/>
          </a:solidFill>
          <a:ln cap="flat" cmpd="sng" w="9525">
            <a:solidFill>
              <a:srgbClr val="B0B0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7"/>
          <p:cNvSpPr/>
          <p:nvPr/>
        </p:nvSpPr>
        <p:spPr>
          <a:xfrm>
            <a:off x="4800600" y="2496312"/>
            <a:ext cx="502920" cy="502920"/>
          </a:xfrm>
          <a:prstGeom prst="ellipse">
            <a:avLst/>
          </a:prstGeom>
          <a:solidFill>
            <a:srgbClr val="2F5A7A"/>
          </a:solidFill>
          <a:ln cap="flat" cmpd="sng" w="12700">
            <a:solidFill>
              <a:srgbClr val="2F5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7"/>
          <p:cNvSpPr/>
          <p:nvPr/>
        </p:nvSpPr>
        <p:spPr>
          <a:xfrm>
            <a:off x="4800600" y="2496312"/>
            <a:ext cx="50292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D</a:t>
            </a:r>
            <a:endParaRPr b="0" i="0" sz="1800" u="none" cap="none" strike="noStrike">
              <a:solidFill>
                <a:schemeClr val="dk1"/>
              </a:solidFill>
              <a:latin typeface="Calibri"/>
              <a:ea typeface="Calibri"/>
              <a:cs typeface="Calibri"/>
              <a:sym typeface="Calibri"/>
            </a:endParaRPr>
          </a:p>
        </p:txBody>
      </p:sp>
      <p:sp>
        <p:nvSpPr>
          <p:cNvPr id="274" name="Google Shape;274;p17"/>
          <p:cNvSpPr/>
          <p:nvPr/>
        </p:nvSpPr>
        <p:spPr>
          <a:xfrm>
            <a:off x="5440680" y="2404872"/>
            <a:ext cx="310896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B2B2B"/>
              </a:buClr>
              <a:buSzPts val="1300"/>
              <a:buFont typeface="Georgia"/>
              <a:buNone/>
            </a:pPr>
            <a:r>
              <a:rPr b="0" i="0" lang="en-US" sz="1300" u="none" cap="none" strike="noStrike">
                <a:solidFill>
                  <a:srgbClr val="2B2B2B"/>
                </a:solidFill>
                <a:latin typeface="Georgia"/>
                <a:ea typeface="Georgia"/>
                <a:cs typeface="Georgia"/>
                <a:sym typeface="Georgia"/>
              </a:rPr>
              <a:t>RF more interpretable</a:t>
            </a:r>
            <a:endParaRPr b="0" i="0" sz="1300" u="none" cap="none" strike="noStrike">
              <a:solidFill>
                <a:schemeClr val="dk1"/>
              </a:solidFill>
              <a:latin typeface="Calibri"/>
              <a:ea typeface="Calibri"/>
              <a:cs typeface="Calibri"/>
              <a:sym typeface="Calibri"/>
            </a:endParaRPr>
          </a:p>
        </p:txBody>
      </p:sp>
      <p:sp>
        <p:nvSpPr>
          <p:cNvPr id="275" name="Google Shape;275;p17"/>
          <p:cNvSpPr/>
          <p:nvPr/>
        </p:nvSpPr>
        <p:spPr>
          <a:xfrm>
            <a:off x="5440680" y="2834640"/>
            <a:ext cx="3108960" cy="7315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06060"/>
              </a:buClr>
              <a:buSzPts val="1100"/>
              <a:buFont typeface="Georgia"/>
              <a:buNone/>
            </a:pPr>
            <a:r>
              <a:rPr b="0" i="1" lang="en-US" sz="1100" u="none" cap="none" strike="noStrike">
                <a:solidFill>
                  <a:srgbClr val="606060"/>
                </a:solidFill>
                <a:latin typeface="Georgia"/>
                <a:ea typeface="Georgia"/>
                <a:cs typeface="Georgia"/>
                <a:sym typeface="Georgia"/>
              </a:rPr>
              <a:t>Forests are less interpretable than a single tree.</a:t>
            </a:r>
            <a:endParaRPr b="0" i="0" sz="1100" u="none" cap="none" strike="noStrike">
              <a:solidFill>
                <a:schemeClr val="dk1"/>
              </a:solidFill>
              <a:latin typeface="Calibri"/>
              <a:ea typeface="Calibri"/>
              <a:cs typeface="Calibri"/>
              <a:sym typeface="Calibri"/>
            </a:endParaRPr>
          </a:p>
        </p:txBody>
      </p:sp>
      <p:sp>
        <p:nvSpPr>
          <p:cNvPr id="276" name="Google Shape;276;p17"/>
          <p:cNvSpPr/>
          <p:nvPr/>
        </p:nvSpPr>
        <p:spPr>
          <a:xfrm>
            <a:off x="365760" y="3749040"/>
            <a:ext cx="8458200" cy="777240"/>
          </a:xfrm>
          <a:prstGeom prst="rect">
            <a:avLst/>
          </a:prstGeom>
          <a:solidFill>
            <a:srgbClr val="F4ECE9"/>
          </a:solidFill>
          <a:ln cap="flat" cmpd="sng" w="9525">
            <a:solidFill>
              <a:srgbClr val="7B2D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7"/>
          <p:cNvSpPr/>
          <p:nvPr/>
        </p:nvSpPr>
        <p:spPr>
          <a:xfrm>
            <a:off x="502920" y="3794760"/>
            <a:ext cx="818388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2D26"/>
              </a:buClr>
              <a:buSzPts val="1200"/>
              <a:buFont typeface="Georgia"/>
              <a:buNone/>
            </a:pPr>
            <a:r>
              <a:rPr b="1" i="0" lang="en-US" sz="1200" u="none" cap="none" strike="noStrike">
                <a:solidFill>
                  <a:srgbClr val="7B2D26"/>
                </a:solidFill>
                <a:latin typeface="Georgia"/>
                <a:ea typeface="Georgia"/>
                <a:cs typeface="Georgia"/>
                <a:sym typeface="Georgia"/>
              </a:rPr>
              <a:t>Why this matters:  </a:t>
            </a:r>
            <a:r>
              <a:rPr b="0" i="0" lang="en-US" sz="1200" u="none" cap="none" strike="noStrike">
                <a:solidFill>
                  <a:srgbClr val="2B2B2B"/>
                </a:solidFill>
                <a:latin typeface="Georgia"/>
                <a:ea typeface="Georgia"/>
                <a:cs typeface="Georgia"/>
                <a:sym typeface="Georgia"/>
              </a:rPr>
              <a:t>feature subsampling forces different trees to use different features  →  </a:t>
            </a:r>
            <a:r>
              <a:rPr b="1" i="1" lang="en-US" sz="1200" u="none" cap="none" strike="noStrike">
                <a:solidFill>
                  <a:srgbClr val="7B2D26"/>
                </a:solidFill>
                <a:latin typeface="Georgia"/>
                <a:ea typeface="Georgia"/>
                <a:cs typeface="Georgia"/>
                <a:sym typeface="Georgia"/>
              </a:rPr>
              <a:t>the trees become decorrelated. </a:t>
            </a:r>
            <a:r>
              <a:rPr b="0" i="0" lang="en-US" sz="1200" u="none" cap="none" strike="noStrike">
                <a:solidFill>
                  <a:srgbClr val="2B2B2B"/>
                </a:solidFill>
                <a:latin typeface="Georgia"/>
                <a:ea typeface="Georgia"/>
                <a:cs typeface="Georgia"/>
                <a:sym typeface="Georgia"/>
              </a:rPr>
              <a:t>Averaging decorrelated noisy predictions is far more powerful than averaging correlated ones.</a:t>
            </a:r>
            <a:endParaRPr b="0" i="0" sz="1200" u="none" cap="none" strike="noStrike">
              <a:solidFill>
                <a:schemeClr val="dk1"/>
              </a:solidFill>
              <a:latin typeface="Calibri"/>
              <a:ea typeface="Calibri"/>
              <a:cs typeface="Calibri"/>
              <a:sym typeface="Calibri"/>
            </a:endParaRPr>
          </a:p>
        </p:txBody>
      </p:sp>
      <p:sp>
        <p:nvSpPr>
          <p:cNvPr id="278" name="Google Shape;278;p17"/>
          <p:cNvSpPr/>
          <p:nvPr/>
        </p:nvSpPr>
        <p:spPr>
          <a:xfrm>
            <a:off x="2743200" y="4663440"/>
            <a:ext cx="36576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B2B2B"/>
              </a:buClr>
              <a:buSzPts val="1200"/>
              <a:buFont typeface="Georgia"/>
              <a:buNone/>
            </a:pPr>
            <a:r>
              <a:rPr b="1" i="0" lang="en-US" sz="1200" u="none" cap="none" strike="noStrike">
                <a:solidFill>
                  <a:srgbClr val="2B2B2B"/>
                </a:solidFill>
                <a:latin typeface="Georgia"/>
                <a:ea typeface="Georgia"/>
                <a:cs typeface="Georgia"/>
                <a:sym typeface="Georgia"/>
              </a:rPr>
              <a:t>CosmicAI Summer School</a:t>
            </a:r>
            <a:endParaRPr b="0" i="0" sz="1200" u="none" cap="none" strike="noStrike">
              <a:solidFill>
                <a:schemeClr val="dk1"/>
              </a:solidFill>
              <a:latin typeface="Calibri"/>
              <a:ea typeface="Calibri"/>
              <a:cs typeface="Calibri"/>
              <a:sym typeface="Calibri"/>
            </a:endParaRPr>
          </a:p>
        </p:txBody>
      </p:sp>
      <p:sp>
        <p:nvSpPr>
          <p:cNvPr id="279" name="Google Shape;279;p17"/>
          <p:cNvSpPr/>
          <p:nvPr/>
        </p:nvSpPr>
        <p:spPr>
          <a:xfrm>
            <a:off x="8275320" y="4754880"/>
            <a:ext cx="6858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06060"/>
              </a:buClr>
              <a:buSzPts val="1200"/>
              <a:buFont typeface="Georgia"/>
              <a:buNone/>
            </a:pPr>
            <a:r>
              <a:rPr b="0" i="0" lang="en-US" sz="1200" u="none" cap="none" strike="noStrike">
                <a:solidFill>
                  <a:srgbClr val="606060"/>
                </a:solidFill>
                <a:latin typeface="Georgia"/>
                <a:ea typeface="Georgia"/>
                <a:cs typeface="Georgia"/>
                <a:sym typeface="Georgia"/>
              </a:rPr>
              <a:t>17</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4" name="Shape 284"/>
        <p:cNvGrpSpPr/>
        <p:nvPr/>
      </p:nvGrpSpPr>
      <p:grpSpPr>
        <a:xfrm>
          <a:off x="0" y="0"/>
          <a:ext cx="0" cy="0"/>
          <a:chOff x="0" y="0"/>
          <a:chExt cx="0" cy="0"/>
        </a:xfrm>
      </p:grpSpPr>
      <p:sp>
        <p:nvSpPr>
          <p:cNvPr id="285" name="Google Shape;285;p18"/>
          <p:cNvSpPr/>
          <p:nvPr/>
        </p:nvSpPr>
        <p:spPr>
          <a:xfrm>
            <a:off x="274320" y="137160"/>
            <a:ext cx="859536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B2D26"/>
              </a:buClr>
              <a:buSzPts val="3000"/>
              <a:buFont typeface="Georgia"/>
              <a:buNone/>
            </a:pPr>
            <a:r>
              <a:rPr b="0" i="0" lang="en-US" sz="3000" u="none" cap="none" strike="noStrike">
                <a:solidFill>
                  <a:srgbClr val="7B2D26"/>
                </a:solidFill>
                <a:latin typeface="Georgia"/>
                <a:ea typeface="Georgia"/>
                <a:cs typeface="Georgia"/>
                <a:sym typeface="Georgia"/>
              </a:rPr>
              <a:t>Aggregating Predictions  &amp;  OOB Score</a:t>
            </a:r>
            <a:endParaRPr b="0" i="0" sz="3000" u="none" cap="none" strike="noStrike">
              <a:solidFill>
                <a:schemeClr val="dk1"/>
              </a:solidFill>
              <a:latin typeface="Calibri"/>
              <a:ea typeface="Calibri"/>
              <a:cs typeface="Calibri"/>
              <a:sym typeface="Calibri"/>
            </a:endParaRPr>
          </a:p>
        </p:txBody>
      </p:sp>
      <p:cxnSp>
        <p:nvCxnSpPr>
          <p:cNvPr id="286" name="Google Shape;286;p18"/>
          <p:cNvCxnSpPr/>
          <p:nvPr/>
        </p:nvCxnSpPr>
        <p:spPr>
          <a:xfrm>
            <a:off x="365760" y="777240"/>
            <a:ext cx="8412480" cy="0"/>
          </a:xfrm>
          <a:prstGeom prst="straightConnector1">
            <a:avLst/>
          </a:prstGeom>
          <a:noFill/>
          <a:ln cap="flat" cmpd="sng" w="15875">
            <a:solidFill>
              <a:srgbClr val="B0B0B0"/>
            </a:solidFill>
            <a:prstDash val="solid"/>
            <a:round/>
            <a:headEnd len="sm" w="sm" type="none"/>
            <a:tailEnd len="sm" w="sm" type="none"/>
          </a:ln>
        </p:spPr>
      </p:cxnSp>
      <p:sp>
        <p:nvSpPr>
          <p:cNvPr id="287" name="Google Shape;287;p18"/>
          <p:cNvSpPr/>
          <p:nvPr/>
        </p:nvSpPr>
        <p:spPr>
          <a:xfrm>
            <a:off x="365760" y="914400"/>
            <a:ext cx="4160520" cy="3246120"/>
          </a:xfrm>
          <a:prstGeom prst="rect">
            <a:avLst/>
          </a:prstGeom>
          <a:solidFill>
            <a:srgbClr val="F9F4F1"/>
          </a:solidFill>
          <a:ln cap="flat" cmpd="sng" w="9525">
            <a:solidFill>
              <a:srgbClr val="B0B0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8"/>
          <p:cNvSpPr/>
          <p:nvPr/>
        </p:nvSpPr>
        <p:spPr>
          <a:xfrm>
            <a:off x="502920" y="960120"/>
            <a:ext cx="393192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2D26"/>
              </a:buClr>
              <a:buSzPts val="1500"/>
              <a:buFont typeface="Georgia"/>
              <a:buNone/>
            </a:pPr>
            <a:r>
              <a:rPr b="1" i="0" lang="en-US" sz="1500" u="none" cap="none" strike="noStrike">
                <a:solidFill>
                  <a:srgbClr val="7B2D26"/>
                </a:solidFill>
                <a:latin typeface="Georgia"/>
                <a:ea typeface="Georgia"/>
                <a:cs typeface="Georgia"/>
                <a:sym typeface="Georgia"/>
              </a:rPr>
              <a:t>Aggregation</a:t>
            </a:r>
            <a:endParaRPr b="0" i="0" sz="1500" u="none" cap="none" strike="noStrike">
              <a:solidFill>
                <a:schemeClr val="dk1"/>
              </a:solidFill>
              <a:latin typeface="Calibri"/>
              <a:ea typeface="Calibri"/>
              <a:cs typeface="Calibri"/>
              <a:sym typeface="Calibri"/>
            </a:endParaRPr>
          </a:p>
        </p:txBody>
      </p:sp>
      <p:sp>
        <p:nvSpPr>
          <p:cNvPr id="289" name="Google Shape;289;p18"/>
          <p:cNvSpPr/>
          <p:nvPr/>
        </p:nvSpPr>
        <p:spPr>
          <a:xfrm>
            <a:off x="502920" y="1280160"/>
            <a:ext cx="3931920" cy="27889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B2B2B"/>
              </a:buClr>
              <a:buSzPts val="1250"/>
              <a:buFont typeface="Georgia"/>
              <a:buNone/>
            </a:pPr>
            <a:r>
              <a:rPr b="1" i="0" lang="en-US" sz="1250" u="none" cap="none" strike="noStrike">
                <a:solidFill>
                  <a:srgbClr val="2B2B2B"/>
                </a:solidFill>
                <a:latin typeface="Georgia"/>
                <a:ea typeface="Georgia"/>
                <a:cs typeface="Georgia"/>
                <a:sym typeface="Georgia"/>
              </a:rPr>
              <a:t>Regression: </a:t>
            </a:r>
            <a:r>
              <a:rPr b="0" i="0" lang="en-US" sz="1250" u="none" cap="none" strike="noStrike">
                <a:solidFill>
                  <a:srgbClr val="2B2B2B"/>
                </a:solidFill>
                <a:latin typeface="Georgia"/>
                <a:ea typeface="Georgia"/>
                <a:cs typeface="Georgia"/>
                <a:sym typeface="Georgia"/>
              </a:rPr>
              <a:t>average the B tree predictions.</a:t>
            </a:r>
            <a:endParaRPr b="0" i="0" sz="125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7B2D26"/>
              </a:buClr>
              <a:buSzPts val="1200"/>
              <a:buFont typeface="Courier New"/>
              <a:buNone/>
            </a:pPr>
            <a:r>
              <a:rPr b="0" i="0" lang="en-US" sz="1200" u="none" cap="none" strike="noStrike">
                <a:solidFill>
                  <a:srgbClr val="7B2D26"/>
                </a:solidFill>
                <a:latin typeface="Courier New"/>
                <a:ea typeface="Courier New"/>
                <a:cs typeface="Courier New"/>
                <a:sym typeface="Courier New"/>
              </a:rPr>
              <a:t>ŷ = (1/B) · Σ_b  ŷ_b(x)</a:t>
            </a:r>
            <a:endParaRPr b="0" i="0" sz="125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2B2B2B"/>
              </a:buClr>
              <a:buSzPts val="400"/>
              <a:buFont typeface="Georgia"/>
              <a:buNone/>
            </a:pPr>
            <a:r>
              <a:rPr b="0" i="0" lang="en-US" sz="400" u="none" cap="none" strike="noStrike">
                <a:solidFill>
                  <a:srgbClr val="2B2B2B"/>
                </a:solidFill>
                <a:latin typeface="Georgia"/>
                <a:ea typeface="Georgia"/>
                <a:cs typeface="Georgia"/>
                <a:sym typeface="Georgia"/>
              </a:rPr>
              <a:t> </a:t>
            </a:r>
            <a:endParaRPr b="0" i="0" sz="125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2B2B2B"/>
              </a:buClr>
              <a:buSzPts val="1250"/>
              <a:buFont typeface="Georgia"/>
              <a:buNone/>
            </a:pPr>
            <a:r>
              <a:rPr b="1" i="0" lang="en-US" sz="1250" u="none" cap="none" strike="noStrike">
                <a:solidFill>
                  <a:srgbClr val="2B2B2B"/>
                </a:solidFill>
                <a:latin typeface="Georgia"/>
                <a:ea typeface="Georgia"/>
                <a:cs typeface="Georgia"/>
                <a:sym typeface="Georgia"/>
              </a:rPr>
              <a:t>Classification: </a:t>
            </a:r>
            <a:r>
              <a:rPr b="0" i="0" lang="en-US" sz="1250" u="none" cap="none" strike="noStrike">
                <a:solidFill>
                  <a:srgbClr val="2B2B2B"/>
                </a:solidFill>
                <a:latin typeface="Georgia"/>
                <a:ea typeface="Georgia"/>
                <a:cs typeface="Georgia"/>
                <a:sym typeface="Georgia"/>
              </a:rPr>
              <a:t>majority vote, or average the class probabilities and then argmax.</a:t>
            </a:r>
            <a:endParaRPr b="0" i="0" sz="125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2B2B2B"/>
              </a:buClr>
              <a:buSzPts val="400"/>
              <a:buFont typeface="Georgia"/>
              <a:buNone/>
            </a:pPr>
            <a:r>
              <a:rPr b="0" i="0" lang="en-US" sz="400" u="none" cap="none" strike="noStrike">
                <a:solidFill>
                  <a:srgbClr val="2B2B2B"/>
                </a:solidFill>
                <a:latin typeface="Georgia"/>
                <a:ea typeface="Georgia"/>
                <a:cs typeface="Georgia"/>
                <a:sym typeface="Georgia"/>
              </a:rPr>
              <a:t> </a:t>
            </a:r>
            <a:endParaRPr b="0" i="0" sz="125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2B2B2B"/>
              </a:buClr>
              <a:buSzPts val="1250"/>
              <a:buFont typeface="Georgia"/>
              <a:buNone/>
            </a:pPr>
            <a:r>
              <a:rPr b="1" i="0" lang="en-US" sz="1250" u="none" cap="none" strike="noStrike">
                <a:solidFill>
                  <a:srgbClr val="2B2B2B"/>
                </a:solidFill>
                <a:latin typeface="Georgia"/>
                <a:ea typeface="Georgia"/>
                <a:cs typeface="Georgia"/>
                <a:sym typeface="Georgia"/>
              </a:rPr>
              <a:t>Why it works: </a:t>
            </a:r>
            <a:r>
              <a:rPr b="0" i="0" lang="en-US" sz="1250" u="none" cap="none" strike="noStrike">
                <a:solidFill>
                  <a:srgbClr val="2B2B2B"/>
                </a:solidFill>
                <a:latin typeface="Georgia"/>
                <a:ea typeface="Georgia"/>
                <a:cs typeface="Georgia"/>
                <a:sym typeface="Georgia"/>
              </a:rPr>
              <a:t>variance of the mean = variance of one / B  (if the trees were independent).</a:t>
            </a:r>
            <a:endParaRPr b="0" i="0" sz="1250" u="none" cap="none" strike="noStrike">
              <a:solidFill>
                <a:schemeClr val="dk1"/>
              </a:solidFill>
              <a:latin typeface="Calibri"/>
              <a:ea typeface="Calibri"/>
              <a:cs typeface="Calibri"/>
              <a:sym typeface="Calibri"/>
            </a:endParaRPr>
          </a:p>
        </p:txBody>
      </p:sp>
      <p:sp>
        <p:nvSpPr>
          <p:cNvPr id="290" name="Google Shape;290;p18"/>
          <p:cNvSpPr/>
          <p:nvPr/>
        </p:nvSpPr>
        <p:spPr>
          <a:xfrm>
            <a:off x="4663440" y="914400"/>
            <a:ext cx="4160520" cy="3246120"/>
          </a:xfrm>
          <a:prstGeom prst="rect">
            <a:avLst/>
          </a:prstGeom>
          <a:solidFill>
            <a:srgbClr val="EAF1F4"/>
          </a:solidFill>
          <a:ln cap="flat" cmpd="sng" w="9525">
            <a:solidFill>
              <a:srgbClr val="2F5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8"/>
          <p:cNvSpPr/>
          <p:nvPr/>
        </p:nvSpPr>
        <p:spPr>
          <a:xfrm>
            <a:off x="4800600" y="960120"/>
            <a:ext cx="393192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F5A7A"/>
              </a:buClr>
              <a:buSzPts val="1500"/>
              <a:buFont typeface="Georgia"/>
              <a:buNone/>
            </a:pPr>
            <a:r>
              <a:rPr b="1" i="0" lang="en-US" sz="1500" u="none" cap="none" strike="noStrike">
                <a:solidFill>
                  <a:srgbClr val="2F5A7A"/>
                </a:solidFill>
                <a:latin typeface="Georgia"/>
                <a:ea typeface="Georgia"/>
                <a:cs typeface="Georgia"/>
                <a:sym typeface="Georgia"/>
              </a:rPr>
              <a:t>Out-Of-Bag (OOB) score</a:t>
            </a:r>
            <a:endParaRPr b="0" i="0" sz="1500" u="none" cap="none" strike="noStrike">
              <a:solidFill>
                <a:schemeClr val="dk1"/>
              </a:solidFill>
              <a:latin typeface="Calibri"/>
              <a:ea typeface="Calibri"/>
              <a:cs typeface="Calibri"/>
              <a:sym typeface="Calibri"/>
            </a:endParaRPr>
          </a:p>
        </p:txBody>
      </p:sp>
      <p:sp>
        <p:nvSpPr>
          <p:cNvPr id="292" name="Google Shape;292;p18"/>
          <p:cNvSpPr/>
          <p:nvPr/>
        </p:nvSpPr>
        <p:spPr>
          <a:xfrm>
            <a:off x="4800600" y="1280160"/>
            <a:ext cx="3931920" cy="27889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B2B2B"/>
              </a:buClr>
              <a:buSzPts val="1200"/>
              <a:buFont typeface="Georgia"/>
              <a:buNone/>
            </a:pPr>
            <a:r>
              <a:rPr b="0" i="0" lang="en-US" sz="1200" u="none" cap="none" strike="noStrike">
                <a:solidFill>
                  <a:srgbClr val="2B2B2B"/>
                </a:solidFill>
                <a:latin typeface="Georgia"/>
                <a:ea typeface="Georgia"/>
                <a:cs typeface="Georgia"/>
                <a:sym typeface="Georgia"/>
              </a:rPr>
              <a:t>A free held-out estimate, no separate validation set needed.</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B2B2B"/>
              </a:buClr>
              <a:buSzPts val="400"/>
              <a:buFont typeface="Georgia"/>
              <a:buNone/>
            </a:pPr>
            <a:r>
              <a:rPr b="0" i="0" lang="en-US" sz="400" u="none" cap="none" strike="noStrike">
                <a:solidFill>
                  <a:srgbClr val="2B2B2B"/>
                </a:solidFill>
                <a:latin typeface="Georgia"/>
                <a:ea typeface="Georgia"/>
                <a:cs typeface="Georgia"/>
                <a:sym typeface="Georgia"/>
              </a:rPr>
              <a:t> </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B2B2B"/>
              </a:buClr>
              <a:buSzPts val="1200"/>
              <a:buFont typeface="Georgia"/>
              <a:buNone/>
            </a:pPr>
            <a:r>
              <a:rPr b="1" i="0" lang="en-US" sz="1200" u="none" cap="none" strike="noStrike">
                <a:solidFill>
                  <a:srgbClr val="2B2B2B"/>
                </a:solidFill>
                <a:latin typeface="Georgia"/>
                <a:ea typeface="Georgia"/>
                <a:cs typeface="Georgia"/>
                <a:sym typeface="Georgia"/>
              </a:rPr>
              <a:t>For each training example x_i:</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B2B2B"/>
              </a:buClr>
              <a:buSzPts val="1200"/>
              <a:buFont typeface="Georgia"/>
              <a:buNone/>
            </a:pPr>
            <a:r>
              <a:rPr b="0" i="0" lang="en-US" sz="1200" u="none" cap="none" strike="noStrike">
                <a:solidFill>
                  <a:srgbClr val="2B2B2B"/>
                </a:solidFill>
                <a:latin typeface="Georgia"/>
                <a:ea typeface="Georgia"/>
                <a:cs typeface="Georgia"/>
                <a:sym typeface="Georgia"/>
              </a:rPr>
              <a:t>average the predictions from only those trees that DID NOT see x_i in their bootstrap.</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B2B2B"/>
              </a:buClr>
              <a:buSzPts val="400"/>
              <a:buFont typeface="Georgia"/>
              <a:buNone/>
            </a:pPr>
            <a:r>
              <a:rPr b="0" i="0" lang="en-US" sz="400" u="none" cap="none" strike="noStrike">
                <a:solidFill>
                  <a:srgbClr val="2B2B2B"/>
                </a:solidFill>
                <a:latin typeface="Georgia"/>
                <a:ea typeface="Georgia"/>
                <a:cs typeface="Georgia"/>
                <a:sym typeface="Georgia"/>
              </a:rPr>
              <a:t> </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B2B2B"/>
              </a:buClr>
              <a:buSzPts val="400"/>
              <a:buFont typeface="Georgia"/>
              <a:buNone/>
            </a:pPr>
            <a:r>
              <a:rPr b="0" i="0" lang="en-US" sz="400" u="none" cap="none" strike="noStrike">
                <a:solidFill>
                  <a:srgbClr val="2B2B2B"/>
                </a:solidFill>
                <a:latin typeface="Georgia"/>
                <a:ea typeface="Georgia"/>
                <a:cs typeface="Georgia"/>
                <a:sym typeface="Georgia"/>
              </a:rPr>
              <a:t> </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B2B2B"/>
              </a:buClr>
              <a:buSzPts val="1200"/>
              <a:buFont typeface="Georgia"/>
              <a:buNone/>
            </a:pPr>
            <a:r>
              <a:rPr b="1" i="0" lang="en-US" sz="1200" u="none" cap="none" strike="noStrike">
                <a:solidFill>
                  <a:srgbClr val="2B2B2B"/>
                </a:solidFill>
                <a:latin typeface="Georgia"/>
                <a:ea typeface="Georgia"/>
                <a:cs typeface="Georgia"/>
                <a:sym typeface="Georgia"/>
              </a:rPr>
              <a:t>sklearn: </a:t>
            </a:r>
            <a:r>
              <a:rPr b="0" i="0" lang="en-US" sz="1150" u="none" cap="none" strike="noStrike">
                <a:solidFill>
                  <a:srgbClr val="2B2B2B"/>
                </a:solidFill>
                <a:latin typeface="Courier New"/>
                <a:ea typeface="Courier New"/>
                <a:cs typeface="Courier New"/>
                <a:sym typeface="Courier New"/>
              </a:rPr>
              <a:t>RandomForestClassifier(oob_score=True).oob_score_</a:t>
            </a:r>
            <a:endParaRPr b="0" i="0" sz="1200" u="none" cap="none" strike="noStrike">
              <a:solidFill>
                <a:schemeClr val="dk1"/>
              </a:solidFill>
              <a:latin typeface="Calibri"/>
              <a:ea typeface="Calibri"/>
              <a:cs typeface="Calibri"/>
              <a:sym typeface="Calibri"/>
            </a:endParaRPr>
          </a:p>
        </p:txBody>
      </p:sp>
      <p:sp>
        <p:nvSpPr>
          <p:cNvPr id="293" name="Google Shape;293;p18"/>
          <p:cNvSpPr/>
          <p:nvPr/>
        </p:nvSpPr>
        <p:spPr>
          <a:xfrm>
            <a:off x="2743200" y="4663440"/>
            <a:ext cx="36576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B2B2B"/>
              </a:buClr>
              <a:buSzPts val="1200"/>
              <a:buFont typeface="Georgia"/>
              <a:buNone/>
            </a:pPr>
            <a:r>
              <a:rPr b="1" i="0" lang="en-US" sz="1200" u="none" cap="none" strike="noStrike">
                <a:solidFill>
                  <a:srgbClr val="2B2B2B"/>
                </a:solidFill>
                <a:latin typeface="Georgia"/>
                <a:ea typeface="Georgia"/>
                <a:cs typeface="Georgia"/>
                <a:sym typeface="Georgia"/>
              </a:rPr>
              <a:t>CosmicAI Summer School</a:t>
            </a:r>
            <a:endParaRPr b="0" i="0" sz="1200" u="none" cap="none" strike="noStrike">
              <a:solidFill>
                <a:schemeClr val="dk1"/>
              </a:solidFill>
              <a:latin typeface="Calibri"/>
              <a:ea typeface="Calibri"/>
              <a:cs typeface="Calibri"/>
              <a:sym typeface="Calibri"/>
            </a:endParaRPr>
          </a:p>
        </p:txBody>
      </p:sp>
      <p:sp>
        <p:nvSpPr>
          <p:cNvPr id="294" name="Google Shape;294;p18"/>
          <p:cNvSpPr/>
          <p:nvPr/>
        </p:nvSpPr>
        <p:spPr>
          <a:xfrm>
            <a:off x="8275320" y="4754880"/>
            <a:ext cx="6858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06060"/>
              </a:buClr>
              <a:buSzPts val="1200"/>
              <a:buFont typeface="Georgia"/>
              <a:buNone/>
            </a:pPr>
            <a:r>
              <a:rPr b="0" i="0" lang="en-US" sz="1200" u="none" cap="none" strike="noStrike">
                <a:solidFill>
                  <a:srgbClr val="606060"/>
                </a:solidFill>
                <a:latin typeface="Georgia"/>
                <a:ea typeface="Georgia"/>
                <a:cs typeface="Georgia"/>
                <a:sym typeface="Georgia"/>
              </a:rPr>
              <a:t>18</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9" name="Shape 299"/>
        <p:cNvGrpSpPr/>
        <p:nvPr/>
      </p:nvGrpSpPr>
      <p:grpSpPr>
        <a:xfrm>
          <a:off x="0" y="0"/>
          <a:ext cx="0" cy="0"/>
          <a:chOff x="0" y="0"/>
          <a:chExt cx="0" cy="0"/>
        </a:xfrm>
      </p:grpSpPr>
      <p:sp>
        <p:nvSpPr>
          <p:cNvPr id="300" name="Google Shape;300;p21"/>
          <p:cNvSpPr/>
          <p:nvPr/>
        </p:nvSpPr>
        <p:spPr>
          <a:xfrm>
            <a:off x="274320" y="137160"/>
            <a:ext cx="859536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B2D26"/>
              </a:buClr>
              <a:buSzPts val="3000"/>
              <a:buFont typeface="Georgia"/>
              <a:buNone/>
            </a:pPr>
            <a:r>
              <a:rPr b="0" i="0" lang="en-US" sz="3000" u="none" cap="none" strike="noStrike">
                <a:solidFill>
                  <a:srgbClr val="7B2D26"/>
                </a:solidFill>
                <a:latin typeface="Georgia"/>
                <a:ea typeface="Georgia"/>
                <a:cs typeface="Georgia"/>
                <a:sym typeface="Georgia"/>
              </a:rPr>
              <a:t>Feature Importance</a:t>
            </a:r>
            <a:endParaRPr b="0" i="0" sz="3000" u="none" cap="none" strike="noStrike">
              <a:solidFill>
                <a:schemeClr val="dk1"/>
              </a:solidFill>
              <a:latin typeface="Calibri"/>
              <a:ea typeface="Calibri"/>
              <a:cs typeface="Calibri"/>
              <a:sym typeface="Calibri"/>
            </a:endParaRPr>
          </a:p>
        </p:txBody>
      </p:sp>
      <p:cxnSp>
        <p:nvCxnSpPr>
          <p:cNvPr id="301" name="Google Shape;301;p21"/>
          <p:cNvCxnSpPr/>
          <p:nvPr/>
        </p:nvCxnSpPr>
        <p:spPr>
          <a:xfrm>
            <a:off x="365760" y="777240"/>
            <a:ext cx="8412480" cy="0"/>
          </a:xfrm>
          <a:prstGeom prst="straightConnector1">
            <a:avLst/>
          </a:prstGeom>
          <a:noFill/>
          <a:ln cap="flat" cmpd="sng" w="15875">
            <a:solidFill>
              <a:srgbClr val="B0B0B0"/>
            </a:solidFill>
            <a:prstDash val="solid"/>
            <a:round/>
            <a:headEnd len="sm" w="sm" type="none"/>
            <a:tailEnd len="sm" w="sm" type="none"/>
          </a:ln>
        </p:spPr>
      </p:cxnSp>
      <p:sp>
        <p:nvSpPr>
          <p:cNvPr id="302" name="Google Shape;302;p21"/>
          <p:cNvSpPr/>
          <p:nvPr/>
        </p:nvSpPr>
        <p:spPr>
          <a:xfrm>
            <a:off x="411480" y="914400"/>
            <a:ext cx="4069080" cy="33832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06060"/>
              </a:buClr>
              <a:buSzPts val="1200"/>
              <a:buFont typeface="Georgia"/>
              <a:buNone/>
            </a:pPr>
            <a:r>
              <a:rPr b="0" i="1" lang="en-US" sz="1200" u="none" cap="none" strike="noStrike">
                <a:solidFill>
                  <a:srgbClr val="606060"/>
                </a:solidFill>
                <a:latin typeface="Georgia"/>
                <a:ea typeface="Georgia"/>
                <a:cs typeface="Georgia"/>
                <a:sym typeface="Georgia"/>
              </a:rPr>
              <a:t>How important is each feature?  Two common definitions.</a:t>
            </a:r>
            <a:endParaRPr b="0" i="0" sz="12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2B2B2B"/>
              </a:buClr>
              <a:buSzPts val="500"/>
              <a:buFont typeface="Georgia"/>
              <a:buNone/>
            </a:pPr>
            <a:r>
              <a:rPr b="0" i="0" lang="en-US" sz="500" u="none" cap="none" strike="noStrike">
                <a:solidFill>
                  <a:srgbClr val="2B2B2B"/>
                </a:solidFill>
                <a:latin typeface="Georgia"/>
                <a:ea typeface="Georgia"/>
                <a:cs typeface="Georgia"/>
                <a:sym typeface="Georgia"/>
              </a:rPr>
              <a:t> </a:t>
            </a:r>
            <a:endParaRPr b="0" i="0" sz="12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7B2D26"/>
              </a:buClr>
              <a:buSzPts val="1200"/>
              <a:buFont typeface="Georgia"/>
              <a:buNone/>
            </a:pPr>
            <a:r>
              <a:rPr b="1" i="0" lang="en-US" sz="1200" u="none" cap="none" strike="noStrike">
                <a:solidFill>
                  <a:srgbClr val="7B2D26"/>
                </a:solidFill>
                <a:latin typeface="Georgia"/>
                <a:ea typeface="Georgia"/>
                <a:cs typeface="Georgia"/>
                <a:sym typeface="Georgia"/>
              </a:rPr>
              <a:t>Mean Decrease in Impurity (MDI):</a:t>
            </a:r>
            <a:endParaRPr b="0" i="0" sz="12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2B2B2B"/>
              </a:buClr>
              <a:buSzPts val="1200"/>
              <a:buFont typeface="Georgia"/>
              <a:buNone/>
            </a:pPr>
            <a:r>
              <a:rPr b="0" i="0" lang="en-US" sz="1200" u="none" cap="none" strike="noStrike">
                <a:solidFill>
                  <a:srgbClr val="2B2B2B"/>
                </a:solidFill>
                <a:latin typeface="Georgia"/>
                <a:ea typeface="Georgia"/>
                <a:cs typeface="Georgia"/>
                <a:sym typeface="Georgia"/>
              </a:rPr>
              <a:t>at each split, record the impurity drop times the number of samples; sum across all splits and all trees that use that feature; normalize. </a:t>
            </a:r>
            <a:endParaRPr sz="1200">
              <a:solidFill>
                <a:srgbClr val="2B2B2B"/>
              </a:solidFill>
              <a:latin typeface="Georgia"/>
              <a:ea typeface="Georgia"/>
              <a:cs typeface="Georgia"/>
              <a:sym typeface="Georgia"/>
            </a:endParaRPr>
          </a:p>
          <a:p>
            <a:pPr indent="0" lvl="0" marL="0" marR="0" rtl="0" algn="l">
              <a:spcBef>
                <a:spcPts val="300"/>
              </a:spcBef>
              <a:spcAft>
                <a:spcPts val="0"/>
              </a:spcAft>
              <a:buClr>
                <a:srgbClr val="2B2B2B"/>
              </a:buClr>
              <a:buSzPts val="1200"/>
              <a:buFont typeface="Georgia"/>
              <a:buNone/>
            </a:pPr>
            <a:r>
              <a:rPr b="0" i="0" lang="en-US" sz="500" u="none" cap="none" strike="noStrike">
                <a:solidFill>
                  <a:srgbClr val="2B2B2B"/>
                </a:solidFill>
                <a:latin typeface="Georgia"/>
                <a:ea typeface="Georgia"/>
                <a:cs typeface="Georgia"/>
                <a:sym typeface="Georgia"/>
              </a:rPr>
              <a:t> </a:t>
            </a:r>
            <a:endParaRPr b="0" i="0" sz="12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2F5A7A"/>
              </a:buClr>
              <a:buSzPts val="1200"/>
              <a:buFont typeface="Georgia"/>
              <a:buNone/>
            </a:pPr>
            <a:r>
              <a:rPr b="1" i="0" lang="en-US" sz="1200" u="none" cap="none" strike="noStrike">
                <a:solidFill>
                  <a:srgbClr val="2F5A7A"/>
                </a:solidFill>
                <a:latin typeface="Georgia"/>
                <a:ea typeface="Georgia"/>
                <a:cs typeface="Georgia"/>
                <a:sym typeface="Georgia"/>
              </a:rPr>
              <a:t>Permutation importance:</a:t>
            </a:r>
            <a:endParaRPr b="0" i="0" sz="12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2B2B2B"/>
              </a:buClr>
              <a:buSzPts val="1200"/>
              <a:buFont typeface="Georgia"/>
              <a:buNone/>
            </a:pPr>
            <a:r>
              <a:rPr b="0" i="0" lang="en-US" sz="1200" u="none" cap="none" strike="noStrike">
                <a:solidFill>
                  <a:srgbClr val="2B2B2B"/>
                </a:solidFill>
                <a:latin typeface="Georgia"/>
                <a:ea typeface="Georgia"/>
                <a:cs typeface="Georgia"/>
                <a:sym typeface="Georgia"/>
              </a:rPr>
              <a:t>for each feature, shuffle its values across rows and measure how much the OOB / test score drops.</a:t>
            </a:r>
            <a:endParaRPr b="0" i="0" sz="1200" u="none" cap="none" strike="noStrike">
              <a:solidFill>
                <a:schemeClr val="dk1"/>
              </a:solidFill>
              <a:latin typeface="Calibri"/>
              <a:ea typeface="Calibri"/>
              <a:cs typeface="Calibri"/>
              <a:sym typeface="Calibri"/>
            </a:endParaRPr>
          </a:p>
        </p:txBody>
      </p:sp>
      <p:pic>
        <p:nvPicPr>
          <p:cNvPr descr="/sessions/sleepy-friendly-euler/mnt/outputs/figs/fig_feature_importance.png" id="303" name="Google Shape;303;p21"/>
          <p:cNvPicPr preferRelativeResize="0"/>
          <p:nvPr/>
        </p:nvPicPr>
        <p:blipFill rotWithShape="1">
          <a:blip r:embed="rId3">
            <a:alphaModFix/>
          </a:blip>
          <a:srcRect b="0" l="0" r="0" t="0"/>
          <a:stretch/>
        </p:blipFill>
        <p:spPr>
          <a:xfrm>
            <a:off x="4526280" y="914400"/>
            <a:ext cx="4526280" cy="2743200"/>
          </a:xfrm>
          <a:prstGeom prst="rect">
            <a:avLst/>
          </a:prstGeom>
          <a:noFill/>
          <a:ln>
            <a:noFill/>
          </a:ln>
        </p:spPr>
      </p:pic>
      <p:sp>
        <p:nvSpPr>
          <p:cNvPr id="304" name="Google Shape;304;p21"/>
          <p:cNvSpPr/>
          <p:nvPr/>
        </p:nvSpPr>
        <p:spPr>
          <a:xfrm>
            <a:off x="2743200" y="4663440"/>
            <a:ext cx="36576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B2B2B"/>
              </a:buClr>
              <a:buSzPts val="1200"/>
              <a:buFont typeface="Georgia"/>
              <a:buNone/>
            </a:pPr>
            <a:r>
              <a:rPr b="1" i="0" lang="en-US" sz="1200" u="none" cap="none" strike="noStrike">
                <a:solidFill>
                  <a:srgbClr val="2B2B2B"/>
                </a:solidFill>
                <a:latin typeface="Georgia"/>
                <a:ea typeface="Georgia"/>
                <a:cs typeface="Georgia"/>
                <a:sym typeface="Georgia"/>
              </a:rPr>
              <a:t>CosmicAI Summer School</a:t>
            </a:r>
            <a:endParaRPr b="0" i="0" sz="1200" u="none" cap="none" strike="noStrike">
              <a:solidFill>
                <a:schemeClr val="dk1"/>
              </a:solidFill>
              <a:latin typeface="Calibri"/>
              <a:ea typeface="Calibri"/>
              <a:cs typeface="Calibri"/>
              <a:sym typeface="Calibri"/>
            </a:endParaRPr>
          </a:p>
        </p:txBody>
      </p:sp>
      <p:sp>
        <p:nvSpPr>
          <p:cNvPr id="305" name="Google Shape;305;p21"/>
          <p:cNvSpPr/>
          <p:nvPr/>
        </p:nvSpPr>
        <p:spPr>
          <a:xfrm>
            <a:off x="8275320" y="4754880"/>
            <a:ext cx="6858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06060"/>
              </a:buClr>
              <a:buSzPts val="1200"/>
              <a:buFont typeface="Georgia"/>
              <a:buNone/>
            </a:pPr>
            <a:r>
              <a:rPr b="0" i="0" lang="en-US" sz="1200" u="none" cap="none" strike="noStrike">
                <a:solidFill>
                  <a:srgbClr val="606060"/>
                </a:solidFill>
                <a:latin typeface="Georgia"/>
                <a:ea typeface="Georgia"/>
                <a:cs typeface="Georgia"/>
                <a:sym typeface="Georgia"/>
              </a:rPr>
              <a:t>21</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0" name="Shape 310"/>
        <p:cNvGrpSpPr/>
        <p:nvPr/>
      </p:nvGrpSpPr>
      <p:grpSpPr>
        <a:xfrm>
          <a:off x="0" y="0"/>
          <a:ext cx="0" cy="0"/>
          <a:chOff x="0" y="0"/>
          <a:chExt cx="0" cy="0"/>
        </a:xfrm>
      </p:grpSpPr>
      <p:sp>
        <p:nvSpPr>
          <p:cNvPr id="311" name="Google Shape;311;p24"/>
          <p:cNvSpPr/>
          <p:nvPr/>
        </p:nvSpPr>
        <p:spPr>
          <a:xfrm>
            <a:off x="274320" y="137160"/>
            <a:ext cx="859536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B2D26"/>
              </a:buClr>
              <a:buSzPts val="3000"/>
              <a:buFont typeface="Georgia"/>
              <a:buNone/>
            </a:pPr>
            <a:r>
              <a:rPr b="0" i="0" lang="en-US" sz="3000" u="none" cap="none" strike="noStrike">
                <a:solidFill>
                  <a:srgbClr val="7B2D26"/>
                </a:solidFill>
                <a:latin typeface="Georgia"/>
                <a:ea typeface="Georgia"/>
                <a:cs typeface="Georgia"/>
                <a:sym typeface="Georgia"/>
              </a:rPr>
              <a:t>Code — Random Forest in sklearn</a:t>
            </a:r>
            <a:endParaRPr b="0" i="0" sz="3000" u="none" cap="none" strike="noStrike">
              <a:solidFill>
                <a:schemeClr val="dk1"/>
              </a:solidFill>
              <a:latin typeface="Calibri"/>
              <a:ea typeface="Calibri"/>
              <a:cs typeface="Calibri"/>
              <a:sym typeface="Calibri"/>
            </a:endParaRPr>
          </a:p>
        </p:txBody>
      </p:sp>
      <p:cxnSp>
        <p:nvCxnSpPr>
          <p:cNvPr id="312" name="Google Shape;312;p24"/>
          <p:cNvCxnSpPr/>
          <p:nvPr/>
        </p:nvCxnSpPr>
        <p:spPr>
          <a:xfrm>
            <a:off x="365760" y="777240"/>
            <a:ext cx="8412480" cy="0"/>
          </a:xfrm>
          <a:prstGeom prst="straightConnector1">
            <a:avLst/>
          </a:prstGeom>
          <a:noFill/>
          <a:ln cap="flat" cmpd="sng" w="15875">
            <a:solidFill>
              <a:srgbClr val="B0B0B0"/>
            </a:solidFill>
            <a:prstDash val="solid"/>
            <a:round/>
            <a:headEnd len="sm" w="sm" type="none"/>
            <a:tailEnd len="sm" w="sm" type="none"/>
          </a:ln>
        </p:spPr>
      </p:cxnSp>
      <p:sp>
        <p:nvSpPr>
          <p:cNvPr id="313" name="Google Shape;313;p24"/>
          <p:cNvSpPr/>
          <p:nvPr/>
        </p:nvSpPr>
        <p:spPr>
          <a:xfrm>
            <a:off x="457200" y="914400"/>
            <a:ext cx="84124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06060"/>
              </a:buClr>
              <a:buSzPts val="1300"/>
              <a:buFont typeface="Georgia"/>
              <a:buNone/>
            </a:pPr>
            <a:r>
              <a:rPr b="0" i="1" lang="en-US" sz="1300" u="none" cap="none" strike="noStrike">
                <a:solidFill>
                  <a:srgbClr val="606060"/>
                </a:solidFill>
                <a:latin typeface="Georgia"/>
                <a:ea typeface="Georgia"/>
                <a:cs typeface="Georgia"/>
                <a:sym typeface="Georgia"/>
              </a:rPr>
              <a:t>Plugs straight into the Pipeline / CV scaffolding from Lec 2 &amp; 3a.</a:t>
            </a:r>
            <a:endParaRPr b="0" i="0" sz="1300" u="none" cap="none" strike="noStrike">
              <a:solidFill>
                <a:schemeClr val="dk1"/>
              </a:solidFill>
              <a:latin typeface="Calibri"/>
              <a:ea typeface="Calibri"/>
              <a:cs typeface="Calibri"/>
              <a:sym typeface="Calibri"/>
            </a:endParaRPr>
          </a:p>
        </p:txBody>
      </p:sp>
      <p:sp>
        <p:nvSpPr>
          <p:cNvPr id="314" name="Google Shape;314;p24"/>
          <p:cNvSpPr/>
          <p:nvPr/>
        </p:nvSpPr>
        <p:spPr>
          <a:xfrm>
            <a:off x="365760" y="1325880"/>
            <a:ext cx="8412480" cy="3200400"/>
          </a:xfrm>
          <a:prstGeom prst="rect">
            <a:avLst/>
          </a:prstGeom>
          <a:solidFill>
            <a:srgbClr val="F6F2EF"/>
          </a:solidFill>
          <a:ln cap="flat" cmpd="sng" w="9525">
            <a:solidFill>
              <a:srgbClr val="B0B0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24"/>
          <p:cNvSpPr/>
          <p:nvPr/>
        </p:nvSpPr>
        <p:spPr>
          <a:xfrm>
            <a:off x="548640" y="1417320"/>
            <a:ext cx="8138160" cy="30632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7B2D26"/>
              </a:buClr>
              <a:buSzPts val="1150"/>
              <a:buFont typeface="Courier New"/>
              <a:buNone/>
            </a:pPr>
            <a:r>
              <a:rPr b="1" i="0" lang="en-US" sz="1150" u="none" cap="none" strike="noStrike">
                <a:solidFill>
                  <a:srgbClr val="7B2D26"/>
                </a:solidFill>
                <a:latin typeface="Courier New"/>
                <a:ea typeface="Courier New"/>
                <a:cs typeface="Courier New"/>
                <a:sym typeface="Courier New"/>
              </a:rPr>
              <a:t>from </a:t>
            </a:r>
            <a:r>
              <a:rPr b="0" i="0" lang="en-US" sz="1150" u="none" cap="none" strike="noStrike">
                <a:solidFill>
                  <a:srgbClr val="2B2B2B"/>
                </a:solidFill>
                <a:latin typeface="Courier New"/>
                <a:ea typeface="Courier New"/>
                <a:cs typeface="Courier New"/>
                <a:sym typeface="Courier New"/>
              </a:rPr>
              <a:t>sklearn.ensemble </a:t>
            </a:r>
            <a:r>
              <a:rPr b="1" i="0" lang="en-US" sz="1150" u="none" cap="none" strike="noStrike">
                <a:solidFill>
                  <a:srgbClr val="7B2D26"/>
                </a:solidFill>
                <a:latin typeface="Courier New"/>
                <a:ea typeface="Courier New"/>
                <a:cs typeface="Courier New"/>
                <a:sym typeface="Courier New"/>
              </a:rPr>
              <a:t>import </a:t>
            </a:r>
            <a:r>
              <a:rPr b="0" i="0" lang="en-US" sz="1150" u="none" cap="none" strike="noStrike">
                <a:solidFill>
                  <a:srgbClr val="2B2B2B"/>
                </a:solidFill>
                <a:latin typeface="Courier New"/>
                <a:ea typeface="Courier New"/>
                <a:cs typeface="Courier New"/>
                <a:sym typeface="Courier New"/>
              </a:rPr>
              <a:t>RandomForestClassifier</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600"/>
              <a:buFont typeface="Courier New"/>
              <a:buNone/>
            </a:pPr>
            <a:r>
              <a:rPr b="0" i="0" lang="en-US" sz="600" u="none" cap="none" strike="noStrike">
                <a:solidFill>
                  <a:srgbClr val="000000"/>
                </a:solidFill>
                <a:latin typeface="Courier New"/>
                <a:ea typeface="Courier New"/>
                <a:cs typeface="Courier New"/>
                <a:sym typeface="Courier New"/>
              </a:rPr>
              <a:t> </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B2B2B"/>
              </a:buClr>
              <a:buSzPts val="1150"/>
              <a:buFont typeface="Courier New"/>
              <a:buNone/>
            </a:pPr>
            <a:r>
              <a:rPr b="0" i="0" lang="en-US" sz="1150" u="none" cap="none" strike="noStrike">
                <a:solidFill>
                  <a:srgbClr val="2B2B2B"/>
                </a:solidFill>
                <a:latin typeface="Courier New"/>
                <a:ea typeface="Courier New"/>
                <a:cs typeface="Courier New"/>
                <a:sym typeface="Courier New"/>
              </a:rPr>
              <a:t>rf = RandomForestClassifier(</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B2B2B"/>
              </a:buClr>
              <a:buSzPts val="1150"/>
              <a:buFont typeface="Courier New"/>
              <a:buNone/>
            </a:pPr>
            <a:r>
              <a:rPr b="0" i="0" lang="en-US" sz="1150" u="none" cap="none" strike="noStrike">
                <a:solidFill>
                  <a:srgbClr val="2B2B2B"/>
                </a:solidFill>
                <a:latin typeface="Courier New"/>
                <a:ea typeface="Courier New"/>
                <a:cs typeface="Courier New"/>
                <a:sym typeface="Courier New"/>
              </a:rPr>
              <a:t>    n_estimators=</a:t>
            </a:r>
            <a:r>
              <a:rPr b="0" i="0" lang="en-US" sz="1150" u="none" cap="none" strike="noStrike">
                <a:solidFill>
                  <a:srgbClr val="2F5A7A"/>
                </a:solidFill>
                <a:latin typeface="Courier New"/>
                <a:ea typeface="Courier New"/>
                <a:cs typeface="Courier New"/>
                <a:sym typeface="Courier New"/>
              </a:rPr>
              <a:t>500</a:t>
            </a:r>
            <a:r>
              <a:rPr b="0" i="0" lang="en-US" sz="1150" u="none" cap="none" strike="noStrike">
                <a:solidFill>
                  <a:srgbClr val="2B2B2B"/>
                </a:solidFill>
                <a:latin typeface="Courier New"/>
                <a:ea typeface="Courier New"/>
                <a:cs typeface="Courier New"/>
                <a:sym typeface="Courier New"/>
              </a:rPr>
              <a:t>,          </a:t>
            </a:r>
            <a:r>
              <a:rPr b="0" i="1" lang="en-US" sz="1150" u="none" cap="none" strike="noStrike">
                <a:solidFill>
                  <a:srgbClr val="606060"/>
                </a:solidFill>
                <a:latin typeface="Courier New"/>
                <a:ea typeface="Courier New"/>
                <a:cs typeface="Courier New"/>
                <a:sym typeface="Courier New"/>
              </a:rPr>
              <a:t># how many trees</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B2B2B"/>
              </a:buClr>
              <a:buSzPts val="1150"/>
              <a:buFont typeface="Courier New"/>
              <a:buNone/>
            </a:pPr>
            <a:r>
              <a:rPr b="0" i="0" lang="en-US" sz="1150" u="none" cap="none" strike="noStrike">
                <a:solidFill>
                  <a:srgbClr val="2B2B2B"/>
                </a:solidFill>
                <a:latin typeface="Courier New"/>
                <a:ea typeface="Courier New"/>
                <a:cs typeface="Courier New"/>
                <a:sym typeface="Courier New"/>
              </a:rPr>
              <a:t>    max_depth=</a:t>
            </a:r>
            <a:r>
              <a:rPr b="0" i="0" lang="en-US" sz="1150" u="none" cap="none" strike="noStrike">
                <a:solidFill>
                  <a:srgbClr val="2F5A7A"/>
                </a:solidFill>
                <a:latin typeface="Courier New"/>
                <a:ea typeface="Courier New"/>
                <a:cs typeface="Courier New"/>
                <a:sym typeface="Courier New"/>
              </a:rPr>
              <a:t>None</a:t>
            </a:r>
            <a:r>
              <a:rPr b="0" i="0" lang="en-US" sz="1150" u="none" cap="none" strike="noStrike">
                <a:solidFill>
                  <a:srgbClr val="2B2B2B"/>
                </a:solidFill>
                <a:latin typeface="Courier New"/>
                <a:ea typeface="Courier New"/>
                <a:cs typeface="Courier New"/>
                <a:sym typeface="Courier New"/>
              </a:rPr>
              <a:t>,          </a:t>
            </a:r>
            <a:r>
              <a:rPr b="0" i="1" lang="en-US" sz="1150" u="none" cap="none" strike="noStrike">
                <a:solidFill>
                  <a:srgbClr val="606060"/>
                </a:solidFill>
                <a:latin typeface="Courier New"/>
                <a:ea typeface="Courier New"/>
                <a:cs typeface="Courier New"/>
                <a:sym typeface="Courier New"/>
              </a:rPr>
              <a:t># fully grown (forest will average out)</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B2B2B"/>
              </a:buClr>
              <a:buSzPts val="1150"/>
              <a:buFont typeface="Courier New"/>
              <a:buNone/>
            </a:pPr>
            <a:r>
              <a:rPr b="0" i="0" lang="en-US" sz="1150" u="none" cap="none" strike="noStrike">
                <a:solidFill>
                  <a:srgbClr val="2B2B2B"/>
                </a:solidFill>
                <a:latin typeface="Courier New"/>
                <a:ea typeface="Courier New"/>
                <a:cs typeface="Courier New"/>
                <a:sym typeface="Courier New"/>
              </a:rPr>
              <a:t>    max_features=</a:t>
            </a:r>
            <a:r>
              <a:rPr b="0" i="0" lang="en-US" sz="1150" u="none" cap="none" strike="noStrike">
                <a:solidFill>
                  <a:srgbClr val="2F5A7A"/>
                </a:solidFill>
                <a:latin typeface="Courier New"/>
                <a:ea typeface="Courier New"/>
                <a:cs typeface="Courier New"/>
                <a:sym typeface="Courier New"/>
              </a:rPr>
              <a:t>"sqrt"</a:t>
            </a:r>
            <a:r>
              <a:rPr b="0" i="0" lang="en-US" sz="1150" u="none" cap="none" strike="noStrike">
                <a:solidFill>
                  <a:srgbClr val="2B2B2B"/>
                </a:solidFill>
                <a:latin typeface="Courier New"/>
                <a:ea typeface="Courier New"/>
                <a:cs typeface="Courier New"/>
                <a:sym typeface="Courier New"/>
              </a:rPr>
              <a:t>,      </a:t>
            </a:r>
            <a:r>
              <a:rPr b="0" i="1" lang="en-US" sz="1150" u="none" cap="none" strike="noStrike">
                <a:solidFill>
                  <a:srgbClr val="606060"/>
                </a:solidFill>
                <a:latin typeface="Courier New"/>
                <a:ea typeface="Courier New"/>
                <a:cs typeface="Courier New"/>
                <a:sym typeface="Courier New"/>
              </a:rPr>
              <a:t># max fea</a:t>
            </a:r>
            <a:r>
              <a:rPr i="1" lang="en-US" sz="1150">
                <a:solidFill>
                  <a:srgbClr val="606060"/>
                </a:solidFill>
                <a:latin typeface="Courier New"/>
                <a:ea typeface="Courier New"/>
                <a:cs typeface="Courier New"/>
                <a:sym typeface="Courier New"/>
              </a:rPr>
              <a:t>tures set to sqrt(n_features)</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B2B2B"/>
              </a:buClr>
              <a:buSzPts val="1150"/>
              <a:buFont typeface="Courier New"/>
              <a:buNone/>
            </a:pPr>
            <a:r>
              <a:rPr b="0" i="0" lang="en-US" sz="1150" u="none" cap="none" strike="noStrike">
                <a:solidFill>
                  <a:srgbClr val="2B2B2B"/>
                </a:solidFill>
                <a:latin typeface="Courier New"/>
                <a:ea typeface="Courier New"/>
                <a:cs typeface="Courier New"/>
                <a:sym typeface="Courier New"/>
              </a:rPr>
              <a:t>    min_samples_leaf=</a:t>
            </a:r>
            <a:r>
              <a:rPr b="0" i="0" lang="en-US" sz="1150" u="none" cap="none" strike="noStrike">
                <a:solidFill>
                  <a:srgbClr val="2F5A7A"/>
                </a:solidFill>
                <a:latin typeface="Courier New"/>
                <a:ea typeface="Courier New"/>
                <a:cs typeface="Courier New"/>
                <a:sym typeface="Courier New"/>
              </a:rPr>
              <a:t>5</a:t>
            </a:r>
            <a:r>
              <a:rPr b="0" i="0" lang="en-US" sz="1150" u="none" cap="none" strike="noStrike">
                <a:solidFill>
                  <a:srgbClr val="2B2B2B"/>
                </a:solidFill>
                <a:latin typeface="Courier New"/>
                <a:ea typeface="Courier New"/>
                <a:cs typeface="Courier New"/>
                <a:sym typeface="Courier New"/>
              </a:rPr>
              <a:t>,         </a:t>
            </a:r>
            <a:r>
              <a:rPr b="0" i="1" lang="en-US" sz="1150" u="none" cap="none" strike="noStrike">
                <a:solidFill>
                  <a:srgbClr val="606060"/>
                </a:solidFill>
                <a:latin typeface="Courier New"/>
                <a:ea typeface="Courier New"/>
                <a:cs typeface="Courier New"/>
                <a:sym typeface="Courier New"/>
              </a:rPr>
              <a:t># lightweight pre-pruning</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B2B2B"/>
              </a:buClr>
              <a:buSzPts val="1150"/>
              <a:buFont typeface="Courier New"/>
              <a:buNone/>
            </a:pPr>
            <a:r>
              <a:rPr b="0" i="0" lang="en-US" sz="1150" u="none" cap="none" strike="noStrike">
                <a:solidFill>
                  <a:srgbClr val="2B2B2B"/>
                </a:solidFill>
                <a:latin typeface="Courier New"/>
                <a:ea typeface="Courier New"/>
                <a:cs typeface="Courier New"/>
                <a:sym typeface="Courier New"/>
              </a:rPr>
              <a:t>    oob_score=</a:t>
            </a:r>
            <a:r>
              <a:rPr b="0" i="0" lang="en-US" sz="1150" u="none" cap="none" strike="noStrike">
                <a:solidFill>
                  <a:srgbClr val="2F5A7A"/>
                </a:solidFill>
                <a:latin typeface="Courier New"/>
                <a:ea typeface="Courier New"/>
                <a:cs typeface="Courier New"/>
                <a:sym typeface="Courier New"/>
              </a:rPr>
              <a:t>True</a:t>
            </a:r>
            <a:r>
              <a:rPr b="0" i="0" lang="en-US" sz="1150" u="none" cap="none" strike="noStrike">
                <a:solidFill>
                  <a:srgbClr val="2B2B2B"/>
                </a:solidFill>
                <a:latin typeface="Courier New"/>
                <a:ea typeface="Courier New"/>
                <a:cs typeface="Courier New"/>
                <a:sym typeface="Courier New"/>
              </a:rPr>
              <a:t>,          </a:t>
            </a:r>
            <a:r>
              <a:rPr b="0" i="1" lang="en-US" sz="1150" u="none" cap="none" strike="noStrike">
                <a:solidFill>
                  <a:srgbClr val="606060"/>
                </a:solidFill>
                <a:latin typeface="Courier New"/>
                <a:ea typeface="Courier New"/>
                <a:cs typeface="Courier New"/>
                <a:sym typeface="Courier New"/>
              </a:rPr>
              <a:t># free held-out estimate</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B2B2B"/>
              </a:buClr>
              <a:buSzPts val="1150"/>
              <a:buFont typeface="Courier New"/>
              <a:buNone/>
            </a:pPr>
            <a:r>
              <a:rPr b="0" i="0" lang="en-US" sz="1150" u="none" cap="none" strike="noStrike">
                <a:solidFill>
                  <a:srgbClr val="2B2B2B"/>
                </a:solidFill>
                <a:latin typeface="Courier New"/>
                <a:ea typeface="Courier New"/>
                <a:cs typeface="Courier New"/>
                <a:sym typeface="Courier New"/>
              </a:rPr>
              <a:t>    n_jobs=</a:t>
            </a:r>
            <a:r>
              <a:rPr b="0" i="0" lang="en-US" sz="1150" u="none" cap="none" strike="noStrike">
                <a:solidFill>
                  <a:srgbClr val="2F5A7A"/>
                </a:solidFill>
                <a:latin typeface="Courier New"/>
                <a:ea typeface="Courier New"/>
                <a:cs typeface="Courier New"/>
                <a:sym typeface="Courier New"/>
              </a:rPr>
              <a:t>-1</a:t>
            </a:r>
            <a:r>
              <a:rPr b="0" i="0" lang="en-US" sz="1150" u="none" cap="none" strike="noStrike">
                <a:solidFill>
                  <a:srgbClr val="2B2B2B"/>
                </a:solidFill>
                <a:latin typeface="Courier New"/>
                <a:ea typeface="Courier New"/>
                <a:cs typeface="Courier New"/>
                <a:sym typeface="Courier New"/>
              </a:rPr>
              <a:t>, random_state=</a:t>
            </a:r>
            <a:r>
              <a:rPr b="0" i="0" lang="en-US" sz="1150" u="none" cap="none" strike="noStrike">
                <a:solidFill>
                  <a:srgbClr val="2F5A7A"/>
                </a:solidFill>
                <a:latin typeface="Courier New"/>
                <a:ea typeface="Courier New"/>
                <a:cs typeface="Courier New"/>
                <a:sym typeface="Courier New"/>
              </a:rPr>
              <a:t>42</a:t>
            </a:r>
            <a:r>
              <a:rPr b="0" i="0" lang="en-US" sz="1150" u="none" cap="none" strike="noStrike">
                <a:solidFill>
                  <a:srgbClr val="2B2B2B"/>
                </a:solidFill>
                <a:latin typeface="Courier New"/>
                <a:ea typeface="Courier New"/>
                <a:cs typeface="Courier New"/>
                <a:sym typeface="Courier New"/>
              </a:rPr>
              <a:t>,</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B2B2B"/>
              </a:buClr>
              <a:buSzPts val="1150"/>
              <a:buFont typeface="Courier New"/>
              <a:buNone/>
            </a:pPr>
            <a:r>
              <a:rPr b="0" i="0" lang="en-US" sz="1150" u="none" cap="none" strike="noStrike">
                <a:solidFill>
                  <a:srgbClr val="2B2B2B"/>
                </a:solidFill>
                <a:latin typeface="Courier New"/>
                <a:ea typeface="Courier New"/>
                <a:cs typeface="Courier New"/>
                <a:sym typeface="Courier New"/>
              </a:rPr>
              <a:t>)</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600"/>
              <a:buFont typeface="Courier New"/>
              <a:buNone/>
            </a:pPr>
            <a:r>
              <a:rPr b="0" i="0" lang="en-US" sz="600" u="none" cap="none" strike="noStrike">
                <a:solidFill>
                  <a:srgbClr val="000000"/>
                </a:solidFill>
                <a:latin typeface="Courier New"/>
                <a:ea typeface="Courier New"/>
                <a:cs typeface="Courier New"/>
                <a:sym typeface="Courier New"/>
              </a:rPr>
              <a:t> </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B2B2B"/>
              </a:buClr>
              <a:buSzPts val="1150"/>
              <a:buFont typeface="Courier New"/>
              <a:buNone/>
            </a:pPr>
            <a:r>
              <a:rPr b="0" i="0" lang="en-US" sz="1150" u="none" cap="none" strike="noStrike">
                <a:solidFill>
                  <a:srgbClr val="2B2B2B"/>
                </a:solidFill>
                <a:latin typeface="Courier New"/>
                <a:ea typeface="Courier New"/>
                <a:cs typeface="Courier New"/>
                <a:sym typeface="Courier New"/>
              </a:rPr>
              <a:t>rf.fit(X_train, y_train)</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B2B2B"/>
              </a:buClr>
              <a:buSzPts val="1150"/>
              <a:buFont typeface="Courier New"/>
              <a:buNone/>
            </a:pPr>
            <a:r>
              <a:rPr b="0" i="0" lang="en-US" sz="1150" u="none" cap="none" strike="noStrike">
                <a:solidFill>
                  <a:srgbClr val="2B2B2B"/>
                </a:solidFill>
                <a:latin typeface="Courier New"/>
                <a:ea typeface="Courier New"/>
                <a:cs typeface="Courier New"/>
                <a:sym typeface="Courier New"/>
              </a:rPr>
              <a:t>print(</a:t>
            </a:r>
            <a:r>
              <a:rPr b="0" i="0" lang="en-US" sz="1150" u="none" cap="none" strike="noStrike">
                <a:solidFill>
                  <a:srgbClr val="2F5A7A"/>
                </a:solidFill>
                <a:latin typeface="Courier New"/>
                <a:ea typeface="Courier New"/>
                <a:cs typeface="Courier New"/>
                <a:sym typeface="Courier New"/>
              </a:rPr>
              <a:t>"OOB score:"</a:t>
            </a:r>
            <a:r>
              <a:rPr b="0" i="0" lang="en-US" sz="1150" u="none" cap="none" strike="noStrike">
                <a:solidFill>
                  <a:srgbClr val="2B2B2B"/>
                </a:solidFill>
                <a:latin typeface="Courier New"/>
                <a:ea typeface="Courier New"/>
                <a:cs typeface="Courier New"/>
                <a:sym typeface="Courier New"/>
              </a:rPr>
              <a:t>, rf.oob_score_)</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600"/>
              <a:buFont typeface="Courier New"/>
              <a:buNone/>
            </a:pPr>
            <a:r>
              <a:rPr b="0" i="0" lang="en-US" sz="600" u="none" cap="none" strike="noStrike">
                <a:solidFill>
                  <a:srgbClr val="000000"/>
                </a:solidFill>
                <a:latin typeface="Courier New"/>
                <a:ea typeface="Courier New"/>
                <a:cs typeface="Courier New"/>
                <a:sym typeface="Courier New"/>
              </a:rPr>
              <a:t> </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06060"/>
              </a:buClr>
              <a:buSzPts val="1150"/>
              <a:buFont typeface="Courier New"/>
              <a:buNone/>
            </a:pPr>
            <a:r>
              <a:rPr b="0" i="1" lang="en-US" sz="1150" u="none" cap="none" strike="noStrike">
                <a:solidFill>
                  <a:srgbClr val="606060"/>
                </a:solidFill>
                <a:latin typeface="Courier New"/>
                <a:ea typeface="Courier New"/>
                <a:cs typeface="Courier New"/>
                <a:sym typeface="Courier New"/>
              </a:rPr>
              <a:t># Feature importance ranking</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7B2D26"/>
              </a:buClr>
              <a:buSzPts val="1150"/>
              <a:buFont typeface="Courier New"/>
              <a:buNone/>
            </a:pPr>
            <a:r>
              <a:rPr b="1" i="0" lang="en-US" sz="1150" u="none" cap="none" strike="noStrike">
                <a:solidFill>
                  <a:srgbClr val="7B2D26"/>
                </a:solidFill>
                <a:latin typeface="Courier New"/>
                <a:ea typeface="Courier New"/>
                <a:cs typeface="Courier New"/>
                <a:sym typeface="Courier New"/>
              </a:rPr>
              <a:t>import </a:t>
            </a:r>
            <a:r>
              <a:rPr b="0" i="0" lang="en-US" sz="1150" u="none" cap="none" strike="noStrike">
                <a:solidFill>
                  <a:srgbClr val="2B2B2B"/>
                </a:solidFill>
                <a:latin typeface="Courier New"/>
                <a:ea typeface="Courier New"/>
                <a:cs typeface="Courier New"/>
                <a:sym typeface="Courier New"/>
              </a:rPr>
              <a:t>pandas as pd</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B2B2B"/>
              </a:buClr>
              <a:buSzPts val="1150"/>
              <a:buFont typeface="Courier New"/>
              <a:buNone/>
            </a:pPr>
            <a:r>
              <a:rPr b="0" i="0" lang="en-US" sz="1150" u="none" cap="none" strike="noStrike">
                <a:solidFill>
                  <a:srgbClr val="2B2B2B"/>
                </a:solidFill>
                <a:latin typeface="Courier New"/>
                <a:ea typeface="Courier New"/>
                <a:cs typeface="Courier New"/>
                <a:sym typeface="Courier New"/>
              </a:rPr>
              <a:t>pd.Series(rf.feature_importances_, index=X_train.columns).sort_values()</a:t>
            </a:r>
            <a:endParaRPr b="0" i="0" sz="1150" u="none" cap="none" strike="noStrike">
              <a:solidFill>
                <a:schemeClr val="dk1"/>
              </a:solidFill>
              <a:latin typeface="Calibri"/>
              <a:ea typeface="Calibri"/>
              <a:cs typeface="Calibri"/>
              <a:sym typeface="Calibri"/>
            </a:endParaRPr>
          </a:p>
        </p:txBody>
      </p:sp>
      <p:sp>
        <p:nvSpPr>
          <p:cNvPr id="316" name="Google Shape;316;p24"/>
          <p:cNvSpPr/>
          <p:nvPr/>
        </p:nvSpPr>
        <p:spPr>
          <a:xfrm>
            <a:off x="2743200" y="4663440"/>
            <a:ext cx="36576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B2B2B"/>
              </a:buClr>
              <a:buSzPts val="1200"/>
              <a:buFont typeface="Georgia"/>
              <a:buNone/>
            </a:pPr>
            <a:r>
              <a:rPr b="1" i="0" lang="en-US" sz="1200" u="none" cap="none" strike="noStrike">
                <a:solidFill>
                  <a:srgbClr val="2B2B2B"/>
                </a:solidFill>
                <a:latin typeface="Georgia"/>
                <a:ea typeface="Georgia"/>
                <a:cs typeface="Georgia"/>
                <a:sym typeface="Georgia"/>
              </a:rPr>
              <a:t>CosmicAI Summer School</a:t>
            </a:r>
            <a:endParaRPr b="0" i="0" sz="1200" u="none" cap="none" strike="noStrike">
              <a:solidFill>
                <a:schemeClr val="dk1"/>
              </a:solidFill>
              <a:latin typeface="Calibri"/>
              <a:ea typeface="Calibri"/>
              <a:cs typeface="Calibri"/>
              <a:sym typeface="Calibri"/>
            </a:endParaRPr>
          </a:p>
        </p:txBody>
      </p:sp>
      <p:sp>
        <p:nvSpPr>
          <p:cNvPr id="317" name="Google Shape;317;p24"/>
          <p:cNvSpPr/>
          <p:nvPr/>
        </p:nvSpPr>
        <p:spPr>
          <a:xfrm>
            <a:off x="8275320" y="4754880"/>
            <a:ext cx="6858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06060"/>
              </a:buClr>
              <a:buSzPts val="1200"/>
              <a:buFont typeface="Georgia"/>
              <a:buNone/>
            </a:pPr>
            <a:r>
              <a:rPr b="0" i="0" lang="en-US" sz="1200" u="none" cap="none" strike="noStrike">
                <a:solidFill>
                  <a:srgbClr val="606060"/>
                </a:solidFill>
                <a:latin typeface="Georgia"/>
                <a:ea typeface="Georgia"/>
                <a:cs typeface="Georgia"/>
                <a:sym typeface="Georgia"/>
              </a:rPr>
              <a:t>24</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2" name="Shape 322"/>
        <p:cNvGrpSpPr/>
        <p:nvPr/>
      </p:nvGrpSpPr>
      <p:grpSpPr>
        <a:xfrm>
          <a:off x="0" y="0"/>
          <a:ext cx="0" cy="0"/>
          <a:chOff x="0" y="0"/>
          <a:chExt cx="0" cy="0"/>
        </a:xfrm>
      </p:grpSpPr>
      <p:sp>
        <p:nvSpPr>
          <p:cNvPr id="323" name="Google Shape;323;p25"/>
          <p:cNvSpPr/>
          <p:nvPr/>
        </p:nvSpPr>
        <p:spPr>
          <a:xfrm>
            <a:off x="274320" y="137160"/>
            <a:ext cx="859536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B2D26"/>
              </a:buClr>
              <a:buSzPts val="3000"/>
              <a:buFont typeface="Georgia"/>
              <a:buNone/>
            </a:pPr>
            <a:r>
              <a:rPr b="0" i="0" lang="en-US" sz="3000" u="none" cap="none" strike="noStrike">
                <a:solidFill>
                  <a:srgbClr val="7B2D26"/>
                </a:solidFill>
                <a:latin typeface="Georgia"/>
                <a:ea typeface="Georgia"/>
                <a:cs typeface="Georgia"/>
                <a:sym typeface="Georgia"/>
              </a:rPr>
              <a:t>Recap — Trees and Forests</a:t>
            </a:r>
            <a:endParaRPr b="0" i="0" sz="3000" u="none" cap="none" strike="noStrike">
              <a:solidFill>
                <a:schemeClr val="dk1"/>
              </a:solidFill>
              <a:latin typeface="Calibri"/>
              <a:ea typeface="Calibri"/>
              <a:cs typeface="Calibri"/>
              <a:sym typeface="Calibri"/>
            </a:endParaRPr>
          </a:p>
        </p:txBody>
      </p:sp>
      <p:cxnSp>
        <p:nvCxnSpPr>
          <p:cNvPr id="324" name="Google Shape;324;p25"/>
          <p:cNvCxnSpPr/>
          <p:nvPr/>
        </p:nvCxnSpPr>
        <p:spPr>
          <a:xfrm>
            <a:off x="365760" y="777240"/>
            <a:ext cx="8412480" cy="0"/>
          </a:xfrm>
          <a:prstGeom prst="straightConnector1">
            <a:avLst/>
          </a:prstGeom>
          <a:noFill/>
          <a:ln cap="flat" cmpd="sng" w="15875">
            <a:solidFill>
              <a:srgbClr val="B0B0B0"/>
            </a:solidFill>
            <a:prstDash val="solid"/>
            <a:round/>
            <a:headEnd len="sm" w="sm" type="none"/>
            <a:tailEnd len="sm" w="sm" type="none"/>
          </a:ln>
        </p:spPr>
      </p:cxnSp>
      <p:sp>
        <p:nvSpPr>
          <p:cNvPr id="325" name="Google Shape;325;p25"/>
          <p:cNvSpPr/>
          <p:nvPr/>
        </p:nvSpPr>
        <p:spPr>
          <a:xfrm>
            <a:off x="548640" y="868680"/>
            <a:ext cx="411480" cy="411480"/>
          </a:xfrm>
          <a:prstGeom prst="ellipse">
            <a:avLst/>
          </a:prstGeom>
          <a:solidFill>
            <a:srgbClr val="7B2D26"/>
          </a:solidFill>
          <a:ln cap="flat" cmpd="sng" w="12700">
            <a:solidFill>
              <a:srgbClr val="7B2D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25"/>
          <p:cNvSpPr/>
          <p:nvPr/>
        </p:nvSpPr>
        <p:spPr>
          <a:xfrm>
            <a:off x="548640" y="868680"/>
            <a:ext cx="411480" cy="4114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1</a:t>
            </a:r>
            <a:endParaRPr b="0" i="0" sz="1600" u="none" cap="none" strike="noStrike">
              <a:solidFill>
                <a:schemeClr val="dk1"/>
              </a:solidFill>
              <a:latin typeface="Calibri"/>
              <a:ea typeface="Calibri"/>
              <a:cs typeface="Calibri"/>
              <a:sym typeface="Calibri"/>
            </a:endParaRPr>
          </a:p>
        </p:txBody>
      </p:sp>
      <p:sp>
        <p:nvSpPr>
          <p:cNvPr id="327" name="Google Shape;327;p25"/>
          <p:cNvSpPr/>
          <p:nvPr/>
        </p:nvSpPr>
        <p:spPr>
          <a:xfrm>
            <a:off x="1097280" y="868680"/>
            <a:ext cx="31089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2D26"/>
              </a:buClr>
              <a:buSzPts val="1500"/>
              <a:buFont typeface="Georgia"/>
              <a:buNone/>
            </a:pPr>
            <a:r>
              <a:rPr b="1" i="0" lang="en-US" sz="1500" u="none" cap="none" strike="noStrike">
                <a:solidFill>
                  <a:srgbClr val="7B2D26"/>
                </a:solidFill>
                <a:latin typeface="Georgia"/>
                <a:ea typeface="Georgia"/>
                <a:cs typeface="Georgia"/>
                <a:sym typeface="Georgia"/>
              </a:rPr>
              <a:t>Decision tree</a:t>
            </a:r>
            <a:endParaRPr b="0" i="0" sz="1500" u="none" cap="none" strike="noStrike">
              <a:solidFill>
                <a:schemeClr val="dk1"/>
              </a:solidFill>
              <a:latin typeface="Calibri"/>
              <a:ea typeface="Calibri"/>
              <a:cs typeface="Calibri"/>
              <a:sym typeface="Calibri"/>
            </a:endParaRPr>
          </a:p>
        </p:txBody>
      </p:sp>
      <p:sp>
        <p:nvSpPr>
          <p:cNvPr id="328" name="Google Shape;328;p25"/>
          <p:cNvSpPr/>
          <p:nvPr/>
        </p:nvSpPr>
        <p:spPr>
          <a:xfrm>
            <a:off x="4297680" y="868680"/>
            <a:ext cx="470916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B2B2B"/>
              </a:buClr>
              <a:buSzPts val="1200"/>
              <a:buFont typeface="Georgia"/>
              <a:buNone/>
            </a:pPr>
            <a:r>
              <a:rPr b="0" i="0" lang="en-US" sz="1200" u="none" cap="none" strike="noStrike">
                <a:solidFill>
                  <a:srgbClr val="2B2B2B"/>
                </a:solidFill>
                <a:latin typeface="Georgia"/>
                <a:ea typeface="Georgia"/>
                <a:cs typeface="Georgia"/>
                <a:sym typeface="Georgia"/>
              </a:rPr>
              <a:t>Recursive binary splitting of feature space; predict per leaf.</a:t>
            </a:r>
            <a:endParaRPr b="0" i="0" sz="1200" u="none" cap="none" strike="noStrike">
              <a:solidFill>
                <a:schemeClr val="dk1"/>
              </a:solidFill>
              <a:latin typeface="Calibri"/>
              <a:ea typeface="Calibri"/>
              <a:cs typeface="Calibri"/>
              <a:sym typeface="Calibri"/>
            </a:endParaRPr>
          </a:p>
        </p:txBody>
      </p:sp>
      <p:sp>
        <p:nvSpPr>
          <p:cNvPr id="329" name="Google Shape;329;p25"/>
          <p:cNvSpPr/>
          <p:nvPr/>
        </p:nvSpPr>
        <p:spPr>
          <a:xfrm>
            <a:off x="548640" y="1417320"/>
            <a:ext cx="411480" cy="411480"/>
          </a:xfrm>
          <a:prstGeom prst="ellipse">
            <a:avLst/>
          </a:prstGeom>
          <a:solidFill>
            <a:srgbClr val="7B2D26"/>
          </a:solidFill>
          <a:ln cap="flat" cmpd="sng" w="12700">
            <a:solidFill>
              <a:srgbClr val="7B2D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25"/>
          <p:cNvSpPr/>
          <p:nvPr/>
        </p:nvSpPr>
        <p:spPr>
          <a:xfrm>
            <a:off x="548640" y="1417320"/>
            <a:ext cx="411480" cy="4114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2</a:t>
            </a:r>
            <a:endParaRPr b="0" i="0" sz="1600" u="none" cap="none" strike="noStrike">
              <a:solidFill>
                <a:schemeClr val="dk1"/>
              </a:solidFill>
              <a:latin typeface="Calibri"/>
              <a:ea typeface="Calibri"/>
              <a:cs typeface="Calibri"/>
              <a:sym typeface="Calibri"/>
            </a:endParaRPr>
          </a:p>
        </p:txBody>
      </p:sp>
      <p:sp>
        <p:nvSpPr>
          <p:cNvPr id="331" name="Google Shape;331;p25"/>
          <p:cNvSpPr/>
          <p:nvPr/>
        </p:nvSpPr>
        <p:spPr>
          <a:xfrm>
            <a:off x="1097280" y="1417320"/>
            <a:ext cx="31089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2D26"/>
              </a:buClr>
              <a:buSzPts val="1500"/>
              <a:buFont typeface="Georgia"/>
              <a:buNone/>
            </a:pPr>
            <a:r>
              <a:rPr b="1" i="0" lang="en-US" sz="1500" u="none" cap="none" strike="noStrike">
                <a:solidFill>
                  <a:srgbClr val="7B2D26"/>
                </a:solidFill>
                <a:latin typeface="Georgia"/>
                <a:ea typeface="Georgia"/>
                <a:cs typeface="Georgia"/>
                <a:sym typeface="Georgia"/>
              </a:rPr>
              <a:t>Splitting criteria</a:t>
            </a:r>
            <a:endParaRPr b="0" i="0" sz="1500" u="none" cap="none" strike="noStrike">
              <a:solidFill>
                <a:schemeClr val="dk1"/>
              </a:solidFill>
              <a:latin typeface="Calibri"/>
              <a:ea typeface="Calibri"/>
              <a:cs typeface="Calibri"/>
              <a:sym typeface="Calibri"/>
            </a:endParaRPr>
          </a:p>
        </p:txBody>
      </p:sp>
      <p:sp>
        <p:nvSpPr>
          <p:cNvPr id="332" name="Google Shape;332;p25"/>
          <p:cNvSpPr/>
          <p:nvPr/>
        </p:nvSpPr>
        <p:spPr>
          <a:xfrm>
            <a:off x="4297680" y="1417320"/>
            <a:ext cx="470916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B2B2B"/>
              </a:buClr>
              <a:buSzPts val="1200"/>
              <a:buFont typeface="Georgia"/>
              <a:buNone/>
            </a:pPr>
            <a:r>
              <a:rPr b="0" i="0" lang="en-US" sz="1200" u="none" cap="none" strike="noStrike">
                <a:solidFill>
                  <a:srgbClr val="2B2B2B"/>
                </a:solidFill>
                <a:latin typeface="Georgia"/>
                <a:ea typeface="Georgia"/>
                <a:cs typeface="Georgia"/>
                <a:sym typeface="Georgia"/>
              </a:rPr>
              <a:t>MSE for regression; Gini or Entropy for classification.</a:t>
            </a:r>
            <a:endParaRPr b="0" i="0" sz="1200" u="none" cap="none" strike="noStrike">
              <a:solidFill>
                <a:schemeClr val="dk1"/>
              </a:solidFill>
              <a:latin typeface="Calibri"/>
              <a:ea typeface="Calibri"/>
              <a:cs typeface="Calibri"/>
              <a:sym typeface="Calibri"/>
            </a:endParaRPr>
          </a:p>
        </p:txBody>
      </p:sp>
      <p:sp>
        <p:nvSpPr>
          <p:cNvPr id="333" name="Google Shape;333;p25"/>
          <p:cNvSpPr/>
          <p:nvPr/>
        </p:nvSpPr>
        <p:spPr>
          <a:xfrm>
            <a:off x="548640" y="1965960"/>
            <a:ext cx="411480" cy="411480"/>
          </a:xfrm>
          <a:prstGeom prst="ellipse">
            <a:avLst/>
          </a:prstGeom>
          <a:solidFill>
            <a:srgbClr val="7B2D26"/>
          </a:solidFill>
          <a:ln cap="flat" cmpd="sng" w="12700">
            <a:solidFill>
              <a:srgbClr val="7B2D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25"/>
          <p:cNvSpPr/>
          <p:nvPr/>
        </p:nvSpPr>
        <p:spPr>
          <a:xfrm>
            <a:off x="548640" y="1965960"/>
            <a:ext cx="411480" cy="4114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3</a:t>
            </a:r>
            <a:endParaRPr b="0" i="0" sz="1600" u="none" cap="none" strike="noStrike">
              <a:solidFill>
                <a:schemeClr val="dk1"/>
              </a:solidFill>
              <a:latin typeface="Calibri"/>
              <a:ea typeface="Calibri"/>
              <a:cs typeface="Calibri"/>
              <a:sym typeface="Calibri"/>
            </a:endParaRPr>
          </a:p>
        </p:txBody>
      </p:sp>
      <p:sp>
        <p:nvSpPr>
          <p:cNvPr id="335" name="Google Shape;335;p25"/>
          <p:cNvSpPr/>
          <p:nvPr/>
        </p:nvSpPr>
        <p:spPr>
          <a:xfrm>
            <a:off x="1097280" y="1965960"/>
            <a:ext cx="31089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2D26"/>
              </a:buClr>
              <a:buSzPts val="1500"/>
              <a:buFont typeface="Georgia"/>
              <a:buNone/>
            </a:pPr>
            <a:r>
              <a:rPr b="1" i="0" lang="en-US" sz="1500" u="none" cap="none" strike="noStrike">
                <a:solidFill>
                  <a:srgbClr val="7B2D26"/>
                </a:solidFill>
                <a:latin typeface="Georgia"/>
                <a:ea typeface="Georgia"/>
                <a:cs typeface="Georgia"/>
                <a:sym typeface="Georgia"/>
              </a:rPr>
              <a:t>Pruning</a:t>
            </a:r>
            <a:endParaRPr b="0" i="0" sz="1500" u="none" cap="none" strike="noStrike">
              <a:solidFill>
                <a:schemeClr val="dk1"/>
              </a:solidFill>
              <a:latin typeface="Calibri"/>
              <a:ea typeface="Calibri"/>
              <a:cs typeface="Calibri"/>
              <a:sym typeface="Calibri"/>
            </a:endParaRPr>
          </a:p>
        </p:txBody>
      </p:sp>
      <p:sp>
        <p:nvSpPr>
          <p:cNvPr id="336" name="Google Shape;336;p25"/>
          <p:cNvSpPr/>
          <p:nvPr/>
        </p:nvSpPr>
        <p:spPr>
          <a:xfrm>
            <a:off x="4297680" y="1965960"/>
            <a:ext cx="470916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B2B2B"/>
              </a:buClr>
              <a:buSzPts val="1200"/>
              <a:buFont typeface="Georgia"/>
              <a:buNone/>
            </a:pPr>
            <a:r>
              <a:rPr b="0" i="0" lang="en-US" sz="1200" u="none" cap="none" strike="noStrike">
                <a:solidFill>
                  <a:srgbClr val="2B2B2B"/>
                </a:solidFill>
                <a:latin typeface="Georgia"/>
                <a:ea typeface="Georgia"/>
                <a:cs typeface="Georgia"/>
                <a:sym typeface="Georgia"/>
              </a:rPr>
              <a:t>Pre-pruning (max_depth, min_samples_leaf) or cost-complexity post-pruning.</a:t>
            </a:r>
            <a:endParaRPr b="0" i="0" sz="1200" u="none" cap="none" strike="noStrike">
              <a:solidFill>
                <a:schemeClr val="dk1"/>
              </a:solidFill>
              <a:latin typeface="Calibri"/>
              <a:ea typeface="Calibri"/>
              <a:cs typeface="Calibri"/>
              <a:sym typeface="Calibri"/>
            </a:endParaRPr>
          </a:p>
        </p:txBody>
      </p:sp>
      <p:sp>
        <p:nvSpPr>
          <p:cNvPr id="337" name="Google Shape;337;p25"/>
          <p:cNvSpPr/>
          <p:nvPr/>
        </p:nvSpPr>
        <p:spPr>
          <a:xfrm>
            <a:off x="548640" y="2514600"/>
            <a:ext cx="411480" cy="411480"/>
          </a:xfrm>
          <a:prstGeom prst="ellipse">
            <a:avLst/>
          </a:prstGeom>
          <a:solidFill>
            <a:srgbClr val="7B2D26"/>
          </a:solidFill>
          <a:ln cap="flat" cmpd="sng" w="12700">
            <a:solidFill>
              <a:srgbClr val="7B2D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25"/>
          <p:cNvSpPr/>
          <p:nvPr/>
        </p:nvSpPr>
        <p:spPr>
          <a:xfrm>
            <a:off x="548640" y="2514600"/>
            <a:ext cx="411480" cy="4114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4</a:t>
            </a:r>
            <a:endParaRPr b="0" i="0" sz="1600" u="none" cap="none" strike="noStrike">
              <a:solidFill>
                <a:schemeClr val="dk1"/>
              </a:solidFill>
              <a:latin typeface="Calibri"/>
              <a:ea typeface="Calibri"/>
              <a:cs typeface="Calibri"/>
              <a:sym typeface="Calibri"/>
            </a:endParaRPr>
          </a:p>
        </p:txBody>
      </p:sp>
      <p:sp>
        <p:nvSpPr>
          <p:cNvPr id="339" name="Google Shape;339;p25"/>
          <p:cNvSpPr/>
          <p:nvPr/>
        </p:nvSpPr>
        <p:spPr>
          <a:xfrm>
            <a:off x="1097280" y="2514600"/>
            <a:ext cx="31089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2D26"/>
              </a:buClr>
              <a:buSzPts val="1500"/>
              <a:buFont typeface="Georgia"/>
              <a:buNone/>
            </a:pPr>
            <a:r>
              <a:rPr b="1" i="0" lang="en-US" sz="1500" u="none" cap="none" strike="noStrike">
                <a:solidFill>
                  <a:srgbClr val="7B2D26"/>
                </a:solidFill>
                <a:latin typeface="Georgia"/>
                <a:ea typeface="Georgia"/>
                <a:cs typeface="Georgia"/>
                <a:sym typeface="Georgia"/>
              </a:rPr>
              <a:t>Bagging</a:t>
            </a:r>
            <a:endParaRPr b="0" i="0" sz="1500" u="none" cap="none" strike="noStrike">
              <a:solidFill>
                <a:schemeClr val="dk1"/>
              </a:solidFill>
              <a:latin typeface="Calibri"/>
              <a:ea typeface="Calibri"/>
              <a:cs typeface="Calibri"/>
              <a:sym typeface="Calibri"/>
            </a:endParaRPr>
          </a:p>
        </p:txBody>
      </p:sp>
      <p:sp>
        <p:nvSpPr>
          <p:cNvPr id="340" name="Google Shape;340;p25"/>
          <p:cNvSpPr/>
          <p:nvPr/>
        </p:nvSpPr>
        <p:spPr>
          <a:xfrm>
            <a:off x="4297680" y="2514600"/>
            <a:ext cx="470916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B2B2B"/>
              </a:buClr>
              <a:buSzPts val="1200"/>
              <a:buFont typeface="Georgia"/>
              <a:buNone/>
            </a:pPr>
            <a:r>
              <a:rPr b="0" i="0" lang="en-US" sz="1200" u="none" cap="none" strike="noStrike">
                <a:solidFill>
                  <a:srgbClr val="2B2B2B"/>
                </a:solidFill>
                <a:latin typeface="Georgia"/>
                <a:ea typeface="Georgia"/>
                <a:cs typeface="Georgia"/>
                <a:sym typeface="Georgia"/>
              </a:rPr>
              <a:t>Average B bootstrap-trained trees → drops variance.</a:t>
            </a:r>
            <a:endParaRPr b="0" i="0" sz="1200" u="none" cap="none" strike="noStrike">
              <a:solidFill>
                <a:schemeClr val="dk1"/>
              </a:solidFill>
              <a:latin typeface="Calibri"/>
              <a:ea typeface="Calibri"/>
              <a:cs typeface="Calibri"/>
              <a:sym typeface="Calibri"/>
            </a:endParaRPr>
          </a:p>
        </p:txBody>
      </p:sp>
      <p:sp>
        <p:nvSpPr>
          <p:cNvPr id="341" name="Google Shape;341;p25"/>
          <p:cNvSpPr/>
          <p:nvPr/>
        </p:nvSpPr>
        <p:spPr>
          <a:xfrm>
            <a:off x="548640" y="3063240"/>
            <a:ext cx="411480" cy="411480"/>
          </a:xfrm>
          <a:prstGeom prst="ellipse">
            <a:avLst/>
          </a:prstGeom>
          <a:solidFill>
            <a:srgbClr val="7B2D26"/>
          </a:solidFill>
          <a:ln cap="flat" cmpd="sng" w="12700">
            <a:solidFill>
              <a:srgbClr val="7B2D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25"/>
          <p:cNvSpPr/>
          <p:nvPr/>
        </p:nvSpPr>
        <p:spPr>
          <a:xfrm>
            <a:off x="548640" y="3063240"/>
            <a:ext cx="411480" cy="4114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5</a:t>
            </a:r>
            <a:endParaRPr b="0" i="0" sz="1600" u="none" cap="none" strike="noStrike">
              <a:solidFill>
                <a:schemeClr val="dk1"/>
              </a:solidFill>
              <a:latin typeface="Calibri"/>
              <a:ea typeface="Calibri"/>
              <a:cs typeface="Calibri"/>
              <a:sym typeface="Calibri"/>
            </a:endParaRPr>
          </a:p>
        </p:txBody>
      </p:sp>
      <p:sp>
        <p:nvSpPr>
          <p:cNvPr id="343" name="Google Shape;343;p25"/>
          <p:cNvSpPr/>
          <p:nvPr/>
        </p:nvSpPr>
        <p:spPr>
          <a:xfrm>
            <a:off x="1097280" y="3063240"/>
            <a:ext cx="31089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2D26"/>
              </a:buClr>
              <a:buSzPts val="1500"/>
              <a:buFont typeface="Georgia"/>
              <a:buNone/>
            </a:pPr>
            <a:r>
              <a:rPr b="1" i="0" lang="en-US" sz="1500" u="none" cap="none" strike="noStrike">
                <a:solidFill>
                  <a:srgbClr val="7B2D26"/>
                </a:solidFill>
                <a:latin typeface="Georgia"/>
                <a:ea typeface="Georgia"/>
                <a:cs typeface="Georgia"/>
                <a:sym typeface="Georgia"/>
              </a:rPr>
              <a:t>Random Forest</a:t>
            </a:r>
            <a:endParaRPr b="0" i="0" sz="1500" u="none" cap="none" strike="noStrike">
              <a:solidFill>
                <a:schemeClr val="dk1"/>
              </a:solidFill>
              <a:latin typeface="Calibri"/>
              <a:ea typeface="Calibri"/>
              <a:cs typeface="Calibri"/>
              <a:sym typeface="Calibri"/>
            </a:endParaRPr>
          </a:p>
        </p:txBody>
      </p:sp>
      <p:sp>
        <p:nvSpPr>
          <p:cNvPr id="344" name="Google Shape;344;p25"/>
          <p:cNvSpPr/>
          <p:nvPr/>
        </p:nvSpPr>
        <p:spPr>
          <a:xfrm>
            <a:off x="4297680" y="3063240"/>
            <a:ext cx="470916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B2B2B"/>
              </a:buClr>
              <a:buSzPts val="1200"/>
              <a:buFont typeface="Georgia"/>
              <a:buNone/>
            </a:pPr>
            <a:r>
              <a:rPr b="0" i="0" lang="en-US" sz="1200" u="none" cap="none" strike="noStrike">
                <a:solidFill>
                  <a:srgbClr val="2B2B2B"/>
                </a:solidFill>
                <a:latin typeface="Georgia"/>
                <a:ea typeface="Georgia"/>
                <a:cs typeface="Georgia"/>
                <a:sym typeface="Georgia"/>
              </a:rPr>
              <a:t>Bagging  +  feature subsampling at each split → decorrelated trees.</a:t>
            </a:r>
            <a:endParaRPr b="0" i="0" sz="1200" u="none" cap="none" strike="noStrike">
              <a:solidFill>
                <a:schemeClr val="dk1"/>
              </a:solidFill>
              <a:latin typeface="Calibri"/>
              <a:ea typeface="Calibri"/>
              <a:cs typeface="Calibri"/>
              <a:sym typeface="Calibri"/>
            </a:endParaRPr>
          </a:p>
        </p:txBody>
      </p:sp>
      <p:sp>
        <p:nvSpPr>
          <p:cNvPr id="345" name="Google Shape;345;p25"/>
          <p:cNvSpPr/>
          <p:nvPr/>
        </p:nvSpPr>
        <p:spPr>
          <a:xfrm>
            <a:off x="548640" y="3611880"/>
            <a:ext cx="411480" cy="411480"/>
          </a:xfrm>
          <a:prstGeom prst="ellipse">
            <a:avLst/>
          </a:prstGeom>
          <a:solidFill>
            <a:srgbClr val="7B2D26"/>
          </a:solidFill>
          <a:ln cap="flat" cmpd="sng" w="12700">
            <a:solidFill>
              <a:srgbClr val="7B2D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25"/>
          <p:cNvSpPr/>
          <p:nvPr/>
        </p:nvSpPr>
        <p:spPr>
          <a:xfrm>
            <a:off x="548640" y="3611880"/>
            <a:ext cx="411480" cy="4114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6</a:t>
            </a:r>
            <a:endParaRPr b="0" i="0" sz="1600" u="none" cap="none" strike="noStrike">
              <a:solidFill>
                <a:schemeClr val="dk1"/>
              </a:solidFill>
              <a:latin typeface="Calibri"/>
              <a:ea typeface="Calibri"/>
              <a:cs typeface="Calibri"/>
              <a:sym typeface="Calibri"/>
            </a:endParaRPr>
          </a:p>
        </p:txBody>
      </p:sp>
      <p:sp>
        <p:nvSpPr>
          <p:cNvPr id="347" name="Google Shape;347;p25"/>
          <p:cNvSpPr/>
          <p:nvPr/>
        </p:nvSpPr>
        <p:spPr>
          <a:xfrm>
            <a:off x="1097280" y="3611880"/>
            <a:ext cx="31089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2D26"/>
              </a:buClr>
              <a:buSzPts val="1500"/>
              <a:buFont typeface="Georgia"/>
              <a:buNone/>
            </a:pPr>
            <a:r>
              <a:rPr b="1" i="0" lang="en-US" sz="1500" u="none" cap="none" strike="noStrike">
                <a:solidFill>
                  <a:srgbClr val="7B2D26"/>
                </a:solidFill>
                <a:latin typeface="Georgia"/>
                <a:ea typeface="Georgia"/>
                <a:cs typeface="Georgia"/>
                <a:sym typeface="Georgia"/>
              </a:rPr>
              <a:t>Free goodies</a:t>
            </a:r>
            <a:endParaRPr b="0" i="0" sz="1500" u="none" cap="none" strike="noStrike">
              <a:solidFill>
                <a:schemeClr val="dk1"/>
              </a:solidFill>
              <a:latin typeface="Calibri"/>
              <a:ea typeface="Calibri"/>
              <a:cs typeface="Calibri"/>
              <a:sym typeface="Calibri"/>
            </a:endParaRPr>
          </a:p>
        </p:txBody>
      </p:sp>
      <p:sp>
        <p:nvSpPr>
          <p:cNvPr id="348" name="Google Shape;348;p25"/>
          <p:cNvSpPr/>
          <p:nvPr/>
        </p:nvSpPr>
        <p:spPr>
          <a:xfrm>
            <a:off x="4297680" y="3611880"/>
            <a:ext cx="470916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B2B2B"/>
              </a:buClr>
              <a:buSzPts val="1200"/>
              <a:buFont typeface="Georgia"/>
              <a:buNone/>
            </a:pPr>
            <a:r>
              <a:rPr b="0" i="0" lang="en-US" sz="1200" u="none" cap="none" strike="noStrike">
                <a:solidFill>
                  <a:srgbClr val="2B2B2B"/>
                </a:solidFill>
                <a:latin typeface="Georgia"/>
                <a:ea typeface="Georgia"/>
                <a:cs typeface="Georgia"/>
                <a:sym typeface="Georgia"/>
              </a:rPr>
              <a:t>OOB score, feature importance, fast inference.</a:t>
            </a:r>
            <a:endParaRPr b="0" i="0" sz="1200" u="none" cap="none" strike="noStrike">
              <a:solidFill>
                <a:schemeClr val="dk1"/>
              </a:solidFill>
              <a:latin typeface="Calibri"/>
              <a:ea typeface="Calibri"/>
              <a:cs typeface="Calibri"/>
              <a:sym typeface="Calibri"/>
            </a:endParaRPr>
          </a:p>
        </p:txBody>
      </p:sp>
      <p:sp>
        <p:nvSpPr>
          <p:cNvPr id="349" name="Google Shape;349;p25"/>
          <p:cNvSpPr/>
          <p:nvPr/>
        </p:nvSpPr>
        <p:spPr>
          <a:xfrm>
            <a:off x="457200" y="4160520"/>
            <a:ext cx="8412480" cy="365760"/>
          </a:xfrm>
          <a:prstGeom prst="rect">
            <a:avLst/>
          </a:prstGeom>
          <a:solidFill>
            <a:srgbClr val="EAF1F4"/>
          </a:solidFill>
          <a:ln cap="flat" cmpd="sng" w="9525">
            <a:solidFill>
              <a:srgbClr val="2F5A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25"/>
          <p:cNvSpPr/>
          <p:nvPr/>
        </p:nvSpPr>
        <p:spPr>
          <a:xfrm>
            <a:off x="548640" y="4160520"/>
            <a:ext cx="82296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F5A7A"/>
              </a:buClr>
              <a:buSzPts val="1250"/>
              <a:buFont typeface="Georgia"/>
              <a:buNone/>
            </a:pPr>
            <a:r>
              <a:rPr b="1" i="0" lang="en-US" sz="1250" u="none" cap="none" strike="noStrike">
                <a:solidFill>
                  <a:srgbClr val="2F5A7A"/>
                </a:solidFill>
                <a:latin typeface="Georgia"/>
                <a:ea typeface="Georgia"/>
                <a:cs typeface="Georgia"/>
                <a:sym typeface="Georgia"/>
              </a:rPr>
              <a:t>Next  →  Lecture 4:  </a:t>
            </a:r>
            <a:r>
              <a:rPr b="0" i="0" lang="en-US" sz="1250" u="none" cap="none" strike="noStrike">
                <a:solidFill>
                  <a:srgbClr val="2B2B2B"/>
                </a:solidFill>
                <a:latin typeface="Georgia"/>
                <a:ea typeface="Georgia"/>
                <a:cs typeface="Georgia"/>
                <a:sym typeface="Georgia"/>
              </a:rPr>
              <a:t>putting it all together — photometric-redshift case study with scikit-learn.</a:t>
            </a:r>
            <a:endParaRPr b="0" i="0" sz="1250" u="none" cap="none" strike="noStrike">
              <a:solidFill>
                <a:schemeClr val="dk1"/>
              </a:solidFill>
              <a:latin typeface="Calibri"/>
              <a:ea typeface="Calibri"/>
              <a:cs typeface="Calibri"/>
              <a:sym typeface="Calibri"/>
            </a:endParaRPr>
          </a:p>
        </p:txBody>
      </p:sp>
      <p:sp>
        <p:nvSpPr>
          <p:cNvPr id="351" name="Google Shape;351;p25"/>
          <p:cNvSpPr/>
          <p:nvPr/>
        </p:nvSpPr>
        <p:spPr>
          <a:xfrm>
            <a:off x="2743200" y="4663440"/>
            <a:ext cx="36576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B2B2B"/>
              </a:buClr>
              <a:buSzPts val="1200"/>
              <a:buFont typeface="Georgia"/>
              <a:buNone/>
            </a:pPr>
            <a:r>
              <a:rPr b="1" i="0" lang="en-US" sz="1200" u="none" cap="none" strike="noStrike">
                <a:solidFill>
                  <a:srgbClr val="2B2B2B"/>
                </a:solidFill>
                <a:latin typeface="Georgia"/>
                <a:ea typeface="Georgia"/>
                <a:cs typeface="Georgia"/>
                <a:sym typeface="Georgia"/>
              </a:rPr>
              <a:t>CosmicAI Summer School</a:t>
            </a:r>
            <a:endParaRPr b="0" i="0" sz="1200" u="none" cap="none" strike="noStrike">
              <a:solidFill>
                <a:schemeClr val="dk1"/>
              </a:solidFill>
              <a:latin typeface="Calibri"/>
              <a:ea typeface="Calibri"/>
              <a:cs typeface="Calibri"/>
              <a:sym typeface="Calibri"/>
            </a:endParaRPr>
          </a:p>
        </p:txBody>
      </p:sp>
      <p:sp>
        <p:nvSpPr>
          <p:cNvPr id="352" name="Google Shape;352;p25"/>
          <p:cNvSpPr/>
          <p:nvPr/>
        </p:nvSpPr>
        <p:spPr>
          <a:xfrm>
            <a:off x="8275320" y="4754880"/>
            <a:ext cx="6858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06060"/>
              </a:buClr>
              <a:buSzPts val="1200"/>
              <a:buFont typeface="Georgia"/>
              <a:buNone/>
            </a:pPr>
            <a:r>
              <a:rPr b="0" i="0" lang="en-US" sz="1200" u="none" cap="none" strike="noStrike">
                <a:solidFill>
                  <a:srgbClr val="606060"/>
                </a:solidFill>
                <a:latin typeface="Georgia"/>
                <a:ea typeface="Georgia"/>
                <a:cs typeface="Georgia"/>
                <a:sym typeface="Georgia"/>
              </a:rPr>
              <a:t>25</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2026-06-11T22:17:45Z</dcterms:created>
  <dc:creator>Omkar Bait</dc:creator>
</cp:coreProperties>
</file>