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RR65gprn6ytTAALDy5BQPDpSx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1b set up the inputs: features, targets, data types, dimensionality. Now we make those inputs *model-ready*. Three big things today: (1) handle missing data and outliers; (2) put features on a common scale; (3) encode categorical variables. Briefly mention PCA at the end.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Tell the students: every successful ML researcher will tell you that prepping data takes far longer than choosing a model. This isn't an accident — model APIs are stable, but data is messy in many creative ways.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MCAR / MAR / MNAR taxonomy is from Rubin (1976). Astronomy hits MNAR constantly: faint sources are absent because they're faint. This means simple imputation can bias the model. Tell them: at the least, *flag* a missing value with an indicator column.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Warn them: ALL of these reduce variance because every imputed row gets the same value. If you impute 30% of a column with the mean, downstream models will under-estimate the column's true variance. Better strategies exist (KNN, model-based, multiple imputation) — next slide.</a:t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Give students 60–90 seconds. If anyone struggles with the median, remind them: sort, then pick the middle. Common student trap: forgetting that 25.0 ought to be EXCLUDED from analysis once flagged — but here it's still in the imputation set, which is exactly the messy real-world scenario.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Pedagogical follow-up: ask 'what would mode do here?' (answer: ties between 18.0 and 18.1 — mode is for categorical / discrete values, not really useful for continuous numerics). Tie back to the main slide's choice rules.</a:t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them through the figure: the red X has a missing g-r value. KNN finds galaxies with similar r-i, and averages their g-r. Important: scale your features first, otherwise large-range features dominate the distance metric. This is a recurring theme — preprocessing steps interact.</a:t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Critical message: an outlier is *not* automatically bad data. In astronomy, the most scientifically interesting object is often the outlier (quasars, gravitational lenses, transients). Detect them, then decide. Default to flag-and-keep unless you can prove the value is a measurement error.</a:t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 teaching point: μ and σ come from a CLEAN calibration sample. If you compute them on a contaminated set, a single big outlier inflates σ and can mask itself ('the masking problem'). This is why robust statistics (median, IQR) are often preferred — see Lec 2 slide 8.</a:t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'masking problem' of plain Z-score. Walk through it on the board: if you include the outlier in the μ/σ estimate, σ grows from 0.5 to maybe 0.7, and Z drops from 3.6 to ~2.5 — below the cutoff. Astronomy students will recognize this from the literature on robust estimators.</a:t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nuance: NOT every model needs scaling. Tree-based methods split on thresholds and are invariant to monotonic rescalings. But because pipelines mix model types, scaling is a safe default.</a:t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Critical rule: ALWAYS fit the scaler on the TRAINING set only, then apply to test. Otherwise test-set statistics leak into the training. We'll formalize this in Lec 3a. Also: Min-Max is sensitive to outliers (one wild value squashes everyone else). Detect outliers FIRST.</a:t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this back to Lec 1b: nominal vs ordinal vs continuous determines encoding. Mention sklearn: OrdinalEncoder for ordinal, OneHotEncoder for nominal. For very high cardinality (&gt;50 categories), one-hot blows up; mention target encoding briefly.</a:t>
            </a:r>
            <a:endParaRPr/>
          </a:p>
        </p:txBody>
      </p:sp>
      <p:sp>
        <p:nvSpPr>
          <p:cNvPr id="229" name="Google Shape;22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back to Lec 1b: Hubble stage is ORDINAL. The order matters. Most common student mistake: picking A (one-hot) because they remember 'one-hot for categorical' from earlier — but that's for NOMINAL data. For ordinal data we want to preserve the order, so label-encode.</a:t>
            </a:r>
            <a:endParaRPr/>
          </a:p>
        </p:txBody>
      </p:sp>
      <p:sp>
        <p:nvSpPr>
          <p:cNvPr id="245" name="Google Shape;2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explicit categories argument — that's how you tell OrdinalEncoder the order. Without it, categories are sorted alphabetically, which gives the WRONG order: 'E','S0','Sa','Sb','Sc' alphabetically is 'E','S0','Sa','Sb','Sc' which is what we want here, but for other orderings (e.g. 'poor', 'OK', 'excellent') alphabet doesn't match physics.</a:t>
            </a:r>
            <a:endParaRPr/>
          </a:p>
        </p:txBody>
      </p:sp>
      <p:sp>
        <p:nvSpPr>
          <p:cNvPr id="274" name="Google Shape;2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Leakage is the most insidious problem in this list. Story: a model that predicted exoplanet detection with 99% accuracy turned out to have the planet's known parameters encoded in a metadata field. Always inspect your features the way a skeptic would.</a:t>
            </a:r>
            <a:endParaRPr/>
          </a:p>
        </p:txBody>
      </p:sp>
      <p:sp>
        <p:nvSpPr>
          <p:cNvPr id="308" name="Google Shape;30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Brief — this is a foreshadow, not a deep dive. PCA in 1 sentence: variance maximization via eigendecomposition of the covariance matrix. Mention that the spectra-PCA paper by Connolly et al. (1995) is a classic astro application. Recommend `sklearn.decomposition.PCA` for the practical.</a:t>
            </a:r>
            <a:endParaRPr/>
          </a:p>
        </p:txBody>
      </p:sp>
      <p:sp>
        <p:nvSpPr>
          <p:cNvPr id="331" name="Google Shape;3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the `fit_transform` on train and only `transform` on test. This is the FIRST place leakage creeps in. ColumnTransformer applies the right preprocessing to the right columns; Pipeline keeps imputer and scaler in sync. Whole thing serializes with joblib — important for reproducibility.</a:t>
            </a:r>
            <a:endParaRPr/>
          </a:p>
        </p:txBody>
      </p:sp>
      <p:sp>
        <p:nvSpPr>
          <p:cNvPr id="345" name="Google Shape;34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by pointing at this checklist again — it lives at the front of every project. Foreshadow Lec 3a: now that the data is clean, how do we split it so we get an honest performance estimate?</a:t>
            </a:r>
            <a:endParaRPr/>
          </a:p>
        </p:txBody>
      </p:sp>
      <p:sp>
        <p:nvSpPr>
          <p:cNvPr id="357" name="Google Shape;35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sleepy-friendly-euler/mnt/outputs/logos/nrao_logo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82880"/>
            <a:ext cx="594360" cy="75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4000"/>
              <a:buFont typeface="Georgia"/>
              <a:buNone/>
            </a:pPr>
            <a:r>
              <a:rPr b="0" i="0" lang="en-US" sz="4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Lecture 2: Data Preparation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Cleaning, Scaling, Encoding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Omkar Bait (CosmicAI Fellow)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NRAO, Charlottesville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Garbage In, Garbage 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500"/>
              <a:buFont typeface="Georgia"/>
              <a:buNone/>
            </a:pPr>
            <a:r>
              <a:rPr b="0" i="1" lang="en-US" sz="15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No model — however clever — can rescue badly prepared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417320"/>
            <a:ext cx="2651760" cy="26060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1463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1. Clean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965960"/>
            <a:ext cx="23774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Missing values → impute or drop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Outliers → detect &amp; decide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Duplicates → remove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246120" y="1417320"/>
            <a:ext cx="2651760" cy="260604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383280" y="1463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2. Transform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1965960"/>
            <a:ext cx="23774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Scale: standardize / min-max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Encode: nominal vs ordinal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Log-transform skewed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126480" y="1417320"/>
            <a:ext cx="2651760" cy="26060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263640" y="1463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3. Reduce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63640" y="1965960"/>
            <a:ext cx="23774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Drop redundant / leaky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PCA  (optional)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Result: a clean X matrix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4160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Punchline: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data prep is usually  </a:t>
            </a: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60–80%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of the work in any real ML project. It's also where bugs hide.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Missing Values — What &amp; Why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Real datasets are full of NaN, blank cells, sentinel values like −99.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values go missing (astro examples):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02920" y="1737360"/>
            <a:ext cx="4023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Sensor saturation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too bright for the detector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t/>
            </a:r>
            <a:endParaRPr b="1" sz="1300">
              <a:solidFill>
                <a:srgbClr val="2B2B2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Below detection limit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too faint to 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t/>
            </a:r>
            <a:endParaRPr b="1" sz="1300">
              <a:solidFill>
                <a:srgbClr val="2B2B2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Bad pixels / cosmic rays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masked in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t/>
            </a:r>
            <a:endParaRPr b="1" sz="1300">
              <a:solidFill>
                <a:srgbClr val="2B2B2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Human error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a column was never populated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663440" y="1371600"/>
            <a:ext cx="4206240" cy="27889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800600" y="14173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lavors of </a:t>
            </a:r>
            <a:r>
              <a:rPr b="1" lang="en-US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missing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800600" y="1783080"/>
            <a:ext cx="393192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Missing Completely At Random: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unrelated to anything in the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Missing At Random: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depends on other observed features.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lang="en-US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Systematically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Missing: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depends on the missing value itself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e.g. faint galaxies missing because faint.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42976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First step: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always run 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df.isna().sum()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.  Decide column-by-column whether to drop, impute, or flag.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Imputation — Mean, Median, Mode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4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4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Simplest fix: replace the missing value with a typical value from the column.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5760" y="1417320"/>
            <a:ext cx="2743200" cy="22860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02920" y="14630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Mean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when to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292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Numeric, roughly symmetric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02920" y="2697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02920" y="29260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filling missing redshift 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with the dataset mean z̄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154680" y="1417320"/>
            <a:ext cx="2743200" cy="228600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291840" y="14630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Median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29184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when to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29184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Numeric, skewed or with outliers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291840" y="2697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91840" y="29260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filling missing magnitudes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with the column median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943600" y="1417320"/>
            <a:ext cx="2743200" cy="22860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080760" y="14630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08076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when to 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08076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Categorical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080760" y="2697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example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080760" y="29260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filling missing galaxy type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with the most common class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40080" y="388620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sklearn.impute </a:t>
            </a: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SimpleImputer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imp = SimpleImputer(strategy=</a:t>
            </a:r>
            <a:r>
              <a:rPr b="0" i="0" lang="en-US" sz="12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"median"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);  X = imp.fit_transform(X)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Pick the Imputer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5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5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WORKED 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65760" y="868680"/>
            <a:ext cx="8412480" cy="164592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Scenario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02920" y="1234440"/>
            <a:ext cx="8183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 have 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7 valid r-band magnitudes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in a small sub-sample: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[ 18.1,  18.0,  17.9,  18.2,  18.1,  18.0,  25.0 ]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eorgia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25.0 is a suspected outlier (likely near the detection limit). One additional galaxy is missing its r-band measurement.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Compute  on paper: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1.  The  mean  of the 7 values.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2.  The  median  of the 7 values.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3.  Which would you use to impute the missing galaxy,  and  why?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429768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Pause and try —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Solution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65760" y="868680"/>
            <a:ext cx="4160520" cy="18745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02920" y="9144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1  —  Mean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02920" y="123444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sum  =  18.1 + 18.0 + 17.9 + 18.2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   + 18.1 + 18.0 + 25.0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  =  133.3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mean  =  133.3 / 7  =  </a:t>
            </a:r>
            <a:r>
              <a:rPr b="1" i="0" lang="en-US" sz="14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19.04  mag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663440" y="868680"/>
            <a:ext cx="4160520" cy="18745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800600" y="9144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Step 2  —  Median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800600" y="123444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sort: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[17.9, 18.0, 18.0,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18.1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18.1, 18.2, 25.0]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median  =  4th value  =  </a:t>
            </a:r>
            <a:r>
              <a:rPr b="1" i="0" lang="en-US" sz="14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18.1  mag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2880360"/>
            <a:ext cx="8458200" cy="9601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02920" y="29260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3  —  Decision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02920" y="3246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outlier 25.0 pulled the mean up to </a:t>
            </a: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19.04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far from any typical galaxy in the sample.  The median </a:t>
            </a:r>
            <a:r>
              <a:rPr b="1" i="0" lang="en-US" sz="12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18.1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is robust to the outlier.   →   </a:t>
            </a: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use the median.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" y="4023360"/>
            <a:ext cx="8458200" cy="5029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02920" y="4050792"/>
            <a:ext cx="8183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Rule of thumb: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median  if you suspect outliers or a skewed distribution.  Mean only when the </a:t>
            </a:r>
            <a:r>
              <a:rPr lang="en-US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is </a:t>
            </a:r>
            <a:r>
              <a:rPr lang="en-US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clean without outliers.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Imputation — KNN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Idea: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 the k most similar examples (in the other features) to estimate the missing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1. Define a distance on the non-missing features.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2. Find the k nearest neighbors.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3. Impute = mean (or median) of their values.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Pros: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uses structure in your data, not just one global statistic.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Cons: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slow for big datasets; sensitive to feature scaling (do it first!).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knn_impute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3891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365760" y="3794760"/>
            <a:ext cx="8412480" cy="73152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48640" y="384048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sklearn.impute </a:t>
            </a:r>
            <a:r>
              <a:rPr b="1" i="0" lang="en-US" sz="12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KNNImputer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 = KNNImputer(n_neighbors=</a:t>
            </a:r>
            <a:r>
              <a:rPr b="0" i="0" lang="en-US" sz="12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2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).fit_transform(X)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Outlier Detection — Z-score &amp; IQR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outliers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868680"/>
            <a:ext cx="658368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365760" y="3108960"/>
            <a:ext cx="4114800" cy="105156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02920" y="312724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Z-score 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02920" y="340156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z = (x − μ) / 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Flag if  |z| &gt; 3  (≈ 0.3% of a normal).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Assumes roughly Gaussian.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663440" y="3108960"/>
            <a:ext cx="4206240" cy="105156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800600" y="31272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IQR method (more robust)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800600" y="3401568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IQR = Q3 − Q1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Georgia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Flag x &lt; Q1 − 1.5·IQR  or  x &gt; Q3 + 1.5·IQR.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No Gaussian assumption.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429768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Flagged ≠ bad.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Always investigate before deleting — the outlier might be a quasar, a lens, or a transient.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Z-score Outlier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9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WORKED 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65760" y="868680"/>
            <a:ext cx="8412480" cy="169164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Scenario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02920" y="1234440"/>
            <a:ext cx="8183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From a  </a:t>
            </a:r>
            <a:r>
              <a:rPr b="1" i="1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clean calibration sample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of ~1000 galaxies you have established: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       μ_r  =  18.0  mag         σ_r  =  0.5  mag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Georgia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 measure a 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new galaxy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with  r = </a:t>
            </a:r>
            <a:r>
              <a:rPr b="1" i="0" lang="en-US" sz="13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19.8  mag.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1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Compute  on paper: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1.  The Z-score for the new galaxy.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2.  Is it an outlier under the  | Z | &gt; 3  rule?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Courier New"/>
              <a:buNone/>
            </a:pPr>
            <a:r>
              <a:rPr b="0" i="1" lang="en-US" sz="14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Reminder:   Z = ( x  −  μ ) / 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429768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Pause and try —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Worked Example  —  Solution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365760" y="868680"/>
            <a:ext cx="8458200" cy="141732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02920" y="9144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Step 1  —  Apply the formula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02920" y="12344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Z  =  ( x  −  μ ) / 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</a:pPr>
            <a:r>
              <a:rPr b="0" i="0" lang="en-US" sz="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Z  =  ( 19.8  −  18.0 ) / 0.5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Calibri"/>
              <a:buNone/>
            </a:pPr>
            <a:r>
              <a:rPr b="0" i="0" lang="en-US" sz="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Z  =  1.8 / 0.5  =  </a:t>
            </a:r>
            <a:r>
              <a:rPr b="1" i="0" lang="en-US" sz="18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3.6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65760" y="2423160"/>
            <a:ext cx="8458200" cy="96012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02920" y="24688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Step 2  —  Apply the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02920" y="2788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| Z |  =  3.6  &gt;  3   →   </a:t>
            </a:r>
            <a:r>
              <a:rPr b="1" i="0" lang="en-US" sz="14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flag as outlier.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65760" y="3566160"/>
            <a:ext cx="8458200" cy="91440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02920" y="3611880"/>
            <a:ext cx="8183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this trick works: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we used  μ  and  σ  from a known-clean sample. If we computed them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 the contaminated set including 19.8,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σ would inflate and the outlier could mask itself (|Z| &lt; 3).  →  cross-check with IQR.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Why Feature Scaling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scaling.png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868680"/>
            <a:ext cx="804672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457200" y="3611880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The problem: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redshift z is in [0, 0.5], stellar mass log M is in [9, 12]. Any distance-based or gradient-based model will let log M </a:t>
            </a:r>
            <a:r>
              <a:rPr b="0" i="1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dominate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loss.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09160" y="3611880"/>
            <a:ext cx="4160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Models that care: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KNN, K-means, SVM, neural nets, PCA, gradient descent.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Models that don't: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decision trees &amp; random forests  (next lecture).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Standardization vs Min-Max Scaling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2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2"/>
          <p:cNvSpPr/>
          <p:nvPr/>
        </p:nvSpPr>
        <p:spPr>
          <a:xfrm>
            <a:off x="365760" y="914400"/>
            <a:ext cx="4114800" cy="361188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502920" y="960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Standardization  (Z-score)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x'  =  ( x − μ ) / 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02920" y="1874520"/>
            <a:ext cx="38404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Mean 0, variance 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Range is unbounded.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 when: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data is roughly Gaussian,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or you use PCA / linear models / NNs.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sklearn: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sklearn.preprocessing import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StandardScaler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663440" y="914400"/>
            <a:ext cx="4114800" cy="361188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Min-Max Scaling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800600" y="1371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x'  =  (x − x_min) / (x_max − x_min)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800600" y="1874520"/>
            <a:ext cx="38404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Char char="■"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Output bounded in [0, 1].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Preserves zero-relationships.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Use when: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 need a fixed range,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    e.g. neural-net image inputs, or PDFs.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F5A7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sklearn: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sklearn.preprocessing import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MinMaxScaler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Encoding Categorical Features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5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sleepy-friendly-euler/mnt/outputs/figs/fig_encoding.png"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868680"/>
            <a:ext cx="804672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/>
          <p:nvPr/>
        </p:nvSpPr>
        <p:spPr>
          <a:xfrm>
            <a:off x="365760" y="2834640"/>
            <a:ext cx="4114800" cy="16916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502920" y="2880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Label Encoding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02920" y="324612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OK for </a:t>
            </a: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ordinal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data (E→S0→Sa→Sb).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Wrong for </a:t>
            </a: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nominal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the model will infer that 2 &gt; 1 &gt; 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4663440" y="2834640"/>
            <a:ext cx="4160520" cy="169164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4800600" y="28803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One-Hot Encoding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4800600" y="324612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Default for </a:t>
            </a: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nominal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(spiral / ellip / irreg).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Cost: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one new column per category — be careful for high-cardinality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6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6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457200" y="8229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Georgia"/>
              <a:buNone/>
            </a:pPr>
            <a:r>
              <a:rPr b="0" i="1" lang="en-US" sz="14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Your dataset has a  Hubble morphological stage  column with values  E → S0 → Sa → Sb → Sc.  Which encoding preserves the most physical meaning?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45720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123444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One-hot encoding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five binary columns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63440" y="169164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4800600" y="187452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48006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40680" y="178308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Label encoding (0,1,2,3,4)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preserves the order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45720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23444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StandardScaler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center and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663440" y="310896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4800600" y="3291840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4800600" y="32918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5440680" y="3200400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Drop the column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— too tricky to encode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457200" y="43434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Pick  A,  B,  C,  or  D  —  then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/>
          <p:nvPr/>
        </p:nvSpPr>
        <p:spPr>
          <a:xfrm>
            <a:off x="274320" y="13716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600"/>
              <a:buFont typeface="Georgia"/>
              <a:buNone/>
            </a:pPr>
            <a:r>
              <a:rPr b="0" i="0" lang="en-US" sz="2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Quick Check  2  —  Answer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7"/>
          <p:cNvCxnSpPr/>
          <p:nvPr/>
        </p:nvCxnSpPr>
        <p:spPr>
          <a:xfrm>
            <a:off x="365760" y="68580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7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solidFill>
            <a:srgbClr val="3A5A3B"/>
          </a:solidFill>
          <a:ln cap="flat" cmpd="sng" w="12700">
            <a:solidFill>
              <a:srgbClr val="3A5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7360920" y="1828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Georgia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457200" y="91440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594360" y="107899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59436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23444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One-hot encoding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23444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Loses the natural order — treats E and Sc as equally different from S0.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4663440" y="914400"/>
            <a:ext cx="4023360" cy="1280160"/>
          </a:xfrm>
          <a:prstGeom prst="rect">
            <a:avLst/>
          </a:prstGeom>
          <a:solidFill>
            <a:srgbClr val="F4ECE9"/>
          </a:solidFill>
          <a:ln cap="flat" cmpd="sng" w="254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4800600" y="1078992"/>
            <a:ext cx="502920" cy="50292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5440680" y="987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Label encoding (0..4)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440680" y="14173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Preserves the rank;  use OrdinalEncoder in sklearn.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8275320" y="9875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5720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23444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StandardScaler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123444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Scaling is for numeric data only — not categorical.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4663440" y="2331720"/>
            <a:ext cx="40233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4800600" y="2496312"/>
            <a:ext cx="502920" cy="502920"/>
          </a:xfrm>
          <a:prstGeom prst="ellipse">
            <a:avLst/>
          </a:prstGeom>
          <a:solidFill>
            <a:srgbClr val="2F5A7A"/>
          </a:solidFill>
          <a:ln cap="flat" cmpd="sng" w="12700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4800600" y="2496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5440680" y="24048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Drop the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5440680" y="28346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Throws away signal — Hubble stage carries real physics.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365760" y="3749040"/>
            <a:ext cx="8458200" cy="777240"/>
          </a:xfrm>
          <a:prstGeom prst="rect">
            <a:avLst/>
          </a:prstGeom>
          <a:solidFill>
            <a:srgbClr val="F4ECE9"/>
          </a:solidFill>
          <a:ln cap="flat" cmpd="sng" w="9525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502920" y="3794760"/>
            <a:ext cx="8183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sklearn one-liner: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from sklearn.preprocessing import OrdinalEncoder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-US" sz="11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OrdinalEncoder(categories=[["E","S0","Sa","Sb","Sc"]]).fit_transform(X)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Feature Selection — Pruning Redundancy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8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8"/>
          <p:cNvSpPr/>
          <p:nvPr/>
        </p:nvSpPr>
        <p:spPr>
          <a:xfrm>
            <a:off x="457200" y="9144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Not every feature helps. Some hurt (overfitting, collinearity, leakage).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57200" y="1325880"/>
            <a:ext cx="4114800" cy="128016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594360" y="13990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1. Redundancy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94360" y="17830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If u-band and g-band are 95% correlated, you're paying twice for the same information.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663440" y="1325880"/>
            <a:ext cx="4114800" cy="128016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4800600" y="13990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2. Noise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4800600" y="17830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Features with no relationship to y just add variance — drop or test with a permutation check.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457200" y="2697480"/>
            <a:ext cx="4114800" cy="128016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594360" y="27706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3. Leakage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594360" y="31546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 feature that secretly contains the target (e.g., a galaxy ID encoding redshift) must be dropped.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4663440" y="2697480"/>
            <a:ext cx="4114800" cy="1280160"/>
          </a:xfrm>
          <a:prstGeom prst="rect">
            <a:avLst/>
          </a:prstGeom>
          <a:solidFill>
            <a:srgbClr val="F9F4F1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4800600" y="277063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4. Curse of dimensionality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4800600" y="3154680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Fewer features → easier to fill feature space with limited data  (Lec 1b).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457200" y="43434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Tools: 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correlation matrix, mutual information,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RandomForest.feature_importances_ </a:t>
            </a:r>
            <a:r>
              <a:rPr b="0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(Lec 3b), recursive feature elimination.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PCA — A First Look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9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9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Principal Component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Find the directions in feature space along which the data </a:t>
            </a:r>
            <a:r>
              <a:rPr b="1" i="1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varies the most.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Rotate the axes to align with those directions.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Keep only the top  k  components → dimensionality reduction.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600"/>
              <a:buFont typeface="Georgia"/>
              <a:buNone/>
            </a:pPr>
            <a:r>
              <a:rPr b="0" i="0" lang="en-US" sz="6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Caveats: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linear only — won't see curved structure.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principal components are mixtures of original features, hard to interpret.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B2D26"/>
              </a:buClr>
              <a:buSzPts val="1250"/>
              <a:buFont typeface="Georgia"/>
              <a:buNone/>
            </a:pPr>
            <a:r>
              <a:rPr b="0" i="1" lang="en-US" sz="125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always standardize first!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sleepy-friendly-euler/mnt/outputs/figs/fig_pca.png" id="337" name="Google Shape;3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43484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9"/>
          <p:cNvSpPr/>
          <p:nvPr/>
        </p:nvSpPr>
        <p:spPr>
          <a:xfrm>
            <a:off x="4572000" y="3749040"/>
            <a:ext cx="4434840" cy="77724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4709160" y="3794760"/>
            <a:ext cx="4206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Astro examples: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compressing galaxy SEDs to a few components; finding eigenvectors of stellar spectra.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Code — A Full sklearn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20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0"/>
          <p:cNvSpPr/>
          <p:nvPr/>
        </p:nvSpPr>
        <p:spPr>
          <a:xfrm>
            <a:off x="45720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Chain every step into one object so it can't go out of sync.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365760" y="1325880"/>
            <a:ext cx="8412480" cy="3154680"/>
          </a:xfrm>
          <a:prstGeom prst="rect">
            <a:avLst/>
          </a:prstGeom>
          <a:solidFill>
            <a:srgbClr val="F6F2EF"/>
          </a:solidFill>
          <a:ln cap="flat" cmpd="sng" w="952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548640" y="1417320"/>
            <a:ext cx="8138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sklearn.compose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ColumnTransformer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sklearn.pipeline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sklearn.impute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SimpleImputer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sklearn.preprocessing </a:t>
            </a:r>
            <a:r>
              <a:rPr b="1" i="0" lang="en-US" sz="1150" u="none" cap="none" strike="noStrike">
                <a:solidFill>
                  <a:srgbClr val="7B2D26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StandardScaler, OneHotEncoder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numeric_pipe = Pipeline([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"impute"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SimpleImputer(strategy=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"median"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"scale"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 StandardScaler()),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preprocess = ColumnTransformer([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"num"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numeric_pipe,   [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"u", "g", "r", "i", "z"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    (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"cat"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, OneHotEncoder(), [</a:t>
            </a:r>
            <a:r>
              <a:rPr b="0" i="0" lang="en-US" sz="1150" u="none" cap="none" strike="noStrike">
                <a:solidFill>
                  <a:srgbClr val="2F5A7A"/>
                </a:solidFill>
                <a:latin typeface="Courier New"/>
                <a:ea typeface="Courier New"/>
                <a:cs typeface="Courier New"/>
                <a:sym typeface="Courier New"/>
              </a:rPr>
              <a:t>"galaxy_type"</a:t>
            </a: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X_train = preprocess.fit_transform(X_train)   </a:t>
            </a:r>
            <a:r>
              <a:rPr b="0" i="1" lang="en-US" sz="1150" u="none" cap="none" strike="noStrike">
                <a:solidFill>
                  <a:srgbClr val="606060"/>
                </a:solidFill>
                <a:latin typeface="Courier New"/>
                <a:ea typeface="Courier New"/>
                <a:cs typeface="Courier New"/>
                <a:sym typeface="Courier New"/>
              </a:rPr>
              <a:t># fit only on train!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B2B2B"/>
                </a:solidFill>
                <a:latin typeface="Courier New"/>
                <a:ea typeface="Courier New"/>
                <a:cs typeface="Courier New"/>
                <a:sym typeface="Courier New"/>
              </a:rPr>
              <a:t>X_test  = preprocess.transform(X_test)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3000"/>
              <a:buFont typeface="Georgia"/>
              <a:buNone/>
            </a:pPr>
            <a:r>
              <a:rPr b="0" i="0" lang="en-US" sz="30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Recap — The Data-Prep Checklist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21"/>
          <p:cNvCxnSpPr/>
          <p:nvPr/>
        </p:nvCxnSpPr>
        <p:spPr>
          <a:xfrm>
            <a:off x="365760" y="777240"/>
            <a:ext cx="8412480" cy="0"/>
          </a:xfrm>
          <a:prstGeom prst="straightConnector1">
            <a:avLst/>
          </a:prstGeom>
          <a:noFill/>
          <a:ln cap="flat" cmpd="sng" w="15875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1"/>
          <p:cNvSpPr/>
          <p:nvPr/>
        </p:nvSpPr>
        <p:spPr>
          <a:xfrm>
            <a:off x="548640" y="914400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1143000" y="9144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Inspect for missingness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4434840" y="914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df.isna().sum()  — drop, impute (mean/median/KNN), or flag.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1143000" y="15727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Detect outliers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4434840" y="15727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Z-score or IQR. Investigate before deleting; outliers might be the discovery.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548640" y="2231136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548640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1143000" y="22311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Scale numeric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4434840" y="22311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StandardScaler (default) or MinMaxScaler. Fit on TRAIN only.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548640" y="2889504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548640" y="2889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1143000" y="288950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Encode categoricals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4434840" y="28895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OrdinalEncoder for ordinal; OneHotEncoder for nominal.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7B2D26"/>
          </a:solidFill>
          <a:ln cap="flat" cmpd="sng" w="12700">
            <a:solidFill>
              <a:srgbClr val="7B2D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1143000" y="35478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2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7B2D26"/>
                </a:solidFill>
                <a:latin typeface="Georgia"/>
                <a:ea typeface="Georgia"/>
                <a:cs typeface="Georgia"/>
                <a:sym typeface="Georgia"/>
              </a:rPr>
              <a:t>Prune &amp; (optionally) PCA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4434840" y="35478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Drop redundant / leaky features. PCA for compact representations.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457200" y="4160520"/>
            <a:ext cx="8412480" cy="365760"/>
          </a:xfrm>
          <a:prstGeom prst="rect">
            <a:avLst/>
          </a:prstGeom>
          <a:solidFill>
            <a:srgbClr val="EAF1F4"/>
          </a:solidFill>
          <a:ln cap="flat" cmpd="sng" w="9525">
            <a:solidFill>
              <a:srgbClr val="2F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54864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A7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2F5A7A"/>
                </a:solidFill>
                <a:latin typeface="Georgia"/>
                <a:ea typeface="Georgia"/>
                <a:cs typeface="Georgia"/>
                <a:sym typeface="Georgia"/>
              </a:rPr>
              <a:t>Next  →  Lecture 3a:  </a:t>
            </a:r>
            <a:r>
              <a:rPr b="0" i="0" lang="en-US" sz="125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train / validation / test splits and avoiding data leakage.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CosmicAI Summer School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8275320" y="475488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606060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2026-06-10T04:16:31Z</dcterms:created>
  <dc:creator>Omkar Bait</dc:creator>
</cp:coreProperties>
</file>